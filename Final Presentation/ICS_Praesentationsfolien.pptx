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1"/>
  </p:notesMasterIdLst>
  <p:sldIdLst>
    <p:sldId id="261" r:id="rId2"/>
    <p:sldId id="262" r:id="rId3"/>
    <p:sldId id="263" r:id="rId4"/>
    <p:sldId id="264" r:id="rId5"/>
    <p:sldId id="274" r:id="rId6"/>
    <p:sldId id="275" r:id="rId7"/>
    <p:sldId id="297" r:id="rId8"/>
    <p:sldId id="298" r:id="rId9"/>
    <p:sldId id="299" r:id="rId10"/>
    <p:sldId id="278" r:id="rId11"/>
    <p:sldId id="303" r:id="rId12"/>
    <p:sldId id="272" r:id="rId13"/>
    <p:sldId id="280" r:id="rId14"/>
    <p:sldId id="282" r:id="rId15"/>
    <p:sldId id="289" r:id="rId16"/>
    <p:sldId id="279" r:id="rId17"/>
    <p:sldId id="296" r:id="rId18"/>
    <p:sldId id="281" r:id="rId19"/>
    <p:sldId id="286" r:id="rId20"/>
    <p:sldId id="285" r:id="rId21"/>
    <p:sldId id="290" r:id="rId22"/>
    <p:sldId id="287" r:id="rId23"/>
    <p:sldId id="288" r:id="rId24"/>
    <p:sldId id="284" r:id="rId25"/>
    <p:sldId id="328" r:id="rId26"/>
    <p:sldId id="277" r:id="rId27"/>
    <p:sldId id="271" r:id="rId28"/>
    <p:sldId id="300" r:id="rId29"/>
    <p:sldId id="301" r:id="rId30"/>
    <p:sldId id="302" r:id="rId31"/>
    <p:sldId id="330" r:id="rId32"/>
    <p:sldId id="292" r:id="rId33"/>
    <p:sldId id="304" r:id="rId34"/>
    <p:sldId id="291" r:id="rId35"/>
    <p:sldId id="306" r:id="rId36"/>
    <p:sldId id="305" r:id="rId37"/>
    <p:sldId id="307" r:id="rId38"/>
    <p:sldId id="308" r:id="rId39"/>
    <p:sldId id="309" r:id="rId40"/>
    <p:sldId id="310" r:id="rId41"/>
    <p:sldId id="311" r:id="rId42"/>
    <p:sldId id="318" r:id="rId43"/>
    <p:sldId id="326" r:id="rId44"/>
    <p:sldId id="319" r:id="rId45"/>
    <p:sldId id="320" r:id="rId46"/>
    <p:sldId id="321" r:id="rId47"/>
    <p:sldId id="322" r:id="rId48"/>
    <p:sldId id="323" r:id="rId49"/>
    <p:sldId id="324" r:id="rId50"/>
    <p:sldId id="325" r:id="rId51"/>
    <p:sldId id="312" r:id="rId52"/>
    <p:sldId id="327" r:id="rId53"/>
    <p:sldId id="331" r:id="rId54"/>
    <p:sldId id="329" r:id="rId55"/>
    <p:sldId id="313" r:id="rId56"/>
    <p:sldId id="332" r:id="rId57"/>
    <p:sldId id="333" r:id="rId58"/>
    <p:sldId id="314" r:id="rId59"/>
    <p:sldId id="335" r:id="rId60"/>
    <p:sldId id="334" r:id="rId61"/>
    <p:sldId id="315" r:id="rId62"/>
    <p:sldId id="295" r:id="rId63"/>
    <p:sldId id="336" r:id="rId64"/>
    <p:sldId id="270" r:id="rId65"/>
    <p:sldId id="293" r:id="rId66"/>
    <p:sldId id="337" r:id="rId67"/>
    <p:sldId id="294" r:id="rId68"/>
    <p:sldId id="338" r:id="rId69"/>
    <p:sldId id="340" r:id="rId70"/>
    <p:sldId id="341" r:id="rId71"/>
    <p:sldId id="345" r:id="rId72"/>
    <p:sldId id="346" r:id="rId73"/>
    <p:sldId id="347" r:id="rId74"/>
    <p:sldId id="348" r:id="rId75"/>
    <p:sldId id="342" r:id="rId76"/>
    <p:sldId id="343" r:id="rId77"/>
    <p:sldId id="344" r:id="rId78"/>
    <p:sldId id="317" r:id="rId79"/>
    <p:sldId id="265" r:id="rId8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196C"/>
    <a:srgbClr val="D51763"/>
    <a:srgbClr val="31363A"/>
    <a:srgbClr val="000000"/>
    <a:srgbClr val="FF0000"/>
    <a:srgbClr val="22252D"/>
    <a:srgbClr val="272A32"/>
    <a:srgbClr val="1D1D1A"/>
    <a:srgbClr val="CBD2D7"/>
    <a:srgbClr val="292E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62"/>
    <p:restoredTop sz="83289"/>
  </p:normalViewPr>
  <p:slideViewPr>
    <p:cSldViewPr snapToGrid="0">
      <p:cViewPr>
        <p:scale>
          <a:sx n="176" d="100"/>
          <a:sy n="176" d="100"/>
        </p:scale>
        <p:origin x="-200" y="-936"/>
      </p:cViewPr>
      <p:guideLst>
        <p:guide orient="horz" pos="162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ab0add0b17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ab0add0b17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ab0add0b17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ab0add0b17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C5A1D-2D81-7624-6034-204F3C94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9B519D2-DBAF-F496-44CD-70D9302800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DDE1C93-75E1-5C08-5A1A-8123B5D6B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54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0EDA54-B5D9-A28C-F74C-3839C8BE1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0FE05B-F6AC-8CD6-CE4B-931C4C8A55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F773D1D-2AF8-1689-F1F8-301215FBC6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As will be demonstrated, Buffer Overflow can lead to machine takeovers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29414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5E6526A-C05C-7036-B636-FD3CB429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7E36DA9-8CA2-A6ED-AE92-619920426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4CE2F6C-FBF9-45A2-A281-A41494F47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As will be demonstrated, Buffer Overflow can lead to machine takeovers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9190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595F81B-69B4-C279-407C-5612798C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6C944BE-D49A-4404-0C90-617EFC33C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74BF574-E31B-4526-0423-077774845F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As will be demonstrated, Buffer Overflow can lead to machine takeovers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243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678A65-FEC1-4369-F1E7-AB895673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C4D7DAD-A619-587C-64ED-A3CB37BE7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C021A2E-DFC7-70E6-7B0E-F195D02BC5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As will be demonstrated, Buffer Overflow can lead to machine takeovers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341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1095348-52F8-DE27-495A-24912772A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8C2046B-CA11-93FE-31A6-D2EBA8D843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5CA8408-73D6-C5CA-60E6-21F3D79380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Using Nmap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8757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A78C35-1A25-7BB3-FE95-BE6327C9B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937EF59-92E6-2B12-FF33-A917F99E48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06119F1-1F9E-9AD2-57C9-B43A8390D1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75556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98F7E4-B479-FF9C-012B-71E735E0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CF4DD98-0533-C2BF-310D-DB575A02D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C65B339-A754-FAE1-8CE1-F5CC13E6B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4247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B44ED8D-FCD8-E4A6-E138-9B96D381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1511D25-2E62-BC84-7804-86FABF566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4CF86B1-B079-AE98-18A8-D4FFC0ACD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872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39B043-2F52-E2D5-7C94-6ED2A14B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D0C89E4-5A34-CD9C-6F50-7408C52F81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879ECFA-DFC3-8EC6-FB3E-BC5C19FE11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85821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2057DF5-DE34-3E6C-5615-3B0FE275D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0CFC877-AAAE-2D2A-E2CB-370859551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B208317-2DAF-0FE4-C741-0EEA5E5F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4421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8311B1-17A0-8CE3-6243-227025B2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402A54D-C4B8-1257-D74F-84B95928EF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961289A-66BD-1793-6739-2C0B33AFE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07990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F55034F-B76A-C03A-3112-C79598401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B11E66B-4E95-00E1-730B-E91433A44F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6CDFF5C-EE4A-47BB-C60B-84659276B7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00201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DBF2516-CBAF-9FAC-4BF6-176F66C95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07B59C1B-DF5D-0B39-BEB9-E2D33C074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DC21BFC-3234-6CCD-E8A4-38ED2B4926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19493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33F072C-0C4B-2096-E200-74C44CF9E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C511653-5B77-C4CC-6BB9-E28E60CD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5F0B345-E700-5108-B22F-2F4F11385E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90989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DA573BB-8AEE-91C6-3978-DFB7E9A7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E8249D0-625F-63F9-5B35-8339E0A729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7BCDAFE-1918-1F1E-86BE-3A9FB0488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560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4D9F64F-728F-AE9C-B310-4BF4B152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016B7B78-66EA-AE54-DE8A-1C634D8FD5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59223AA-CCD1-93D7-2E39-71F80AC371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62334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08DB3F4-9E62-56D2-1934-3A5D9F58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25A171E-88F4-8F83-A5FD-50F0A9F8FF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4C0B3F4-B5D1-8030-C699-EA022886B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040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5B3FE8B-0022-32C5-4CD9-F47DD653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C2D0B15-53C4-906A-BD60-58671A120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20CC7FD-5E14-BCE6-FEFB-94AB4BC4D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40098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F995E28-EA26-D678-1494-236502EF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AE4AA1C-BA22-6516-BAEE-17CBF9495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72DDD3A-3387-687D-4EBB-2326D18DCC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Permanente Adresse </a:t>
            </a:r>
            <a:r>
              <a:rPr lang="en-US" dirty="0" err="1"/>
              <a:t>im</a:t>
            </a:r>
            <a:r>
              <a:rPr lang="en-US" dirty="0"/>
              <a:t> Speicher </a:t>
            </a:r>
            <a:r>
              <a:rPr lang="en-US" dirty="0" err="1"/>
              <a:t>mit</a:t>
            </a:r>
            <a:r>
              <a:rPr lang="en-US" dirty="0"/>
              <a:t> JMP ESP </a:t>
            </a:r>
            <a:r>
              <a:rPr lang="en-US" dirty="0" err="1"/>
              <a:t>Befehl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Kein ASLR (Address Space Layout Randomization) </a:t>
            </a:r>
            <a:r>
              <a:rPr lang="en-US" dirty="0" err="1"/>
              <a:t>oder</a:t>
            </a:r>
            <a:r>
              <a:rPr lang="en-US" dirty="0"/>
              <a:t> DEP (Data Execution Prevention)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1790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29F8697-99F9-0A5E-3D28-CD667DD7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C6704F9-9EE9-7D1A-51DE-BE905FD5F6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691261E-083A-2633-C561-6795D4CDE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Permanente Adresse </a:t>
            </a:r>
            <a:r>
              <a:rPr lang="en-US" dirty="0" err="1"/>
              <a:t>im</a:t>
            </a:r>
            <a:r>
              <a:rPr lang="en-US" dirty="0"/>
              <a:t> Speicher </a:t>
            </a:r>
            <a:r>
              <a:rPr lang="en-US" dirty="0" err="1"/>
              <a:t>mit</a:t>
            </a:r>
            <a:r>
              <a:rPr lang="en-US" dirty="0"/>
              <a:t> JMP ESP </a:t>
            </a:r>
            <a:r>
              <a:rPr lang="en-US" dirty="0" err="1"/>
              <a:t>Befehl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Kein ASLR (Address Space Layout Randomization) </a:t>
            </a:r>
            <a:r>
              <a:rPr lang="en-US" dirty="0" err="1"/>
              <a:t>oder</a:t>
            </a:r>
            <a:r>
              <a:rPr lang="en-US" dirty="0"/>
              <a:t> DEP (Data Execution Prevention)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3215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EB0A999-68B5-240F-FA53-DF647EE0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A8A81F-DDD5-A8BF-1F49-F91504678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2A40B12-A118-8BE2-68C4-E322F9805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9323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AA01E40F-783C-67A5-1E45-259C7FE6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FD34EC6F-69BC-DB09-5641-606ABDCF30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68917FF5-E45D-944D-66D4-E9DB90DB1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0508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4540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60C27-F0FB-AD63-0B47-BA770D7B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AAC8F-AA28-AE81-63AB-EA7D700C4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53C2C-BC78-4DE8-E8A4-F7214979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events</a:t>
            </a:r>
          </a:p>
          <a:p>
            <a:endParaRPr lang="en-US" dirty="0"/>
          </a:p>
          <a:p>
            <a:r>
              <a:rPr lang="en-US" dirty="0"/>
              <a:t>Prevention &gt; Incident Response</a:t>
            </a:r>
          </a:p>
        </p:txBody>
      </p:sp>
    </p:spTree>
    <p:extLst>
      <p:ext uri="{BB962C8B-B14F-4D97-AF65-F5344CB8AC3E}">
        <p14:creationId xmlns:p14="http://schemas.microsoft.com/office/powerpoint/2010/main" val="15573556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D4BC-A90F-5346-FAC6-8CA83FE9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E09AF-7CB7-990F-DE1B-6204AA8E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67D75-106B-5921-9F34-8A61BA07A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9431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24D18C-CF6E-E0F4-E0BD-FD481CE7B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18D296-2522-5033-F115-5FC760A1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F600795-A3C2-BC3E-DABC-D7A33FF6E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92705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A6F63B5-5532-CE1B-A1D1-CF13E2A22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945950E-079E-3DC8-EB92-0B9A023714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FF68918-89ED-784F-D258-2AC01A7EB8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92381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ED61A79-579C-BE0C-4E8B-5216C30D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8345C-E839-E9FB-2F06-2B32EE13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12E0BD-5C3F-7BC5-14D3-DC1E06779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lot of good reasons, so how to do it?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86561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D0FD638-6E03-FB6D-D081-B2F622FAD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9743FB1-6221-C83B-A0CE-06BBB06DE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7FB505F-1483-A1E0-CBFC-092FF40AD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Go fast, Come back later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2557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79E4D1-009F-0AD5-7042-690C0A515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56384A9-9BF0-4CEC-826D-F70CC5A63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30FC7B69-D65C-9998-14FF-34C3BBCB04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131086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A3334D8-6362-E9B8-A7C1-385E7852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8480544-3A0C-37CC-F9D5-455C6744A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0FFC3EA-443A-AA2A-4D0B-C2F74C48A3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Nmap but we already know so skipped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68104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0A58F2-141E-A43A-4F79-5D42C431E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14D469E-0329-3532-41CD-2FF670E7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BC6C8B8-0CE5-E69F-F472-3ED788E83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43217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C3D62EC-B145-BDC3-1EC1-73B3DA1F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B0EACEE-F170-B65C-4AEE-7548C2850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936B9B2-9EA1-45A1-AEF8-22D85416D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91103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0E9C27-BC95-B4A7-48F4-B4BB294D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E6116-3F7C-4650-8BA8-0EF7C1872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92821CE-851D-98B5-473B-4AFC50E77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9954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82D73E-2B31-B93D-DBA0-9AFDEE60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1FAEAD2-3DD2-E360-84BA-6FB5055C6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8F9631A-8CCE-3470-C7FF-E6B173FFCB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Can be used for Hash Cracking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0670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59AC7-6D7E-444D-D9B8-B8F02582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69F62D2-EADB-74E5-41B3-FF9CA85B0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28ED521-44DF-E1C5-DE1D-3DDBC8289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Repeated Login attempts not prevented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068107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8BA1F35-3670-C95A-8CA0-4C64AF85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52CCE2-6506-2865-E110-149174FB5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AAC1D82-F721-DDD0-5579-E049D82F8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89612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5C43EF1-F578-5353-3554-DC1635F6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487D69-71C5-EA2E-3EEA-17FF8DA4B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BEED617-A83E-9558-6C17-B7036BED2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780302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BC4A1E6-1E2C-6FB8-4D95-FE61CC9C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D7B1E27-4DEC-64CE-8ADC-BEFC0C36E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F829906-BD3F-0D07-6D74-66553E3B40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44807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2B22C8-7AE9-2A3F-9B82-6E592F7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3DE0851-CC51-B7D4-BA83-D622EF1D9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6E27EE3-5145-C865-A8E9-010FFAE730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8917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65DFF03-046F-26B6-AD34-EA0517FB1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F445B9-C4A5-8EDB-B3B8-716F9E56B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713F823-B840-52F0-CDE0-5338E4A44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08202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16958CF-DA04-6581-E91B-3F9F7FE9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0AF7D5B-8EDC-90A1-642D-204D2D1D6B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3A7184C-BE1E-DCF3-46DC-DADF770E3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83001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4EB30C-6D10-EBAB-DD9D-D7366A2E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F8DF0DA-BE7F-493F-A38C-93CB8F0E9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BAEB64D-E5BC-CE56-889A-69DEA2F165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5972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241EB4A-8223-0A6B-49BD-C79B2A90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645811-8812-AA22-AA37-4D2CA164B6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B02D695-D6B3-4D52-7705-82BD2D52C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534215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04CB4AE-F097-A2B1-6C75-FB0CA2D3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80BF462-875A-1018-1E73-3C1F28ACA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E61C7B3-F400-84B6-AF99-ED51A86738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51511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23202E-92FD-7EAE-6DB1-F2480D0B3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982FFC8-659A-25F7-736E-995F738A6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84EADC6-A551-2E5A-C4D7-B0F570AAF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022818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30A1C3-C872-3FE1-BC59-DD13F32B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628F0D-E987-3FB2-E321-8A3666758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587BF9A-4587-05C5-83C6-BBF4C8225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28555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C3BB0-5D74-846C-D868-BB9DFCE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ECFECC9-B5CE-B926-A10E-78ACFF739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227E0B0-12AE-ED1E-2930-CABFB412DA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61390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5F4A9FC-00D0-E36F-5896-088DE432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FAFAEF-6842-B7EB-51C7-5192CB7E4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C2D18DC-CF6C-96CE-8881-0151FA4E9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6288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4F86E07-CA6C-5AA8-AF0B-0CE3DC680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CE3F0D7-2AD4-32B9-15B0-4303B6DFC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AEED9A6-143E-39D4-0C33-6696044871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62531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052938-BB1F-17A2-6711-2729D3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EAFEB162-D798-B63B-2B37-C1022907C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44363BF-9773-D87F-D986-B042B2101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65638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F751C2A-4333-DEC2-A86A-382466E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3E93E07-58A7-C07E-5923-D3BB0E2522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BC0D64D-EC75-9B7F-15B2-BA6406850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91946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88FE725-1FB5-305B-7AD0-5AD39976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6878AB-64ED-EE0A-DC99-D358AA2D8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93B4F03-2897-3AB7-DD79-498BD0D32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09437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259D0A-7921-44CD-265A-C26C60AD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D48DB8-1396-9725-3A15-A4CAF4632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4CF7C9D-ECDE-8B52-11C4-069C4CA14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61149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06E2252-22EE-B994-BB8E-30B2489B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D6F4487-F2A6-699D-6668-D67900103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89DF285-A28C-C976-29DF-7CB5F7E7AB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May be used for Persistence, damage, whatever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30729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621EF3E-D35B-EE95-4529-086335B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7F96E2-3A94-2FE2-BFD6-666226CEDB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9DB4F8B-2A06-D6BF-0FB8-F6372B191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Local File Inclusion + PHP Session Poisoning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Upgrade and privilege escalation from here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796284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DE51F42-2522-5409-C9FB-7BE42387D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C07D00-AA72-1E67-B8A7-198BFC85E3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4BCCE42-E599-2470-EB0F-3E521FA5F7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0301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647D6891-9C93-05F8-6DE1-0177193E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DA98CA3B-A5EF-C549-F035-DC9DC8E00D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F7502966-5E67-9A8B-0EA1-4B3E55E65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182157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5C37CE3-86BD-E2F0-341B-B489AA399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8365204-0AE0-5060-A622-C3C879C039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4364A04-1FA8-8BB5-62F7-12D787B9D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99501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E61C61-0613-5DE1-D793-5AF6178C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88E044-3822-BC6C-2799-A1C469DC47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1D09F5D-DD0C-0DA6-E0D9-717B6E6F2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425003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A28E05-6B49-3EB3-2D7A-48EF391D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5D045F4-C886-0DA4-1EA2-C6FF7A96C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CE722F4-C08C-74F1-C36D-7A1C071A6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704478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E559055-5CFB-9BB8-CE91-EA01422C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68D66F-5011-C87E-CA51-D3EAD904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1C55BC6-E340-7A1F-0639-A48CDA1C8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989501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8C86067-9304-210F-CFA9-5C238E4F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EDDFE7-7CDC-087A-1654-80975753F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10B14FE-5CA9-EDC1-FF05-17B8A7DDDF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06887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2EFC090-8A87-B9FF-3FFC-D139234E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61D31CB-4BE5-247D-0089-37F01BE08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A2220E7-5C1D-A47F-817F-ABC1A7AA1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72524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B721764-C418-1085-3CE1-7B3FC737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95719A4-71D9-42B7-29E7-0A24F0ABC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CB6685C-E7C9-A199-FE22-793D32C08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900988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3F9E28A-A016-D659-1425-C74703D2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A427154-BDBC-DE63-5330-383E51920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77FA0DF-2BCF-5085-5FB5-66B56A5A0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807571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78D7AB-B09C-9CD5-3E05-B49ABFCE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1976898-B88C-9D89-E5B9-B84300AE7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4359698-C409-E522-C14F-0E5B0E450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656206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19FC66E-3DDB-5A5F-5B93-DD166FF04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D319207-ED35-EF49-D9D6-98058B8F2D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A572215-A377-3BB0-7150-16AC4E30F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497442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0BDB1ED-79EB-7E7D-E032-8946E5B3D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01EB853-FC9B-CD44-2750-301EFCDD6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744CC9B-4111-D963-811A-A32BA264D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576836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2D0E8DA-D76C-0DC4-1B85-990EBB1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3A7E44C-672A-BA52-7B83-C3A2FA3676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F48BD67-114B-5F75-E04E-A3F7A7C3CA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88396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12A00F5-58CC-83F3-38F7-2E822C9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72C2656-AB77-4D11-C2F9-8E187FA77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D1667B5-8BCA-B01F-B3C6-153F304F4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58977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EDE3FD1-5E9E-A86D-0F91-AF975798F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E295830-9FC1-AB89-D06D-1F25E9D44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CD2B740-3177-3A1A-3342-6301EE36F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986611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ab0add0b1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ab0add0b1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40812-025-00370-3#ref-CR113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hyperlink" Target="https://link.springer.com/article/10.1007/s40812-025-00370-3#ref-CR162" TargetMode="External"/><Relationship Id="rId4" Type="http://schemas.openxmlformats.org/officeDocument/2006/relationships/hyperlink" Target="https://link.springer.com/article/10.1007/s40812-025-00370-3#ref-CR74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7.png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/>
        </p:nvSpPr>
        <p:spPr>
          <a:xfrm>
            <a:off x="3369325" y="3297300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3200" b="1" dirty="0">
                <a:solidFill>
                  <a:srgbClr val="292E60"/>
                </a:solidFill>
              </a:rPr>
              <a:t>Final </a:t>
            </a:r>
            <a:r>
              <a:rPr lang="de" sz="3200" b="1" dirty="0" err="1">
                <a:solidFill>
                  <a:srgbClr val="292E60"/>
                </a:solidFill>
              </a:rPr>
              <a:t>Presentation</a:t>
            </a:r>
            <a:endParaRPr sz="3200" b="1" dirty="0">
              <a:solidFill>
                <a:srgbClr val="292E60"/>
              </a:solidFill>
            </a:endParaRPr>
          </a:p>
        </p:txBody>
      </p:sp>
      <p:sp>
        <p:nvSpPr>
          <p:cNvPr id="2" name="Google Shape;85;p18">
            <a:extLst>
              <a:ext uri="{FF2B5EF4-FFF2-40B4-BE49-F238E27FC236}">
                <a16:creationId xmlns:a16="http://schemas.microsoft.com/office/drawing/2014/main" id="{4F945E9B-2BB6-3194-45DE-7322A48154BF}"/>
              </a:ext>
            </a:extLst>
          </p:cNvPr>
          <p:cNvSpPr txBox="1"/>
          <p:nvPr/>
        </p:nvSpPr>
        <p:spPr>
          <a:xfrm>
            <a:off x="3369325" y="3914213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2800" dirty="0">
                <a:solidFill>
                  <a:srgbClr val="292E60"/>
                </a:solidFill>
              </a:rPr>
              <a:t>Neubert, Simon</a:t>
            </a:r>
            <a:endParaRPr sz="2800" dirty="0">
              <a:solidFill>
                <a:srgbClr val="292E6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>
                <a:solidFill>
                  <a:srgbClr val="292E60"/>
                </a:solidFill>
              </a:rPr>
              <a:t>Table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Contents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>
                <a:solidFill>
                  <a:srgbClr val="DCE1F3"/>
                </a:solidFill>
              </a:rPr>
              <a:t>01 </a:t>
            </a:r>
            <a:r>
              <a:rPr lang="de" dirty="0"/>
              <a:t>	</a:t>
            </a:r>
            <a:r>
              <a:rPr lang="de" b="1" dirty="0">
                <a:solidFill>
                  <a:srgbClr val="1D1D1B"/>
                </a:solidFill>
              </a:rPr>
              <a:t>Buffer Overflow 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lvl="0" indent="0">
              <a:spcBef>
                <a:spcPts val="1600"/>
              </a:spcBef>
              <a:buNone/>
            </a:pPr>
            <a:r>
              <a:rPr lang="de" b="1" dirty="0">
                <a:solidFill>
                  <a:srgbClr val="DCE1F3"/>
                </a:solidFill>
              </a:rPr>
              <a:t>02 </a:t>
            </a: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b="1" dirty="0">
                <a:solidFill>
                  <a:srgbClr val="1D1D1B"/>
                </a:solidFill>
              </a:rPr>
              <a:t> Penetration Test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rgbClr val="1D1D1B"/>
              </a:solidFill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46101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03 </a:t>
            </a:r>
            <a:r>
              <a:rPr lang="de" dirty="0"/>
              <a:t>	</a:t>
            </a:r>
            <a:r>
              <a:rPr lang="en-US" b="1" dirty="0">
                <a:solidFill>
                  <a:srgbClr val="1D1D1B"/>
                </a:solidFill>
              </a:rPr>
              <a:t>Digital Forensics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1100" y="88145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8000" b="1">
                <a:solidFill>
                  <a:srgbClr val="1D1D1B"/>
                </a:solidFill>
              </a:rPr>
              <a:t>01</a:t>
            </a:r>
            <a:endParaRPr sz="8000" b="1">
              <a:solidFill>
                <a:srgbClr val="1D1D1B"/>
              </a:solidFill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3000" b="1" dirty="0">
                <a:solidFill>
                  <a:srgbClr val="1D1D1B"/>
                </a:solidFill>
              </a:rPr>
              <a:t>Buffer Overflow</a:t>
            </a:r>
            <a:endParaRPr sz="3000" b="1" dirty="0">
              <a:solidFill>
                <a:srgbClr val="1D1D1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9F92CD-A9CF-7188-F6B9-CE57AC41A3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09"/>
          <a:stretch>
            <a:fillRect/>
          </a:stretch>
        </p:blipFill>
        <p:spPr>
          <a:xfrm>
            <a:off x="552475" y="1586274"/>
            <a:ext cx="7624057" cy="170145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CC4311-2632-9FE3-2F95-7ACD453B1DD1}"/>
              </a:ext>
            </a:extLst>
          </p:cNvPr>
          <p:cNvSpPr txBox="1"/>
          <p:nvPr/>
        </p:nvSpPr>
        <p:spPr>
          <a:xfrm>
            <a:off x="488022" y="3577691"/>
            <a:ext cx="7467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</a:t>
            </a:r>
            <a:r>
              <a:rPr lang="en-US" sz="1100" dirty="0"/>
              <a:t>/</a:t>
            </a:r>
            <a:r>
              <a:rPr lang="en-US" sz="1100" dirty="0" err="1"/>
              <a:t>SearchResults?query</a:t>
            </a:r>
            <a:r>
              <a:rPr lang="en-US" sz="1100" dirty="0"/>
              <a:t>=</a:t>
            </a:r>
            <a:r>
              <a:rPr lang="en-US" sz="1100" dirty="0" err="1"/>
              <a:t>Buffer+Overflow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2F2D345-29DA-29F9-1355-D677CE07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6623E8-7F36-0A8E-4EE2-08C41C2D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148697"/>
            <a:ext cx="7533386" cy="3595429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B265A171-97FD-35D3-3F08-2F4B610D5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C25985A-A3B9-34DC-EC75-4A4DC7B97C4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B84BEF4-3967-8D95-9DFA-63E7E2DA5A1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7558A0-FEB9-B7DC-DB7F-B1E9C396EBAE}"/>
              </a:ext>
            </a:extLst>
          </p:cNvPr>
          <p:cNvSpPr txBox="1"/>
          <p:nvPr/>
        </p:nvSpPr>
        <p:spPr>
          <a:xfrm>
            <a:off x="311700" y="475874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7C3E31-BC44-D4FD-ABBA-B431CA9588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307" y="1148698"/>
            <a:ext cx="3747914" cy="3595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C2D73-A3A2-F97B-D759-4B63F389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85"/>
          <a:stretch>
            <a:fillRect/>
          </a:stretch>
        </p:blipFill>
        <p:spPr>
          <a:xfrm>
            <a:off x="4324287" y="3086100"/>
            <a:ext cx="3611480" cy="1658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45F383-523F-B82A-69E7-F5C6894EC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115"/>
          <a:stretch>
            <a:fillRect/>
          </a:stretch>
        </p:blipFill>
        <p:spPr>
          <a:xfrm>
            <a:off x="4324287" y="1148697"/>
            <a:ext cx="3611480" cy="193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72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0CFB23E-35BF-2D7E-2742-7F5C3FCF1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DFDAFF-F768-D1B5-F353-638C1A36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904892"/>
            <a:ext cx="8536826" cy="2337050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DEEB6C0-9D11-0AF3-92B0-3D50323C44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2F89998-FE1A-F7CE-4CB7-23F090E345E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6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AEC1F929-5966-9421-C393-A3B9E04A9FF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5074B6-83D8-B899-5773-9C0FA14CC3F2}"/>
              </a:ext>
            </a:extLst>
          </p:cNvPr>
          <p:cNvSpPr txBox="1"/>
          <p:nvPr/>
        </p:nvSpPr>
        <p:spPr>
          <a:xfrm>
            <a:off x="323130" y="424416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31E9BD-87F4-424F-3AAA-64FD0F092D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47" t="84071" r="22951" b="6907"/>
          <a:stretch>
            <a:fillRect/>
          </a:stretch>
        </p:blipFill>
        <p:spPr>
          <a:xfrm>
            <a:off x="402383" y="1244069"/>
            <a:ext cx="8536829" cy="10247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15E44E-888B-9D2F-4608-7FC18A27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34" t="23242" r="19351" b="69254"/>
          <a:stretch>
            <a:fillRect/>
          </a:stretch>
        </p:blipFill>
        <p:spPr>
          <a:xfrm>
            <a:off x="449274" y="3274245"/>
            <a:ext cx="8489933" cy="8523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47EF03-2EC8-C12A-88E8-866780E8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5" t="8236" r="19335" b="84260"/>
          <a:stretch>
            <a:fillRect/>
          </a:stretch>
        </p:blipFill>
        <p:spPr>
          <a:xfrm>
            <a:off x="425826" y="2339536"/>
            <a:ext cx="8513381" cy="85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4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B899898-30B2-98F2-2387-647F302C7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5BE946C5-E96C-681C-7889-19C036D7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3E1F5A9-7AAB-853F-FC28-CE506AD3641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981767-08EE-021C-A742-893EA0B8CF4F}"/>
              </a:ext>
            </a:extLst>
          </p:cNvPr>
          <p:cNvSpPr txBox="1"/>
          <p:nvPr/>
        </p:nvSpPr>
        <p:spPr>
          <a:xfrm>
            <a:off x="346504" y="3223608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B2380-5D98-7D31-0CC9-2DCFDADCBB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6" t="38925" r="42047" b="52594"/>
          <a:stretch>
            <a:fillRect/>
          </a:stretch>
        </p:blipFill>
        <p:spPr>
          <a:xfrm>
            <a:off x="416842" y="1929629"/>
            <a:ext cx="8310315" cy="1284241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4B73838-1449-36FC-747B-9D29F3441EC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7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091968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51C8AFA-14D7-BD76-836C-EBC9F3BB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AC46F8A-FF0B-B3F7-AF4C-3CDE904B2A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0DB6EBD-CEF9-FD2C-B1DE-6FF44424DD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B18E97-4F11-50DA-BA59-1FE2C015F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515" y="1153746"/>
            <a:ext cx="4814969" cy="3355888"/>
          </a:xfrm>
          <a:prstGeom prst="rect">
            <a:avLst/>
          </a:prstGeom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28E42C6F-7729-6833-BA8D-B2F2BFE14B89}"/>
              </a:ext>
            </a:extLst>
          </p:cNvPr>
          <p:cNvSpPr txBox="1"/>
          <p:nvPr/>
        </p:nvSpPr>
        <p:spPr>
          <a:xfrm>
            <a:off x="9358" y="4825549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8</a:t>
            </a:r>
            <a:endParaRPr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6FEFE-1732-502E-601A-EE5827A1A445}"/>
              </a:ext>
            </a:extLst>
          </p:cNvPr>
          <p:cNvSpPr txBox="1"/>
          <p:nvPr/>
        </p:nvSpPr>
        <p:spPr>
          <a:xfrm>
            <a:off x="2164515" y="4518329"/>
            <a:ext cx="4814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769BFC-36D8-C788-A314-5E8B9610FAB2}"/>
              </a:ext>
            </a:extLst>
          </p:cNvPr>
          <p:cNvCxnSpPr>
            <a:cxnSpLocks/>
          </p:cNvCxnSpPr>
          <p:nvPr/>
        </p:nvCxnSpPr>
        <p:spPr>
          <a:xfrm>
            <a:off x="2167690" y="4509634"/>
            <a:ext cx="4814969" cy="0"/>
          </a:xfrm>
          <a:prstGeom prst="line">
            <a:avLst/>
          </a:prstGeom>
          <a:ln w="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0DFFA54-D842-F0D2-7115-65F24475566E}"/>
              </a:ext>
            </a:extLst>
          </p:cNvPr>
          <p:cNvSpPr/>
          <p:nvPr/>
        </p:nvSpPr>
        <p:spPr>
          <a:xfrm>
            <a:off x="6979484" y="4250041"/>
            <a:ext cx="441325" cy="536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C18B6D1-F4BE-A10B-7D85-2E757B52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B95D3AB-0522-F969-DC70-A848467E8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2D91CEC-439D-E354-3DD5-CAAFDD8B1C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A45E7D-2533-ED17-1A89-D960F71909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8" t="82934" r="1696"/>
          <a:stretch>
            <a:fillRect/>
          </a:stretch>
        </p:blipFill>
        <p:spPr>
          <a:xfrm>
            <a:off x="506896" y="2236305"/>
            <a:ext cx="8090452" cy="991182"/>
          </a:xfrm>
          <a:prstGeom prst="rect">
            <a:avLst/>
          </a:prstGeom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34CC35D5-F454-1FFB-A9DB-6C1F62A269F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8</a:t>
            </a:r>
            <a:endParaRPr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0FA4E3-31AE-BEF5-7FA9-9A8DE186D7EF}"/>
              </a:ext>
            </a:extLst>
          </p:cNvPr>
          <p:cNvSpPr txBox="1"/>
          <p:nvPr/>
        </p:nvSpPr>
        <p:spPr>
          <a:xfrm>
            <a:off x="546652" y="3227487"/>
            <a:ext cx="79612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</p:spTree>
    <p:extLst>
      <p:ext uri="{BB962C8B-B14F-4D97-AF65-F5344CB8AC3E}">
        <p14:creationId xmlns:p14="http://schemas.microsoft.com/office/powerpoint/2010/main" val="2666007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19419B8-CE23-B4CF-0AC5-A661C6E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D641F1C-05A6-06BC-176A-1812B444CFF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7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2C8BB7FF-A6BA-B0E9-E698-6256E0CD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Preparation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E4B07B27-B5CF-68E7-7088-551C33F190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649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5;p21">
            <a:extLst>
              <a:ext uri="{FF2B5EF4-FFF2-40B4-BE49-F238E27FC236}">
                <a16:creationId xmlns:a16="http://schemas.microsoft.com/office/drawing/2014/main" id="{BB37C9ED-5A21-FD7F-BDC9-B6F334500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600"/>
              </a:spcAft>
              <a:buNone/>
            </a:pPr>
            <a:r>
              <a:rPr lang="de" b="1" dirty="0" err="1">
                <a:solidFill>
                  <a:srgbClr val="1D1D1A"/>
                </a:solidFill>
              </a:rPr>
              <a:t>Active</a:t>
            </a:r>
            <a:r>
              <a:rPr lang="de" b="1" dirty="0">
                <a:solidFill>
                  <a:srgbClr val="1D1D1A"/>
                </a:solidFill>
              </a:rPr>
              <a:t> Scanning </a:t>
            </a:r>
            <a:r>
              <a:rPr lang="de" dirty="0">
                <a:solidFill>
                  <a:srgbClr val="1D1D1A"/>
                </a:solidFill>
              </a:rPr>
              <a:t>(</a:t>
            </a:r>
            <a:r>
              <a:rPr lang="en-US" dirty="0">
                <a:solidFill>
                  <a:srgbClr val="1D1D1A"/>
                </a:solidFill>
              </a:rPr>
              <a:t>T1595</a:t>
            </a:r>
            <a:r>
              <a:rPr lang="en-US" dirty="0"/>
              <a:t>),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to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gather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about</a:t>
            </a:r>
            <a:r>
              <a:rPr lang="de" dirty="0">
                <a:solidFill>
                  <a:srgbClr val="1D1D1A"/>
                </a:solidFill>
              </a:rPr>
              <a:t>:</a:t>
            </a:r>
          </a:p>
          <a:p>
            <a:pPr marL="742950" lvl="1" indent="-285750">
              <a:spcAft>
                <a:spcPts val="1600"/>
              </a:spcAft>
              <a:buFont typeface="Wingdings" pitchFamily="2" charset="2"/>
              <a:buChar char="Ø"/>
            </a:pPr>
            <a:r>
              <a:rPr lang="de" sz="1800" dirty="0">
                <a:solidFill>
                  <a:srgbClr val="1D1D1A"/>
                </a:solidFill>
              </a:rPr>
              <a:t>OS</a:t>
            </a:r>
          </a:p>
          <a:p>
            <a:pPr marL="742950" lvl="1" indent="-285750">
              <a:spcAft>
                <a:spcPts val="1600"/>
              </a:spcAft>
              <a:buFont typeface="Wingdings" pitchFamily="2" charset="2"/>
              <a:buChar char="Ø"/>
            </a:pPr>
            <a:r>
              <a:rPr lang="de" sz="1800" dirty="0">
                <a:solidFill>
                  <a:srgbClr val="1D1D1A"/>
                </a:solidFill>
              </a:rPr>
              <a:t>Services</a:t>
            </a:r>
          </a:p>
          <a:p>
            <a:pPr marL="742950" lvl="1" indent="-285750">
              <a:spcAft>
                <a:spcPts val="1600"/>
              </a:spcAft>
              <a:buFont typeface="Wingdings" pitchFamily="2" charset="2"/>
              <a:buChar char="Ø"/>
            </a:pPr>
            <a:r>
              <a:rPr lang="de" sz="1800" dirty="0" err="1">
                <a:solidFill>
                  <a:srgbClr val="1D1D1A"/>
                </a:solidFill>
              </a:rPr>
              <a:t>Vulnerabilities</a:t>
            </a:r>
            <a:endParaRPr lang="de" sz="1800" dirty="0">
              <a:solidFill>
                <a:srgbClr val="1D1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388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E3C697-7120-32CC-AF85-67BB7EFBE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BD694D-0403-798D-4DC3-2FE64F7E962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7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E37FAFDD-CEA0-1562-C3E2-D4CEA5301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30903546-4FF6-DF8F-FAFA-AD51104D4F9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5;p21">
            <a:extLst>
              <a:ext uri="{FF2B5EF4-FFF2-40B4-BE49-F238E27FC236}">
                <a16:creationId xmlns:a16="http://schemas.microsoft.com/office/drawing/2014/main" id="{E446D0B5-B176-4F52-42DB-6AA2AAD6F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algn="l" rtl="0">
              <a:spcBef>
                <a:spcPts val="0"/>
              </a:spcBef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Inciting</a:t>
            </a:r>
            <a:r>
              <a:rPr lang="de" b="1" dirty="0">
                <a:solidFill>
                  <a:srgbClr val="1D1D1A"/>
                </a:solidFill>
              </a:rPr>
              <a:t> a crash</a:t>
            </a:r>
          </a:p>
          <a:p>
            <a:pPr marL="342900" lvl="0" algn="l" rtl="0">
              <a:spcBef>
                <a:spcPts val="0"/>
              </a:spcBef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Determining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offset</a:t>
            </a:r>
            <a:endParaRPr lang="de" dirty="0">
              <a:solidFill>
                <a:srgbClr val="1D1D1A"/>
              </a:solidFill>
            </a:endParaRPr>
          </a:p>
          <a:p>
            <a:pPr marL="342900" lvl="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Determining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bad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characters</a:t>
            </a:r>
            <a:endParaRPr lang="de" dirty="0">
              <a:solidFill>
                <a:srgbClr val="1D1D1A"/>
              </a:solidFill>
            </a:endParaRPr>
          </a:p>
          <a:p>
            <a:pPr marL="342900" lvl="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F718C9-436C-FE1B-925F-79F64400D134}"/>
              </a:ext>
            </a:extLst>
          </p:cNvPr>
          <p:cNvSpPr txBox="1"/>
          <p:nvPr/>
        </p:nvSpPr>
        <p:spPr>
          <a:xfrm>
            <a:off x="6759146" y="4667111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Denial of Service (</a:t>
            </a:r>
            <a:r>
              <a:rPr lang="en-US" dirty="0"/>
              <a:t>T0814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5466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EAEC445-DF87-34C3-47F6-11A25520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C231323-174C-17EB-821F-F3A5FCAB4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40E876C-B61E-1596-C98E-57094FC2198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C3B7E9F-F98E-D474-CDB6-68275B3908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EFDF85C-18FD-3273-7727-BC1E1064CB43}"/>
              </a:ext>
            </a:extLst>
          </p:cNvPr>
          <p:cNvGrpSpPr/>
          <p:nvPr/>
        </p:nvGrpSpPr>
        <p:grpSpPr>
          <a:xfrm>
            <a:off x="421997" y="1231899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E0CBC-5688-DEBE-2C28-ACB126ED7203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5556E3E-49A1-D233-8767-A5242A5B3FA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582D91-F6B8-0D97-DEC6-26F75584D3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468314-2232-3061-6D32-6979AD66F36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4D0408-5C22-E51E-927D-3598279D2A2E}"/>
              </a:ext>
            </a:extLst>
          </p:cNvPr>
          <p:cNvGrpSpPr/>
          <p:nvPr/>
        </p:nvGrpSpPr>
        <p:grpSpPr>
          <a:xfrm>
            <a:off x="6429697" y="1231899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08BCE9-A755-4E74-4B9C-8694814254F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03FCC-0676-FA8F-B20D-337451CAEF46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</a:t>
              </a:r>
              <a:r>
                <a:rPr lang="en-US">
                  <a:solidFill>
                    <a:schemeClr val="tx1"/>
                  </a:solidFill>
                </a:rPr>
                <a:t>A A </a:t>
              </a:r>
              <a:r>
                <a:rPr lang="en-US" dirty="0">
                  <a:solidFill>
                    <a:schemeClr val="tx1"/>
                  </a:solidFill>
                </a:rPr>
                <a:t>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AD6F315-C4E5-EB97-5764-AF139B87B3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685426-AACB-0D5B-1723-0EB490DF45C8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FC7731-801E-A4B2-CEFE-E6F9C5E91856}"/>
              </a:ext>
            </a:extLst>
          </p:cNvPr>
          <p:cNvGrpSpPr/>
          <p:nvPr/>
        </p:nvGrpSpPr>
        <p:grpSpPr>
          <a:xfrm>
            <a:off x="3425847" y="1233624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EB1A03-D66E-4E13-A40A-B7F27779310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 x x x x x x x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AA5E-B112-4E68-04DF-CFEC20E1E9E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D0F2BA-97C3-366D-B8A0-4C99A2C36C9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1A28DF7-39BD-F8E8-DC16-A161F0588D9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7803B17-C4D0-0DDE-8E0C-440CBAAD4205}"/>
              </a:ext>
            </a:extLst>
          </p:cNvPr>
          <p:cNvSpPr/>
          <p:nvPr/>
        </p:nvSpPr>
        <p:spPr>
          <a:xfrm>
            <a:off x="2295073" y="2862441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C5C4008-040B-E5FA-BCFD-A29B627683F9}"/>
              </a:ext>
            </a:extLst>
          </p:cNvPr>
          <p:cNvSpPr/>
          <p:nvPr/>
        </p:nvSpPr>
        <p:spPr>
          <a:xfrm>
            <a:off x="5298923" y="2862441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4FE55-7F49-C2B4-B688-BAB96B5A2E59}"/>
              </a:ext>
            </a:extLst>
          </p:cNvPr>
          <p:cNvSpPr txBox="1"/>
          <p:nvPr/>
        </p:nvSpPr>
        <p:spPr>
          <a:xfrm>
            <a:off x="2295073" y="261158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Regular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F95EED-A16F-E695-E6D7-29717444B7EB}"/>
              </a:ext>
            </a:extLst>
          </p:cNvPr>
          <p:cNvSpPr txBox="1"/>
          <p:nvPr/>
        </p:nvSpPr>
        <p:spPr>
          <a:xfrm>
            <a:off x="2295073" y="3094803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ADB07-F4D4-4749-F676-E93A4E63DE60}"/>
              </a:ext>
            </a:extLst>
          </p:cNvPr>
          <p:cNvSpPr txBox="1"/>
          <p:nvPr/>
        </p:nvSpPr>
        <p:spPr>
          <a:xfrm>
            <a:off x="5268267" y="261158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Malicious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8F545A-D9BC-62A0-0FB2-D1F82204F51F}"/>
              </a:ext>
            </a:extLst>
          </p:cNvPr>
          <p:cNvSpPr txBox="1"/>
          <p:nvPr/>
        </p:nvSpPr>
        <p:spPr>
          <a:xfrm>
            <a:off x="5268267" y="3094803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22468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/>
      <p:bldP spid="27" grpId="0"/>
      <p:bldP spid="28" grpId="0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69EA4C6F-EA98-55B4-AA21-A321C934F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E86C6DB-C5FB-F4FA-3974-9D39B21DC9A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9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9BBAF452-7514-CB1F-FAEA-8CDA45E762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B755F829-6489-00EB-4821-C47C7CC676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67ADD488-7843-1156-510E-09D794B6B1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2111212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algn="l" rtl="0">
              <a:spcBef>
                <a:spcPts val="0"/>
              </a:spcBef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B"/>
                </a:solidFill>
              </a:rPr>
              <a:t>Inciting</a:t>
            </a:r>
            <a:r>
              <a:rPr lang="de" dirty="0">
                <a:solidFill>
                  <a:srgbClr val="1D1D1B"/>
                </a:solidFill>
              </a:rPr>
              <a:t> a crash</a:t>
            </a:r>
            <a:r>
              <a:rPr lang="de" dirty="0">
                <a:solidFill>
                  <a:srgbClr val="1D1D1B"/>
                </a:solidFill>
                <a:sym typeface="Wingdings" pitchFamily="2" charset="2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8E5C91-2761-75F2-0DF0-161874C776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54" y="1222488"/>
            <a:ext cx="6432159" cy="35420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2DA6B85-42F6-FD87-8C0C-79DFDCDABB05}"/>
              </a:ext>
            </a:extLst>
          </p:cNvPr>
          <p:cNvGrpSpPr/>
          <p:nvPr/>
        </p:nvGrpSpPr>
        <p:grpSpPr>
          <a:xfrm>
            <a:off x="389054" y="1222488"/>
            <a:ext cx="6432158" cy="3542034"/>
            <a:chOff x="389054" y="1222488"/>
            <a:chExt cx="6432158" cy="354203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AC10928-568C-D45F-A2E7-62BA15FC4D2A}"/>
                </a:ext>
              </a:extLst>
            </p:cNvPr>
            <p:cNvSpPr/>
            <p:nvPr/>
          </p:nvSpPr>
          <p:spPr>
            <a:xfrm>
              <a:off x="389054" y="1222488"/>
              <a:ext cx="6432158" cy="3542034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8878BA-A1F3-E28E-A4AF-8E485D989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5746" r="74082"/>
            <a:stretch>
              <a:fillRect/>
            </a:stretch>
          </p:blipFill>
          <p:spPr>
            <a:xfrm>
              <a:off x="719978" y="1737343"/>
              <a:ext cx="5760337" cy="25123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326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A6929F35-4402-F58F-5A36-6DA695EE3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7125A76-7753-0B94-3C10-C89185F46F2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10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7E9724EC-3BDA-0A8E-7DD0-0ED7967E44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ADEA9F71-814B-9CFC-98AA-DC0BE3D957A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6C27D6BE-CE8C-F6D3-8082-8BA7E8215A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2. </a:t>
            </a:r>
            <a:r>
              <a:rPr lang="en-US" dirty="0">
                <a:solidFill>
                  <a:srgbClr val="1D1D1B"/>
                </a:solidFill>
              </a:rPr>
              <a:t>Determining the offset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7B605D5-2379-0C4C-F549-04F1B6BBD7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181" t="39225"/>
          <a:stretch>
            <a:fillRect/>
          </a:stretch>
        </p:blipFill>
        <p:spPr>
          <a:xfrm>
            <a:off x="552475" y="1843166"/>
            <a:ext cx="8365383" cy="21478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287F735-5E07-0C0D-8051-EC73DE0BBB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4" y="2120892"/>
            <a:ext cx="8032443" cy="6152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6A8398F-6A3A-48B4-A044-E9D3E2742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45" y="2917095"/>
            <a:ext cx="8032442" cy="7791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234F1C1-C9A6-0839-5AED-869E826A12E5}"/>
              </a:ext>
            </a:extLst>
          </p:cNvPr>
          <p:cNvSpPr/>
          <p:nvPr/>
        </p:nvSpPr>
        <p:spPr>
          <a:xfrm>
            <a:off x="1182371" y="3428564"/>
            <a:ext cx="3221048" cy="267712"/>
          </a:xfrm>
          <a:prstGeom prst="rect">
            <a:avLst/>
          </a:prstGeom>
          <a:noFill/>
          <a:ln>
            <a:solidFill>
              <a:srgbClr val="D517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340089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A4A60D2-6444-77FF-E08E-D2F3C36D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40310F-413A-6FEA-047D-F53D35D5EB3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9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1E8B2E6F-2686-4F50-5BE2-DC5F49432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1E67F128-0715-2B91-139D-08DFAEF907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7EFAF25-BC23-7EB7-DBC4-58E464C70609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Determining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the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offset</a:t>
            </a:r>
            <a:endParaRPr lang="de" b="1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Determining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bad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characters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DFCB1-2193-2DA5-5A55-2817575151C0}"/>
              </a:ext>
            </a:extLst>
          </p:cNvPr>
          <p:cNvSpPr txBox="1"/>
          <p:nvPr/>
        </p:nvSpPr>
        <p:spPr>
          <a:xfrm>
            <a:off x="5622324" y="4667111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dirty="0"/>
              <a:t>T0819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74586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122F35-92D9-C01E-9642-1070C072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39C87C4-C33B-48F1-3727-F01D368E88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D7DC2DF-D5B0-7992-5D0B-96B85FC159A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10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5546CECD-C0FD-FA18-1777-2DF728F3080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FBE7409-0F11-5D43-88C5-53A09C25BCFD}"/>
              </a:ext>
            </a:extLst>
          </p:cNvPr>
          <p:cNvGrpSpPr/>
          <p:nvPr/>
        </p:nvGrpSpPr>
        <p:grpSpPr>
          <a:xfrm>
            <a:off x="1863228" y="1186075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877C3D-297A-2556-5503-E1DBB91A421B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DC7AC9-23D4-A587-2A6E-781E767E045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BC8E22-2A92-676E-3795-0DB787D68537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DBB1B32-D47E-F12B-B3BA-2F7F2E6E341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89F9CF4-489E-AED2-F617-41D732BF0F53}"/>
              </a:ext>
            </a:extLst>
          </p:cNvPr>
          <p:cNvGrpSpPr/>
          <p:nvPr/>
        </p:nvGrpSpPr>
        <p:grpSpPr>
          <a:xfrm>
            <a:off x="5001605" y="1186075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C51D75-FF0D-B977-AB77-4527A570BB45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Aa0Aa1Aa2Aa3Aa4Aa5Aa6Aa7Aa8Aa9Ab0Ab1Ab2Ab3Ab4Ab5Ab6Ab7Ab8Ab9Ac0Ac1Ac2Ac3Ac4Ac5Ac6Ac7Ac8Ac9Ad0Ad1Ad2Ad3Ad4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9C11E5-0B4A-77DF-85B4-E71D0BF1914B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Ad5Ad6Ad7Ad8Ad9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A5D60B-E125-6860-0AFB-F82C4DBF97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Ae0Ae1Ae2Ae3Ae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D57A26F-EF44-48B4-02BC-04C45964A33C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4Ae5Ae6Ae7Ae8Ae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0A8BC530-D75F-A427-4E1E-36AE5F9C00AD}"/>
              </a:ext>
            </a:extLst>
          </p:cNvPr>
          <p:cNvSpPr/>
          <p:nvPr/>
        </p:nvSpPr>
        <p:spPr>
          <a:xfrm>
            <a:off x="3818896" y="2816617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650D-8724-B39D-F52E-B8FAA4F7B88F}"/>
              </a:ext>
            </a:extLst>
          </p:cNvPr>
          <p:cNvSpPr txBox="1"/>
          <p:nvPr/>
        </p:nvSpPr>
        <p:spPr>
          <a:xfrm>
            <a:off x="3755118" y="2534939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2B227-F7D4-89CC-C64D-268EE8AF2AED}"/>
              </a:ext>
            </a:extLst>
          </p:cNvPr>
          <p:cNvSpPr txBox="1"/>
          <p:nvPr/>
        </p:nvSpPr>
        <p:spPr>
          <a:xfrm>
            <a:off x="3736304" y="3084038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261205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BE183116-037D-EC97-66BB-329CC1789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552E40F-6E28-2DBE-6E21-0A3C44A1218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10</a:t>
            </a:r>
            <a:endParaRPr sz="10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3916A5-8DDE-CA0A-6DA7-AF40C1855019}"/>
              </a:ext>
            </a:extLst>
          </p:cNvPr>
          <p:cNvGrpSpPr/>
          <p:nvPr/>
        </p:nvGrpSpPr>
        <p:grpSpPr>
          <a:xfrm>
            <a:off x="421997" y="1231899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3CD62E9-B0FE-4895-9076-2247515106FE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216CB2-401C-DAAF-2BA5-598429291B16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B12A8A8-9854-1875-69F4-8768CE8C436D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C333DB4-156F-672B-3BFD-D1A8F3E29A66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C03540-C062-EE24-C4E8-EAF3436F3B01}"/>
              </a:ext>
            </a:extLst>
          </p:cNvPr>
          <p:cNvGrpSpPr/>
          <p:nvPr/>
        </p:nvGrpSpPr>
        <p:grpSpPr>
          <a:xfrm>
            <a:off x="3560374" y="1231899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3D01B52-806C-42CB-DF1B-6A51F59A5140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Aa0Aa1Aa2Aa3Aa4Aa5Aa6Aa7Aa8Aa9Ab0Ab1Ab2Ab3Ab4Ab5Ab6Ab7Ab8Ab9Ac0Ac1Ac2Ac3Ac4Ac5Ac6Ac7Ac8Ac9Ad0Ad1Ad2Ad3Ad4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96FEC08-3261-0B30-D242-EF41C9BB29A7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Ad5Ad6Ad7Ad8Ad9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ACBD104-5731-C2D1-9A9E-8B8AABEAFD89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Ae0Ae1Ae2Ae3Ae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EFE58A6-7EBB-CC2B-F70F-C7393D4E88C7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4Ae5Ae6Ae7Ae8Ae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B3222A86-0921-338F-B1F7-947E448A7DD1}"/>
              </a:ext>
            </a:extLst>
          </p:cNvPr>
          <p:cNvSpPr/>
          <p:nvPr/>
        </p:nvSpPr>
        <p:spPr>
          <a:xfrm>
            <a:off x="2377665" y="2862441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1743FFD-39A1-A2F3-2019-84B3D7A4493A}"/>
              </a:ext>
            </a:extLst>
          </p:cNvPr>
          <p:cNvGrpSpPr/>
          <p:nvPr/>
        </p:nvGrpSpPr>
        <p:grpSpPr>
          <a:xfrm>
            <a:off x="6634973" y="1237899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AC62676-6870-2B0F-82F3-95D3E2771924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CA69FF-015B-5BBF-58D5-7EDAFD1E7CA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F16C90F-DBF6-9012-713F-2C88A9ECB9B2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A6D4F0-4258-EAFC-02A3-CA8BA1D374D7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7" name="Right Arrow 6">
            <a:extLst>
              <a:ext uri="{FF2B5EF4-FFF2-40B4-BE49-F238E27FC236}">
                <a16:creationId xmlns:a16="http://schemas.microsoft.com/office/drawing/2014/main" id="{FAD0E4AC-0245-4D68-B896-2C289BB767CF}"/>
              </a:ext>
            </a:extLst>
          </p:cNvPr>
          <p:cNvSpPr/>
          <p:nvPr/>
        </p:nvSpPr>
        <p:spPr>
          <a:xfrm>
            <a:off x="5485386" y="2862441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F2153A-CE4D-8D97-5C5E-B46A746AE72E}"/>
              </a:ext>
            </a:extLst>
          </p:cNvPr>
          <p:cNvSpPr txBox="1"/>
          <p:nvPr/>
        </p:nvSpPr>
        <p:spPr>
          <a:xfrm>
            <a:off x="2313887" y="2580763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4B20C-DF95-622C-7274-FF5F6D570D05}"/>
              </a:ext>
            </a:extLst>
          </p:cNvPr>
          <p:cNvSpPr txBox="1"/>
          <p:nvPr/>
        </p:nvSpPr>
        <p:spPr>
          <a:xfrm>
            <a:off x="2295073" y="3129862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Pattern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185946-082D-C4D1-1AA7-3B1967E17398}"/>
              </a:ext>
            </a:extLst>
          </p:cNvPr>
          <p:cNvSpPr txBox="1"/>
          <p:nvPr/>
        </p:nvSpPr>
        <p:spPr>
          <a:xfrm>
            <a:off x="5452264" y="2580763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BA77A4-41D1-8D6D-C64F-0FDC234002DD}"/>
              </a:ext>
            </a:extLst>
          </p:cNvPr>
          <p:cNvSpPr txBox="1"/>
          <p:nvPr/>
        </p:nvSpPr>
        <p:spPr>
          <a:xfrm>
            <a:off x="5452264" y="3129862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</a:t>
            </a:r>
          </a:p>
        </p:txBody>
      </p:sp>
    </p:spTree>
    <p:extLst>
      <p:ext uri="{BB962C8B-B14F-4D97-AF65-F5344CB8AC3E}">
        <p14:creationId xmlns:p14="http://schemas.microsoft.com/office/powerpoint/2010/main" val="3340026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9" grpId="0"/>
      <p:bldP spid="20" grpId="0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8C347CE8-0FD0-F526-1F28-3DCB23FD7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4D7CACD-80D8-0005-F00C-4FB9A7CDC32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12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B1AFCB15-ABDF-ED71-600C-EE45C158AF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2C45CB61-BEE0-4BB0-7AB2-3B42E28E5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4732A128-56A7-6B2B-8F0F-7A8C62531B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2. </a:t>
            </a:r>
            <a:r>
              <a:rPr lang="de" dirty="0" err="1">
                <a:solidFill>
                  <a:srgbClr val="1D1D1B"/>
                </a:solidFill>
              </a:rPr>
              <a:t>Determining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the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offset</a:t>
            </a:r>
            <a:endParaRPr dirty="0">
              <a:solidFill>
                <a:srgbClr val="1D1D1B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7631DF-67A5-4807-A1C4-C8DEB54D356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181" t="39225"/>
          <a:stretch>
            <a:fillRect/>
          </a:stretch>
        </p:blipFill>
        <p:spPr>
          <a:xfrm>
            <a:off x="552475" y="1843166"/>
            <a:ext cx="8365383" cy="2147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C3DA5D-4277-761B-FCDC-B69941F1D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94" y="2529772"/>
            <a:ext cx="8032442" cy="77918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D77E7EA-46F2-BDDC-5C68-801627E0C614}"/>
              </a:ext>
            </a:extLst>
          </p:cNvPr>
          <p:cNvSpPr/>
          <p:nvPr/>
        </p:nvSpPr>
        <p:spPr>
          <a:xfrm>
            <a:off x="1168720" y="3041241"/>
            <a:ext cx="3221048" cy="267712"/>
          </a:xfrm>
          <a:prstGeom prst="rect">
            <a:avLst/>
          </a:prstGeom>
          <a:noFill/>
          <a:ln>
            <a:solidFill>
              <a:srgbClr val="D517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82787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0E2393C-8656-63DA-ADF4-07C6D8DFC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8B0CAA91-2F4D-403D-9DAA-076F0D9A0CA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11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48BF40A5-A0F4-9F3B-D427-13122959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DFDD6008-F79D-87DF-1D39-A68C26958F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D295E9BF-8583-9AB6-6B8F-49D7974D0801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Determining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offset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Determining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bad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characters</a:t>
            </a:r>
            <a:endParaRPr lang="de" b="1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A0F5AE-2679-44AD-FF43-1FD85B0FE240}"/>
              </a:ext>
            </a:extLst>
          </p:cNvPr>
          <p:cNvSpPr txBox="1"/>
          <p:nvPr/>
        </p:nvSpPr>
        <p:spPr>
          <a:xfrm>
            <a:off x="5622324" y="4667111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dirty="0"/>
              <a:t>T0819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4048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A47016B-EC8E-3ED9-4C91-FE57678EC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22FFBFB7-655F-C934-F7AE-35FAEE2422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2A7E82A-EFD6-F2AA-BD6E-4EAED814FF5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DD1ED79-BD12-A0AA-1CCC-FD94AAE2CBC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84C67D-C624-589C-DEAB-AB7B6175D09A}"/>
              </a:ext>
            </a:extLst>
          </p:cNvPr>
          <p:cNvGrpSpPr/>
          <p:nvPr/>
        </p:nvGrpSpPr>
        <p:grpSpPr>
          <a:xfrm>
            <a:off x="1863228" y="1231900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2F79FF-DCA6-7660-E4D5-CEAFD45E73A5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16BA9F7-3319-FFD1-8F84-6FFE90B08E80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B9247E-9C01-53D4-1876-F85A2052196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61537F4-7AAB-70E7-093F-B4014997EC9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E7FE51A-E8A6-502F-668C-541AA079D0CA}"/>
              </a:ext>
            </a:extLst>
          </p:cNvPr>
          <p:cNvGrpSpPr/>
          <p:nvPr/>
        </p:nvGrpSpPr>
        <p:grpSpPr>
          <a:xfrm>
            <a:off x="4935361" y="1237900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9B6C008-B8AD-346C-FC86-D3BE0A132619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239DCC7-A439-DDB4-E3DD-E75C36B75BD2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A2ABA15-FDF2-8B9E-47A2-34FFC5F434F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F78260B-6668-CE3D-4C01-D416AB7B87C8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3890AE7-7406-F47F-07CA-6F6E82AFBF5A}"/>
              </a:ext>
            </a:extLst>
          </p:cNvPr>
          <p:cNvSpPr/>
          <p:nvPr/>
        </p:nvSpPr>
        <p:spPr>
          <a:xfrm>
            <a:off x="3785774" y="2862442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022A05-7ED5-CBC3-0A3B-7668396AD339}"/>
              </a:ext>
            </a:extLst>
          </p:cNvPr>
          <p:cNvSpPr txBox="1"/>
          <p:nvPr/>
        </p:nvSpPr>
        <p:spPr>
          <a:xfrm>
            <a:off x="3753885" y="257392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5BB8F1-95EB-CAE7-B8AE-D7CE3DF77E27}"/>
              </a:ext>
            </a:extLst>
          </p:cNvPr>
          <p:cNvSpPr txBox="1"/>
          <p:nvPr/>
        </p:nvSpPr>
        <p:spPr>
          <a:xfrm>
            <a:off x="3753885" y="3123020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</a:t>
            </a:r>
          </a:p>
        </p:txBody>
      </p:sp>
    </p:spTree>
    <p:extLst>
      <p:ext uri="{BB962C8B-B14F-4D97-AF65-F5344CB8AC3E}">
        <p14:creationId xmlns:p14="http://schemas.microsoft.com/office/powerpoint/2010/main" val="1662832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8FFD47DC-98C9-D96B-3AFB-29CDBBC36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A9D3B9E8-D8B6-C3AD-402A-FDAB96839A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C1624D5-28ED-73FE-A4E9-023F4F275BA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7147668-544F-66B5-D701-F40DAE07F78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CE21302-57FD-8929-1DCD-FF6A7367B7B5}"/>
              </a:ext>
            </a:extLst>
          </p:cNvPr>
          <p:cNvGrpSpPr/>
          <p:nvPr/>
        </p:nvGrpSpPr>
        <p:grpSpPr>
          <a:xfrm>
            <a:off x="421997" y="1231899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AFDCC9A-1171-7F34-B9A4-C4E6BDD7EF5A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2EFC1E-74B7-727C-2BE1-5C8EA5317A8C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607C52F-7457-AE47-3A8C-CC350FC373A1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D7B2577-8E45-5508-C882-FB8B8F8B484A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A33333C-2461-747F-0ECF-7D87D3AC17CA}"/>
              </a:ext>
            </a:extLst>
          </p:cNvPr>
          <p:cNvGrpSpPr/>
          <p:nvPr/>
        </p:nvGrpSpPr>
        <p:grpSpPr>
          <a:xfrm>
            <a:off x="3494130" y="1237899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8003ED-9EBB-3E84-B013-171266B32B32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AA807B-2CFF-D010-F09A-D368246E260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FBF473-9600-E570-0C8E-3E04D5326157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752767A-1186-8619-1C17-EBB4390B8B51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2DD40967-5553-DFD6-3823-2F8C1B6BBBF6}"/>
              </a:ext>
            </a:extLst>
          </p:cNvPr>
          <p:cNvSpPr/>
          <p:nvPr/>
        </p:nvSpPr>
        <p:spPr>
          <a:xfrm>
            <a:off x="2344543" y="2862441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730EE6-C7CA-2C81-F528-3C50DFEF1F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31" t="60949"/>
          <a:stretch>
            <a:fillRect/>
          </a:stretch>
        </p:blipFill>
        <p:spPr>
          <a:xfrm>
            <a:off x="399695" y="1140251"/>
            <a:ext cx="8322308" cy="3721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17A689-F1DE-170F-615E-170DD0C794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695" y="1140251"/>
            <a:ext cx="6858534" cy="37034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5E0881-6D03-AE5D-2672-A7E7363B6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45" y="2198495"/>
            <a:ext cx="7991509" cy="157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365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D4251804-07D5-08A2-CC2F-F8BCF5434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8BA688A-EBDA-9A6E-C46A-EF91977D1AC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12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FB6F436D-FAD8-28A0-F4AF-FAD3EB956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D1868703-CB1F-BA67-593B-78B9CF6C563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1DB7741-075B-7CCC-29F2-2F7316C8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281"/>
          <a:stretch>
            <a:fillRect/>
          </a:stretch>
        </p:blipFill>
        <p:spPr>
          <a:xfrm>
            <a:off x="1838036" y="1284553"/>
            <a:ext cx="2381909" cy="33337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4B733F-EB1A-03F0-1750-87AD7C36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8426"/>
          <a:stretch>
            <a:fillRect/>
          </a:stretch>
        </p:blipFill>
        <p:spPr>
          <a:xfrm>
            <a:off x="6119176" y="1284553"/>
            <a:ext cx="2381909" cy="32517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12990D-0B64-8912-A547-33248B56578B}"/>
              </a:ext>
            </a:extLst>
          </p:cNvPr>
          <p:cNvSpPr txBox="1"/>
          <p:nvPr/>
        </p:nvSpPr>
        <p:spPr>
          <a:xfrm>
            <a:off x="311700" y="2751042"/>
            <a:ext cx="15263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 with \x00: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2D9B99-9D2A-21D3-7055-C16C4976CA47}"/>
              </a:ext>
            </a:extLst>
          </p:cNvPr>
          <p:cNvSpPr txBox="1"/>
          <p:nvPr/>
        </p:nvSpPr>
        <p:spPr>
          <a:xfrm>
            <a:off x="4422881" y="2751042"/>
            <a:ext cx="1749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 without \x00:</a:t>
            </a:r>
          </a:p>
        </p:txBody>
      </p:sp>
    </p:spTree>
    <p:extLst>
      <p:ext uri="{BB962C8B-B14F-4D97-AF65-F5344CB8AC3E}">
        <p14:creationId xmlns:p14="http://schemas.microsoft.com/office/powerpoint/2010/main" val="162866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A3C993D-714B-8E5C-192E-5A9D1931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12D74FE-5E5E-AC20-4BD6-B5FFE5B42A8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13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89E68F84-A692-AF23-F558-8137AC471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F8AA37ED-A585-0FB0-D439-E589438CD1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88E1CEF7-9799-68D6-A1E5-01D77A117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algn="l" rtl="0">
              <a:spcBef>
                <a:spcPts val="0"/>
              </a:spcBef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 lvl="0" algn="l" rtl="0">
              <a:spcBef>
                <a:spcPts val="0"/>
              </a:spcBef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Determining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offset</a:t>
            </a:r>
            <a:endParaRPr lang="de" dirty="0">
              <a:solidFill>
                <a:srgbClr val="1D1D1A"/>
              </a:solidFill>
            </a:endParaRPr>
          </a:p>
          <a:p>
            <a:pPr marL="342900" lvl="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Determining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bad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characters</a:t>
            </a:r>
            <a:endParaRPr lang="de" dirty="0">
              <a:solidFill>
                <a:srgbClr val="1D1D1A"/>
              </a:solidFill>
            </a:endParaRPr>
          </a:p>
          <a:p>
            <a:pPr marL="342900" lvl="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Injecting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payload</a:t>
            </a:r>
            <a:endParaRPr lang="de" b="1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8F789C-4467-67F2-3565-C274380C3751}"/>
              </a:ext>
            </a:extLst>
          </p:cNvPr>
          <p:cNvSpPr txBox="1"/>
          <p:nvPr/>
        </p:nvSpPr>
        <p:spPr>
          <a:xfrm>
            <a:off x="2916195" y="4667111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Command and Scripting Interpreter: Windows Command Shell 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/>
              <a:t>T1059.003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359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9A7D0A-2BE6-DF51-48E2-2ABD4F4B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84CDE59-D07E-49E5-5015-FE309A1A51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54C0992-AF45-9489-4547-70623AFA82A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CC77AA5-4076-029B-C0EA-4C1ADCAFF2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A1986E6-A99F-9D79-18F4-5E51C4158487}"/>
              </a:ext>
            </a:extLst>
          </p:cNvPr>
          <p:cNvGrpSpPr/>
          <p:nvPr/>
        </p:nvGrpSpPr>
        <p:grpSpPr>
          <a:xfrm>
            <a:off x="2193000" y="1231900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FF36ED8-59CD-D36B-E689-BE7B03E0A094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2A1EB9-B836-9A8B-EB48-3EB5754840BD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32912A-4283-36FB-7458-3D6A0950F00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8E2D03E-6940-41E3-D274-E5882B5A3F71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A86C483-D3E9-6536-650F-77FA6D7D26FC}"/>
              </a:ext>
            </a:extLst>
          </p:cNvPr>
          <p:cNvGrpSpPr/>
          <p:nvPr/>
        </p:nvGrpSpPr>
        <p:grpSpPr>
          <a:xfrm>
            <a:off x="5265133" y="1237900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A5CDED-4159-3CDA-6933-16D26DA2170C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A3E9D1-229C-0984-4EA2-BC033B8A8DD4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7A1D423-C03F-5EE5-4387-80CF6F6FDE6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99EFA87-793F-5515-3CEE-A341A71756F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85D92DEA-D32B-B93D-160E-5F5E36A6D3F1}"/>
              </a:ext>
            </a:extLst>
          </p:cNvPr>
          <p:cNvSpPr/>
          <p:nvPr/>
        </p:nvSpPr>
        <p:spPr>
          <a:xfrm>
            <a:off x="4115546" y="2862442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B36106-F0D8-5DB8-6A07-3B4FB7176206}"/>
              </a:ext>
            </a:extLst>
          </p:cNvPr>
          <p:cNvSpPr txBox="1"/>
          <p:nvPr/>
        </p:nvSpPr>
        <p:spPr>
          <a:xfrm>
            <a:off x="4082424" y="257781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1A45F-8F40-423A-A2B2-A2E9780FC469}"/>
              </a:ext>
            </a:extLst>
          </p:cNvPr>
          <p:cNvSpPr txBox="1"/>
          <p:nvPr/>
        </p:nvSpPr>
        <p:spPr>
          <a:xfrm>
            <a:off x="4082424" y="3126914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Execution</a:t>
            </a:r>
          </a:p>
        </p:txBody>
      </p:sp>
    </p:spTree>
    <p:extLst>
      <p:ext uri="{BB962C8B-B14F-4D97-AF65-F5344CB8AC3E}">
        <p14:creationId xmlns:p14="http://schemas.microsoft.com/office/powerpoint/2010/main" val="737911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D255DBC-4DE8-1FD7-5ADB-384282D6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2584F1CB-8483-30AD-C829-8788CB6DA5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92D8B0-7AE3-633A-662F-027544854F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8E9E9B3-38AB-46C4-A074-F53AB7DAFC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48A257-86ED-015D-F488-BF86067C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751"/>
          <a:stretch>
            <a:fillRect/>
          </a:stretch>
        </p:blipFill>
        <p:spPr>
          <a:xfrm>
            <a:off x="260947" y="1999374"/>
            <a:ext cx="8681740" cy="1482169"/>
          </a:xfrm>
          <a:prstGeom prst="roundRect">
            <a:avLst>
              <a:gd name="adj" fmla="val 494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692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BA1AD57-EFC9-12D6-55A5-4AAA9A88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015ADF57-1252-7628-025E-5D94A08DA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AE3A40BE-6BCC-0D79-5E0B-4409962A9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1186" y="1186066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1600"/>
              </a:spcAft>
              <a:buFontTx/>
              <a:buChar char="-"/>
            </a:pPr>
            <a:r>
              <a:rPr lang="de" dirty="0">
                <a:solidFill>
                  <a:srgbClr val="1D1D1A"/>
                </a:solidFill>
              </a:rPr>
              <a:t>Operating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debugger</a:t>
            </a:r>
            <a:endParaRPr lang="de" dirty="0">
              <a:solidFill>
                <a:srgbClr val="1D1D1A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1600"/>
              </a:spcAft>
              <a:buFontTx/>
              <a:buChar char="-"/>
            </a:pPr>
            <a:r>
              <a:rPr lang="de" dirty="0">
                <a:solidFill>
                  <a:srgbClr val="1D1D1A"/>
                </a:solidFill>
              </a:rPr>
              <a:t>Attention </a:t>
            </a:r>
            <a:r>
              <a:rPr lang="de" dirty="0" err="1">
                <a:solidFill>
                  <a:srgbClr val="1D1D1A"/>
                </a:solidFill>
              </a:rPr>
              <a:t>to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detail</a:t>
            </a:r>
            <a:r>
              <a:rPr lang="de" dirty="0">
                <a:solidFill>
                  <a:srgbClr val="1D1D1A"/>
                </a:solidFill>
              </a:rPr>
              <a:t> (e.g. </a:t>
            </a:r>
            <a:r>
              <a:rPr lang="de" dirty="0" err="1">
                <a:solidFill>
                  <a:srgbClr val="1D1D1A"/>
                </a:solidFill>
              </a:rPr>
              <a:t>missing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whitespace</a:t>
            </a:r>
            <a:r>
              <a:rPr lang="de" dirty="0">
                <a:solidFill>
                  <a:srgbClr val="1D1D1A"/>
                </a:solidFill>
              </a:rPr>
              <a:t>)</a:t>
            </a:r>
          </a:p>
          <a:p>
            <a:pPr marL="285750" lvl="0" indent="-285750" algn="l" rtl="0">
              <a:spcBef>
                <a:spcPts val="0"/>
              </a:spcBef>
              <a:spcAft>
                <a:spcPts val="1600"/>
              </a:spcAft>
              <a:buFontTx/>
              <a:buChar char="-"/>
            </a:pPr>
            <a:r>
              <a:rPr lang="de" dirty="0" err="1">
                <a:solidFill>
                  <a:srgbClr val="1D1D1A"/>
                </a:solidFill>
              </a:rPr>
              <a:t>Misunderstanding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machine‘s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inner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workings</a:t>
            </a:r>
            <a:endParaRPr lang="de" dirty="0">
              <a:solidFill>
                <a:srgbClr val="1D1D1A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1600"/>
              </a:spcAft>
              <a:buFontTx/>
              <a:buChar char="-"/>
            </a:pPr>
            <a:endParaRPr lang="de" dirty="0">
              <a:solidFill>
                <a:srgbClr val="1D1D1A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1600"/>
              </a:spcAft>
              <a:buFontTx/>
              <a:buChar char="-"/>
            </a:pPr>
            <a:endParaRPr dirty="0">
              <a:solidFill>
                <a:srgbClr val="1D1D1A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D027045-160D-F125-688F-98BF0980F05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0E21E21-DBED-CC61-E55F-4132C8EC1E3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0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527913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05B7479C-3882-1040-FF7B-3A956685B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193FBD44-380B-243C-8406-31B3BD5A29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8000" b="1" dirty="0">
                <a:solidFill>
                  <a:srgbClr val="1D1D1B"/>
                </a:solidFill>
              </a:rPr>
              <a:t>02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69CB1590-028A-E8DC-AADE-BBC9CF04CF12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3000" b="1" dirty="0">
                <a:solidFill>
                  <a:srgbClr val="1D1D1B"/>
                </a:solidFill>
              </a:rPr>
              <a:t>Penetration Test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509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1314E-4BE0-DE68-F443-660B65F3D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1D1D1A"/>
                </a:solidFill>
              </a:rPr>
              <a:t>Prevention</a:t>
            </a:r>
          </a:p>
          <a:p>
            <a:pPr marL="114300" indent="0">
              <a:buNone/>
            </a:pPr>
            <a:endParaRPr lang="en-US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Prioritization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Compliance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Monetary Incentive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CF4834A8-5BBD-633F-1023-A274119B1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Penetration </a:t>
            </a:r>
            <a:r>
              <a:rPr lang="de" b="1" dirty="0" err="1">
                <a:solidFill>
                  <a:srgbClr val="292E60"/>
                </a:solidFill>
              </a:rPr>
              <a:t>Testing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F546262B-F8D7-CC4C-D4AD-4FE40DA895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1014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52770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0A305-7E24-66BD-408A-C8EAEC74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B716B-FEDB-967C-167E-54E973F0E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1D1D1A"/>
                </a:solidFill>
              </a:rPr>
              <a:t>"An ounce of prevention is worth a pound of cure.”</a:t>
            </a:r>
          </a:p>
          <a:p>
            <a:pPr marL="114300" indent="0">
              <a:buNone/>
            </a:pPr>
            <a:r>
              <a:rPr lang="en-US" sz="1400" dirty="0">
                <a:solidFill>
                  <a:srgbClr val="1D1D1A"/>
                </a:solidFill>
              </a:rPr>
              <a:t>       - Benjamin Franklin, 1736</a:t>
            </a:r>
          </a:p>
          <a:p>
            <a:pPr marL="114300" indent="0">
              <a:buNone/>
            </a:pPr>
            <a:endParaRPr lang="en-US" sz="1400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"</a:t>
            </a:r>
            <a:r>
              <a:rPr lang="en-US" dirty="0" err="1">
                <a:solidFill>
                  <a:srgbClr val="1D1D1A"/>
                </a:solidFill>
              </a:rPr>
              <a:t>Jamilov</a:t>
            </a:r>
            <a:r>
              <a:rPr lang="en-US" dirty="0">
                <a:solidFill>
                  <a:srgbClr val="1D1D1A"/>
                </a:solidFill>
              </a:rPr>
              <a:t> et al. (</a:t>
            </a:r>
            <a:r>
              <a:rPr lang="en-US" dirty="0">
                <a:solidFill>
                  <a:srgbClr val="1D1D1A"/>
                </a:solidFill>
                <a:hlinkClick r:id="rId3" tooltip="Jamilov, R., Rey, H., &amp; Tahoun, A. (2023). The anatomy of cyber risk. NBER Working Paper no. 2890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 estimate that the global cost of cyber risk exceeds </a:t>
            </a:r>
            <a:r>
              <a:rPr lang="en-US" b="1" dirty="0">
                <a:solidFill>
                  <a:srgbClr val="D51763"/>
                </a:solidFill>
              </a:rPr>
              <a:t>$200 billion </a:t>
            </a:r>
            <a:r>
              <a:rPr lang="en-US" dirty="0">
                <a:solidFill>
                  <a:srgbClr val="1D1D1A"/>
                </a:solidFill>
              </a:rPr>
              <a:t>annually. Other projections are even more pessimistic, estimating the global cost of cybercrime at over </a:t>
            </a:r>
            <a:r>
              <a:rPr lang="en-US" b="1" dirty="0">
                <a:solidFill>
                  <a:srgbClr val="D51763"/>
                </a:solidFill>
              </a:rPr>
              <a:t>$8 trillion</a:t>
            </a:r>
            <a:r>
              <a:rPr lang="en-US" dirty="0">
                <a:solidFill>
                  <a:srgbClr val="D51763"/>
                </a:solidFill>
              </a:rPr>
              <a:t> </a:t>
            </a:r>
            <a:r>
              <a:rPr lang="en-US" dirty="0">
                <a:solidFill>
                  <a:srgbClr val="1D1D1A"/>
                </a:solidFill>
              </a:rPr>
              <a:t>in 2023 (Fleck and Richter, </a:t>
            </a:r>
            <a:r>
              <a:rPr lang="en-US" dirty="0">
                <a:solidFill>
                  <a:srgbClr val="1D1D1A"/>
                </a:solidFill>
                <a:hlinkClick r:id="rId4" tooltip="Fleck, A., &amp; Richter, F. (2024). Cybercrime expected to Skyrocket in coming years, Statista Daily Data. &#10;                  https://www.statista.com/chart/28878/expected-cost-of-cybercrime-until2027/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2024</a:t>
            </a:r>
            <a:r>
              <a:rPr lang="en-US" dirty="0">
                <a:solidFill>
                  <a:srgbClr val="1D1D1A"/>
                </a:solidFill>
              </a:rPr>
              <a:t>) and at </a:t>
            </a:r>
            <a:r>
              <a:rPr lang="en-US" b="1" dirty="0">
                <a:solidFill>
                  <a:srgbClr val="D51763"/>
                </a:solidFill>
              </a:rPr>
              <a:t>$9 trillion </a:t>
            </a:r>
            <a:r>
              <a:rPr lang="en-US" dirty="0">
                <a:solidFill>
                  <a:srgbClr val="1D1D1A"/>
                </a:solidFill>
              </a:rPr>
              <a:t>in 2024 (Petrosyan, </a:t>
            </a:r>
            <a:r>
              <a:rPr lang="en-US" dirty="0">
                <a:solidFill>
                  <a:srgbClr val="1D1D1A"/>
                </a:solidFill>
                <a:hlinkClick r:id="rId5" tooltip="Petrosyan, A. (2023). Global cybercrime estimated cost 2028. Statista. &#10;                  https://www.statista.com/forecasts/1280009/cost-cybercrime-worldwide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)."</a:t>
            </a:r>
          </a:p>
          <a:p>
            <a:pPr marL="114300" indent="0">
              <a:buNone/>
            </a:pPr>
            <a:r>
              <a:rPr lang="en-US" dirty="0">
                <a:solidFill>
                  <a:srgbClr val="1D1D1A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Abrardi</a:t>
            </a:r>
            <a:r>
              <a:rPr lang="en-US" sz="14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          </a:t>
            </a:r>
            <a:r>
              <a:rPr lang="en-US" sz="1400" dirty="0" err="1">
                <a:solidFill>
                  <a:schemeClr val="tx1"/>
                </a:solidFill>
              </a:rPr>
              <a:t>literature.</a:t>
            </a:r>
            <a:r>
              <a:rPr lang="en-US" sz="1400" i="1" dirty="0" err="1">
                <a:solidFill>
                  <a:schemeClr val="tx1"/>
                </a:solidFill>
              </a:rPr>
              <a:t>J</a:t>
            </a:r>
            <a:r>
              <a:rPr lang="en-US" sz="1400" i="1" dirty="0">
                <a:solidFill>
                  <a:schemeClr val="tx1"/>
                </a:solidFill>
              </a:rPr>
              <a:t>. Ind. Bus. Econ.</a:t>
            </a:r>
            <a:r>
              <a:rPr lang="en-US" sz="1400" dirty="0">
                <a:solidFill>
                  <a:schemeClr val="tx1"/>
                </a:solidFill>
              </a:rPr>
              <a:t> </a:t>
            </a:r>
            <a:r>
              <a:rPr lang="en-US" sz="1400" b="1" dirty="0">
                <a:solidFill>
                  <a:schemeClr val="tx1"/>
                </a:solidFill>
              </a:rPr>
              <a:t>53</a:t>
            </a:r>
            <a:r>
              <a:rPr lang="en-US" sz="1400" dirty="0">
                <a:solidFill>
                  <a:schemeClr val="tx1"/>
                </a:solidFill>
              </a:rPr>
              <a:t>, 573–607 (2026). https://</a:t>
            </a:r>
            <a:r>
              <a:rPr lang="en-US" sz="1400" dirty="0" err="1">
                <a:solidFill>
                  <a:schemeClr val="tx1"/>
                </a:solidFill>
              </a:rPr>
              <a:t>doi.org</a:t>
            </a:r>
            <a:r>
              <a:rPr lang="en-US" sz="1400" dirty="0">
                <a:solidFill>
                  <a:schemeClr val="tx1"/>
                </a:solidFill>
              </a:rPr>
              <a:t>/10.1007/s40812-025-00370-3</a:t>
            </a:r>
          </a:p>
          <a:p>
            <a:endParaRPr lang="en-US" dirty="0">
              <a:solidFill>
                <a:srgbClr val="1D1D1A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6A71AFC8-54C8-2E9D-87F9-9A6D46810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Prevention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ACCB7BAA-2EEB-F484-FCCA-57893004A92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26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841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D06-BC92-0C8D-4188-8A461EA1C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79D33-6381-19BA-E011-63D14CF20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Risk Assessment via scores based on evidence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09B75111-1514-DC03-9408-7EC39F932D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Prioritization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73617766-7140-3DD8-565E-6CD66B4F5A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81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FD4533A-E71E-0E8D-B4D5-3C50FEB4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8" t="82934" r="1696"/>
          <a:stretch>
            <a:fillRect/>
          </a:stretch>
        </p:blipFill>
        <p:spPr>
          <a:xfrm>
            <a:off x="526774" y="2076159"/>
            <a:ext cx="8090452" cy="9911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9ABB1B-8C4A-7FD5-2E6E-5D0360000685}"/>
              </a:ext>
            </a:extLst>
          </p:cNvPr>
          <p:cNvSpPr txBox="1"/>
          <p:nvPr/>
        </p:nvSpPr>
        <p:spPr>
          <a:xfrm>
            <a:off x="526774" y="3067341"/>
            <a:ext cx="79612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</p:spTree>
    <p:extLst>
      <p:ext uri="{BB962C8B-B14F-4D97-AF65-F5344CB8AC3E}">
        <p14:creationId xmlns:p14="http://schemas.microsoft.com/office/powerpoint/2010/main" val="4021764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6E31176-E09E-41DC-BFE7-22655BCA2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B573C1E8-6554-558B-D520-ADF8100D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9952" y="3108389"/>
            <a:ext cx="967853" cy="42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de" b="1" dirty="0">
                <a:solidFill>
                  <a:srgbClr val="D51763"/>
                </a:solidFill>
              </a:rPr>
              <a:t>HIPPA:</a:t>
            </a:r>
            <a:endParaRPr b="1" dirty="0">
              <a:solidFill>
                <a:srgbClr val="D51763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50987BB-D4EE-00C1-03CA-2B8AB645EFA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C6987-6862-E565-0D26-7930B50A973D}"/>
              </a:ext>
            </a:extLst>
          </p:cNvPr>
          <p:cNvSpPr txBox="1"/>
          <p:nvPr/>
        </p:nvSpPr>
        <p:spPr>
          <a:xfrm>
            <a:off x="480156" y="4165662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www.hhs.gov</a:t>
            </a:r>
            <a:r>
              <a:rPr lang="en-US" sz="1100" dirty="0"/>
              <a:t>/</a:t>
            </a:r>
            <a:r>
              <a:rPr lang="en-US" sz="1100" dirty="0" err="1"/>
              <a:t>hipaa</a:t>
            </a:r>
            <a:r>
              <a:rPr lang="en-US" sz="1100" dirty="0"/>
              <a:t>/for-professionals/security/</a:t>
            </a:r>
            <a:r>
              <a:rPr lang="en-US" sz="1100" dirty="0" err="1"/>
              <a:t>hipaa</a:t>
            </a:r>
            <a:r>
              <a:rPr lang="en-US" sz="1100" dirty="0"/>
              <a:t>-security-rule-</a:t>
            </a:r>
            <a:r>
              <a:rPr lang="en-US" sz="1100" dirty="0" err="1"/>
              <a:t>nprm</a:t>
            </a:r>
            <a:r>
              <a:rPr lang="en-US" sz="1100" dirty="0"/>
              <a:t>/factsheet/</a:t>
            </a:r>
            <a:r>
              <a:rPr lang="en-US" sz="1100" dirty="0" err="1"/>
              <a:t>index.html</a:t>
            </a:r>
            <a:endParaRPr lang="en-US" sz="1100" dirty="0"/>
          </a:p>
        </p:txBody>
      </p:sp>
      <p:sp>
        <p:nvSpPr>
          <p:cNvPr id="12" name="Google Shape;104;p21">
            <a:extLst>
              <a:ext uri="{FF2B5EF4-FFF2-40B4-BE49-F238E27FC236}">
                <a16:creationId xmlns:a16="http://schemas.microsoft.com/office/drawing/2014/main" id="{6522512A-98C7-6B96-4060-D2F50D35D21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77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 dirty="0">
                <a:solidFill>
                  <a:srgbClr val="292E60"/>
                </a:solidFill>
              </a:rPr>
              <a:t>Compliance</a:t>
            </a:r>
          </a:p>
        </p:txBody>
      </p:sp>
      <p:pic>
        <p:nvPicPr>
          <p:cNvPr id="13" name="Google Shape;107;p21">
            <a:extLst>
              <a:ext uri="{FF2B5EF4-FFF2-40B4-BE49-F238E27FC236}">
                <a16:creationId xmlns:a16="http://schemas.microsoft.com/office/drawing/2014/main" id="{45E2911E-EB8E-9807-FAAE-57AFAC031B8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734" y="824190"/>
            <a:ext cx="142119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D97BD2-7C57-9187-051C-2E8DD8F613D6}"/>
              </a:ext>
            </a:extLst>
          </p:cNvPr>
          <p:cNvSpPr txBox="1"/>
          <p:nvPr/>
        </p:nvSpPr>
        <p:spPr>
          <a:xfrm>
            <a:off x="489951" y="135065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800" b="1" dirty="0">
                <a:solidFill>
                  <a:srgbClr val="D51763"/>
                </a:solidFill>
              </a:rPr>
              <a:t>GDPR: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93BD90-AE1E-6C61-A4CD-2B7F50D092A2}"/>
              </a:ext>
            </a:extLst>
          </p:cNvPr>
          <p:cNvSpPr txBox="1"/>
          <p:nvPr/>
        </p:nvSpPr>
        <p:spPr>
          <a:xfrm>
            <a:off x="497770" y="26201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gdpr.eu</a:t>
            </a:r>
            <a:r>
              <a:rPr lang="en-US" sz="1100" dirty="0"/>
              <a:t>/fines/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9A8DD-9497-2D5B-49E9-3E5D8EA30A3E}"/>
              </a:ext>
            </a:extLst>
          </p:cNvPr>
          <p:cNvSpPr txBox="1"/>
          <p:nvPr/>
        </p:nvSpPr>
        <p:spPr>
          <a:xfrm>
            <a:off x="489951" y="1728036"/>
            <a:ext cx="71646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b="0" i="0" u="none" strike="noStrike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 (</a:t>
            </a:r>
            <a:r>
              <a:rPr lang="en-US" sz="1800" dirty="0"/>
              <a:t>...)</a:t>
            </a:r>
            <a:r>
              <a:rPr lang="en-US" sz="1800" b="0" i="0" u="none" strike="noStrike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must be (</a:t>
            </a:r>
            <a:r>
              <a:rPr lang="en-US" sz="1800" dirty="0"/>
              <a:t>...)</a:t>
            </a:r>
            <a:r>
              <a:rPr lang="en-US" sz="1800" b="0" i="0" u="none" strike="noStrike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/>
              <a:t>processed in a manner that ensures its security. [S]</a:t>
            </a:r>
            <a:r>
              <a:rPr lang="en-US" sz="1800" dirty="0" err="1"/>
              <a:t>erious</a:t>
            </a:r>
            <a:r>
              <a:rPr lang="en-US" sz="1800" dirty="0"/>
              <a:t> infringements (...)</a:t>
            </a:r>
            <a:r>
              <a:rPr lang="en-US" sz="1800" b="1" dirty="0"/>
              <a:t> could result in a fine of up to €20 million, or 4% of the firm’s worldwide annual revenue.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90BB3-26F2-8F0D-98CF-3494D983755A}"/>
              </a:ext>
            </a:extLst>
          </p:cNvPr>
          <p:cNvSpPr txBox="1"/>
          <p:nvPr/>
        </p:nvSpPr>
        <p:spPr>
          <a:xfrm>
            <a:off x="497769" y="3547761"/>
            <a:ext cx="7156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b="0" i="0" u="none" strike="noStrike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Require vulnerability scanning at least every six months and penetration testing at least once every 12 months.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893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8AA9729-7485-EBE8-1B5E-7E9DC833C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0B5AF36-2B2A-1A79-0C2A-9CFC115FDF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Monetary</a:t>
            </a:r>
            <a:r>
              <a:rPr lang="de" b="1" dirty="0">
                <a:solidFill>
                  <a:srgbClr val="292E60"/>
                </a:solidFill>
              </a:rPr>
              <a:t> Incentive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14CFCDC1-ED6F-D7EE-15BE-1BEE9456CF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96019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Reputation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 err="1">
                <a:solidFill>
                  <a:srgbClr val="1D1D1B"/>
                </a:solidFill>
              </a:rPr>
              <a:t>Certificates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Fines</a:t>
            </a:r>
          </a:p>
          <a:p>
            <a:pPr marL="285750" indent="-285750">
              <a:spcAft>
                <a:spcPts val="1600"/>
              </a:spcAft>
            </a:pPr>
            <a:r>
              <a:rPr lang="de" dirty="0" err="1">
                <a:solidFill>
                  <a:srgbClr val="1D1D1B"/>
                </a:solidFill>
              </a:rPr>
              <a:t>Prevention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of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costly</a:t>
            </a:r>
            <a:r>
              <a:rPr lang="de" dirty="0">
                <a:solidFill>
                  <a:srgbClr val="1D1D1B"/>
                </a:solidFill>
              </a:rPr>
              <a:t> Information Security Events</a:t>
            </a: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7032F30-3C13-36E8-AB32-134DC8B2E96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3BBACAA-B133-4071-7FA3-82175777A8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0994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305922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B21B271-2A0F-8A20-D766-EB99201F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024E68C-1717-59FB-CD84-7DE1EFE7C7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3B3DE1-529A-18EF-3E89-210D5566513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88398AE-629A-2670-5DF6-5D4A3D5FE8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82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5;p21">
            <a:extLst>
              <a:ext uri="{FF2B5EF4-FFF2-40B4-BE49-F238E27FC236}">
                <a16:creationId xmlns:a16="http://schemas.microsoft.com/office/drawing/2014/main" id="{9AE48553-2B04-BE6B-D482-CE69589337CF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OSINT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Active</a:t>
            </a:r>
            <a:r>
              <a:rPr lang="de" dirty="0">
                <a:solidFill>
                  <a:srgbClr val="1D1D1A"/>
                </a:solidFill>
              </a:rPr>
              <a:t> Scan / Interaction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Brute Force &amp; </a:t>
            </a:r>
            <a:r>
              <a:rPr lang="de" dirty="0" err="1">
                <a:solidFill>
                  <a:srgbClr val="1D1D1A"/>
                </a:solidFill>
              </a:rPr>
              <a:t>Cracking</a:t>
            </a:r>
            <a:r>
              <a:rPr lang="de" dirty="0">
                <a:solidFill>
                  <a:srgbClr val="1D1D1A"/>
                </a:solidFill>
              </a:rPr>
              <a:t> Passwords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SQL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r>
              <a:rPr lang="de" dirty="0">
                <a:solidFill>
                  <a:srgbClr val="1D1D1A"/>
                </a:solidFill>
              </a:rPr>
              <a:t> / Command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Privilege </a:t>
            </a:r>
            <a:r>
              <a:rPr lang="de" dirty="0" err="1">
                <a:solidFill>
                  <a:srgbClr val="1D1D1A"/>
                </a:solidFill>
              </a:rPr>
              <a:t>Escalation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Public Exploit</a:t>
            </a:r>
          </a:p>
        </p:txBody>
      </p:sp>
    </p:spTree>
    <p:extLst>
      <p:ext uri="{BB962C8B-B14F-4D97-AF65-F5344CB8AC3E}">
        <p14:creationId xmlns:p14="http://schemas.microsoft.com/office/powerpoint/2010/main" val="1492072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EED999-1C3B-12DB-E5F6-CD333D82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1CD8B77-2078-0A57-4D8B-AB4595D1B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>
                <a:solidFill>
                  <a:srgbClr val="292E60"/>
                </a:solidFill>
              </a:rPr>
              <a:t>OSINT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BA5B5FF-81A0-0535-3D01-12A7DEB0E5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CBAB7C4-1C84-5AEA-D302-68974D2C9F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908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9E4101-E2F5-F7BC-D2C5-904FE77AF72C}"/>
              </a:ext>
            </a:extLst>
          </p:cNvPr>
          <p:cNvSpPr/>
          <p:nvPr/>
        </p:nvSpPr>
        <p:spPr>
          <a:xfrm>
            <a:off x="5874182" y="2867673"/>
            <a:ext cx="210647" cy="382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2A94B-3F91-3287-C663-66AE02D08762}"/>
              </a:ext>
            </a:extLst>
          </p:cNvPr>
          <p:cNvSpPr txBox="1"/>
          <p:nvPr/>
        </p:nvSpPr>
        <p:spPr>
          <a:xfrm>
            <a:off x="2964361" y="4497130"/>
            <a:ext cx="6030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Search Victim-Owned Websites (T1594)</a:t>
            </a:r>
            <a:endParaRPr lang="en-US" b="0" i="0" dirty="0">
              <a:solidFill>
                <a:srgbClr val="1D1D1A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Gather Victim Identity Information: Employee Names (</a:t>
            </a:r>
            <a:r>
              <a:rPr lang="en-US" dirty="0"/>
              <a:t>T1589.003)</a:t>
            </a:r>
            <a:endParaRPr lang="en-US" b="0" i="0" dirty="0">
              <a:solidFill>
                <a:srgbClr val="1D1D1A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1050CD-D2A7-9B71-9839-CC5A69DD6788}"/>
              </a:ext>
            </a:extLst>
          </p:cNvPr>
          <p:cNvGrpSpPr/>
          <p:nvPr/>
        </p:nvGrpSpPr>
        <p:grpSpPr>
          <a:xfrm>
            <a:off x="1188330" y="1214441"/>
            <a:ext cx="6767339" cy="3190299"/>
            <a:chOff x="1188330" y="1214441"/>
            <a:chExt cx="6767339" cy="31902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D80FA18-D6FF-8416-F60E-BDB516FF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147" t="45702" r="22222" b="9283"/>
            <a:stretch>
              <a:fillRect/>
            </a:stretch>
          </p:blipFill>
          <p:spPr>
            <a:xfrm>
              <a:off x="1188330" y="1214441"/>
              <a:ext cx="6767339" cy="293621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F53BB0-7B6C-D88C-38AA-5E794D7A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1392" t="90521" r="41699" b="3607"/>
            <a:stretch>
              <a:fillRect/>
            </a:stretch>
          </p:blipFill>
          <p:spPr>
            <a:xfrm>
              <a:off x="3673405" y="4021744"/>
              <a:ext cx="2020633" cy="382996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6EFBD6-6E49-6ACA-BAD6-F17146688539}"/>
              </a:ext>
            </a:extLst>
          </p:cNvPr>
          <p:cNvSpPr/>
          <p:nvPr/>
        </p:nvSpPr>
        <p:spPr>
          <a:xfrm>
            <a:off x="5737505" y="2724249"/>
            <a:ext cx="347324" cy="4358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554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582E786-0D52-994E-25DB-D4522F98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05F0BE2-AC68-7269-55A9-853200542B9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E89A-8C71-BBC4-AA79-ACB913994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21" y="1806303"/>
            <a:ext cx="8434358" cy="1530894"/>
          </a:xfrm>
          <a:prstGeom prst="roundRect">
            <a:avLst>
              <a:gd name="adj" fmla="val 7110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5" name="Google Shape;104;p21">
            <a:extLst>
              <a:ext uri="{FF2B5EF4-FFF2-40B4-BE49-F238E27FC236}">
                <a16:creationId xmlns:a16="http://schemas.microsoft.com/office/drawing/2014/main" id="{A36DADF2-DEBB-3E75-66AC-38F152440CF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6144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solidFill>
                  <a:srgbClr val="292E60"/>
                </a:solidFill>
              </a:rPr>
              <a:t>OSINT</a:t>
            </a:r>
            <a:endParaRPr lang="en-US" b="1" dirty="0">
              <a:solidFill>
                <a:srgbClr val="292E60"/>
              </a:solidFill>
            </a:endParaRPr>
          </a:p>
        </p:txBody>
      </p:sp>
      <p:pic>
        <p:nvPicPr>
          <p:cNvPr id="6" name="Google Shape;107;p21">
            <a:extLst>
              <a:ext uri="{FF2B5EF4-FFF2-40B4-BE49-F238E27FC236}">
                <a16:creationId xmlns:a16="http://schemas.microsoft.com/office/drawing/2014/main" id="{AF758821-CD83-17E5-BF50-71F31D904C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9083" y="878900"/>
            <a:ext cx="145576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926ABB-CD0F-AA6B-A06B-19919932F54C}"/>
              </a:ext>
            </a:extLst>
          </p:cNvPr>
          <p:cNvSpPr txBox="1"/>
          <p:nvPr/>
        </p:nvSpPr>
        <p:spPr>
          <a:xfrm>
            <a:off x="353841" y="341040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x.com</a:t>
            </a:r>
            <a:r>
              <a:rPr lang="en-US" sz="1100" dirty="0"/>
              <a:t>/</a:t>
            </a:r>
            <a:r>
              <a:rPr lang="en-US" sz="1100" dirty="0" err="1"/>
              <a:t>MBuckerzerg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E229-2FB9-9857-4E0E-1A6D8BA2910A}"/>
              </a:ext>
            </a:extLst>
          </p:cNvPr>
          <p:cNvSpPr txBox="1"/>
          <p:nvPr/>
        </p:nvSpPr>
        <p:spPr>
          <a:xfrm>
            <a:off x="3814916" y="4667111"/>
            <a:ext cx="50495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Search Open Websites/Domains: Social Media (</a:t>
            </a:r>
            <a:r>
              <a:rPr lang="en-US" dirty="0"/>
              <a:t>T1593.001)</a:t>
            </a:r>
            <a:endParaRPr lang="en-US" b="0" i="0" dirty="0">
              <a:solidFill>
                <a:srgbClr val="1D1D1A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1910DD8-33E8-C127-64E8-C2E4CB0D8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25A3D37-6366-49DE-E915-4985B697379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B9A8B1-C68D-8A9C-F8E3-B9BAB244CD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29109" r="74493" b="56488"/>
          <a:stretch>
            <a:fillRect/>
          </a:stretch>
        </p:blipFill>
        <p:spPr>
          <a:xfrm>
            <a:off x="1199396" y="1584600"/>
            <a:ext cx="3475342" cy="1822479"/>
          </a:xfrm>
          <a:prstGeom prst="rect">
            <a:avLst/>
          </a:prstGeom>
        </p:spPr>
      </p:pic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37CB9C-B0C6-2DF9-90DF-D455CC9AB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5746E840-A2D4-1073-62B5-76DFA3EE98D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6C830A-F535-EE41-74B0-903EC1921AEC}"/>
              </a:ext>
            </a:extLst>
          </p:cNvPr>
          <p:cNvSpPr txBox="1"/>
          <p:nvPr/>
        </p:nvSpPr>
        <p:spPr>
          <a:xfrm>
            <a:off x="5142271" y="4667111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D1D1A"/>
                </a:solidFill>
                <a:latin typeface="Roboto-Light"/>
              </a:rPr>
              <a:t>Active Scanning: Wordlist Scanning (</a:t>
            </a:r>
            <a:r>
              <a:rPr lang="en-US" dirty="0"/>
              <a:t>T1595.003)</a:t>
            </a:r>
            <a:endParaRPr lang="en-US" dirty="0">
              <a:solidFill>
                <a:srgbClr val="1D1D1A"/>
              </a:solidFill>
              <a:latin typeface="Roboto-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DE5516-4BC2-6C08-E80B-8CD015DF0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43590" r="74493" b="39728"/>
          <a:stretch>
            <a:fillRect/>
          </a:stretch>
        </p:blipFill>
        <p:spPr>
          <a:xfrm>
            <a:off x="4674738" y="1584600"/>
            <a:ext cx="3475342" cy="2110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9085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F21036-4DEE-2E0D-7B92-D3BF615C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7CA3F43-DADB-13C0-52BE-02216639BB1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C0CEF13-254C-AED6-2944-E460369C6B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E53E8E5-B139-9719-A955-78DF813AFF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259D7A-745F-5E0B-C045-09974567C0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80"/>
          <a:stretch>
            <a:fillRect/>
          </a:stretch>
        </p:blipFill>
        <p:spPr>
          <a:xfrm>
            <a:off x="311700" y="1451601"/>
            <a:ext cx="8520599" cy="2443744"/>
          </a:xfrm>
          <a:prstGeom prst="roundRect">
            <a:avLst>
              <a:gd name="adj" fmla="val 365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63176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2BD2EAC-3F5C-7D44-AB26-1EC8D8E4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4ABB21-C9E7-62AA-6A11-467374AC477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99E90030-2E8F-7855-56F6-427CF4708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58A3CFF-F51F-6A4D-3D94-25820D2B68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DF67ED-544C-30CF-D524-1313C48FD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684356"/>
            <a:ext cx="8620225" cy="2069282"/>
          </a:xfrm>
          <a:prstGeom prst="roundRect">
            <a:avLst>
              <a:gd name="adj" fmla="val 517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091995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85218FF-C460-4923-4DAF-B71BEDE4A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12C7EDB-9A50-2E47-5A05-B88FD3E06D8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4EF2388-2DA1-3446-1CB9-461DE155E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Cracking Hashes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79F8C84-1078-3F2A-DA92-C31AB7CC9C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434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E99797-984C-D6B7-DFC1-D28D5C5055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729"/>
          <a:stretch>
            <a:fillRect/>
          </a:stretch>
        </p:blipFill>
        <p:spPr>
          <a:xfrm>
            <a:off x="685800" y="1263815"/>
            <a:ext cx="7772400" cy="276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71D3C9-9163-6D22-B5D9-C8853017B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" t="7592" r="99110" b="11896"/>
          <a:stretch>
            <a:fillRect/>
          </a:stretch>
        </p:blipFill>
        <p:spPr>
          <a:xfrm flipH="1">
            <a:off x="8455490" y="1468575"/>
            <a:ext cx="45719" cy="2436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D8FDC-7933-458C-4F11-F8484A3884E0}"/>
              </a:ext>
            </a:extLst>
          </p:cNvPr>
          <p:cNvSpPr txBox="1"/>
          <p:nvPr/>
        </p:nvSpPr>
        <p:spPr>
          <a:xfrm>
            <a:off x="685800" y="3929563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crackstation.net</a:t>
            </a:r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ACFDF-B7EB-2376-B34F-1EB4FE7411BA}"/>
              </a:ext>
            </a:extLst>
          </p:cNvPr>
          <p:cNvSpPr txBox="1"/>
          <p:nvPr/>
        </p:nvSpPr>
        <p:spPr>
          <a:xfrm>
            <a:off x="5142271" y="4574183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 dirty="0">
                <a:solidFill>
                  <a:srgbClr val="1D1D1A"/>
                </a:solidFill>
                <a:effectLst/>
                <a:latin typeface="Roboto-Light"/>
              </a:rPr>
              <a:t>Brute Force: Password Cracking (</a:t>
            </a:r>
            <a:r>
              <a:rPr lang="en-US" dirty="0">
                <a:solidFill>
                  <a:srgbClr val="1D1D1A"/>
                </a:solidFill>
              </a:rPr>
              <a:t>T1110.002</a:t>
            </a:r>
            <a:r>
              <a:rPr lang="en-US" b="0" i="0" dirty="0">
                <a:solidFill>
                  <a:srgbClr val="1D1D1A"/>
                </a:solidFill>
                <a:effectLst/>
                <a:latin typeface="Roboto-Ligh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5931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831621A-3F03-949B-D9E0-D0D4CC5B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0CEA9D-E32C-7967-E2B0-68484976D2E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073118-5DC4-62D0-1BC5-92D7BB1F2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Creating Wordlists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C9E9442-0D2C-1899-A86F-89C2E066CD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560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925E34-1C02-81A7-2706-0EDFE5683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98" y="1210370"/>
            <a:ext cx="3113289" cy="1645494"/>
          </a:xfrm>
          <a:prstGeom prst="roundRect">
            <a:avLst>
              <a:gd name="adj" fmla="val 359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E44263-BB58-63C0-F696-3584E6A6E4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202" t="45702" r="22222" b="3607"/>
          <a:stretch>
            <a:fillRect/>
          </a:stretch>
        </p:blipFill>
        <p:spPr>
          <a:xfrm>
            <a:off x="1059687" y="3294148"/>
            <a:ext cx="3045109" cy="1543827"/>
          </a:xfrm>
          <a:prstGeom prst="roundRect">
            <a:avLst>
              <a:gd name="adj" fmla="val 4218"/>
            </a:avLst>
          </a:prstGeom>
          <a:ln>
            <a:noFill/>
          </a:ln>
          <a:effectLst>
            <a:outerShdw blurRad="76200" dist="38100" dir="7800000" sx="98138" sy="98138" algn="tl" rotWithShape="0">
              <a:srgbClr val="000000">
                <a:alpha val="1142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65567-947A-201B-0CEA-323F241F0926}"/>
              </a:ext>
            </a:extLst>
          </p:cNvPr>
          <p:cNvSpPr txBox="1"/>
          <p:nvPr/>
        </p:nvSpPr>
        <p:spPr>
          <a:xfrm>
            <a:off x="942926" y="2855313"/>
            <a:ext cx="29088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x.com</a:t>
            </a:r>
            <a:r>
              <a:rPr lang="en-US" sz="1000" dirty="0"/>
              <a:t>/</a:t>
            </a:r>
            <a:r>
              <a:rPr lang="en-US" sz="1000" dirty="0" err="1"/>
              <a:t>MBuckerzerg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2B47A6-F6B4-B0F6-7184-666770A7C8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726"/>
          <a:stretch>
            <a:fillRect/>
          </a:stretch>
        </p:blipFill>
        <p:spPr>
          <a:xfrm>
            <a:off x="4387165" y="1210369"/>
            <a:ext cx="3973827" cy="1644928"/>
          </a:xfrm>
          <a:prstGeom prst="roundRect">
            <a:avLst>
              <a:gd name="adj" fmla="val 434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1799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C8328F-D400-1219-222F-0B474467AD1B}"/>
              </a:ext>
            </a:extLst>
          </p:cNvPr>
          <p:cNvSpPr txBox="1"/>
          <p:nvPr/>
        </p:nvSpPr>
        <p:spPr>
          <a:xfrm>
            <a:off x="4332281" y="2855313"/>
            <a:ext cx="384865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www.dirk-heuzeroth.de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6C8FFF-C4CD-FA6D-ADCA-15AA1C8967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1321" y="3335063"/>
            <a:ext cx="4055534" cy="1309709"/>
          </a:xfrm>
          <a:prstGeom prst="roundRect">
            <a:avLst>
              <a:gd name="adj" fmla="val 4649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289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40B22C2-1509-96D8-6BA5-D4ADAD59F944}"/>
              </a:ext>
            </a:extLst>
          </p:cNvPr>
          <p:cNvCxnSpPr>
            <a:cxnSpLocks/>
          </p:cNvCxnSpPr>
          <p:nvPr/>
        </p:nvCxnSpPr>
        <p:spPr>
          <a:xfrm>
            <a:off x="4223657" y="1210370"/>
            <a:ext cx="0" cy="35445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7E0DCD-63D5-98F9-58C0-57F16C342F63}"/>
              </a:ext>
            </a:extLst>
          </p:cNvPr>
          <p:cNvCxnSpPr>
            <a:cxnSpLocks/>
          </p:cNvCxnSpPr>
          <p:nvPr/>
        </p:nvCxnSpPr>
        <p:spPr>
          <a:xfrm>
            <a:off x="640080" y="3145804"/>
            <a:ext cx="777263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929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A7AEF3-6B12-F6F5-27FF-EB9D947E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B620262-7661-19B1-FC1D-60101C1F830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5B7BBD4C-2E7D-408D-3274-13D31E8C25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12DAB3C-EFC6-5C3A-DE37-9EFECF0737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965B1-0E5E-86F1-0D42-217C1926DF68}"/>
              </a:ext>
            </a:extLst>
          </p:cNvPr>
          <p:cNvSpPr txBox="1"/>
          <p:nvPr/>
        </p:nvSpPr>
        <p:spPr>
          <a:xfrm>
            <a:off x="5132439" y="4667111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dirty="0">
                <a:effectLst/>
                <a:latin typeface="Roboto-Light"/>
              </a:rPr>
              <a:t>Brute Force: Password Guessing</a:t>
            </a:r>
            <a:r>
              <a:rPr lang="en-US" b="0" dirty="0">
                <a:latin typeface="Roboto-Light"/>
              </a:rPr>
              <a:t> (</a:t>
            </a:r>
            <a:r>
              <a:rPr lang="en-US" dirty="0"/>
              <a:t>T1110.001</a:t>
            </a:r>
            <a:r>
              <a:rPr lang="en-US" b="0" dirty="0">
                <a:latin typeface="Roboto-Light"/>
              </a:rPr>
              <a:t>)</a:t>
            </a:r>
            <a:endParaRPr lang="en-US" dirty="0">
              <a:effectLst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1EF5E0-F7D4-C16B-ADFA-31712FC9DD3D}"/>
              </a:ext>
            </a:extLst>
          </p:cNvPr>
          <p:cNvGrpSpPr/>
          <p:nvPr/>
        </p:nvGrpSpPr>
        <p:grpSpPr>
          <a:xfrm>
            <a:off x="311700" y="1451600"/>
            <a:ext cx="8520600" cy="2726595"/>
            <a:chOff x="311700" y="1451600"/>
            <a:chExt cx="8520600" cy="272659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6836AA-1404-42F8-AB79-179177F32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35091" b="36403"/>
            <a:stretch>
              <a:fillRect/>
            </a:stretch>
          </p:blipFill>
          <p:spPr>
            <a:xfrm>
              <a:off x="311700" y="1451600"/>
              <a:ext cx="8520600" cy="2726595"/>
            </a:xfrm>
            <a:prstGeom prst="roundRect">
              <a:avLst>
                <a:gd name="adj" fmla="val 349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9AB647-5AF0-7DB2-66A0-96343F98D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4939" r="42506" b="36918"/>
            <a:stretch>
              <a:fillRect/>
            </a:stretch>
          </p:blipFill>
          <p:spPr>
            <a:xfrm>
              <a:off x="483741" y="1713850"/>
              <a:ext cx="8170141" cy="63587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ADB8D08-8FD5-EA09-0233-3BD0C5428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3911" r="39964" b="28725"/>
            <a:stretch>
              <a:fillRect/>
            </a:stretch>
          </p:blipFill>
          <p:spPr>
            <a:xfrm>
              <a:off x="483742" y="2611978"/>
              <a:ext cx="8310754" cy="29738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DA8260C-841F-5776-292B-46B0E3C4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8615" r="40902" b="3352"/>
            <a:stretch>
              <a:fillRect/>
            </a:stretch>
          </p:blipFill>
          <p:spPr>
            <a:xfrm>
              <a:off x="483742" y="3112474"/>
              <a:ext cx="8170140" cy="61032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A244179-4B1E-D455-7CF4-B605FDC3D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8589470" y="3722801"/>
              <a:ext cx="205026" cy="29495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5DAF0AB-355D-2BD4-88EE-6673DBFF6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3864943" y="3883237"/>
              <a:ext cx="735632" cy="2949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300344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048D159-3441-B2F0-17AE-9F89E98C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2AD14DE-D6EB-484C-559C-6197DC76971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48792BD-552D-08C9-4594-F6879EF80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F135769-728B-464C-50C4-F8AA9C710F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3CCB03-E5EE-18DA-B9FC-45ED25D702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2909703" y="1453042"/>
            <a:ext cx="3324594" cy="24500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BEA600-B8D2-A4DD-29A2-A3210A11587C}"/>
              </a:ext>
            </a:extLst>
          </p:cNvPr>
          <p:cNvSpPr txBox="1"/>
          <p:nvPr/>
        </p:nvSpPr>
        <p:spPr>
          <a:xfrm>
            <a:off x="5132439" y="4667111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0" dirty="0">
                <a:effectLst/>
                <a:latin typeface="Roboto-Light"/>
              </a:rPr>
              <a:t>Brute Force: Password Guessing</a:t>
            </a:r>
            <a:r>
              <a:rPr lang="en-US" b="0" dirty="0">
                <a:latin typeface="Roboto-Light"/>
              </a:rPr>
              <a:t> (</a:t>
            </a:r>
            <a:r>
              <a:rPr lang="en-US" dirty="0"/>
              <a:t>T1110.001</a:t>
            </a:r>
            <a:r>
              <a:rPr lang="en-US" b="0" dirty="0">
                <a:latin typeface="Roboto-Light"/>
              </a:rPr>
              <a:t>)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808795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953EA42-138A-99EE-C057-FB2EF245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5F288BF-0288-8E45-63C7-E08FD24DC7F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BBC6881-F87F-A4FF-571F-33F0AF7DE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12AB43C-496B-74A4-5010-A0CF167126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AED799-13E0-CBBD-B1CA-BA15A0C1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AF28CE-D0FA-B888-09EA-DFBEFA4DD708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E5948F-9FF4-D261-AC26-1134E7F33AF5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6F9C62-AEA1-D175-8966-A834F99ADE57}"/>
              </a:ext>
            </a:extLst>
          </p:cNvPr>
          <p:cNvSpPr/>
          <p:nvPr/>
        </p:nvSpPr>
        <p:spPr>
          <a:xfrm>
            <a:off x="4523397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EA5120-2476-853C-95B7-FACF4CAA8E22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47370E-BCF5-79C5-F4BA-553F75F684E1}"/>
              </a:ext>
            </a:extLst>
          </p:cNvPr>
          <p:cNvSpPr/>
          <p:nvPr/>
        </p:nvSpPr>
        <p:spPr>
          <a:xfrm>
            <a:off x="4523394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E02F7EB-1254-8999-62CE-D005B808E76A}"/>
              </a:ext>
            </a:extLst>
          </p:cNvPr>
          <p:cNvSpPr/>
          <p:nvPr/>
        </p:nvSpPr>
        <p:spPr>
          <a:xfrm>
            <a:off x="4523393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1E623E-1607-0FEC-D7A2-6C127A18C221}"/>
              </a:ext>
            </a:extLst>
          </p:cNvPr>
          <p:cNvSpPr/>
          <p:nvPr/>
        </p:nvSpPr>
        <p:spPr>
          <a:xfrm>
            <a:off x="4523392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386A2-05D1-5D47-EF5A-07D88A42506F}"/>
              </a:ext>
            </a:extLst>
          </p:cNvPr>
          <p:cNvSpPr/>
          <p:nvPr/>
        </p:nvSpPr>
        <p:spPr>
          <a:xfrm>
            <a:off x="1096500" y="2144805"/>
            <a:ext cx="778350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560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AE007A7-33B5-685D-012D-C940EC4D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C37459C-B626-EE20-7CDE-023E57CC6CE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7299BBC4-F336-1D1C-259F-706E2197F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B86D09F-BBB1-B4F4-DC8E-B93C0DBA65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F2C92B-5D3E-7041-1C90-53C14590AB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A16E62-7645-C646-BA8F-130F554DA973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DAB3BEE-CE71-9AA3-2E13-E45EBB307742}"/>
              </a:ext>
            </a:extLst>
          </p:cNvPr>
          <p:cNvSpPr/>
          <p:nvPr/>
        </p:nvSpPr>
        <p:spPr>
          <a:xfrm>
            <a:off x="4523397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F85EC8-66A5-776B-4D92-E6F22053F7FB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6324F93-7CC6-D0FF-7E58-DEE30810427B}"/>
              </a:ext>
            </a:extLst>
          </p:cNvPr>
          <p:cNvSpPr/>
          <p:nvPr/>
        </p:nvSpPr>
        <p:spPr>
          <a:xfrm>
            <a:off x="4523396" y="585124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24844C-040C-80AE-B5B0-385B478670F5}"/>
              </a:ext>
            </a:extLst>
          </p:cNvPr>
          <p:cNvSpPr/>
          <p:nvPr/>
        </p:nvSpPr>
        <p:spPr>
          <a:xfrm>
            <a:off x="4523395" y="6494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8E43AC-A274-B697-E7F2-21F40E2ABE57}"/>
              </a:ext>
            </a:extLst>
          </p:cNvPr>
          <p:cNvSpPr/>
          <p:nvPr/>
        </p:nvSpPr>
        <p:spPr>
          <a:xfrm>
            <a:off x="4523394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C61AFC-C4CA-6307-0D8C-9B6F47137A41}"/>
              </a:ext>
            </a:extLst>
          </p:cNvPr>
          <p:cNvSpPr/>
          <p:nvPr/>
        </p:nvSpPr>
        <p:spPr>
          <a:xfrm>
            <a:off x="4523393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5CCD7AA-E409-CA7E-3959-D605FA6650AF}"/>
              </a:ext>
            </a:extLst>
          </p:cNvPr>
          <p:cNvSpPr/>
          <p:nvPr/>
        </p:nvSpPr>
        <p:spPr>
          <a:xfrm>
            <a:off x="4523392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D10DF6-2978-4A86-3C1D-5F7D7583C7B0}"/>
              </a:ext>
            </a:extLst>
          </p:cNvPr>
          <p:cNvSpPr/>
          <p:nvPr/>
        </p:nvSpPr>
        <p:spPr>
          <a:xfrm>
            <a:off x="4523392" y="714848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0CF72-D27B-1DE0-F896-21EB05A630B3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58358"/>
      </p:ext>
    </p:extLst>
  </p:cSld>
  <p:clrMapOvr>
    <a:masterClrMapping/>
  </p:clrMapOvr>
  <p:transition advClick="0" advTm="500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5B4DCF-06FA-E573-8B4F-EDB28F10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68C899F-14E5-A0C5-3BAC-F9B5B069137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A80D6C5-174C-7804-FACE-4BEFEB19D3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2A137F0-D77D-8469-0E0E-AFAFC7BDD1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FF94D-4E0C-E429-F01D-B50FB3FAB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502286-43CA-F0EF-AA93-527482EBD4FB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7B362F-F8F6-49BC-6C9E-21DC8D2DB1FB}"/>
              </a:ext>
            </a:extLst>
          </p:cNvPr>
          <p:cNvSpPr/>
          <p:nvPr/>
        </p:nvSpPr>
        <p:spPr>
          <a:xfrm>
            <a:off x="4523397" y="387963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72A693-AF6C-BB81-3ED0-652D4E292474}"/>
              </a:ext>
            </a:extLst>
          </p:cNvPr>
          <p:cNvSpPr/>
          <p:nvPr/>
        </p:nvSpPr>
        <p:spPr>
          <a:xfrm>
            <a:off x="4523397" y="453007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D29D2B1-C02F-DA7E-3664-8976C3C591E6}"/>
              </a:ext>
            </a:extLst>
          </p:cNvPr>
          <p:cNvSpPr/>
          <p:nvPr/>
        </p:nvSpPr>
        <p:spPr>
          <a:xfrm>
            <a:off x="4523396" y="51768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3728640-872E-C745-1912-75D5B35B45B1}"/>
              </a:ext>
            </a:extLst>
          </p:cNvPr>
          <p:cNvSpPr/>
          <p:nvPr/>
        </p:nvSpPr>
        <p:spPr>
          <a:xfrm>
            <a:off x="4523395" y="58198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B2D97D-5AA7-CE01-650C-9595E1F77D31}"/>
              </a:ext>
            </a:extLst>
          </p:cNvPr>
          <p:cNvSpPr/>
          <p:nvPr/>
        </p:nvSpPr>
        <p:spPr>
          <a:xfrm>
            <a:off x="4523394" y="323102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D474D8-E20A-61B3-2583-C3227BE3F826}"/>
              </a:ext>
            </a:extLst>
          </p:cNvPr>
          <p:cNvSpPr/>
          <p:nvPr/>
        </p:nvSpPr>
        <p:spPr>
          <a:xfrm>
            <a:off x="4523393" y="25824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FA0BC2-C540-A42E-B02F-CD89D1AA0D23}"/>
              </a:ext>
            </a:extLst>
          </p:cNvPr>
          <p:cNvSpPr/>
          <p:nvPr/>
        </p:nvSpPr>
        <p:spPr>
          <a:xfrm>
            <a:off x="4523392" y="19319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A08266-327F-20A4-6B36-1D97B537A599}"/>
              </a:ext>
            </a:extLst>
          </p:cNvPr>
          <p:cNvSpPr/>
          <p:nvPr/>
        </p:nvSpPr>
        <p:spPr>
          <a:xfrm>
            <a:off x="4523392" y="647411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684F5-9C0D-07ED-AA0F-EBFF9E804DEC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393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49BF212-B65D-3C07-F673-C8EF471C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CA288C2-A63A-EC82-E54E-339CF674734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8BB49653-17A6-2605-9DEC-B6B695850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FFF3D24-D288-819C-F16F-05AB4F0D5A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E59DE8-B68B-5794-93B4-B29F099B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689288-063C-E73E-7359-2014FDBEBC45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A537F1-5FDA-8491-F78C-E9CF0F4FABBE}"/>
              </a:ext>
            </a:extLst>
          </p:cNvPr>
          <p:cNvSpPr/>
          <p:nvPr/>
        </p:nvSpPr>
        <p:spPr>
          <a:xfrm>
            <a:off x="4523397" y="323955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CD8E14-9304-D128-73C0-1958C9233660}"/>
              </a:ext>
            </a:extLst>
          </p:cNvPr>
          <p:cNvSpPr/>
          <p:nvPr/>
        </p:nvSpPr>
        <p:spPr>
          <a:xfrm>
            <a:off x="4523397" y="38899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02BBC1-288B-2B03-8CC8-D7D2E5C72F2D}"/>
              </a:ext>
            </a:extLst>
          </p:cNvPr>
          <p:cNvSpPr/>
          <p:nvPr/>
        </p:nvSpPr>
        <p:spPr>
          <a:xfrm>
            <a:off x="4523396" y="453679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5F6CF0-FB33-93C0-7EB6-6DD6F62122D0}"/>
              </a:ext>
            </a:extLst>
          </p:cNvPr>
          <p:cNvSpPr/>
          <p:nvPr/>
        </p:nvSpPr>
        <p:spPr>
          <a:xfrm>
            <a:off x="4523395" y="517979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A8213B-1A2E-74DE-E6E6-7AC4443A85A8}"/>
              </a:ext>
            </a:extLst>
          </p:cNvPr>
          <p:cNvSpPr/>
          <p:nvPr/>
        </p:nvSpPr>
        <p:spPr>
          <a:xfrm>
            <a:off x="4523394" y="259094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4D2A07E-57F2-8D0C-4060-9066D3B6A228}"/>
              </a:ext>
            </a:extLst>
          </p:cNvPr>
          <p:cNvSpPr/>
          <p:nvPr/>
        </p:nvSpPr>
        <p:spPr>
          <a:xfrm>
            <a:off x="4523393" y="194232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1F11C91-C290-47A4-CEA7-2D1BC2277753}"/>
              </a:ext>
            </a:extLst>
          </p:cNvPr>
          <p:cNvSpPr/>
          <p:nvPr/>
        </p:nvSpPr>
        <p:spPr>
          <a:xfrm>
            <a:off x="4523392" y="129188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2AC6A9A-FC78-74E7-F7BD-D53B083087FB}"/>
              </a:ext>
            </a:extLst>
          </p:cNvPr>
          <p:cNvSpPr/>
          <p:nvPr/>
        </p:nvSpPr>
        <p:spPr>
          <a:xfrm>
            <a:off x="4523392" y="583403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3E3704-6A13-5B71-D699-989D33D42667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046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1E7A83D-472E-8E91-EEF2-17916736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AEE4638-15D2-F086-1574-F41618F21CF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71E1E64-EBC4-BEC7-C9B2-CB17625C80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C8253CF-2121-941D-EA52-7C1CDE044D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252D1E-3F04-D00B-3AD0-8A0D0345FC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4EC352-0248-7CAE-924D-CB60B3CC4858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9BA72FE-3C3B-D1AD-54FF-FC2C0D32F4F8}"/>
              </a:ext>
            </a:extLst>
          </p:cNvPr>
          <p:cNvSpPr/>
          <p:nvPr/>
        </p:nvSpPr>
        <p:spPr>
          <a:xfrm>
            <a:off x="4523397" y="25844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3CB260F-96C3-837E-CF35-6C1280A9331D}"/>
              </a:ext>
            </a:extLst>
          </p:cNvPr>
          <p:cNvSpPr/>
          <p:nvPr/>
        </p:nvSpPr>
        <p:spPr>
          <a:xfrm>
            <a:off x="4523397" y="32349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72BE532-EA03-7CC3-A9DB-E368C63D2B17}"/>
              </a:ext>
            </a:extLst>
          </p:cNvPr>
          <p:cNvSpPr/>
          <p:nvPr/>
        </p:nvSpPr>
        <p:spPr>
          <a:xfrm>
            <a:off x="4523396" y="38816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F1196A-2CEB-3CF9-B743-5F8BBD4C1512}"/>
              </a:ext>
            </a:extLst>
          </p:cNvPr>
          <p:cNvSpPr/>
          <p:nvPr/>
        </p:nvSpPr>
        <p:spPr>
          <a:xfrm>
            <a:off x="4523395" y="452469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13F5305-D755-0126-AA99-F2C2161F8746}"/>
              </a:ext>
            </a:extLst>
          </p:cNvPr>
          <p:cNvSpPr/>
          <p:nvPr/>
        </p:nvSpPr>
        <p:spPr>
          <a:xfrm>
            <a:off x="4523394" y="19358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FD6B1B-BD01-A052-9D43-B8CDC72159D6}"/>
              </a:ext>
            </a:extLst>
          </p:cNvPr>
          <p:cNvSpPr/>
          <p:nvPr/>
        </p:nvSpPr>
        <p:spPr>
          <a:xfrm>
            <a:off x="4523393" y="128722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C7ECD4-E394-579D-6AD0-924E77588582}"/>
              </a:ext>
            </a:extLst>
          </p:cNvPr>
          <p:cNvSpPr/>
          <p:nvPr/>
        </p:nvSpPr>
        <p:spPr>
          <a:xfrm>
            <a:off x="4523392" y="63678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951F66-E2A4-7CF0-2F4F-D49CAD4D5DF1}"/>
              </a:ext>
            </a:extLst>
          </p:cNvPr>
          <p:cNvSpPr/>
          <p:nvPr/>
        </p:nvSpPr>
        <p:spPr>
          <a:xfrm>
            <a:off x="4523392" y="517893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FCB94F-9A68-9472-A0A0-02A152D7E295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159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092A893-AD75-54EE-300D-06D50A8B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822FAD24-29EC-5012-1E24-F638F6190BB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E215AA1-9F0C-56A9-53A0-86550FBD2A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5A14D4C-31D0-3EBF-4248-D4E2957C20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BD9A5C-8A5C-293C-172E-91CB8C799A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2DA782-6409-7E94-314E-92F9202FABE5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C8D2685-F340-3449-48AA-FBA770D7AD66}"/>
              </a:ext>
            </a:extLst>
          </p:cNvPr>
          <p:cNvSpPr/>
          <p:nvPr/>
        </p:nvSpPr>
        <p:spPr>
          <a:xfrm>
            <a:off x="4523397" y="193862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DCD066D-23E4-FCDF-BB90-6F9F5AA7A721}"/>
              </a:ext>
            </a:extLst>
          </p:cNvPr>
          <p:cNvSpPr/>
          <p:nvPr/>
        </p:nvSpPr>
        <p:spPr>
          <a:xfrm>
            <a:off x="4523397" y="258906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56E6C5-6DDE-5BE7-7C54-9C9C9F8E7A3B}"/>
              </a:ext>
            </a:extLst>
          </p:cNvPr>
          <p:cNvSpPr/>
          <p:nvPr/>
        </p:nvSpPr>
        <p:spPr>
          <a:xfrm>
            <a:off x="4523396" y="323586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BEAF8C-B4AC-D276-2ED1-393EDFA51858}"/>
              </a:ext>
            </a:extLst>
          </p:cNvPr>
          <p:cNvSpPr/>
          <p:nvPr/>
        </p:nvSpPr>
        <p:spPr>
          <a:xfrm>
            <a:off x="4523395" y="38788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881D751-6687-AE48-9369-A46A4A0F6EE3}"/>
              </a:ext>
            </a:extLst>
          </p:cNvPr>
          <p:cNvSpPr/>
          <p:nvPr/>
        </p:nvSpPr>
        <p:spPr>
          <a:xfrm>
            <a:off x="4523394" y="1290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5680887-C5B7-EA73-2203-EA8AF2E3B1E6}"/>
              </a:ext>
            </a:extLst>
          </p:cNvPr>
          <p:cNvSpPr/>
          <p:nvPr/>
        </p:nvSpPr>
        <p:spPr>
          <a:xfrm>
            <a:off x="4523393" y="641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54E2D4-13A3-5E71-C91A-AFD5F7D928C0}"/>
              </a:ext>
            </a:extLst>
          </p:cNvPr>
          <p:cNvSpPr/>
          <p:nvPr/>
        </p:nvSpPr>
        <p:spPr>
          <a:xfrm>
            <a:off x="4523392" y="-905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C01781-BAE6-360E-C0E9-2DB9E6ACAF57}"/>
              </a:ext>
            </a:extLst>
          </p:cNvPr>
          <p:cNvSpPr/>
          <p:nvPr/>
        </p:nvSpPr>
        <p:spPr>
          <a:xfrm>
            <a:off x="4523392" y="453310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F1FE51-D73E-46A0-43B9-743244190B3C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A66393B-7878-AA9B-F12C-550467F35026}"/>
              </a:ext>
            </a:extLst>
          </p:cNvPr>
          <p:cNvSpPr/>
          <p:nvPr/>
        </p:nvSpPr>
        <p:spPr>
          <a:xfrm>
            <a:off x="4523392" y="518354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</p:spTree>
    <p:extLst>
      <p:ext uri="{BB962C8B-B14F-4D97-AF65-F5344CB8AC3E}">
        <p14:creationId xmlns:p14="http://schemas.microsoft.com/office/powerpoint/2010/main" val="1136522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BFFFEA7-7998-8499-2C48-F8FEFF8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AD1DAB2-7C51-EBAD-2260-DB4A21726B3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3DE25F13-C99A-330D-79BC-02C83FE59B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A0493E4-71A1-61BA-34C8-6D3244BCB0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AF9980-B933-6A68-AE7E-029224336D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EDA7DBF-705B-E7C7-9981-D4065FCB2D36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5EFA81-B089-429F-46DB-4A602EB37E69}"/>
              </a:ext>
            </a:extLst>
          </p:cNvPr>
          <p:cNvSpPr/>
          <p:nvPr/>
        </p:nvSpPr>
        <p:spPr>
          <a:xfrm>
            <a:off x="4523397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3DEE3EA-0E7E-25C3-96AA-F3638B63DD88}"/>
              </a:ext>
            </a:extLst>
          </p:cNvPr>
          <p:cNvSpPr/>
          <p:nvPr/>
        </p:nvSpPr>
        <p:spPr>
          <a:xfrm>
            <a:off x="4523397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E070405-8E24-FD68-7832-2CE98D1CBE2B}"/>
              </a:ext>
            </a:extLst>
          </p:cNvPr>
          <p:cNvSpPr/>
          <p:nvPr/>
        </p:nvSpPr>
        <p:spPr>
          <a:xfrm>
            <a:off x="4523396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0E1276-8D06-2AA6-B62A-2667EEA9B972}"/>
              </a:ext>
            </a:extLst>
          </p:cNvPr>
          <p:cNvSpPr/>
          <p:nvPr/>
        </p:nvSpPr>
        <p:spPr>
          <a:xfrm>
            <a:off x="4523395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6ECD739-BE7A-C832-076F-3FC1812F6681}"/>
              </a:ext>
            </a:extLst>
          </p:cNvPr>
          <p:cNvSpPr/>
          <p:nvPr/>
        </p:nvSpPr>
        <p:spPr>
          <a:xfrm>
            <a:off x="4523394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8691EE-D0A1-5931-995F-AC5E9BFECAEC}"/>
              </a:ext>
            </a:extLst>
          </p:cNvPr>
          <p:cNvSpPr/>
          <p:nvPr/>
        </p:nvSpPr>
        <p:spPr>
          <a:xfrm>
            <a:off x="4523393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FC954A9-94F3-DD32-C36B-E8A4BD960EB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D6DCAE-53E1-6828-C36E-ABA2DAC8C86C}"/>
              </a:ext>
            </a:extLst>
          </p:cNvPr>
          <p:cNvSpPr/>
          <p:nvPr/>
        </p:nvSpPr>
        <p:spPr>
          <a:xfrm>
            <a:off x="4523392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DF9FAD-E404-B348-6A79-F7D498C0F22E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B25C28-74A3-91D4-DCC9-06C32B37F396}"/>
              </a:ext>
            </a:extLst>
          </p:cNvPr>
          <p:cNvSpPr/>
          <p:nvPr/>
        </p:nvSpPr>
        <p:spPr>
          <a:xfrm>
            <a:off x="4523392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</p:spTree>
    <p:extLst>
      <p:ext uri="{BB962C8B-B14F-4D97-AF65-F5344CB8AC3E}">
        <p14:creationId xmlns:p14="http://schemas.microsoft.com/office/powerpoint/2010/main" val="1121700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95BE767-8F67-DC81-7D20-12053107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554A03E-06CB-3C70-614D-3F8521F036B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AD83C5-E86F-3895-2C92-35144561E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713656F-7D1C-4859-D667-5A6D460841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1EA908-F0D6-07CE-860C-6C38222E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E52022-7223-FD84-EA91-16E7F290869A}"/>
              </a:ext>
            </a:extLst>
          </p:cNvPr>
          <p:cNvSpPr/>
          <p:nvPr/>
        </p:nvSpPr>
        <p:spPr>
          <a:xfrm>
            <a:off x="1096500" y="2144806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49B19D-48B5-014E-93D0-D158A2897FCD}"/>
              </a:ext>
            </a:extLst>
          </p:cNvPr>
          <p:cNvSpPr/>
          <p:nvPr/>
        </p:nvSpPr>
        <p:spPr>
          <a:xfrm>
            <a:off x="4523397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8741520-5D6F-0841-7CA0-0D9ABE8DF70D}"/>
              </a:ext>
            </a:extLst>
          </p:cNvPr>
          <p:cNvSpPr/>
          <p:nvPr/>
        </p:nvSpPr>
        <p:spPr>
          <a:xfrm>
            <a:off x="4523397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34FDA1-D8AA-5D3A-EA0D-468335C8DDC8}"/>
              </a:ext>
            </a:extLst>
          </p:cNvPr>
          <p:cNvSpPr/>
          <p:nvPr/>
        </p:nvSpPr>
        <p:spPr>
          <a:xfrm>
            <a:off x="4523396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5886A9-8303-D729-5752-236CFF10D4D5}"/>
              </a:ext>
            </a:extLst>
          </p:cNvPr>
          <p:cNvSpPr/>
          <p:nvPr/>
        </p:nvSpPr>
        <p:spPr>
          <a:xfrm>
            <a:off x="4523395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1F4085-FDD9-6932-D30A-05F6E9DE0B53}"/>
              </a:ext>
            </a:extLst>
          </p:cNvPr>
          <p:cNvSpPr/>
          <p:nvPr/>
        </p:nvSpPr>
        <p:spPr>
          <a:xfrm>
            <a:off x="4523394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39D20E-6091-70BD-8C37-753E165773BA}"/>
              </a:ext>
            </a:extLst>
          </p:cNvPr>
          <p:cNvSpPr/>
          <p:nvPr/>
        </p:nvSpPr>
        <p:spPr>
          <a:xfrm>
            <a:off x="4523393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A413976-763D-A18A-6114-7E7F8D45C98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F40B25-DE49-347D-D778-4AF8CDFC18B8}"/>
              </a:ext>
            </a:extLst>
          </p:cNvPr>
          <p:cNvSpPr/>
          <p:nvPr/>
        </p:nvSpPr>
        <p:spPr>
          <a:xfrm>
            <a:off x="4523392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6BA356-098F-34CC-B6E9-6D4AA6E3FED8}"/>
              </a:ext>
            </a:extLst>
          </p:cNvPr>
          <p:cNvSpPr/>
          <p:nvPr/>
        </p:nvSpPr>
        <p:spPr>
          <a:xfrm>
            <a:off x="1096500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EE0744-2820-9809-6265-2F87952ED1A5}"/>
              </a:ext>
            </a:extLst>
          </p:cNvPr>
          <p:cNvSpPr/>
          <p:nvPr/>
        </p:nvSpPr>
        <p:spPr>
          <a:xfrm>
            <a:off x="4523392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anniversary</a:t>
            </a:r>
          </a:p>
        </p:txBody>
      </p:sp>
    </p:spTree>
    <p:extLst>
      <p:ext uri="{BB962C8B-B14F-4D97-AF65-F5344CB8AC3E}">
        <p14:creationId xmlns:p14="http://schemas.microsoft.com/office/powerpoint/2010/main" val="217413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BFBC045-B93F-78CD-E22F-74E7A221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75DCEF82-C4E3-CF84-8D59-CDC822C0C1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B23397-DA6D-9AEC-F047-690C12F617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B68D1D2-E77C-7668-FBB9-6A3C0A58BE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F99F3-28E2-3946-016B-882A0F7AB235}"/>
              </a:ext>
            </a:extLst>
          </p:cNvPr>
          <p:cNvGrpSpPr/>
          <p:nvPr/>
        </p:nvGrpSpPr>
        <p:grpSpPr>
          <a:xfrm>
            <a:off x="311700" y="1484355"/>
            <a:ext cx="8520600" cy="2174789"/>
            <a:chOff x="344652" y="1484355"/>
            <a:chExt cx="8520600" cy="217478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3175412-43BA-C219-AC2E-F8C21965A7D5}"/>
                </a:ext>
              </a:extLst>
            </p:cNvPr>
            <p:cNvSpPr/>
            <p:nvPr/>
          </p:nvSpPr>
          <p:spPr>
            <a:xfrm>
              <a:off x="344652" y="1484355"/>
              <a:ext cx="8520600" cy="2174789"/>
            </a:xfrm>
            <a:prstGeom prst="roundRect">
              <a:avLst>
                <a:gd name="adj" fmla="val 4546"/>
              </a:avLst>
            </a:prstGeom>
            <a:solidFill>
              <a:srgbClr val="272A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12F40E-C49D-4DAC-AC79-642E032D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066" y="1846437"/>
              <a:ext cx="8144999" cy="1450626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noFill/>
              <a:miter lim="800000"/>
            </a:ln>
            <a:effectLst/>
            <a:scene3d>
              <a:camera prst="orthographicFront"/>
              <a:lightRig rig="twoPt" dir="t">
                <a:rot lat="0" lon="0" rev="7200000"/>
              </a:lightRig>
            </a:scene3d>
            <a:sp3d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4CB53EE-C628-8D94-4EB6-A4251EFF7FC4}"/>
              </a:ext>
            </a:extLst>
          </p:cNvPr>
          <p:cNvSpPr txBox="1"/>
          <p:nvPr/>
        </p:nvSpPr>
        <p:spPr>
          <a:xfrm>
            <a:off x="5622324" y="4667111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dirty="0"/>
              <a:t>T0819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129269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7282014-84AC-29E5-5A87-A7636E35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819E665-1CB9-4188-AB84-98A92A532DE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14108658-C872-EFB2-2802-996EC7F79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F7EACA8-4FA5-3A5F-5570-53FC2B0033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8A673A-96BB-2B28-45D4-D56D0C542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0" y="2474322"/>
            <a:ext cx="4463847" cy="799495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E9A30-CD4D-2920-40A4-64928AD56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2999" y="1431474"/>
            <a:ext cx="4463845" cy="799495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9869FF-0949-289D-CD35-3E2A06A83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000" y="3517170"/>
            <a:ext cx="4463845" cy="7987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69545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E348C3C-D6E3-020F-A516-EDEC5FDF3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7E088E-6E1C-E1BE-D4B1-0A2D99F2DE3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A525529-FCAF-926B-8AFD-95ECBC337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40B0C53-B921-F8A7-D489-DD3694358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8FF1BE-9B6E-DD2D-C7E2-E5A26021F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4" y="2569470"/>
            <a:ext cx="3375698" cy="604603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74D34-506B-836A-A527-3EBB9B6F0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813" y="1526622"/>
            <a:ext cx="3375696" cy="604603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135C09-77FF-27D6-6C5D-2A67D02FD8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14" y="3612318"/>
            <a:ext cx="3375696" cy="6040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CD8E92-EFAC-B752-3CDB-96A8B2980077}"/>
              </a:ext>
            </a:extLst>
          </p:cNvPr>
          <p:cNvSpPr txBox="1"/>
          <p:nvPr/>
        </p:nvSpPr>
        <p:spPr>
          <a:xfrm>
            <a:off x="4572000" y="858633"/>
            <a:ext cx="364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SELECT</a:t>
            </a:r>
            <a:r>
              <a:rPr lang="en-US" sz="1800" b="1" dirty="0"/>
              <a:t> * </a:t>
            </a:r>
            <a:r>
              <a:rPr lang="en-US" sz="1800" b="1" dirty="0">
                <a:solidFill>
                  <a:srgbClr val="00B050"/>
                </a:solidFill>
              </a:rPr>
              <a:t>FROM</a:t>
            </a:r>
            <a:r>
              <a:rPr lang="en-US" sz="1800" b="1" dirty="0"/>
              <a:t> users </a:t>
            </a:r>
            <a:r>
              <a:rPr lang="en-US" sz="1800" b="1" dirty="0">
                <a:solidFill>
                  <a:srgbClr val="00B050"/>
                </a:solidFill>
              </a:rPr>
              <a:t>WHERE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43605A-EFCB-6A2F-79A2-83DB5B321381}"/>
              </a:ext>
            </a:extLst>
          </p:cNvPr>
          <p:cNvSpPr txBox="1"/>
          <p:nvPr/>
        </p:nvSpPr>
        <p:spPr>
          <a:xfrm>
            <a:off x="4571998" y="1505757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'-- </a:t>
            </a:r>
          </a:p>
          <a:p>
            <a:pPr algn="ctr"/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96E81-8832-86FD-A00B-AD611F8A60A5}"/>
              </a:ext>
            </a:extLst>
          </p:cNvPr>
          <p:cNvSpPr txBox="1"/>
          <p:nvPr/>
        </p:nvSpPr>
        <p:spPr>
          <a:xfrm>
            <a:off x="4571999" y="2547958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</a:t>
            </a:r>
            <a:r>
              <a:rPr lang="en-US" sz="1800" b="1" dirty="0">
                <a:solidFill>
                  <a:schemeClr val="tx1"/>
                </a:solidFill>
              </a:rPr>
              <a:t>#</a:t>
            </a:r>
          </a:p>
          <a:p>
            <a:pPr algn="ctr"/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D20E3E-5AF4-1EB4-23C6-68D7EC196D13}"/>
              </a:ext>
            </a:extLst>
          </p:cNvPr>
          <p:cNvSpPr txBox="1"/>
          <p:nvPr/>
        </p:nvSpPr>
        <p:spPr>
          <a:xfrm>
            <a:off x="4571999" y="3595357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 </a:t>
            </a:r>
            <a:r>
              <a:rPr lang="en-US" sz="1800" b="1" dirty="0">
                <a:solidFill>
                  <a:schemeClr val="tx1"/>
                </a:solidFill>
              </a:rPr>
              <a:t>OR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/>
              <a:t>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 = 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</a:t>
            </a:r>
          </a:p>
          <a:p>
            <a:pPr algn="ctr"/>
            <a:r>
              <a:rPr lang="en-US" sz="1800" b="1" dirty="0">
                <a:solidFill>
                  <a:schemeClr val="tx1"/>
                </a:solidFill>
              </a:rPr>
              <a:t>AND</a:t>
            </a:r>
            <a:r>
              <a:rPr lang="en-US" sz="1800" b="1" dirty="0">
                <a:solidFill>
                  <a:srgbClr val="00B050"/>
                </a:solidFill>
              </a:rPr>
              <a:t> password </a:t>
            </a:r>
            <a:r>
              <a:rPr lang="en-US" sz="1800" b="1" dirty="0">
                <a:solidFill>
                  <a:schemeClr val="tx1"/>
                </a:solidFill>
              </a:rPr>
              <a:t>=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rgbClr val="FF0000"/>
                </a:solidFill>
              </a:rPr>
              <a:t>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A25FF9-4BFE-5EA9-5F91-CC7C8FEA2E8F}"/>
              </a:ext>
            </a:extLst>
          </p:cNvPr>
          <p:cNvCxnSpPr/>
          <p:nvPr/>
        </p:nvCxnSpPr>
        <p:spPr>
          <a:xfrm>
            <a:off x="223935" y="2316767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D674A-FB71-5B50-CB8F-83CDF562D3D0}"/>
              </a:ext>
            </a:extLst>
          </p:cNvPr>
          <p:cNvCxnSpPr/>
          <p:nvPr/>
        </p:nvCxnSpPr>
        <p:spPr>
          <a:xfrm>
            <a:off x="223935" y="3439551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19464F-09C9-1C1E-B111-33DC92F652AF}"/>
              </a:ext>
            </a:extLst>
          </p:cNvPr>
          <p:cNvCxnSpPr>
            <a:cxnSpLocks/>
          </p:cNvCxnSpPr>
          <p:nvPr/>
        </p:nvCxnSpPr>
        <p:spPr>
          <a:xfrm>
            <a:off x="4385389" y="1374375"/>
            <a:ext cx="0" cy="30231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117922-82F0-EB55-1980-6D690A336F58}"/>
              </a:ext>
            </a:extLst>
          </p:cNvPr>
          <p:cNvCxnSpPr/>
          <p:nvPr/>
        </p:nvCxnSpPr>
        <p:spPr>
          <a:xfrm>
            <a:off x="223935" y="1374375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C0F0485-D14A-AEAA-6D4B-326B4EA7C183}"/>
              </a:ext>
            </a:extLst>
          </p:cNvPr>
          <p:cNvCxnSpPr/>
          <p:nvPr/>
        </p:nvCxnSpPr>
        <p:spPr>
          <a:xfrm>
            <a:off x="223935" y="4397493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76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8116D96-1705-DDD8-F68D-346B888C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2742927-59A8-5102-545D-8DC825AFDC0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CE1F0FE-73B7-0F42-859F-92D1B68FA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772A03F-968F-15AA-62DB-4B7B9332E0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147148B-A64B-3E75-0B78-F3057FD64226}"/>
              </a:ext>
            </a:extLst>
          </p:cNvPr>
          <p:cNvGrpSpPr/>
          <p:nvPr/>
        </p:nvGrpSpPr>
        <p:grpSpPr>
          <a:xfrm>
            <a:off x="311700" y="3386370"/>
            <a:ext cx="8598654" cy="935151"/>
            <a:chOff x="311700" y="3495699"/>
            <a:chExt cx="8598654" cy="935151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4B69626-6E09-DFC3-86B5-2B103A306E43}"/>
                </a:ext>
              </a:extLst>
            </p:cNvPr>
            <p:cNvSpPr/>
            <p:nvPr/>
          </p:nvSpPr>
          <p:spPr>
            <a:xfrm>
              <a:off x="311700" y="3495699"/>
              <a:ext cx="8598654" cy="935151"/>
            </a:xfrm>
            <a:prstGeom prst="roundRect">
              <a:avLst>
                <a:gd name="adj" fmla="val 9094"/>
              </a:avLst>
            </a:prstGeom>
            <a:solidFill>
              <a:srgbClr val="2225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E3EE7C-C9BB-B217-56B1-71CD39B8B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061" t="33086" r="38782" b="45968"/>
            <a:stretch>
              <a:fillRect/>
            </a:stretch>
          </p:blipFill>
          <p:spPr>
            <a:xfrm>
              <a:off x="389754" y="3610185"/>
              <a:ext cx="8364491" cy="711784"/>
            </a:xfrm>
            <a:prstGeom prst="rect">
              <a:avLst/>
            </a:prstGeom>
            <a:noFill/>
            <a:ln w="88900" cap="sq">
              <a:noFill/>
              <a:miter lim="800000"/>
            </a:ln>
            <a:effectLst>
              <a:outerShdw blurRad="55000" dist="18000" dir="5400000" algn="tl" rotWithShape="0">
                <a:srgbClr val="000000">
                  <a:alpha val="0"/>
                </a:srgbClr>
              </a:outerShdw>
            </a:effec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0EDBB63-FE7F-D0EE-F7D6-DC9882CBF3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176" t="80587" r="40130" b="1273"/>
          <a:stretch>
            <a:fillRect/>
          </a:stretch>
        </p:blipFill>
        <p:spPr>
          <a:xfrm>
            <a:off x="2685837" y="1256021"/>
            <a:ext cx="3772325" cy="1896551"/>
          </a:xfrm>
          <a:prstGeom prst="roundRect">
            <a:avLst>
              <a:gd name="adj" fmla="val 529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5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63FB3-9C69-4E42-C226-887DACA5B38C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dirty="0"/>
              <a:t>T0819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35370530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A238BD30-F5E4-254F-194F-0FA7C0A76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A39C0C6-A0D5-01C1-1406-1697340E95A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59DBE7B0-9C33-62AF-F0BF-26EEFCA613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16ADDA52-AE2D-B929-942F-E735FA8A5CA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5C875DB-D8D4-D9D8-85C7-EB361EABA0A3}"/>
              </a:ext>
            </a:extLst>
          </p:cNvPr>
          <p:cNvGrpSpPr>
            <a:grpSpLocks noChangeAspect="1"/>
          </p:cNvGrpSpPr>
          <p:nvPr/>
        </p:nvGrpSpPr>
        <p:grpSpPr>
          <a:xfrm>
            <a:off x="636149" y="1321820"/>
            <a:ext cx="7871702" cy="2759938"/>
            <a:chOff x="159299" y="1080203"/>
            <a:chExt cx="8837556" cy="3098581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0DBD2CF-6983-416D-947B-5F331D02AE78}"/>
                </a:ext>
              </a:extLst>
            </p:cNvPr>
            <p:cNvSpPr/>
            <p:nvPr/>
          </p:nvSpPr>
          <p:spPr>
            <a:xfrm>
              <a:off x="159299" y="1080203"/>
              <a:ext cx="8837556" cy="3098581"/>
            </a:xfrm>
            <a:prstGeom prst="roundRect">
              <a:avLst>
                <a:gd name="adj" fmla="val 750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27E01C9-2996-62CB-E4A2-ADC5E41A3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863" y="1335988"/>
              <a:ext cx="8296273" cy="2587009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803FC9A-21D7-4ED1-EF2E-29F01ADBD0F4}"/>
              </a:ext>
            </a:extLst>
          </p:cNvPr>
          <p:cNvSpPr txBox="1"/>
          <p:nvPr/>
        </p:nvSpPr>
        <p:spPr>
          <a:xfrm>
            <a:off x="636149" y="415569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https://</a:t>
            </a:r>
            <a:r>
              <a:rPr lang="en-US" dirty="0" err="1"/>
              <a:t>jam.dev</a:t>
            </a:r>
            <a:r>
              <a:rPr lang="en-US" dirty="0"/>
              <a:t>/utilities/</a:t>
            </a:r>
            <a:r>
              <a:rPr lang="en-US" dirty="0" err="1"/>
              <a:t>url</a:t>
            </a:r>
            <a:r>
              <a:rPr lang="en-US" dirty="0"/>
              <a:t>-encoder</a:t>
            </a:r>
          </a:p>
        </p:txBody>
      </p:sp>
    </p:spTree>
    <p:extLst>
      <p:ext uri="{BB962C8B-B14F-4D97-AF65-F5344CB8AC3E}">
        <p14:creationId xmlns:p14="http://schemas.microsoft.com/office/powerpoint/2010/main" val="28456766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D9B45FD-30A3-41DA-19D5-550E35829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593E139-1A4E-FFAA-B1D1-2D57454B09C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4D166BF-26F2-862A-631C-0EFA99D23B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E88A2D3-7DA0-92C9-0D8A-DD127876E29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4B1AA6-56C8-2700-7820-9D4161107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98156"/>
              </p:ext>
            </p:extLst>
          </p:nvPr>
        </p:nvGraphicFramePr>
        <p:xfrm>
          <a:off x="449036" y="1436122"/>
          <a:ext cx="8383264" cy="29664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191632">
                  <a:extLst>
                    <a:ext uri="{9D8B030D-6E8A-4147-A177-3AD203B41FA5}">
                      <a16:colId xmlns:a16="http://schemas.microsoft.com/office/drawing/2014/main" val="3954222776"/>
                    </a:ext>
                  </a:extLst>
                </a:gridCol>
                <a:gridCol w="4191632">
                  <a:extLst>
                    <a:ext uri="{9D8B030D-6E8A-4147-A177-3AD203B41FA5}">
                      <a16:colId xmlns:a16="http://schemas.microsoft.com/office/drawing/2014/main" val="2375687988"/>
                    </a:ext>
                  </a:extLst>
                </a:gridCol>
              </a:tblGrid>
              <a:tr h="637952">
                <a:tc>
                  <a:txBody>
                    <a:bodyPr/>
                    <a:lstStyle/>
                    <a:p>
                      <a:pPr lvl="4" algn="l"/>
                      <a:r>
                        <a:rPr lang="en-US" sz="1800" b="1" dirty="0"/>
                        <a:t> 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http://mesa/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management.php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9453569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Read-Parameter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?read=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sys.log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199110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2" algn="l"/>
                      <a:r>
                        <a:rPr lang="en-US" sz="1800" b="1" dirty="0"/>
                        <a:t> Concatenation (AND) Operator </a:t>
                      </a:r>
                      <a:r>
                        <a:rPr lang="en-US" sz="1800" b="1" i="1" dirty="0"/>
                        <a:t>&amp;&amp;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%20%26%26%20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348078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Bash-Command to inject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bash%20-c%20 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39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5428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F75FC18-EA63-A5D9-F663-B09D40C3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29C195-5A32-3505-F942-7D23E40737B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F360349-F9E6-4EC5-D804-C4981645D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183F860-6FBF-1FAA-CB6E-F916738FB0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60F3AB3-0657-4AF2-76E6-7F5D16451F84}"/>
              </a:ext>
            </a:extLst>
          </p:cNvPr>
          <p:cNvGrpSpPr>
            <a:grpSpLocks noChangeAspect="1"/>
          </p:cNvGrpSpPr>
          <p:nvPr/>
        </p:nvGrpSpPr>
        <p:grpSpPr>
          <a:xfrm>
            <a:off x="804671" y="1123624"/>
            <a:ext cx="7516369" cy="3611427"/>
            <a:chOff x="804671" y="1087048"/>
            <a:chExt cx="7516369" cy="3611427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5ED5F93-0299-5FD7-E558-AB6681F9A762}"/>
                </a:ext>
              </a:extLst>
            </p:cNvPr>
            <p:cNvSpPr/>
            <p:nvPr/>
          </p:nvSpPr>
          <p:spPr>
            <a:xfrm>
              <a:off x="804671" y="1087048"/>
              <a:ext cx="7516369" cy="3611427"/>
            </a:xfrm>
            <a:prstGeom prst="roundRect">
              <a:avLst>
                <a:gd name="adj" fmla="val 5158"/>
              </a:avLst>
            </a:prstGeom>
            <a:solidFill>
              <a:srgbClr val="31363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5A7F2BF-5031-4E23-FD94-399756595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78" r="233"/>
            <a:stretch>
              <a:fillRect/>
            </a:stretch>
          </p:blipFill>
          <p:spPr>
            <a:xfrm>
              <a:off x="925033" y="1246565"/>
              <a:ext cx="7304567" cy="33455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9791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73F9B5C-9AB6-BA47-7487-058C627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931B522-02C8-9C35-17F0-0A4BE0E1675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56A070-9B7B-BF4A-B13A-71FA73FDF2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0802B734-F79F-F7B8-CF74-A7F0B0A525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9C34CE-A231-7FD8-1BAF-043BF392FDCF}"/>
              </a:ext>
            </a:extLst>
          </p:cNvPr>
          <p:cNvSpPr txBox="1"/>
          <p:nvPr/>
        </p:nvSpPr>
        <p:spPr>
          <a:xfrm>
            <a:off x="4965539" y="4712573"/>
            <a:ext cx="41784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Unsecured Credentials: Shell History 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/>
              <a:t>T1552.003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617575-2E98-25C9-9BBB-B709C832A102}"/>
              </a:ext>
            </a:extLst>
          </p:cNvPr>
          <p:cNvSpPr/>
          <p:nvPr/>
        </p:nvSpPr>
        <p:spPr>
          <a:xfrm>
            <a:off x="311700" y="1451600"/>
            <a:ext cx="8520600" cy="2631105"/>
          </a:xfrm>
          <a:prstGeom prst="roundRect">
            <a:avLst>
              <a:gd name="adj" fmla="val 5560"/>
            </a:avLst>
          </a:prstGeom>
          <a:solidFill>
            <a:srgbClr val="3136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B1133-9213-3AF7-7240-F1D1468D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53" y="1549596"/>
            <a:ext cx="7885894" cy="243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808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0D51CC5-F0E8-5439-DA47-9D6E717B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C984A3F-9F1D-6AED-9ABB-73E94E205F4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1EFCA95-6179-534E-AD28-E97C1CC7E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E1A0CE2-9CAB-108A-9F59-E31DDC6C08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6837E4-DF0A-5B66-4ED8-B93CD86C9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93" y="1334547"/>
            <a:ext cx="8382786" cy="2930053"/>
          </a:xfrm>
          <a:prstGeom prst="roundRect">
            <a:avLst>
              <a:gd name="adj" fmla="val 441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968D91-0124-86C7-029E-CC3F988A5A3B}"/>
              </a:ext>
            </a:extLst>
          </p:cNvPr>
          <p:cNvSpPr txBox="1"/>
          <p:nvPr/>
        </p:nvSpPr>
        <p:spPr>
          <a:xfrm>
            <a:off x="4969564" y="4712573"/>
            <a:ext cx="4174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Abuse Elevation Control Mechanism (</a:t>
            </a:r>
            <a:r>
              <a:rPr lang="en-US" dirty="0"/>
              <a:t>T1548.004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99742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FD4E1DC-1197-6915-66DC-C11302AA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2F92C851-B1CF-CAD8-3352-444DD65216C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031D0FD-BF3C-DAFD-5B0F-F6ED566CE0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84DE7C1-138F-431D-2A17-2B76C0D248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B4F9C7-5C73-C14B-F39B-18B108490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44334"/>
            <a:ext cx="7772400" cy="3350057"/>
          </a:xfrm>
          <a:prstGeom prst="roundRect">
            <a:avLst>
              <a:gd name="adj" fmla="val 1999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1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468695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BCF00-5984-CF7B-0F78-89C9C245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66DF105-A8C1-086D-50A2-43A392BE35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51AACD-7C1E-D73A-A187-D6530159D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92E60"/>
                </a:solidFill>
              </a:rPr>
              <a:t>Public Exploit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C07BDB92-DEE8-E483-9154-4B4B91B362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446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E3EAA2-FB69-1A43-8B91-4D1FBFA8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799"/>
          <a:stretch>
            <a:fillRect/>
          </a:stretch>
        </p:blipFill>
        <p:spPr>
          <a:xfrm>
            <a:off x="445307" y="1406097"/>
            <a:ext cx="8296930" cy="2858503"/>
          </a:xfrm>
          <a:prstGeom prst="roundRect">
            <a:avLst>
              <a:gd name="adj" fmla="val 182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3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189A2-AF7E-5458-5350-BCAEB711DA5B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dirty="0"/>
              <a:t>T0819</a:t>
            </a:r>
            <a:r>
              <a:rPr lang="en-US" b="0" i="0" dirty="0">
                <a:solidFill>
                  <a:srgbClr val="1D1D1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9396347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A20002D-4F11-91A3-E0C2-A81001EAA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9444118-885C-A477-5283-C1B260DB00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3B1500DD-CB20-3665-4C40-27FE9FB3A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Report scope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SQL Injection variants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 err="1">
                <a:solidFill>
                  <a:srgbClr val="1D1D1B"/>
                </a:solidFill>
              </a:rPr>
              <a:t>LinPEAS</a:t>
            </a:r>
            <a:r>
              <a:rPr lang="en-US" dirty="0">
                <a:solidFill>
                  <a:srgbClr val="1D1D1B"/>
                </a:solidFill>
              </a:rPr>
              <a:t> script </a:t>
            </a:r>
            <a:r>
              <a:rPr lang="en-US" dirty="0" err="1">
                <a:solidFill>
                  <a:srgbClr val="1D1D1B"/>
                </a:solidFill>
              </a:rPr>
              <a:t>anaysis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4B95D18-E2C5-971D-C5F4-BFA2D3DC4B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5ABB1EE-C5A4-6507-9354-EFAE439B58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3738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313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2F65A6-1712-7AF3-57EE-70E3FEDF6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459"/>
            <a:ext cx="7772400" cy="3296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CF966D-2A45-69C1-5838-61DB1DAFA3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09" t="-1906" r="54034" b="50394"/>
          <a:stretch>
            <a:fillRect/>
          </a:stretch>
        </p:blipFill>
        <p:spPr>
          <a:xfrm>
            <a:off x="4847224" y="1588207"/>
            <a:ext cx="1776549" cy="1698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D2E56-0CBE-C5A2-82E6-149B5D2DEF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490" r="74644"/>
          <a:stretch>
            <a:fillRect/>
          </a:stretch>
        </p:blipFill>
        <p:spPr>
          <a:xfrm>
            <a:off x="4847224" y="1832975"/>
            <a:ext cx="1970788" cy="1698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79EF6A-DBB0-1118-AE6A-ED059F9CE2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993" t="48490" r="50358"/>
          <a:stretch>
            <a:fillRect/>
          </a:stretch>
        </p:blipFill>
        <p:spPr>
          <a:xfrm>
            <a:off x="4847224" y="2077743"/>
            <a:ext cx="1838104" cy="169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C2CB58-EE46-E894-7801-D4E24B822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7143" b="48490"/>
          <a:stretch>
            <a:fillRect/>
          </a:stretch>
        </p:blipFill>
        <p:spPr>
          <a:xfrm>
            <a:off x="2439355" y="1588206"/>
            <a:ext cx="1776549" cy="1698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E6DCC0-8709-8988-C60E-8B507F524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155" r="25350" b="48490"/>
          <a:stretch>
            <a:fillRect/>
          </a:stretch>
        </p:blipFill>
        <p:spPr>
          <a:xfrm>
            <a:off x="2439355" y="1832974"/>
            <a:ext cx="2214748" cy="1698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6D6C27-FDD0-94E1-4D9E-454C04A6A0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338" r="1013" b="48490"/>
          <a:stretch>
            <a:fillRect/>
          </a:stretch>
        </p:blipFill>
        <p:spPr>
          <a:xfrm>
            <a:off x="2439355" y="2077742"/>
            <a:ext cx="1838104" cy="16981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B6FCFA-EA13-5E02-C78A-D052DE14D130}"/>
              </a:ext>
            </a:extLst>
          </p:cNvPr>
          <p:cNvCxnSpPr/>
          <p:nvPr/>
        </p:nvCxnSpPr>
        <p:spPr>
          <a:xfrm>
            <a:off x="4720108" y="1322234"/>
            <a:ext cx="0" cy="1191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8A0F55-CDF3-6BF2-42F5-88BE0B8E2FED}"/>
              </a:ext>
            </a:extLst>
          </p:cNvPr>
          <p:cNvCxnSpPr>
            <a:cxnSpLocks/>
          </p:cNvCxnSpPr>
          <p:nvPr/>
        </p:nvCxnSpPr>
        <p:spPr>
          <a:xfrm>
            <a:off x="2356834" y="1500389"/>
            <a:ext cx="462995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CA0A1B8-911A-1952-9145-F00F54C087C5}"/>
              </a:ext>
            </a:extLst>
          </p:cNvPr>
          <p:cNvSpPr txBox="1"/>
          <p:nvPr/>
        </p:nvSpPr>
        <p:spPr>
          <a:xfrm>
            <a:off x="2356834" y="1229617"/>
            <a:ext cx="23632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Same config as port 1337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C56641-8070-5967-6209-5AE17E6C59CE}"/>
              </a:ext>
            </a:extLst>
          </p:cNvPr>
          <p:cNvSpPr txBox="1"/>
          <p:nvPr/>
        </p:nvSpPr>
        <p:spPr>
          <a:xfrm>
            <a:off x="4720088" y="1230603"/>
            <a:ext cx="22715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Config differences to port 1337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FDA6E-001F-059C-AA32-920D5E63E7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0448" b="-23002"/>
          <a:stretch>
            <a:fillRect/>
          </a:stretch>
        </p:blipFill>
        <p:spPr>
          <a:xfrm>
            <a:off x="1502116" y="2937548"/>
            <a:ext cx="2496463" cy="2030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414BCE-5F8D-1911-50B6-AC153240DB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694"/>
          <a:stretch>
            <a:fillRect/>
          </a:stretch>
        </p:blipFill>
        <p:spPr>
          <a:xfrm>
            <a:off x="1517882" y="3203360"/>
            <a:ext cx="3806464" cy="1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59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A0DA5AC8-C242-6B60-B626-A1A4658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5CFE25B1-9A94-969B-8F69-E3EF2AEECC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8000" b="1" dirty="0">
                <a:solidFill>
                  <a:srgbClr val="1D1D1B"/>
                </a:solidFill>
              </a:rPr>
              <a:t>03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2E61EA20-7DA6-FC6E-1551-44BCCFC4FDFA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3000" b="1" dirty="0">
                <a:solidFill>
                  <a:srgbClr val="1D1D1B"/>
                </a:solidFill>
              </a:rPr>
              <a:t>Digitale Forensik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65975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8E1067C-1B95-92D0-C4B0-68CADE0F8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0BA4A250-0F69-7614-8338-83F9DFC17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Relevancy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98167156-4468-96DA-7F67-A6AD581D53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Inhalt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1A8C810-9056-DD30-EEB8-0EDB483515C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7517278-E9BC-2AA9-90D0-A55D97F2B8A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35880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F5EB52-2CD7-E44E-86C6-C0C9BE27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A637064-6988-BBE2-C1F4-2C2032F67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9FD5B59-C498-51D9-2A1A-4D11BD96D12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FD2F92A-6778-1B3E-8425-028815B767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871E0D-B1DD-0929-EE47-CB4F83462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0" y="1160225"/>
            <a:ext cx="4550437" cy="35382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99A0A1-6738-6E55-0205-BC004BF48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0" y="1160225"/>
            <a:ext cx="4550435" cy="35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81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1D79F2-7465-91F2-2042-67A95D75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66D672-5386-D6E4-A182-3C982362C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E9A1EAC-D098-0583-4FD5-D983A656059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E68B06F-C74B-6A36-F6D6-5E7C4202C9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B8D565-4BCA-7101-8573-22343631473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278" t="19561" r="41067" b="54245"/>
          <a:stretch>
            <a:fillRect/>
          </a:stretch>
        </p:blipFill>
        <p:spPr>
          <a:xfrm>
            <a:off x="2193000" y="1468575"/>
            <a:ext cx="4777143" cy="2654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84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6BC9E47-5EA7-6CA4-F88D-3C8A0CD1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73A014C-F66D-73A2-D663-13F73AC0BE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8D37D89-1EAA-56D6-2518-3B9D0B2891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20BA1B8-6BC2-24EA-72FC-C3527DF75EB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74DFEA-9ED0-021C-AA67-77241823F5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614" b="16441"/>
          <a:stretch>
            <a:fillRect/>
          </a:stretch>
        </p:blipFill>
        <p:spPr>
          <a:xfrm>
            <a:off x="900019" y="1192305"/>
            <a:ext cx="7343962" cy="3308919"/>
          </a:xfrm>
          <a:prstGeom prst="roundRect">
            <a:avLst>
              <a:gd name="adj" fmla="val 34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73461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70954E8-012E-D894-A993-841ACF62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41AF43D-3CE4-4760-0D47-F17CBCCF84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4C56AC1-B600-BC15-BFAD-C09C41D4931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AE5FC09-CB64-00D3-3D58-F6D698E5E8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0D2CDE-BD43-1583-8695-B6C2D3B903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" t="22867" r="1704" b="15250"/>
          <a:stretch>
            <a:fillRect/>
          </a:stretch>
        </p:blipFill>
        <p:spPr>
          <a:xfrm>
            <a:off x="1527660" y="1451600"/>
            <a:ext cx="6088679" cy="3033087"/>
          </a:xfrm>
          <a:prstGeom prst="roundRect">
            <a:avLst>
              <a:gd name="adj" fmla="val 761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413649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ED6A0A-BE8E-32D8-BDD0-BE5B9964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813973-CB61-2FA3-3FC0-307C072FF9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49F42D4-B4F3-B5E5-1C41-58A1A7D7569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52B2D2E-F23C-D1DE-139D-B083B13C39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BDF53-DD0E-B8ED-4EA5-83B2DF18D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535" t="60640" r="17730" b="6697"/>
          <a:stretch>
            <a:fillRect/>
          </a:stretch>
        </p:blipFill>
        <p:spPr>
          <a:xfrm>
            <a:off x="1309707" y="1635685"/>
            <a:ext cx="2121877" cy="2567354"/>
          </a:xfrm>
          <a:prstGeom prst="roundRect">
            <a:avLst>
              <a:gd name="adj" fmla="val 92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55D184E-0549-5FE1-4903-40C631947033}"/>
              </a:ext>
            </a:extLst>
          </p:cNvPr>
          <p:cNvGrpSpPr/>
          <p:nvPr/>
        </p:nvGrpSpPr>
        <p:grpSpPr>
          <a:xfrm>
            <a:off x="3836681" y="2088573"/>
            <a:ext cx="3982278" cy="1661578"/>
            <a:chOff x="3385577" y="1912261"/>
            <a:chExt cx="3982278" cy="166157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9AD01D-BAEC-1437-839A-500FD9D33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7" t="62466" b="26042"/>
            <a:stretch>
              <a:fillRect/>
            </a:stretch>
          </p:blipFill>
          <p:spPr>
            <a:xfrm>
              <a:off x="3385577" y="1912261"/>
              <a:ext cx="3982278" cy="1661578"/>
            </a:xfrm>
            <a:prstGeom prst="roundRect">
              <a:avLst>
                <a:gd name="adj" fmla="val 5325"/>
              </a:avLst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FB996EF-942C-1ADC-CB96-D7FD8BB69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361" t="65751" r="541" b="26863"/>
            <a:stretch>
              <a:fillRect/>
            </a:stretch>
          </p:blipFill>
          <p:spPr>
            <a:xfrm>
              <a:off x="3490075" y="2387212"/>
              <a:ext cx="3734383" cy="10679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414733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B2330DB-A58D-1EA5-724F-B8604465D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6A94AAB-66A0-4207-5930-621029517C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C16DF72-6342-70A9-AD60-FA3FEAB506F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BBBDD4E3-D10C-3A5B-3272-54BD2E74F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A201D0-0680-A3CA-750D-A2577D166D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5A5C0D-0013-B6D1-26BA-1CC5DA732D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E13BE5-B4F8-2306-49F1-34596937FD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5" y="1948141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49C969-734B-5C69-94E9-1223D626B2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4"/>
            <a:ext cx="4840144" cy="33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87504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3082779-BE84-0E77-C2EA-BC5FAB1EA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7AA6DBA-A77C-E753-F7D4-96CCA55270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AA54745-F747-D806-339F-FA001BE396E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1EED8DC1-A819-D7EA-2A59-7381EA943D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7FD170-06F5-5DDA-92AC-53B89260E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1CF226-AA37-A218-51D2-01964D36A4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97EDD1-7764-2EDC-ED70-E7231F91A4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5" y="1948141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F41795-DB9D-A0D6-C342-D6262B9376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4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006022-608E-A5FA-807B-64D4A06823AA}"/>
              </a:ext>
            </a:extLst>
          </p:cNvPr>
          <p:cNvSpPr txBox="1"/>
          <p:nvPr/>
        </p:nvSpPr>
        <p:spPr>
          <a:xfrm>
            <a:off x="364165" y="2672801"/>
            <a:ext cx="8389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</a:t>
            </a:r>
            <a:r>
              <a:rPr lang="en-US" sz="1800" dirty="0" err="1"/>
              <a:t>Powershell</a:t>
            </a:r>
            <a:r>
              <a:rPr lang="en-US" sz="1800" dirty="0"/>
              <a:t> Process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A3C2C4-B8F9-2159-FF34-807196C8288E}"/>
              </a:ext>
            </a:extLst>
          </p:cNvPr>
          <p:cNvSpPr/>
          <p:nvPr/>
        </p:nvSpPr>
        <p:spPr>
          <a:xfrm>
            <a:off x="311700" y="1223596"/>
            <a:ext cx="7151781" cy="411772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6196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7397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AB13AE0-2C9F-622D-C988-7F6D3B19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6652B98-CE51-2791-2623-586E639E74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511E6CF-58D1-6737-346F-BC7FF6F6AD1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1EF4602-472C-C6F1-08A6-1F690BD77B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7E9882-9430-D6EA-7E65-E32E651659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8FEDD0-7EA8-7EA4-C7D3-CB2F3CE705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FF6E7-E426-3547-8396-BF7DF06E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5" y="1948141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BCC6CB-0DA7-C7FB-30EB-BA62951B0A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4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E55300-E4FE-6366-A530-2E96632072A6}"/>
              </a:ext>
            </a:extLst>
          </p:cNvPr>
          <p:cNvSpPr txBox="1"/>
          <p:nvPr/>
        </p:nvSpPr>
        <p:spPr>
          <a:xfrm>
            <a:off x="364165" y="2672801"/>
            <a:ext cx="838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</a:t>
            </a:r>
            <a:r>
              <a:rPr lang="en-US" sz="1800" dirty="0" err="1"/>
              <a:t>Powershell</a:t>
            </a:r>
            <a:r>
              <a:rPr lang="en-US" sz="1800" dirty="0"/>
              <a:t>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DB233-BB90-0AD6-92AF-4F9D32D070F6}"/>
              </a:ext>
            </a:extLst>
          </p:cNvPr>
          <p:cNvSpPr/>
          <p:nvPr/>
        </p:nvSpPr>
        <p:spPr>
          <a:xfrm>
            <a:off x="2193000" y="1590484"/>
            <a:ext cx="5332356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1098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6009641-34B8-2FF4-A315-2B0083F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F14532-FC6D-139A-14AC-7FA15D8E9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5F73A19-93A8-571C-FA1B-E3C8AEE5CC2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79110B59-2420-3E95-95E2-B44E4FAEB6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61EC00-E02B-9C20-AC2F-F23BB38997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D2F4B-3607-C45B-4868-122CE5BC56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62EA8-F315-5205-A0A1-E9D4D5E354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5" y="1948141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709C39-60EE-DC59-A87A-97FE163F62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4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4D6BD6-D6E4-C94D-CDDA-0BF2373F614D}"/>
              </a:ext>
            </a:extLst>
          </p:cNvPr>
          <p:cNvSpPr txBox="1"/>
          <p:nvPr/>
        </p:nvSpPr>
        <p:spPr>
          <a:xfrm>
            <a:off x="364165" y="2672801"/>
            <a:ext cx="8389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</a:t>
            </a:r>
            <a:r>
              <a:rPr lang="en-US" sz="1800" dirty="0" err="1"/>
              <a:t>Powershell</a:t>
            </a:r>
            <a:r>
              <a:rPr lang="en-US" sz="1800" dirty="0"/>
              <a:t>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Execute the payload (encrypt files)</a:t>
            </a:r>
          </a:p>
          <a:p>
            <a:pPr marL="342900" indent="-342900">
              <a:buAutoNum type="arabicPeriod"/>
            </a:pPr>
            <a:endParaRPr lang="en-US" sz="1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054DEB-975F-3CEE-9A9D-2016A70304F4}"/>
              </a:ext>
            </a:extLst>
          </p:cNvPr>
          <p:cNvSpPr/>
          <p:nvPr/>
        </p:nvSpPr>
        <p:spPr>
          <a:xfrm>
            <a:off x="311700" y="1590484"/>
            <a:ext cx="8389848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769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1236C31-FDC5-36E7-AD04-555C58AE3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900618D-8E1B-5F0E-93BD-C783408FE5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6B13596-2F02-22FB-DB5A-C542CE1F8EB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5F3D44D-4D3E-9DD4-20B7-FE676EFE5C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296807-DF4E-92D2-1927-70F52956F5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198" r="19499" b="9512"/>
          <a:stretch>
            <a:fillRect/>
          </a:stretch>
        </p:blipFill>
        <p:spPr>
          <a:xfrm>
            <a:off x="785091" y="1125577"/>
            <a:ext cx="7573818" cy="3712398"/>
          </a:xfrm>
          <a:prstGeom prst="roundRect">
            <a:avLst>
              <a:gd name="adj" fmla="val 273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699938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43101F7-E18A-C533-1462-D0954AE07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38D9EED-11A3-59DD-ADDB-CAC13BF0F0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C00083B-74DB-F3C2-611E-7E2165B847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6A3AFB6-7C0F-10EC-F8D1-5A015372DF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2FF18-78E3-D4B1-14FB-9DB02801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7" t="18087" r="24408" b="34619"/>
          <a:stretch>
            <a:fillRect/>
          </a:stretch>
        </p:blipFill>
        <p:spPr>
          <a:xfrm>
            <a:off x="439124" y="1297247"/>
            <a:ext cx="8265751" cy="2967353"/>
          </a:xfrm>
          <a:prstGeom prst="roundRect">
            <a:avLst>
              <a:gd name="adj" fmla="val 422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7831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6AE9C-BC9D-B380-332E-70E01348F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4D2B319-1988-85CD-81A9-5C94D9AE5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06A01AC-6F5D-8626-A215-B28D4FC282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3258E54A-60B2-BC87-03EF-F5A88FDEFE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2E0E87-5FA3-945A-1241-9C457577E5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" t="30163" r="17647" b="8645"/>
          <a:stretch>
            <a:fillRect/>
          </a:stretch>
        </p:blipFill>
        <p:spPr>
          <a:xfrm>
            <a:off x="562303" y="1200034"/>
            <a:ext cx="8019394" cy="335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4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317449F-8664-765C-3770-19162F8BE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F9C0D01-BEA8-79F7-73D6-F3E07FBAEF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632ED679-EDE3-DF7E-521D-73B3E3CA38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Initial reverse </a:t>
            </a:r>
            <a:r>
              <a:rPr lang="de" dirty="0" err="1">
                <a:solidFill>
                  <a:srgbClr val="1D1D1B"/>
                </a:solidFill>
              </a:rPr>
              <a:t>shell</a:t>
            </a:r>
            <a:r>
              <a:rPr lang="de" dirty="0">
                <a:solidFill>
                  <a:srgbClr val="1D1D1B"/>
                </a:solidFill>
              </a:rPr>
              <a:t> not </a:t>
            </a:r>
            <a:r>
              <a:rPr lang="de" dirty="0" err="1">
                <a:solidFill>
                  <a:srgbClr val="1D1D1B"/>
                </a:solidFill>
              </a:rPr>
              <a:t>caught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by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i="1" dirty="0" err="1">
                <a:solidFill>
                  <a:srgbClr val="1D1D1B"/>
                </a:solidFill>
              </a:rPr>
              <a:t>elastic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rule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A508559-346D-C736-7BA3-8D4C2254154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EA7EBB8-5A7A-0DBD-4369-DEF01BEDAA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00657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5;p18">
            <a:extLst>
              <a:ext uri="{FF2B5EF4-FFF2-40B4-BE49-F238E27FC236}">
                <a16:creationId xmlns:a16="http://schemas.microsoft.com/office/drawing/2014/main" id="{4DAB8796-651C-FFC2-CB2F-A66ECB330981}"/>
              </a:ext>
            </a:extLst>
          </p:cNvPr>
          <p:cNvSpPr txBox="1"/>
          <p:nvPr/>
        </p:nvSpPr>
        <p:spPr>
          <a:xfrm>
            <a:off x="988838" y="758254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2800" b="1" dirty="0">
                <a:solidFill>
                  <a:srgbClr val="292E60"/>
                </a:solidFill>
              </a:rPr>
              <a:t>The </a:t>
            </a:r>
            <a:r>
              <a:rPr lang="de" sz="2800" b="1" dirty="0" err="1">
                <a:solidFill>
                  <a:srgbClr val="292E60"/>
                </a:solidFill>
              </a:rPr>
              <a:t>quiter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you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become</a:t>
            </a:r>
            <a:r>
              <a:rPr lang="de" sz="2800" b="1" dirty="0">
                <a:solidFill>
                  <a:srgbClr val="292E60"/>
                </a:solidFill>
              </a:rPr>
              <a:t>, </a:t>
            </a:r>
            <a:r>
              <a:rPr lang="de" sz="2800" b="1" dirty="0" err="1">
                <a:solidFill>
                  <a:srgbClr val="292E60"/>
                </a:solidFill>
              </a:rPr>
              <a:t>the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more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you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are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able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to</a:t>
            </a:r>
            <a:r>
              <a:rPr lang="de" sz="2800" b="1" dirty="0">
                <a:solidFill>
                  <a:srgbClr val="292E60"/>
                </a:solidFill>
              </a:rPr>
              <a:t> </a:t>
            </a:r>
            <a:r>
              <a:rPr lang="de" sz="2800" b="1" dirty="0" err="1">
                <a:solidFill>
                  <a:srgbClr val="292E60"/>
                </a:solidFill>
              </a:rPr>
              <a:t>hear</a:t>
            </a:r>
            <a:r>
              <a:rPr lang="de" sz="2800" b="1" dirty="0">
                <a:solidFill>
                  <a:srgbClr val="292E60"/>
                </a:solidFill>
              </a:rPr>
              <a:t>.</a:t>
            </a:r>
            <a:endParaRPr sz="2800" b="1" dirty="0">
              <a:solidFill>
                <a:srgbClr val="292E60"/>
              </a:solidFill>
            </a:endParaRPr>
          </a:p>
        </p:txBody>
      </p:sp>
      <p:sp>
        <p:nvSpPr>
          <p:cNvPr id="3" name="Google Shape;85;p18">
            <a:extLst>
              <a:ext uri="{FF2B5EF4-FFF2-40B4-BE49-F238E27FC236}">
                <a16:creationId xmlns:a16="http://schemas.microsoft.com/office/drawing/2014/main" id="{DD1E329D-B460-AF5F-6EBF-47161849C9C2}"/>
              </a:ext>
            </a:extLst>
          </p:cNvPr>
          <p:cNvSpPr txBox="1"/>
          <p:nvPr/>
        </p:nvSpPr>
        <p:spPr>
          <a:xfrm>
            <a:off x="988838" y="2326805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dirty="0">
                <a:solidFill>
                  <a:srgbClr val="292E60"/>
                </a:solidFill>
              </a:rPr>
              <a:t>-</a:t>
            </a:r>
            <a:r>
              <a:rPr lang="de" sz="2000" dirty="0">
                <a:solidFill>
                  <a:srgbClr val="292E60"/>
                </a:solidFill>
              </a:rPr>
              <a:t> Rumi</a:t>
            </a:r>
            <a:endParaRPr sz="2000" dirty="0">
              <a:solidFill>
                <a:srgbClr val="292E6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13266</TotalTime>
  <Words>1883</Words>
  <Application>Microsoft Macintosh PowerPoint</Application>
  <PresentationFormat>On-screen Show (16:9)</PresentationFormat>
  <Paragraphs>486</Paragraphs>
  <Slides>79</Slides>
  <Notes>78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4" baseType="lpstr">
      <vt:lpstr>Arial</vt:lpstr>
      <vt:lpstr>Avenir Next</vt:lpstr>
      <vt:lpstr>Roboto-Light</vt:lpstr>
      <vt:lpstr>Wingdings</vt:lpstr>
      <vt:lpstr>Simple Light</vt:lpstr>
      <vt:lpstr>PowerPoint Presentation</vt:lpstr>
      <vt:lpstr>Table of Contents</vt:lpstr>
      <vt:lpstr>01</vt:lpstr>
      <vt:lpstr>Relevancy of Buffer Overflows</vt:lpstr>
      <vt:lpstr>Relevancy of Buffer Overflows</vt:lpstr>
      <vt:lpstr>Relevancy of Buffer Overflows</vt:lpstr>
      <vt:lpstr>Relevancy of Buffer Overflows</vt:lpstr>
      <vt:lpstr>Relevancy of Buffer Overflows</vt:lpstr>
      <vt:lpstr>Relevancy of Buffer Overflows</vt:lpstr>
      <vt:lpstr>Preparation</vt:lpstr>
      <vt:lpstr>Methodology</vt:lpstr>
      <vt:lpstr>Methodology</vt:lpstr>
      <vt:lpstr>Methodology</vt:lpstr>
      <vt:lpstr>Methodology</vt:lpstr>
      <vt:lpstr>Methodology</vt:lpstr>
      <vt:lpstr>Methodology</vt:lpstr>
      <vt:lpstr>PowerPoint Presentation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02</vt:lpstr>
      <vt:lpstr>Relevancy of Penetration Testing</vt:lpstr>
      <vt:lpstr>Prevention</vt:lpstr>
      <vt:lpstr>Prioritization</vt:lpstr>
      <vt:lpstr>PowerPoint Presentation</vt:lpstr>
      <vt:lpstr>Monetary Incentive</vt:lpstr>
      <vt:lpstr>Methodology</vt:lpstr>
      <vt:lpstr>OSINT</vt:lpstr>
      <vt:lpstr>PowerPoint Presentation</vt:lpstr>
      <vt:lpstr>Active Scan</vt:lpstr>
      <vt:lpstr>Active Scan</vt:lpstr>
      <vt:lpstr>Active Scan</vt:lpstr>
      <vt:lpstr>Cracking Hashes</vt:lpstr>
      <vt:lpstr>Creating Wordlists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SQL Injection</vt:lpstr>
      <vt:lpstr>SQL Injection</vt:lpstr>
      <vt:lpstr>SQL Injection</vt:lpstr>
      <vt:lpstr>Command Injection</vt:lpstr>
      <vt:lpstr>Command Injection</vt:lpstr>
      <vt:lpstr>Command Injection</vt:lpstr>
      <vt:lpstr>Command Injection</vt:lpstr>
      <vt:lpstr>Privilege Escalation</vt:lpstr>
      <vt:lpstr>Privilege Escalation</vt:lpstr>
      <vt:lpstr>Privilege Escalation</vt:lpstr>
      <vt:lpstr>Public Exploit</vt:lpstr>
      <vt:lpstr>Challenges</vt:lpstr>
      <vt:lpstr>PowerPoint Presentation</vt:lpstr>
      <vt:lpstr>03</vt:lpstr>
      <vt:lpstr>Relevancy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Simon Neubert</cp:lastModifiedBy>
  <cp:revision>804</cp:revision>
  <dcterms:modified xsi:type="dcterms:W3CDTF">2026-06-11T08:04:47Z</dcterms:modified>
</cp:coreProperties>
</file>