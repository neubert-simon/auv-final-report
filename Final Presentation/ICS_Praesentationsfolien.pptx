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76"/>
  </p:notesMasterIdLst>
  <p:sldIdLst>
    <p:sldId id="261" r:id="rId2"/>
    <p:sldId id="262" r:id="rId3"/>
    <p:sldId id="263" r:id="rId4"/>
    <p:sldId id="264" r:id="rId5"/>
    <p:sldId id="274" r:id="rId6"/>
    <p:sldId id="275" r:id="rId7"/>
    <p:sldId id="297" r:id="rId8"/>
    <p:sldId id="298" r:id="rId9"/>
    <p:sldId id="299" r:id="rId10"/>
    <p:sldId id="278" r:id="rId11"/>
    <p:sldId id="303" r:id="rId12"/>
    <p:sldId id="272" r:id="rId13"/>
    <p:sldId id="289" r:id="rId14"/>
    <p:sldId id="279" r:id="rId15"/>
    <p:sldId id="286" r:id="rId16"/>
    <p:sldId id="285" r:id="rId17"/>
    <p:sldId id="288" r:id="rId18"/>
    <p:sldId id="284" r:id="rId19"/>
    <p:sldId id="328" r:id="rId20"/>
    <p:sldId id="277" r:id="rId21"/>
    <p:sldId id="271" r:id="rId22"/>
    <p:sldId id="300" r:id="rId23"/>
    <p:sldId id="301" r:id="rId24"/>
    <p:sldId id="302" r:id="rId25"/>
    <p:sldId id="330" r:id="rId26"/>
    <p:sldId id="304" r:id="rId27"/>
    <p:sldId id="291" r:id="rId28"/>
    <p:sldId id="306" r:id="rId29"/>
    <p:sldId id="305" r:id="rId30"/>
    <p:sldId id="307" r:id="rId31"/>
    <p:sldId id="308" r:id="rId32"/>
    <p:sldId id="309" r:id="rId33"/>
    <p:sldId id="310" r:id="rId34"/>
    <p:sldId id="318" r:id="rId35"/>
    <p:sldId id="326" r:id="rId36"/>
    <p:sldId id="319" r:id="rId37"/>
    <p:sldId id="320" r:id="rId38"/>
    <p:sldId id="321" r:id="rId39"/>
    <p:sldId id="322" r:id="rId40"/>
    <p:sldId id="323" r:id="rId41"/>
    <p:sldId id="324" r:id="rId42"/>
    <p:sldId id="325" r:id="rId43"/>
    <p:sldId id="311" r:id="rId44"/>
    <p:sldId id="312" r:id="rId45"/>
    <p:sldId id="327" r:id="rId46"/>
    <p:sldId id="331" r:id="rId47"/>
    <p:sldId id="329" r:id="rId48"/>
    <p:sldId id="332" r:id="rId49"/>
    <p:sldId id="333" r:id="rId50"/>
    <p:sldId id="314" r:id="rId51"/>
    <p:sldId id="335" r:id="rId52"/>
    <p:sldId id="334" r:id="rId53"/>
    <p:sldId id="315" r:id="rId54"/>
    <p:sldId id="295" r:id="rId55"/>
    <p:sldId id="336" r:id="rId56"/>
    <p:sldId id="270" r:id="rId57"/>
    <p:sldId id="352" r:id="rId58"/>
    <p:sldId id="337" r:id="rId59"/>
    <p:sldId id="294" r:id="rId60"/>
    <p:sldId id="338" r:id="rId61"/>
    <p:sldId id="340" r:id="rId62"/>
    <p:sldId id="341" r:id="rId63"/>
    <p:sldId id="345" r:id="rId64"/>
    <p:sldId id="346" r:id="rId65"/>
    <p:sldId id="347" r:id="rId66"/>
    <p:sldId id="348" r:id="rId67"/>
    <p:sldId id="349" r:id="rId68"/>
    <p:sldId id="342" r:id="rId69"/>
    <p:sldId id="343" r:id="rId70"/>
    <p:sldId id="344" r:id="rId71"/>
    <p:sldId id="350" r:id="rId72"/>
    <p:sldId id="351" r:id="rId73"/>
    <p:sldId id="317" r:id="rId74"/>
    <p:sldId id="265" r:id="rId7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51763"/>
    <a:srgbClr val="000000"/>
    <a:srgbClr val="E6196C"/>
    <a:srgbClr val="31363A"/>
    <a:srgbClr val="FF0000"/>
    <a:srgbClr val="22252D"/>
    <a:srgbClr val="272A32"/>
    <a:srgbClr val="1D1D1A"/>
    <a:srgbClr val="CBD2D7"/>
    <a:srgbClr val="292E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25"/>
    <p:restoredTop sz="73630"/>
  </p:normalViewPr>
  <p:slideViewPr>
    <p:cSldViewPr snapToGrid="0">
      <p:cViewPr varScale="1">
        <p:scale>
          <a:sx n="122" d="100"/>
          <a:sy n="122" d="100"/>
        </p:scale>
        <p:origin x="1096" y="192"/>
      </p:cViewPr>
      <p:guideLst>
        <p:guide orient="horz" pos="1620"/>
        <p:guide pos="2880"/>
      </p:guideLst>
    </p:cSldViewPr>
  </p:slideViewPr>
  <p:notesTextViewPr>
    <p:cViewPr>
      <p:scale>
        <a:sx n="195" d="100"/>
        <a:sy n="195"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ab0add0b17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ab0add0b17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ab0add0b17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ab0add0b17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Ich </a:t>
            </a:r>
            <a:r>
              <a:rPr lang="en-US" dirty="0" err="1"/>
              <a:t>behandele</a:t>
            </a:r>
            <a:r>
              <a:rPr lang="en-US" dirty="0"/>
              <a:t> die 3 </a:t>
            </a:r>
            <a:r>
              <a:rPr lang="en-US" dirty="0" err="1"/>
              <a:t>Themen</a:t>
            </a:r>
            <a:endParaRPr lang="en-US" dirty="0"/>
          </a:p>
          <a:p>
            <a:pPr marL="0" lvl="0" indent="0" algn="l" rtl="0">
              <a:spcBef>
                <a:spcPts val="0"/>
              </a:spcBef>
              <a:spcAft>
                <a:spcPts val="0"/>
              </a:spcAft>
              <a:buNone/>
            </a:pPr>
            <a:r>
              <a:rPr lang="en-US" dirty="0" err="1"/>
              <a:t>Gleiche</a:t>
            </a:r>
            <a:r>
              <a:rPr lang="en-US" dirty="0"/>
              <a:t> </a:t>
            </a:r>
            <a:r>
              <a:rPr lang="en-US" dirty="0" err="1"/>
              <a:t>Struktur</a:t>
            </a:r>
            <a:r>
              <a:rPr lang="en-US" dirty="0"/>
              <a:t> für alle</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ab0add0b17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ab0add0b17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ab0add0b17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Warum ist es relevant?</a:t>
            </a:r>
          </a:p>
          <a:p>
            <a:pPr marL="0" lvl="0" indent="0" algn="l" rtl="0">
              <a:spcBef>
                <a:spcPts val="0"/>
              </a:spcBef>
              <a:spcAft>
                <a:spcPts val="0"/>
              </a:spcAft>
              <a:buNone/>
            </a:pPr>
            <a:r>
              <a:rPr lang="de-DE" dirty="0"/>
              <a:t>Über 20.000 CVE Einträge</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73FC5A1D-2D81-7624-6034-204F3C94D174}"/>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19B519D2-DBAF-F496-44CD-70D9302800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CDDE1C93-75E1-5C08-5A1A-8123B5D6B8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de-DE" dirty="0"/>
              <a:t>Mitre Top 25 CWEs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959547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360EDA54-B5D9-A28C-F74C-3839C8BE1370}"/>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2F0FE05B-F6AC-8CD6-CE4B-931C4C8A55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DF773D1D-2AF8-1689-F1F8-301215FBC6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de-DE" dirty="0"/>
              <a:t>3x Buffer Overflow</a:t>
            </a:r>
          </a:p>
        </p:txBody>
      </p:sp>
    </p:spTree>
    <p:extLst>
      <p:ext uri="{BB962C8B-B14F-4D97-AF65-F5344CB8AC3E}">
        <p14:creationId xmlns:p14="http://schemas.microsoft.com/office/powerpoint/2010/main" val="2542941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F5E6526A-C05C-7036-B636-FD3CB429286B}"/>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B7E36DA9-8CA2-A6ED-AE92-619920426D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94CE2F6C-FBF9-45A2-A281-A41494F470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de-DE" dirty="0"/>
          </a:p>
          <a:p>
            <a:pPr marL="0" lvl="0" indent="0" algn="l" rtl="0">
              <a:spcBef>
                <a:spcPts val="0"/>
              </a:spcBef>
              <a:spcAft>
                <a:spcPts val="0"/>
              </a:spcAft>
              <a:buNone/>
            </a:pPr>
            <a:r>
              <a:rPr lang="en-US" dirty="0" err="1"/>
              <a:t>Oberkategorie</a:t>
            </a:r>
            <a:r>
              <a:rPr lang="en-US" dirty="0"/>
              <a:t> auf Platz 5</a:t>
            </a:r>
            <a:endParaRPr dirty="0"/>
          </a:p>
        </p:txBody>
      </p:sp>
    </p:spTree>
    <p:extLst>
      <p:ext uri="{BB962C8B-B14F-4D97-AF65-F5344CB8AC3E}">
        <p14:creationId xmlns:p14="http://schemas.microsoft.com/office/powerpoint/2010/main" val="6591905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0595F81B-69B4-C279-407C-5612798CA251}"/>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D6C944BE-D49A-4404-0C90-617EFC33CF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774BF574-E31B-4526-0423-077774845F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024309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6E678A65-FEC1-4369-F1E7-AB89567320C7}"/>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3C4D7DAD-A619-587C-64ED-A3CB37BE7A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5C021A2E-DFC7-70E6-7B0E-F195D02BC5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Im schlimmsten Fall kann es zu RCE kommen</a:t>
            </a:r>
          </a:p>
          <a:p>
            <a:pPr marL="0" lvl="0" indent="0" algn="l" rtl="0">
              <a:spcBef>
                <a:spcPts val="0"/>
              </a:spcBef>
              <a:spcAft>
                <a:spcPts val="0"/>
              </a:spcAft>
              <a:buNone/>
            </a:pPr>
            <a:r>
              <a:rPr lang="de-DE" dirty="0"/>
              <a:t>Z.B. eine 9.8 von Microsoft im Mai</a:t>
            </a:r>
            <a:endParaRPr dirty="0"/>
          </a:p>
        </p:txBody>
      </p:sp>
    </p:spTree>
    <p:extLst>
      <p:ext uri="{BB962C8B-B14F-4D97-AF65-F5344CB8AC3E}">
        <p14:creationId xmlns:p14="http://schemas.microsoft.com/office/powerpoint/2010/main" val="40933410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A1095348-52F8-DE27-495A-24912772A0E5}"/>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38C2046B-CA11-93FE-31A6-D2EBA8D843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65CA8408-73D6-C5CA-60E6-21F3D79380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Aktiver</a:t>
            </a:r>
            <a:r>
              <a:rPr lang="en-US" dirty="0"/>
              <a:t> Scan </a:t>
            </a:r>
            <a:r>
              <a:rPr lang="en-US" dirty="0" err="1"/>
              <a:t>mit</a:t>
            </a:r>
            <a:r>
              <a:rPr lang="en-US" dirty="0"/>
              <a:t> Nmap</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err="1"/>
              <a:t>Wichtige</a:t>
            </a:r>
            <a:r>
              <a:rPr lang="en-US" dirty="0"/>
              <a:t> </a:t>
            </a:r>
            <a:r>
              <a:rPr lang="en-US" dirty="0" err="1"/>
              <a:t>Informationen</a:t>
            </a:r>
            <a:r>
              <a:rPr lang="en-US" dirty="0"/>
              <a:t> </a:t>
            </a:r>
            <a:r>
              <a:rPr lang="en-US" dirty="0" err="1"/>
              <a:t>z.B.</a:t>
            </a:r>
            <a:r>
              <a:rPr lang="en-US" dirty="0"/>
              <a:t> Windows</a:t>
            </a:r>
            <a:endParaRPr dirty="0"/>
          </a:p>
        </p:txBody>
      </p:sp>
    </p:spTree>
    <p:extLst>
      <p:ext uri="{BB962C8B-B14F-4D97-AF65-F5344CB8AC3E}">
        <p14:creationId xmlns:p14="http://schemas.microsoft.com/office/powerpoint/2010/main" val="31287574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BCA78C35-1A25-7BB3-FE95-BE6327C9BB6C}"/>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5937EF59-92E6-2B12-FF33-A917F99E48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406119F1-1F9E-9AD2-57C9-B43A8390D1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Lässt sich in 4 grobe Schritte einteilen</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1. Absturz herbeiführen</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--&gt; </a:t>
            </a:r>
            <a:r>
              <a:rPr lang="de-DE" dirty="0" err="1"/>
              <a:t>Denial</a:t>
            </a:r>
            <a:r>
              <a:rPr lang="de-DE" dirty="0"/>
              <a:t> </a:t>
            </a:r>
            <a:r>
              <a:rPr lang="de-DE" dirty="0" err="1"/>
              <a:t>of</a:t>
            </a:r>
            <a:r>
              <a:rPr lang="de-DE" dirty="0"/>
              <a:t> Service unten rechts</a:t>
            </a:r>
            <a:endParaRPr dirty="0"/>
          </a:p>
        </p:txBody>
      </p:sp>
    </p:spTree>
    <p:extLst>
      <p:ext uri="{BB962C8B-B14F-4D97-AF65-F5344CB8AC3E}">
        <p14:creationId xmlns:p14="http://schemas.microsoft.com/office/powerpoint/2010/main" val="17375556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D98F7E4-B479-FF9C-012B-71E735E04444}"/>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7CF4DD98-0533-C2BF-310D-DB575A02D5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0C65B339-A754-FAE1-8CE1-F5CC13E6BD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Normaler</a:t>
            </a:r>
            <a:r>
              <a:rPr lang="en-US" dirty="0"/>
              <a:t> Input </a:t>
            </a:r>
            <a:r>
              <a:rPr lang="en-US" dirty="0" err="1"/>
              <a:t>bleibt</a:t>
            </a:r>
            <a:r>
              <a:rPr lang="en-US" dirty="0"/>
              <a:t> </a:t>
            </a:r>
            <a:r>
              <a:rPr lang="en-US" dirty="0" err="1"/>
              <a:t>im</a:t>
            </a:r>
            <a:r>
              <a:rPr lang="en-US" dirty="0"/>
              <a:t> Buffer</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Zu </a:t>
            </a:r>
            <a:r>
              <a:rPr lang="en-US" dirty="0" err="1"/>
              <a:t>langer</a:t>
            </a:r>
            <a:r>
              <a:rPr lang="en-US" dirty="0"/>
              <a:t> Input </a:t>
            </a:r>
            <a:r>
              <a:rPr lang="en-US" dirty="0" err="1"/>
              <a:t>überschreibt</a:t>
            </a:r>
            <a:r>
              <a:rPr lang="en-US" dirty="0"/>
              <a:t> die </a:t>
            </a:r>
            <a:r>
              <a:rPr lang="en-US" dirty="0" err="1"/>
              <a:t>Rücksprungadresse</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==&gt; Kein </a:t>
            </a:r>
            <a:r>
              <a:rPr lang="en-US" dirty="0" err="1"/>
              <a:t>valider</a:t>
            </a:r>
            <a:r>
              <a:rPr lang="en-US" dirty="0"/>
              <a:t> Code </a:t>
            </a:r>
            <a:r>
              <a:rPr lang="en-US" dirty="0" err="1"/>
              <a:t>dort</a:t>
            </a:r>
            <a:endParaRPr lang="en-US" dirty="0"/>
          </a:p>
          <a:p>
            <a:pPr marL="0" lvl="0" indent="0" algn="l" rtl="0">
              <a:spcBef>
                <a:spcPts val="0"/>
              </a:spcBef>
              <a:spcAft>
                <a:spcPts val="0"/>
              </a:spcAft>
              <a:buNone/>
            </a:pPr>
            <a:r>
              <a:rPr lang="en-US" dirty="0"/>
              <a:t>==&gt; </a:t>
            </a:r>
            <a:r>
              <a:rPr lang="en-US" dirty="0" err="1"/>
              <a:t>Absturz</a:t>
            </a:r>
            <a:endParaRPr dirty="0"/>
          </a:p>
        </p:txBody>
      </p:sp>
    </p:spTree>
    <p:extLst>
      <p:ext uri="{BB962C8B-B14F-4D97-AF65-F5344CB8AC3E}">
        <p14:creationId xmlns:p14="http://schemas.microsoft.com/office/powerpoint/2010/main" val="21142473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2057DF5-DE34-3E6C-5615-3B0FE275D2A8}"/>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F0CFC877-AAAE-2D2A-E2CB-3708595517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1B208317-2DAF-0FE4-C741-0EEA5E5F91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Als </a:t>
            </a:r>
            <a:r>
              <a:rPr lang="en-US" dirty="0" err="1"/>
              <a:t>nächstes</a:t>
            </a:r>
            <a:r>
              <a:rPr lang="en-US" dirty="0"/>
              <a:t> Offset </a:t>
            </a:r>
            <a:r>
              <a:rPr lang="en-US" dirty="0" err="1"/>
              <a:t>zum</a:t>
            </a:r>
            <a:r>
              <a:rPr lang="en-US" dirty="0"/>
              <a:t> EIP </a:t>
            </a:r>
            <a:r>
              <a:rPr lang="en-US" dirty="0" err="1"/>
              <a:t>berechnen</a:t>
            </a:r>
            <a:endParaRPr lang="en-US" dirty="0"/>
          </a:p>
        </p:txBody>
      </p:sp>
    </p:spTree>
    <p:extLst>
      <p:ext uri="{BB962C8B-B14F-4D97-AF65-F5344CB8AC3E}">
        <p14:creationId xmlns:p14="http://schemas.microsoft.com/office/powerpoint/2010/main" val="34544212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118311B1-17A0-8CE3-6243-227025B27F90}"/>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3402A54D-C4B8-1257-D74F-84B95928EF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1961289A-66BD-1793-6739-2C0B33AFE0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Nicht wiederholende Zeichenkette</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==&gt; Aus dem Debugger wert im EIP ablesen und den Versatz damit berechnen</a:t>
            </a:r>
          </a:p>
        </p:txBody>
      </p:sp>
    </p:spTree>
    <p:extLst>
      <p:ext uri="{BB962C8B-B14F-4D97-AF65-F5344CB8AC3E}">
        <p14:creationId xmlns:p14="http://schemas.microsoft.com/office/powerpoint/2010/main" val="8307990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833F072C-0C4B-2096-E200-74C44CF9ECB3}"/>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8C511653-5B77-C4CC-6BB9-E28E60CDC0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C5F0B345-E700-5108-B22F-2F4F11385E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Eingabe</a:t>
            </a:r>
            <a:r>
              <a:rPr lang="en-US" dirty="0"/>
              <a:t> </a:t>
            </a:r>
            <a:r>
              <a:rPr lang="en-US" dirty="0" err="1"/>
              <a:t>beendende</a:t>
            </a:r>
            <a:r>
              <a:rPr lang="en-US" dirty="0"/>
              <a:t> </a:t>
            </a:r>
            <a:r>
              <a:rPr lang="en-US" dirty="0" err="1"/>
              <a:t>Zeichen</a:t>
            </a:r>
            <a:r>
              <a:rPr lang="en-US" dirty="0"/>
              <a:t> </a:t>
            </a:r>
            <a:r>
              <a:rPr lang="en-US" dirty="0" err="1"/>
              <a:t>testen</a:t>
            </a:r>
            <a:r>
              <a:rPr lang="en-US" dirty="0"/>
              <a:t> und </a:t>
            </a:r>
            <a:r>
              <a:rPr lang="en-US" dirty="0" err="1"/>
              <a:t>aus</a:t>
            </a:r>
            <a:r>
              <a:rPr lang="en-US" dirty="0"/>
              <a:t> Payload </a:t>
            </a:r>
            <a:r>
              <a:rPr lang="en-US" dirty="0" err="1"/>
              <a:t>generierung</a:t>
            </a:r>
            <a:r>
              <a:rPr lang="en-US" dirty="0"/>
              <a:t> </a:t>
            </a:r>
            <a:r>
              <a:rPr lang="en-US" dirty="0" err="1"/>
              <a:t>ausschließen</a:t>
            </a:r>
            <a:endParaRPr dirty="0"/>
          </a:p>
        </p:txBody>
      </p:sp>
    </p:spTree>
    <p:extLst>
      <p:ext uri="{BB962C8B-B14F-4D97-AF65-F5344CB8AC3E}">
        <p14:creationId xmlns:p14="http://schemas.microsoft.com/office/powerpoint/2010/main" val="30290989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DA573BB-8AEE-91C6-3978-DFB7E9A7E291}"/>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FE8249D0-625F-63F9-5B35-8339E0A729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67BCDAFE-1918-1F1E-86BE-3A9FB0488B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Alle Kandidaten abschicken und den Buffer untersuchen</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Am besten Zeichen nach Kandidaten mitschicken</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==&gt; Sind diese da, keine Bad Chars</a:t>
            </a:r>
            <a:endParaRPr dirty="0"/>
          </a:p>
        </p:txBody>
      </p:sp>
    </p:spTree>
    <p:extLst>
      <p:ext uri="{BB962C8B-B14F-4D97-AF65-F5344CB8AC3E}">
        <p14:creationId xmlns:p14="http://schemas.microsoft.com/office/powerpoint/2010/main" val="14645604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B5B3FE8B-0022-32C5-4CD9-F47DD653CC37}"/>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1C2D0B15-53C4-906A-BD60-58671A120A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120CC7FD-5E14-BCE6-FEFB-94AB4BC4D3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Payload </a:t>
            </a:r>
            <a:r>
              <a:rPr lang="en-US" dirty="0" err="1"/>
              <a:t>Generieren</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Keine Bad Chars</a:t>
            </a:r>
          </a:p>
          <a:p>
            <a:pPr marL="0" lvl="0" indent="0" algn="l" rtl="0">
              <a:spcBef>
                <a:spcPts val="0"/>
              </a:spcBef>
              <a:spcAft>
                <a:spcPts val="0"/>
              </a:spcAft>
              <a:buNone/>
            </a:pPr>
            <a:r>
              <a:rPr lang="en-US" dirty="0"/>
              <a:t>Reverse Shell für das </a:t>
            </a:r>
            <a:r>
              <a:rPr lang="en-US" dirty="0" err="1"/>
              <a:t>Zielsystem</a:t>
            </a:r>
            <a:r>
              <a:rPr lang="en-US" dirty="0"/>
              <a:t> </a:t>
            </a:r>
            <a:r>
              <a:rPr lang="en-US" dirty="0" err="1"/>
              <a:t>nehmen</a:t>
            </a:r>
            <a:r>
              <a:rPr lang="en-US" dirty="0"/>
              <a:t> (Windows)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err="1"/>
              <a:t>Aktuelle</a:t>
            </a:r>
            <a:r>
              <a:rPr lang="en-US" dirty="0"/>
              <a:t> </a:t>
            </a:r>
            <a:r>
              <a:rPr lang="en-US" dirty="0" err="1"/>
              <a:t>eigene</a:t>
            </a:r>
            <a:r>
              <a:rPr lang="en-US" dirty="0"/>
              <a:t> IP </a:t>
            </a:r>
            <a:r>
              <a:rPr lang="en-US" dirty="0" err="1"/>
              <a:t>angeben</a:t>
            </a:r>
            <a:endParaRPr dirty="0"/>
          </a:p>
        </p:txBody>
      </p:sp>
    </p:spTree>
    <p:extLst>
      <p:ext uri="{BB962C8B-B14F-4D97-AF65-F5344CB8AC3E}">
        <p14:creationId xmlns:p14="http://schemas.microsoft.com/office/powerpoint/2010/main" val="19940098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F995E28-EA26-D678-1494-236502EF387F}"/>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6AE4AA1C-BA22-6516-BAEE-17CBF9495F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272DDD3A-3387-687D-4EBB-2326D18DCC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Tx/>
              <a:buChar char="-"/>
            </a:pPr>
            <a:r>
              <a:rPr lang="en-US" dirty="0"/>
              <a:t>Permanente Adresse </a:t>
            </a:r>
            <a:r>
              <a:rPr lang="en-US" dirty="0" err="1"/>
              <a:t>im</a:t>
            </a:r>
            <a:r>
              <a:rPr lang="en-US" dirty="0"/>
              <a:t> Speicher </a:t>
            </a:r>
            <a:r>
              <a:rPr lang="en-US" dirty="0" err="1"/>
              <a:t>mit</a:t>
            </a:r>
            <a:r>
              <a:rPr lang="en-US" dirty="0"/>
              <a:t> JMP ESP </a:t>
            </a:r>
            <a:r>
              <a:rPr lang="en-US" dirty="0" err="1"/>
              <a:t>Befehl</a:t>
            </a:r>
            <a:endParaRPr lang="en-US" dirty="0"/>
          </a:p>
          <a:p>
            <a:pPr marL="171450" lvl="0" indent="-171450" algn="l" rtl="0">
              <a:spcBef>
                <a:spcPts val="0"/>
              </a:spcBef>
              <a:spcAft>
                <a:spcPts val="0"/>
              </a:spcAft>
              <a:buFontTx/>
              <a:buChar char="-"/>
            </a:pPr>
            <a:r>
              <a:rPr lang="en-US" dirty="0"/>
              <a:t>Kein ASLR (Address Space Layout Randomization) </a:t>
            </a:r>
            <a:r>
              <a:rPr lang="en-US" dirty="0" err="1"/>
              <a:t>oder</a:t>
            </a:r>
            <a:r>
              <a:rPr lang="en-US" dirty="0"/>
              <a:t> DEP (Data Execution Prevention)</a:t>
            </a:r>
          </a:p>
          <a:p>
            <a:pPr marL="171450" lvl="0" indent="-171450" algn="l" rtl="0">
              <a:spcBef>
                <a:spcPts val="0"/>
              </a:spcBef>
              <a:spcAft>
                <a:spcPts val="0"/>
              </a:spcAft>
              <a:buFontTx/>
              <a:buChar char="-"/>
            </a:pPr>
            <a:r>
              <a:rPr lang="en-US" dirty="0"/>
              <a:t>System </a:t>
            </a:r>
            <a:r>
              <a:rPr lang="en-US" dirty="0" err="1"/>
              <a:t>spingt</a:t>
            </a:r>
            <a:r>
              <a:rPr lang="en-US" dirty="0"/>
              <a:t> </a:t>
            </a:r>
            <a:r>
              <a:rPr lang="en-US" dirty="0" err="1"/>
              <a:t>zum</a:t>
            </a:r>
            <a:r>
              <a:rPr lang="en-US" dirty="0"/>
              <a:t> </a:t>
            </a:r>
            <a:r>
              <a:rPr lang="en-US" dirty="0" err="1"/>
              <a:t>eingeschleusten</a:t>
            </a:r>
            <a:r>
              <a:rPr lang="en-US" dirty="0"/>
              <a:t> Code und </a:t>
            </a:r>
            <a:r>
              <a:rPr lang="en-US" dirty="0" err="1"/>
              <a:t>führt</a:t>
            </a:r>
            <a:r>
              <a:rPr lang="en-US" dirty="0"/>
              <a:t> </a:t>
            </a:r>
            <a:r>
              <a:rPr lang="en-US" dirty="0" err="1"/>
              <a:t>ihn</a:t>
            </a:r>
            <a:r>
              <a:rPr lang="en-US" dirty="0"/>
              <a:t> </a:t>
            </a:r>
            <a:r>
              <a:rPr lang="en-US" dirty="0" err="1"/>
              <a:t>aus</a:t>
            </a:r>
            <a:endParaRPr lang="en-US" dirty="0"/>
          </a:p>
        </p:txBody>
      </p:sp>
    </p:spTree>
    <p:extLst>
      <p:ext uri="{BB962C8B-B14F-4D97-AF65-F5344CB8AC3E}">
        <p14:creationId xmlns:p14="http://schemas.microsoft.com/office/powerpoint/2010/main" val="2571790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D29F8697-99F9-0A5E-3D28-CD667DD77D8F}"/>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6C6704F9-9EE9-7D1A-51DE-BE905FD5F6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9691261E-083A-2633-C561-6795D4CDE5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Tx/>
              <a:buChar char="-"/>
            </a:pPr>
            <a:r>
              <a:rPr lang="en-US" dirty="0"/>
              <a:t>Reverse Shell </a:t>
            </a:r>
            <a:r>
              <a:rPr lang="en-US" dirty="0" err="1"/>
              <a:t>erhalten</a:t>
            </a:r>
            <a:endParaRPr dirty="0"/>
          </a:p>
        </p:txBody>
      </p:sp>
    </p:spTree>
    <p:extLst>
      <p:ext uri="{BB962C8B-B14F-4D97-AF65-F5344CB8AC3E}">
        <p14:creationId xmlns:p14="http://schemas.microsoft.com/office/powerpoint/2010/main" val="3643215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0EB0A999-68B5-240F-FA53-DF647EE0FC83}"/>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79A8A81F-DDD5-A8BF-1F49-F915046784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42A40B12-A118-8BE2-68C4-E322F98059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293238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AA01E40F-783C-67A5-1E45-259C7FE6505B}"/>
            </a:ext>
          </a:extLst>
        </p:cNvPr>
        <p:cNvGrpSpPr/>
        <p:nvPr/>
      </p:nvGrpSpPr>
      <p:grpSpPr>
        <a:xfrm>
          <a:off x="0" y="0"/>
          <a:ext cx="0" cy="0"/>
          <a:chOff x="0" y="0"/>
          <a:chExt cx="0" cy="0"/>
        </a:xfrm>
      </p:grpSpPr>
      <p:sp>
        <p:nvSpPr>
          <p:cNvPr id="95" name="Google Shape;95;gab0add0b17_0_59:notes">
            <a:extLst>
              <a:ext uri="{FF2B5EF4-FFF2-40B4-BE49-F238E27FC236}">
                <a16:creationId xmlns:a16="http://schemas.microsoft.com/office/drawing/2014/main" id="{FD34EC6F-69BC-DB09-5641-606ABDCF30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ab0add0b17_0_59:notes">
            <a:extLst>
              <a:ext uri="{FF2B5EF4-FFF2-40B4-BE49-F238E27FC236}">
                <a16:creationId xmlns:a16="http://schemas.microsoft.com/office/drawing/2014/main" id="{68917FF5-E45D-944D-66D4-E9DB90DB11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00508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In der </a:t>
            </a:r>
            <a:r>
              <a:rPr lang="en-US" dirty="0" err="1"/>
              <a:t>komerziellen</a:t>
            </a:r>
            <a:r>
              <a:rPr lang="en-US" dirty="0"/>
              <a:t> Welt </a:t>
            </a:r>
            <a:r>
              <a:rPr lang="en-US" dirty="0" err="1"/>
              <a:t>geht</a:t>
            </a:r>
            <a:r>
              <a:rPr lang="en-US" dirty="0"/>
              <a:t> es um Geld, </a:t>
            </a:r>
            <a:r>
              <a:rPr lang="en-US" dirty="0" err="1"/>
              <a:t>auch</a:t>
            </a:r>
            <a:r>
              <a:rPr lang="en-US" dirty="0"/>
              <a:t> </a:t>
            </a:r>
            <a:r>
              <a:rPr lang="en-US" dirty="0" err="1"/>
              <a:t>wenn</a:t>
            </a:r>
            <a:r>
              <a:rPr lang="en-US" dirty="0"/>
              <a:t> es gut </a:t>
            </a:r>
            <a:r>
              <a:rPr lang="en-US" dirty="0" err="1"/>
              <a:t>wäre</a:t>
            </a:r>
            <a:r>
              <a:rPr lang="en-US" dirty="0"/>
              <a:t> </a:t>
            </a:r>
            <a:r>
              <a:rPr lang="en-US" dirty="0" err="1"/>
              <a:t>aus</a:t>
            </a:r>
            <a:r>
              <a:rPr lang="en-US" dirty="0"/>
              <a:t> </a:t>
            </a:r>
            <a:r>
              <a:rPr lang="en-US" dirty="0" err="1"/>
              <a:t>ethischen</a:t>
            </a:r>
            <a:r>
              <a:rPr lang="en-US" dirty="0"/>
              <a:t> </a:t>
            </a:r>
            <a:r>
              <a:rPr lang="en-US" dirty="0" err="1"/>
              <a:t>Gründen</a:t>
            </a:r>
            <a:r>
              <a:rPr lang="en-US" dirty="0"/>
              <a:t> Systeme </a:t>
            </a:r>
            <a:r>
              <a:rPr lang="en-US" dirty="0" err="1"/>
              <a:t>mit</a:t>
            </a:r>
            <a:r>
              <a:rPr lang="en-US" dirty="0"/>
              <a:t> </a:t>
            </a:r>
            <a:r>
              <a:rPr lang="en-US" dirty="0" err="1"/>
              <a:t>z.B.</a:t>
            </a:r>
            <a:r>
              <a:rPr lang="en-US" dirty="0"/>
              <a:t> </a:t>
            </a:r>
            <a:r>
              <a:rPr lang="en-US" dirty="0" err="1"/>
              <a:t>Kundendaten</a:t>
            </a:r>
            <a:r>
              <a:rPr lang="en-US" dirty="0"/>
              <a:t> </a:t>
            </a:r>
            <a:r>
              <a:rPr lang="en-US" dirty="0" err="1"/>
              <a:t>sicher</a:t>
            </a:r>
            <a:r>
              <a:rPr lang="en-US" dirty="0"/>
              <a:t> </a:t>
            </a:r>
            <a:r>
              <a:rPr lang="en-US" dirty="0" err="1"/>
              <a:t>zu</a:t>
            </a:r>
            <a:r>
              <a:rPr lang="en-US" dirty="0"/>
              <a:t> </a:t>
            </a:r>
            <a:r>
              <a:rPr lang="en-US" dirty="0" err="1"/>
              <a:t>halten</a:t>
            </a:r>
            <a:endParaRPr lang="en-US" dirty="0"/>
          </a:p>
        </p:txBody>
      </p:sp>
    </p:spTree>
    <p:extLst>
      <p:ext uri="{BB962C8B-B14F-4D97-AF65-F5344CB8AC3E}">
        <p14:creationId xmlns:p14="http://schemas.microsoft.com/office/powerpoint/2010/main" val="37334540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60C27-F0FB-AD63-0B47-BA770D7BDC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DAAC8F-AA28-AE81-63AB-EA7D700C4DA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BE53C2C-BC78-4DE8-E8A4-F72149797B90}"/>
              </a:ext>
            </a:extLst>
          </p:cNvPr>
          <p:cNvSpPr>
            <a:spLocks noGrp="1"/>
          </p:cNvSpPr>
          <p:nvPr>
            <p:ph type="body" idx="1"/>
          </p:nvPr>
        </p:nvSpPr>
        <p:spPr/>
        <p:txBody>
          <a:bodyPr/>
          <a:lstStyle/>
          <a:p>
            <a:endParaRPr lang="en-US" dirty="0"/>
          </a:p>
          <a:p>
            <a:r>
              <a:rPr lang="en-US" dirty="0"/>
              <a:t>Prevention &gt; Incident Response</a:t>
            </a:r>
          </a:p>
          <a:p>
            <a:endParaRPr lang="en-US"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IS events </a:t>
            </a:r>
            <a:r>
              <a:rPr lang="en-US" dirty="0" err="1"/>
              <a:t>sind</a:t>
            </a:r>
            <a:r>
              <a:rPr lang="en-US" dirty="0"/>
              <a:t> </a:t>
            </a:r>
            <a:r>
              <a:rPr lang="en-US" dirty="0" err="1"/>
              <a:t>teuer</a:t>
            </a:r>
            <a:r>
              <a:rPr lang="en-US" dirty="0"/>
              <a:t> (see quote)</a:t>
            </a:r>
          </a:p>
          <a:p>
            <a:endParaRPr lang="en-US" dirty="0"/>
          </a:p>
          <a:p>
            <a:r>
              <a:rPr lang="en-US" dirty="0"/>
              <a:t>Reputation!</a:t>
            </a:r>
          </a:p>
        </p:txBody>
      </p:sp>
    </p:spTree>
    <p:extLst>
      <p:ext uri="{BB962C8B-B14F-4D97-AF65-F5344CB8AC3E}">
        <p14:creationId xmlns:p14="http://schemas.microsoft.com/office/powerpoint/2010/main" val="15573556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5D4BC-A90F-5346-FAC6-8CA83FE9DE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8E09AF-7CB7-990F-DE1B-6204AA8E04E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E967D75-106B-5921-9F34-8A61BA07AD5C}"/>
              </a:ext>
            </a:extLst>
          </p:cNvPr>
          <p:cNvSpPr>
            <a:spLocks noGrp="1"/>
          </p:cNvSpPr>
          <p:nvPr>
            <p:ph type="body" idx="1"/>
          </p:nvPr>
        </p:nvSpPr>
        <p:spPr/>
        <p:txBody>
          <a:bodyPr/>
          <a:lstStyle/>
          <a:p>
            <a:r>
              <a:rPr lang="en-US" dirty="0" err="1"/>
              <a:t>Pentests</a:t>
            </a:r>
            <a:r>
              <a:rPr lang="en-US" dirty="0"/>
              <a:t> </a:t>
            </a:r>
            <a:r>
              <a:rPr lang="en-US" dirty="0" err="1"/>
              <a:t>können</a:t>
            </a:r>
            <a:r>
              <a:rPr lang="en-US" dirty="0"/>
              <a:t> </a:t>
            </a:r>
            <a:r>
              <a:rPr lang="en-US" dirty="0" err="1"/>
              <a:t>mit</a:t>
            </a:r>
            <a:r>
              <a:rPr lang="en-US" dirty="0"/>
              <a:t> CVSS scores </a:t>
            </a:r>
            <a:r>
              <a:rPr lang="en-US" dirty="0" err="1"/>
              <a:t>bei</a:t>
            </a:r>
            <a:r>
              <a:rPr lang="en-US" dirty="0"/>
              <a:t> der </a:t>
            </a:r>
            <a:r>
              <a:rPr lang="en-US" dirty="0" err="1"/>
              <a:t>Entscheidung</a:t>
            </a:r>
            <a:r>
              <a:rPr lang="en-US" dirty="0"/>
              <a:t> </a:t>
            </a:r>
            <a:r>
              <a:rPr lang="en-US" dirty="0" err="1"/>
              <a:t>helfen</a:t>
            </a:r>
            <a:r>
              <a:rPr lang="en-US" dirty="0"/>
              <a:t>, was </a:t>
            </a:r>
            <a:r>
              <a:rPr lang="en-US" dirty="0" err="1"/>
              <a:t>zuerst</a:t>
            </a:r>
            <a:r>
              <a:rPr lang="en-US" dirty="0"/>
              <a:t> </a:t>
            </a:r>
            <a:r>
              <a:rPr lang="en-US" dirty="0" err="1"/>
              <a:t>behoben</a:t>
            </a:r>
            <a:r>
              <a:rPr lang="en-US" dirty="0"/>
              <a:t> </a:t>
            </a:r>
            <a:r>
              <a:rPr lang="en-US" dirty="0" err="1"/>
              <a:t>werden</a:t>
            </a:r>
            <a:r>
              <a:rPr lang="en-US" dirty="0"/>
              <a:t> muss</a:t>
            </a:r>
          </a:p>
        </p:txBody>
      </p:sp>
    </p:spTree>
    <p:extLst>
      <p:ext uri="{BB962C8B-B14F-4D97-AF65-F5344CB8AC3E}">
        <p14:creationId xmlns:p14="http://schemas.microsoft.com/office/powerpoint/2010/main" val="33639431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1124D18C-CF6E-E0F4-E0BD-FD481CE7B248}"/>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7918D296-2522-5033-F115-5FC760A138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CF600795-A3C2-BC3E-DABC-D7A33FF6EC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Zertifikate sind gut</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err="1"/>
              <a:t>Pentests</a:t>
            </a:r>
            <a:r>
              <a:rPr lang="de-DE" dirty="0"/>
              <a:t> können notwendig sein</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GDPR: DSGVO</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HIIPA: Medizin USA</a:t>
            </a:r>
            <a:endParaRPr dirty="0"/>
          </a:p>
        </p:txBody>
      </p:sp>
    </p:spTree>
    <p:extLst>
      <p:ext uri="{BB962C8B-B14F-4D97-AF65-F5344CB8AC3E}">
        <p14:creationId xmlns:p14="http://schemas.microsoft.com/office/powerpoint/2010/main" val="17792705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3ED61A79-579C-BE0C-4E8B-5216C30D593B}"/>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90E8345C-E839-E9FB-2F06-2B32EE1367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5312E0BD-5C3F-7BC5-14D3-DC1E06779F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 lot of good reasons, so how to do it?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6 </a:t>
            </a:r>
            <a:r>
              <a:rPr lang="en-US" dirty="0" err="1"/>
              <a:t>Schritte</a:t>
            </a:r>
            <a:r>
              <a:rPr lang="en-US" dirty="0"/>
              <a:t> die ich </a:t>
            </a:r>
            <a:r>
              <a:rPr lang="en-US" dirty="0" err="1"/>
              <a:t>zeigen</a:t>
            </a:r>
            <a:r>
              <a:rPr lang="en-US" dirty="0"/>
              <a:t> </a:t>
            </a:r>
            <a:r>
              <a:rPr lang="en-US" dirty="0" err="1"/>
              <a:t>möchte</a:t>
            </a:r>
            <a:endParaRPr dirty="0"/>
          </a:p>
        </p:txBody>
      </p:sp>
    </p:spTree>
    <p:extLst>
      <p:ext uri="{BB962C8B-B14F-4D97-AF65-F5344CB8AC3E}">
        <p14:creationId xmlns:p14="http://schemas.microsoft.com/office/powerpoint/2010/main" val="6186561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DD0FD638-6E03-FB6D-D081-B2F622FAD320}"/>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A9743FB1-6221-C83B-A0CE-06BBB06DE9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F7FB505F-1483-A1E0-CBFC-092FF40ADD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OSINT auf der Homepage um Interessen, Namen etc. zu finden</a:t>
            </a:r>
            <a:endParaRPr dirty="0"/>
          </a:p>
        </p:txBody>
      </p:sp>
    </p:spTree>
    <p:extLst>
      <p:ext uri="{BB962C8B-B14F-4D97-AF65-F5344CB8AC3E}">
        <p14:creationId xmlns:p14="http://schemas.microsoft.com/office/powerpoint/2010/main" val="6822557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7379E4D1-009F-0AD5-7042-690C0A51518B}"/>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856384A9-9BF0-4CEC-826D-F70CC5A630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30FC7B69-D65C-9998-14FF-34C3BBCB04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z.B. auf </a:t>
            </a:r>
            <a:r>
              <a:rPr lang="de-DE" dirty="0" err="1"/>
              <a:t>Social</a:t>
            </a:r>
            <a:r>
              <a:rPr lang="de-DE" dirty="0"/>
              <a:t> Media redet der CEO über seinen Hund</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==&gt; enthält seine Passwörter</a:t>
            </a:r>
            <a:endParaRPr dirty="0"/>
          </a:p>
        </p:txBody>
      </p:sp>
    </p:spTree>
    <p:extLst>
      <p:ext uri="{BB962C8B-B14F-4D97-AF65-F5344CB8AC3E}">
        <p14:creationId xmlns:p14="http://schemas.microsoft.com/office/powerpoint/2010/main" val="39313108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FA3334D8-6362-E9B8-A7C1-385E78527AE3}"/>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B8480544-3A0C-37CC-F9D5-455C6744AE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70FFC3EA-443A-AA2A-4D0B-C2F74C48A3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Nmap etc. </a:t>
            </a:r>
            <a:r>
              <a:rPr lang="en-US" dirty="0" err="1"/>
              <a:t>ausgeführt</a:t>
            </a:r>
            <a:r>
              <a:rPr lang="en-US" dirty="0"/>
              <a:t>, </a:t>
            </a:r>
            <a:r>
              <a:rPr lang="en-US" dirty="0" err="1"/>
              <a:t>aber</a:t>
            </a:r>
            <a:r>
              <a:rPr lang="en-US" dirty="0"/>
              <a:t> nicht so relevant</a:t>
            </a:r>
          </a:p>
          <a:p>
            <a:pPr marL="0" lvl="0" indent="0" algn="l" rtl="0">
              <a:spcBef>
                <a:spcPts val="0"/>
              </a:spcBef>
              <a:spcAft>
                <a:spcPts val="0"/>
              </a:spcAft>
              <a:buNone/>
            </a:pPr>
            <a:endParaRPr lang="en-US" dirty="0"/>
          </a:p>
          <a:p>
            <a:pPr marL="0" lvl="0" indent="0" algn="l" rtl="0">
              <a:spcBef>
                <a:spcPts val="0"/>
              </a:spcBef>
              <a:spcAft>
                <a:spcPts val="0"/>
              </a:spcAft>
              <a:buNone/>
            </a:pPr>
            <a:r>
              <a:rPr lang="de-DE" dirty="0"/>
              <a:t>Eine wichtige Sache:</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Mit </a:t>
            </a:r>
            <a:r>
              <a:rPr lang="de-DE" dirty="0" err="1"/>
              <a:t>Dirbuster</a:t>
            </a:r>
            <a:r>
              <a:rPr lang="de-DE" dirty="0"/>
              <a:t> Management System und Backup gefunden</a:t>
            </a:r>
            <a:endParaRPr dirty="0"/>
          </a:p>
        </p:txBody>
      </p:sp>
    </p:spTree>
    <p:extLst>
      <p:ext uri="{BB962C8B-B14F-4D97-AF65-F5344CB8AC3E}">
        <p14:creationId xmlns:p14="http://schemas.microsoft.com/office/powerpoint/2010/main" val="7268104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50A58F2-141E-A43A-4F79-5D42C431E4F4}"/>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414D469E-0329-3532-41CD-2FF670E7FB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8BC6C8B8-0CE5-E69F-F472-3ED788E839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Backup </a:t>
            </a:r>
            <a:r>
              <a:rPr lang="de-DE" dirty="0" err="1"/>
              <a:t>autoinedxiert</a:t>
            </a:r>
            <a:r>
              <a:rPr lang="de-DE" dirty="0"/>
              <a:t> öffentlich zugänglich</a:t>
            </a:r>
            <a:endParaRPr dirty="0"/>
          </a:p>
        </p:txBody>
      </p:sp>
    </p:spTree>
    <p:extLst>
      <p:ext uri="{BB962C8B-B14F-4D97-AF65-F5344CB8AC3E}">
        <p14:creationId xmlns:p14="http://schemas.microsoft.com/office/powerpoint/2010/main" val="9843217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CC3D62EC-B145-BDC3-1EC1-73B3DA1F785D}"/>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2B0EACEE-F170-B65C-4AEE-7548C2850A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0936B9B2-9EA1-45A1-AEF8-22D85416D3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Mit Zustimmung heruntergeladen</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Usernames für Webapp und Linux + Passwort Hashes gefunden</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Sowie andere Informationen wie Gehälter und </a:t>
            </a:r>
            <a:r>
              <a:rPr lang="de-DE" dirty="0" err="1"/>
              <a:t>Adminstatus</a:t>
            </a:r>
            <a:endParaRPr dirty="0"/>
          </a:p>
        </p:txBody>
      </p:sp>
    </p:spTree>
    <p:extLst>
      <p:ext uri="{BB962C8B-B14F-4D97-AF65-F5344CB8AC3E}">
        <p14:creationId xmlns:p14="http://schemas.microsoft.com/office/powerpoint/2010/main" val="13209110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BC0E9C27-BC95-B4A7-48F4-B4BB294D2D88}"/>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90EE6116-3F7C-4650-8BA8-0EF7C18720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492821CE-851D-98B5-473B-4AFC50E770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Passworthashes</a:t>
            </a:r>
            <a:r>
              <a:rPr lang="en-US" dirty="0"/>
              <a:t> </a:t>
            </a:r>
            <a:r>
              <a:rPr lang="en-US" dirty="0" err="1"/>
              <a:t>ließen</a:t>
            </a:r>
            <a:r>
              <a:rPr lang="en-US" dirty="0"/>
              <a:t> </a:t>
            </a:r>
            <a:r>
              <a:rPr lang="en-US" dirty="0" err="1"/>
              <a:t>sich</a:t>
            </a:r>
            <a:r>
              <a:rPr lang="en-US" dirty="0"/>
              <a:t> </a:t>
            </a:r>
            <a:r>
              <a:rPr lang="en-US" dirty="0" err="1"/>
              <a:t>einfach</a:t>
            </a:r>
            <a:r>
              <a:rPr lang="en-US" dirty="0"/>
              <a:t> </a:t>
            </a:r>
            <a:r>
              <a:rPr lang="en-US" dirty="0" err="1"/>
              <a:t>cracken</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err="1"/>
              <a:t>Wurde</a:t>
            </a:r>
            <a:r>
              <a:rPr lang="en-US" dirty="0"/>
              <a:t> </a:t>
            </a:r>
            <a:r>
              <a:rPr lang="en-US" dirty="0" err="1"/>
              <a:t>auch</a:t>
            </a:r>
            <a:r>
              <a:rPr lang="en-US" dirty="0"/>
              <a:t> </a:t>
            </a:r>
            <a:r>
              <a:rPr lang="en-US" dirty="0" err="1"/>
              <a:t>mit</a:t>
            </a:r>
            <a:r>
              <a:rPr lang="en-US" dirty="0"/>
              <a:t> Linux tools </a:t>
            </a:r>
            <a:r>
              <a:rPr lang="en-US" dirty="0" err="1"/>
              <a:t>gemacht</a:t>
            </a:r>
            <a:endParaRPr dirty="0"/>
          </a:p>
        </p:txBody>
      </p:sp>
    </p:spTree>
    <p:extLst>
      <p:ext uri="{BB962C8B-B14F-4D97-AF65-F5344CB8AC3E}">
        <p14:creationId xmlns:p14="http://schemas.microsoft.com/office/powerpoint/2010/main" val="34299543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3682D73E-2B31-B93D-DBA0-9AFDEE602C8C}"/>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11FAEAD2-3DD2-E360-84BA-6FB5055C62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F8F9631A-8CCE-3470-C7FF-E6B173FFCB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Um das mit Linux </a:t>
            </a:r>
            <a:r>
              <a:rPr lang="de-DE" dirty="0" err="1"/>
              <a:t>tools</a:t>
            </a:r>
            <a:r>
              <a:rPr lang="de-DE" dirty="0"/>
              <a:t> zu tun:</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Wortlisten aus Opfer-Webseiten erstellt + allgemeine </a:t>
            </a:r>
            <a:r>
              <a:rPr lang="de-DE" dirty="0" err="1"/>
              <a:t>rockyou</a:t>
            </a:r>
            <a:r>
              <a:rPr lang="de-DE" dirty="0"/>
              <a:t> angefügt und Passwörter damit geknackt (mit Mutation)</a:t>
            </a:r>
            <a:endParaRPr dirty="0"/>
          </a:p>
        </p:txBody>
      </p:sp>
    </p:spTree>
    <p:extLst>
      <p:ext uri="{BB962C8B-B14F-4D97-AF65-F5344CB8AC3E}">
        <p14:creationId xmlns:p14="http://schemas.microsoft.com/office/powerpoint/2010/main" val="29660670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58BA1F35-3670-C95A-8CA0-4C64AF85AD8D}"/>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C852CCE2-6506-2865-E110-149174FB59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AAAC1D82-F721-DDD0-5579-E049D82F82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Wiederholte</a:t>
            </a:r>
            <a:r>
              <a:rPr lang="en-US" dirty="0"/>
              <a:t> Login </a:t>
            </a:r>
            <a:r>
              <a:rPr lang="en-US" dirty="0" err="1"/>
              <a:t>Versuche</a:t>
            </a:r>
            <a:r>
              <a:rPr lang="en-US" dirty="0"/>
              <a:t> </a:t>
            </a:r>
            <a:r>
              <a:rPr lang="en-US" dirty="0" err="1"/>
              <a:t>werden</a:t>
            </a:r>
            <a:r>
              <a:rPr lang="en-US" dirty="0"/>
              <a:t> nicht </a:t>
            </a:r>
            <a:r>
              <a:rPr lang="en-US" dirty="0" err="1"/>
              <a:t>gesperrt</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==&gt; Man </a:t>
            </a:r>
            <a:r>
              <a:rPr lang="en-US" dirty="0" err="1"/>
              <a:t>kann</a:t>
            </a:r>
            <a:r>
              <a:rPr lang="en-US" dirty="0"/>
              <a:t> </a:t>
            </a:r>
            <a:r>
              <a:rPr lang="en-US" dirty="0" err="1"/>
              <a:t>mit</a:t>
            </a:r>
            <a:r>
              <a:rPr lang="en-US" dirty="0"/>
              <a:t> den </a:t>
            </a:r>
            <a:r>
              <a:rPr lang="en-US" dirty="0" err="1"/>
              <a:t>Wortlisten</a:t>
            </a:r>
            <a:r>
              <a:rPr lang="en-US" dirty="0"/>
              <a:t> also </a:t>
            </a:r>
            <a:r>
              <a:rPr lang="en-US" dirty="0" err="1"/>
              <a:t>auch</a:t>
            </a:r>
            <a:r>
              <a:rPr lang="en-US" dirty="0"/>
              <a:t> Brute </a:t>
            </a:r>
            <a:r>
              <a:rPr lang="en-US" dirty="0" err="1"/>
              <a:t>Forcen</a:t>
            </a:r>
            <a:endParaRPr lang="de-DE" dirty="0"/>
          </a:p>
          <a:p>
            <a:pPr marL="0" lvl="0" indent="0" algn="l" rtl="0">
              <a:spcBef>
                <a:spcPts val="0"/>
              </a:spcBef>
              <a:spcAft>
                <a:spcPts val="0"/>
              </a:spcAft>
              <a:buNone/>
            </a:pPr>
            <a:endParaRPr lang="en-US" dirty="0"/>
          </a:p>
          <a:p>
            <a:pPr marL="0" lvl="0" indent="0" algn="l" rtl="0">
              <a:spcBef>
                <a:spcPts val="0"/>
              </a:spcBef>
              <a:spcAft>
                <a:spcPts val="0"/>
              </a:spcAft>
              <a:buNone/>
            </a:pPr>
            <a:r>
              <a:rPr lang="de-DE" dirty="0"/>
              <a:t>Dafür habe ich ein </a:t>
            </a:r>
            <a:r>
              <a:rPr lang="de-DE" dirty="0" err="1"/>
              <a:t>Script</a:t>
            </a:r>
            <a:r>
              <a:rPr lang="de-DE" dirty="0"/>
              <a:t> geschrieben dass alle Passwörter probiert</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Man könnte IPs </a:t>
            </a:r>
            <a:r>
              <a:rPr lang="de-DE" dirty="0" err="1"/>
              <a:t>blacklisten</a:t>
            </a:r>
            <a:r>
              <a:rPr lang="de-DE" dirty="0"/>
              <a:t> um das zu verhindern</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948961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65C43EF1-F578-5353-3554-DC1635F650D0}"/>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26487D69-71C5-EA2E-3EEA-17FF8DA4B2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CBEED617-A83E-9558-6C17-B7036BED24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de-DE" dirty="0"/>
          </a:p>
        </p:txBody>
      </p:sp>
    </p:spTree>
    <p:extLst>
      <p:ext uri="{BB962C8B-B14F-4D97-AF65-F5344CB8AC3E}">
        <p14:creationId xmlns:p14="http://schemas.microsoft.com/office/powerpoint/2010/main" val="32780302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BBC4A1E6-1E2C-6FB8-4D95-FE61CC9CCC2D}"/>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BD7B1E27-4DEC-64CE-8ADC-BEFC0C36E0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EF829906-BD3F-0D07-6D74-66553E3B40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 to process + script to test</a:t>
            </a:r>
            <a:endParaRPr dirty="0"/>
          </a:p>
        </p:txBody>
      </p:sp>
    </p:spTree>
    <p:extLst>
      <p:ext uri="{BB962C8B-B14F-4D97-AF65-F5344CB8AC3E}">
        <p14:creationId xmlns:p14="http://schemas.microsoft.com/office/powerpoint/2010/main" val="18544807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7D2B22C8-7AE9-2A3F-9B82-6E592F77DED2}"/>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83DE0851-CC51-B7D4-BA83-D622EF1D9C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76E27EE3-5145-C865-A8E9-010FFAE730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 to process + script to test</a:t>
            </a:r>
            <a:endParaRPr dirty="0"/>
          </a:p>
        </p:txBody>
      </p:sp>
    </p:spTree>
    <p:extLst>
      <p:ext uri="{BB962C8B-B14F-4D97-AF65-F5344CB8AC3E}">
        <p14:creationId xmlns:p14="http://schemas.microsoft.com/office/powerpoint/2010/main" val="342891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065DFF03-046F-26B6-AD34-EA0517FB1B6D}"/>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F8F445B9-C4A5-8EDB-B3B8-716F9E56B5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0713F823-B840-52F0-CDE0-5338E4A446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 to process + script to test</a:t>
            </a:r>
            <a:endParaRPr dirty="0"/>
          </a:p>
        </p:txBody>
      </p:sp>
    </p:spTree>
    <p:extLst>
      <p:ext uri="{BB962C8B-B14F-4D97-AF65-F5344CB8AC3E}">
        <p14:creationId xmlns:p14="http://schemas.microsoft.com/office/powerpoint/2010/main" val="6320820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16958CF-DA04-6581-E91B-3F9F7FE94DAF}"/>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B0AF7D5B-8EDC-90A1-642D-204D2D1D6B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C3A7184C-BE1E-DCF3-46DC-DADF770E34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 to process + script to test</a:t>
            </a:r>
            <a:endParaRPr dirty="0"/>
          </a:p>
        </p:txBody>
      </p:sp>
    </p:spTree>
    <p:extLst>
      <p:ext uri="{BB962C8B-B14F-4D97-AF65-F5344CB8AC3E}">
        <p14:creationId xmlns:p14="http://schemas.microsoft.com/office/powerpoint/2010/main" val="19383001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3A4EB30C-6D10-EBAB-DD9D-D7366A2E822B}"/>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4F8DF0DA-BE7F-493F-A38C-93CB8F0E9E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2BAEB64D-E5BC-CE56-889A-69DEA2F165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 to process + script to test</a:t>
            </a:r>
            <a:endParaRPr dirty="0"/>
          </a:p>
        </p:txBody>
      </p:sp>
    </p:spTree>
    <p:extLst>
      <p:ext uri="{BB962C8B-B14F-4D97-AF65-F5344CB8AC3E}">
        <p14:creationId xmlns:p14="http://schemas.microsoft.com/office/powerpoint/2010/main" val="34945972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5241EB4A-8223-0A6B-49BD-C79B2A90CD1C}"/>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FF645811-8812-AA22-AA37-4D2CA164B6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AB02D695-D6B3-4D52-7705-82BD2D52CB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 to process + script to test</a:t>
            </a:r>
            <a:endParaRPr dirty="0"/>
          </a:p>
        </p:txBody>
      </p:sp>
    </p:spTree>
    <p:extLst>
      <p:ext uri="{BB962C8B-B14F-4D97-AF65-F5344CB8AC3E}">
        <p14:creationId xmlns:p14="http://schemas.microsoft.com/office/powerpoint/2010/main" val="24453421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304CB4AE-F097-A2B1-6C75-FB0CA2D3CCC7}"/>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180BF462-875A-1018-1E73-3C1F28ACA4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CE61C7B3-F400-84B6-AF99-ED51A86738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 to process + script to test</a:t>
            </a:r>
            <a:endParaRPr dirty="0"/>
          </a:p>
        </p:txBody>
      </p:sp>
    </p:spTree>
    <p:extLst>
      <p:ext uri="{BB962C8B-B14F-4D97-AF65-F5344CB8AC3E}">
        <p14:creationId xmlns:p14="http://schemas.microsoft.com/office/powerpoint/2010/main" val="15551511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73F59AC7-6D7E-444D-D9B8-B8F02582CD05}"/>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469F62D2-EADB-74E5-41B3-FF9CA85B06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228ED521-44DF-E1C5-DE1D-3DDBC8289D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Dafür gibt es auch Tools wie Hydra</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War schwierig für die Webapp, aber für SSH anwendbar</a:t>
            </a:r>
            <a:endParaRPr dirty="0"/>
          </a:p>
        </p:txBody>
      </p:sp>
    </p:spTree>
    <p:extLst>
      <p:ext uri="{BB962C8B-B14F-4D97-AF65-F5344CB8AC3E}">
        <p14:creationId xmlns:p14="http://schemas.microsoft.com/office/powerpoint/2010/main" val="198068107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B23202E-92FD-7EAE-6DB1-F2480D0B38B8}"/>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6982FFC8-659A-25F7-736E-995F738A62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184EADC6-A551-2E5A-C4D7-B0F570AAFC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Aus dem Backup wussten wir, dass eine relationale DB verwendet wird</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SQL </a:t>
            </a:r>
            <a:r>
              <a:rPr lang="de-DE" dirty="0" err="1"/>
              <a:t>injection</a:t>
            </a:r>
            <a:r>
              <a:rPr lang="de-DE" dirty="0"/>
              <a:t> probiert, um sich ohne PW anzumelden</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Das funktioniert, da User Input nicht </a:t>
            </a:r>
            <a:r>
              <a:rPr lang="de-DE" dirty="0" err="1"/>
              <a:t>escaped</a:t>
            </a:r>
            <a:r>
              <a:rPr lang="de-DE" dirty="0"/>
              <a:t> wird</a:t>
            </a:r>
            <a:endParaRPr dirty="0"/>
          </a:p>
        </p:txBody>
      </p:sp>
    </p:spTree>
    <p:extLst>
      <p:ext uri="{BB962C8B-B14F-4D97-AF65-F5344CB8AC3E}">
        <p14:creationId xmlns:p14="http://schemas.microsoft.com/office/powerpoint/2010/main" val="401022818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5C30A1C3-C872-3FE1-BC59-DD13F32B19F1}"/>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30628F0D-E987-3FB2-E321-8A36667580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8587BF9A-4587-05C5-83C6-BBF4C8225C4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6285559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F7AC3BB0-5D74-846C-D868-BB9DFCE4BEA9}"/>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DECFECC9-B5CE-B926-A10E-78ACFF7396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D227E0B0-12AE-ED1E-2930-CABFB412DA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Man kann also </a:t>
            </a:r>
            <a:r>
              <a:rPr lang="de-DE" dirty="0" err="1"/>
              <a:t>statements</a:t>
            </a:r>
            <a:r>
              <a:rPr lang="de-DE" dirty="0"/>
              <a:t> erzeugen, die unabhängig von der PW Eingabe als TRUE evaluieren</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Auskommentieren oder Operator </a:t>
            </a:r>
            <a:r>
              <a:rPr lang="de-DE" dirty="0" err="1"/>
              <a:t>Precedence</a:t>
            </a:r>
            <a:r>
              <a:rPr lang="de-DE" dirty="0"/>
              <a:t> ausnutzen</a:t>
            </a:r>
            <a:endParaRPr dirty="0"/>
          </a:p>
        </p:txBody>
      </p:sp>
    </p:spTree>
    <p:extLst>
      <p:ext uri="{BB962C8B-B14F-4D97-AF65-F5344CB8AC3E}">
        <p14:creationId xmlns:p14="http://schemas.microsoft.com/office/powerpoint/2010/main" val="318613900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5F4A9FC-00D0-E36F-5896-088DE43236B2}"/>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7DFAFAEF-6842-B7EB-51C7-5192CB7E4C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9C2D18DC-CF6C-96CE-8881-0151FA4E94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Ist man </a:t>
            </a:r>
            <a:r>
              <a:rPr lang="de-DE" dirty="0" err="1"/>
              <a:t>eingelogged</a:t>
            </a:r>
            <a:r>
              <a:rPr lang="de-DE" dirty="0"/>
              <a:t>, kann man Command </a:t>
            </a:r>
            <a:r>
              <a:rPr lang="de-DE" dirty="0" err="1"/>
              <a:t>Injection</a:t>
            </a:r>
            <a:r>
              <a:rPr lang="de-DE" dirty="0"/>
              <a:t> ausführen</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Das System liest einen URL </a:t>
            </a:r>
            <a:r>
              <a:rPr lang="de-DE" dirty="0" err="1"/>
              <a:t>parameter</a:t>
            </a:r>
            <a:r>
              <a:rPr lang="de-DE" dirty="0"/>
              <a:t> und führt diesen ohne Validierung aus</a:t>
            </a:r>
            <a:endParaRPr dirty="0"/>
          </a:p>
        </p:txBody>
      </p:sp>
    </p:spTree>
    <p:extLst>
      <p:ext uri="{BB962C8B-B14F-4D97-AF65-F5344CB8AC3E}">
        <p14:creationId xmlns:p14="http://schemas.microsoft.com/office/powerpoint/2010/main" val="298546288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B052938-BB1F-17A2-6711-2729D3B23DB3}"/>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EAFEB162-D798-B63B-2B37-C1022907CA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144363BF-9773-D87F-D986-B042B2101C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Man kann also eine URL bauen, die den </a:t>
            </a:r>
            <a:r>
              <a:rPr lang="de-DE" dirty="0" err="1"/>
              <a:t>cat</a:t>
            </a:r>
            <a:r>
              <a:rPr lang="de-DE" dirty="0"/>
              <a:t> Befehl mit einem Reverse </a:t>
            </a:r>
            <a:r>
              <a:rPr lang="de-DE" dirty="0" err="1"/>
              <a:t>shell</a:t>
            </a:r>
            <a:r>
              <a:rPr lang="de-DE" dirty="0"/>
              <a:t> </a:t>
            </a:r>
            <a:r>
              <a:rPr lang="de-DE" dirty="0" err="1"/>
              <a:t>command</a:t>
            </a:r>
            <a:r>
              <a:rPr lang="de-DE" dirty="0"/>
              <a:t> verknüpft</a:t>
            </a:r>
            <a:endParaRPr dirty="0"/>
          </a:p>
        </p:txBody>
      </p:sp>
    </p:spTree>
    <p:extLst>
      <p:ext uri="{BB962C8B-B14F-4D97-AF65-F5344CB8AC3E}">
        <p14:creationId xmlns:p14="http://schemas.microsoft.com/office/powerpoint/2010/main" val="33665638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AF751C2A-4333-DEC2-A86A-382466EAFD38}"/>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C3E93E07-58A7-C07E-5923-D3BB0E2522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EBC0D64D-EC75-9B7F-15B2-BA64068504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Das funktioniert, man muss wenn nur eine valide Session haben</a:t>
            </a:r>
            <a:endParaRPr dirty="0"/>
          </a:p>
        </p:txBody>
      </p:sp>
    </p:spTree>
    <p:extLst>
      <p:ext uri="{BB962C8B-B14F-4D97-AF65-F5344CB8AC3E}">
        <p14:creationId xmlns:p14="http://schemas.microsoft.com/office/powerpoint/2010/main" val="127291946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788FE725-1FB5-305B-7AD0-5AD39976D21F}"/>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2F6878AB-64ED-EE0A-DC99-D358AA2D8C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E93B4F03-2897-3AB7-DD79-498BD0D32E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Privilege </a:t>
            </a:r>
            <a:r>
              <a:rPr lang="de-DE" dirty="0" err="1"/>
              <a:t>Escalation</a:t>
            </a:r>
            <a:r>
              <a:rPr lang="de-DE" dirty="0"/>
              <a:t> ging mit den Accounts auf der Linux </a:t>
            </a:r>
            <a:r>
              <a:rPr lang="de-DE" dirty="0" err="1"/>
              <a:t>maschine</a:t>
            </a:r>
            <a:r>
              <a:rPr lang="de-DE" dirty="0"/>
              <a:t>, deren Passwort wir haben</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err="1"/>
              <a:t>Credentials</a:t>
            </a:r>
            <a:r>
              <a:rPr lang="de-DE" dirty="0"/>
              <a:t> für einen Root User aus einem fehlgeschlagenen </a:t>
            </a:r>
            <a:r>
              <a:rPr lang="de-DE" dirty="0" err="1"/>
              <a:t>su</a:t>
            </a:r>
            <a:r>
              <a:rPr lang="de-DE" dirty="0"/>
              <a:t> Versuch waren in Plain Text in der Bash </a:t>
            </a:r>
            <a:r>
              <a:rPr lang="de-DE" dirty="0" err="1"/>
              <a:t>History</a:t>
            </a:r>
            <a:r>
              <a:rPr lang="de-DE" dirty="0"/>
              <a:t> auffindbar</a:t>
            </a:r>
            <a:endParaRPr dirty="0"/>
          </a:p>
        </p:txBody>
      </p:sp>
    </p:spTree>
    <p:extLst>
      <p:ext uri="{BB962C8B-B14F-4D97-AF65-F5344CB8AC3E}">
        <p14:creationId xmlns:p14="http://schemas.microsoft.com/office/powerpoint/2010/main" val="59509437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5259D0A-7921-44CD-265A-C26C60ADDEA9}"/>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ACD48DB8-1396-9725-3A15-A4CAF46326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A4CF7C9D-ECDE-8B52-11C4-069C4CA14A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Ein weiterer Vektor war die </a:t>
            </a:r>
            <a:r>
              <a:rPr lang="de-DE" dirty="0" err="1"/>
              <a:t>Miskonfiguration</a:t>
            </a:r>
            <a:r>
              <a:rPr lang="de-DE" dirty="0"/>
              <a:t> für den User </a:t>
            </a:r>
            <a:r>
              <a:rPr lang="de-DE" dirty="0" err="1"/>
              <a:t>freeman</a:t>
            </a:r>
            <a:endParaRPr lang="de-DE" dirty="0"/>
          </a:p>
          <a:p>
            <a:pPr marL="0" lvl="0" indent="0" algn="l" rtl="0">
              <a:spcBef>
                <a:spcPts val="0"/>
              </a:spcBef>
              <a:spcAft>
                <a:spcPts val="0"/>
              </a:spcAft>
              <a:buNone/>
            </a:pPr>
            <a:endParaRPr lang="de-DE" dirty="0"/>
          </a:p>
          <a:p>
            <a:pPr marL="0" lvl="0" indent="0" algn="l" rtl="0">
              <a:spcBef>
                <a:spcPts val="0"/>
              </a:spcBef>
              <a:spcAft>
                <a:spcPts val="0"/>
              </a:spcAft>
              <a:buNone/>
            </a:pPr>
            <a:r>
              <a:rPr lang="de-DE" dirty="0"/>
              <a:t>Composer erforderte kein Passwort um einen Prozess mit root rechten zu haben</a:t>
            </a:r>
            <a:endParaRPr dirty="0"/>
          </a:p>
        </p:txBody>
      </p:sp>
    </p:spTree>
    <p:extLst>
      <p:ext uri="{BB962C8B-B14F-4D97-AF65-F5344CB8AC3E}">
        <p14:creationId xmlns:p14="http://schemas.microsoft.com/office/powerpoint/2010/main" val="108061149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06E2252-22EE-B994-BB8E-30B2489B2519}"/>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5D6F4487-F2A6-699D-6668-D67900103C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789DF285-A28C-C976-29DF-7CB5F7E7AB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Man </a:t>
            </a:r>
            <a:r>
              <a:rPr lang="en-US" dirty="0" err="1"/>
              <a:t>konnte</a:t>
            </a:r>
            <a:r>
              <a:rPr lang="en-US" dirty="0"/>
              <a:t> also </a:t>
            </a:r>
            <a:r>
              <a:rPr lang="en-US" dirty="0" err="1"/>
              <a:t>einfach</a:t>
            </a:r>
            <a:r>
              <a:rPr lang="en-US" dirty="0"/>
              <a:t> </a:t>
            </a:r>
            <a:r>
              <a:rPr lang="en-US" dirty="0" err="1"/>
              <a:t>Skripte</a:t>
            </a:r>
            <a:r>
              <a:rPr lang="en-US" dirty="0"/>
              <a:t> </a:t>
            </a:r>
            <a:r>
              <a:rPr lang="en-US" dirty="0" err="1"/>
              <a:t>ausführen</a:t>
            </a:r>
            <a:r>
              <a:rPr lang="en-US" dirty="0"/>
              <a:t>, um </a:t>
            </a:r>
            <a:r>
              <a:rPr lang="en-US" dirty="0" err="1"/>
              <a:t>eine</a:t>
            </a:r>
            <a:r>
              <a:rPr lang="en-US" dirty="0"/>
              <a:t> reverse shell </a:t>
            </a:r>
            <a:r>
              <a:rPr lang="en-US" dirty="0" err="1"/>
              <a:t>oder</a:t>
            </a:r>
            <a:r>
              <a:rPr lang="en-US" dirty="0"/>
              <a:t> </a:t>
            </a:r>
            <a:r>
              <a:rPr lang="en-US" dirty="0" err="1"/>
              <a:t>einen</a:t>
            </a:r>
            <a:r>
              <a:rPr lang="en-US" dirty="0"/>
              <a:t> </a:t>
            </a:r>
            <a:r>
              <a:rPr lang="en-US" dirty="0" err="1"/>
              <a:t>neuen</a:t>
            </a:r>
            <a:r>
              <a:rPr lang="en-US" dirty="0"/>
              <a:t> root user </a:t>
            </a:r>
            <a:r>
              <a:rPr lang="en-US" dirty="0" err="1"/>
              <a:t>anzulegen</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May be used for Persistence, damage, whatever</a:t>
            </a:r>
            <a:endParaRPr dirty="0"/>
          </a:p>
        </p:txBody>
      </p:sp>
    </p:spTree>
    <p:extLst>
      <p:ext uri="{BB962C8B-B14F-4D97-AF65-F5344CB8AC3E}">
        <p14:creationId xmlns:p14="http://schemas.microsoft.com/office/powerpoint/2010/main" val="142307294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F621EF3E-D35B-EE95-4529-086335B15D7A}"/>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267F96E2-3A94-2FE2-BFD6-666226CEDB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89DB4F8B-2A06-D6BF-0FB8-F6372B1919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Für phpMyAdmin gab es </a:t>
            </a:r>
            <a:r>
              <a:rPr lang="en-US" dirty="0" err="1"/>
              <a:t>einen</a:t>
            </a:r>
            <a:r>
              <a:rPr lang="en-US" dirty="0"/>
              <a:t> </a:t>
            </a:r>
            <a:r>
              <a:rPr lang="en-US" dirty="0" err="1"/>
              <a:t>öffentlichen</a:t>
            </a:r>
            <a:r>
              <a:rPr lang="en-US" dirty="0"/>
              <a:t> exploit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Dieser </a:t>
            </a:r>
            <a:r>
              <a:rPr lang="en-US" dirty="0" err="1"/>
              <a:t>nutzt</a:t>
            </a:r>
            <a:r>
              <a:rPr lang="en-US" dirty="0"/>
              <a:t> Local File Inclusion + PHP Session Poisoning um Commands </a:t>
            </a:r>
            <a:r>
              <a:rPr lang="en-US" dirty="0" err="1"/>
              <a:t>auszuführen</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Das hat </a:t>
            </a:r>
            <a:r>
              <a:rPr lang="en-US" dirty="0" err="1"/>
              <a:t>zu</a:t>
            </a:r>
            <a:r>
              <a:rPr lang="en-US" dirty="0"/>
              <a:t> </a:t>
            </a:r>
            <a:r>
              <a:rPr lang="en-US" dirty="0" err="1"/>
              <a:t>einer</a:t>
            </a:r>
            <a:r>
              <a:rPr lang="en-US" dirty="0"/>
              <a:t> </a:t>
            </a:r>
            <a:r>
              <a:rPr lang="en-US" dirty="0" err="1"/>
              <a:t>weiteren</a:t>
            </a:r>
            <a:r>
              <a:rPr lang="en-US" dirty="0"/>
              <a:t> reverse shell </a:t>
            </a:r>
            <a:r>
              <a:rPr lang="en-US" dirty="0" err="1"/>
              <a:t>geführt</a:t>
            </a:r>
            <a:endParaRPr lang="en-US" dirty="0"/>
          </a:p>
        </p:txBody>
      </p:sp>
    </p:spTree>
    <p:extLst>
      <p:ext uri="{BB962C8B-B14F-4D97-AF65-F5344CB8AC3E}">
        <p14:creationId xmlns:p14="http://schemas.microsoft.com/office/powerpoint/2010/main" val="351796284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1DE51F42-2522-5409-C9FB-7BE42387D3A8}"/>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C8C07D00-AA72-1E67-B8A7-198BFC85E3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B4BCCE42-E599-2470-EB0F-3E521FA5F7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503012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647D6891-9C93-05F8-6DE1-0177193E81F2}"/>
            </a:ext>
          </a:extLst>
        </p:cNvPr>
        <p:cNvGrpSpPr/>
        <p:nvPr/>
      </p:nvGrpSpPr>
      <p:grpSpPr>
        <a:xfrm>
          <a:off x="0" y="0"/>
          <a:ext cx="0" cy="0"/>
          <a:chOff x="0" y="0"/>
          <a:chExt cx="0" cy="0"/>
        </a:xfrm>
      </p:grpSpPr>
      <p:sp>
        <p:nvSpPr>
          <p:cNvPr id="95" name="Google Shape;95;gab0add0b17_0_59:notes">
            <a:extLst>
              <a:ext uri="{FF2B5EF4-FFF2-40B4-BE49-F238E27FC236}">
                <a16:creationId xmlns:a16="http://schemas.microsoft.com/office/drawing/2014/main" id="{DA98CA3B-A5EF-C549-F035-DC9DC8E00D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ab0add0b17_0_59:notes">
            <a:extLst>
              <a:ext uri="{FF2B5EF4-FFF2-40B4-BE49-F238E27FC236}">
                <a16:creationId xmlns:a16="http://schemas.microsoft.com/office/drawing/2014/main" id="{F7502966-5E67-9A8B-0EA1-4B3E55E65A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182157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F0170E99-A906-70E0-4B12-1EF0DCFF8293}"/>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B186E4BD-54C6-387A-7DFD-D72D7F87620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D04BDADC-422E-F253-477D-F8B4DB641C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Möglicher</a:t>
            </a:r>
            <a:r>
              <a:rPr lang="en-US" dirty="0"/>
              <a:t> Schaden </a:t>
            </a:r>
            <a:r>
              <a:rPr lang="en-US" dirty="0" err="1"/>
              <a:t>vorher</a:t>
            </a:r>
            <a:r>
              <a:rPr lang="en-US" dirty="0"/>
              <a:t> </a:t>
            </a:r>
            <a:r>
              <a:rPr lang="en-US" dirty="0" err="1"/>
              <a:t>angesprochen</a:t>
            </a:r>
            <a:endParaRPr lang="en-US" dirty="0"/>
          </a:p>
          <a:p>
            <a:pPr marL="0" lvl="0" indent="0" algn="l" rtl="0">
              <a:spcBef>
                <a:spcPts val="0"/>
              </a:spcBef>
              <a:spcAft>
                <a:spcPts val="0"/>
              </a:spcAft>
              <a:buNone/>
            </a:pPr>
            <a:endParaRPr lang="en-US" dirty="0"/>
          </a:p>
          <a:p>
            <a:pPr marL="171450" lvl="0" indent="-171450" algn="l" rtl="0">
              <a:spcBef>
                <a:spcPts val="0"/>
              </a:spcBef>
              <a:spcAft>
                <a:spcPts val="0"/>
              </a:spcAft>
              <a:buFont typeface="Wingdings" pitchFamily="2" charset="2"/>
              <a:buChar char="è"/>
            </a:pPr>
            <a:r>
              <a:rPr lang="en-US" dirty="0">
                <a:sym typeface="Wingdings" pitchFamily="2" charset="2"/>
              </a:rPr>
              <a:t>Man muss </a:t>
            </a:r>
            <a:r>
              <a:rPr lang="en-US" dirty="0" err="1">
                <a:sym typeface="Wingdings" pitchFamily="2" charset="2"/>
              </a:rPr>
              <a:t>vor</a:t>
            </a:r>
            <a:r>
              <a:rPr lang="en-US" dirty="0">
                <a:sym typeface="Wingdings" pitchFamily="2" charset="2"/>
              </a:rPr>
              <a:t> </a:t>
            </a:r>
            <a:r>
              <a:rPr lang="en-US" dirty="0" err="1">
                <a:sym typeface="Wingdings" pitchFamily="2" charset="2"/>
              </a:rPr>
              <a:t>Gericht</a:t>
            </a:r>
            <a:r>
              <a:rPr lang="en-US" dirty="0">
                <a:sym typeface="Wingdings" pitchFamily="2" charset="2"/>
              </a:rPr>
              <a:t> Schuld </a:t>
            </a:r>
            <a:r>
              <a:rPr lang="en-US" dirty="0" err="1">
                <a:sym typeface="Wingdings" pitchFamily="2" charset="2"/>
              </a:rPr>
              <a:t>beweisen</a:t>
            </a:r>
            <a:r>
              <a:rPr lang="en-US" dirty="0">
                <a:sym typeface="Wingdings" pitchFamily="2" charset="2"/>
              </a:rPr>
              <a:t> (</a:t>
            </a:r>
            <a:r>
              <a:rPr lang="en-US" dirty="0" err="1">
                <a:sym typeface="Wingdings" pitchFamily="2" charset="2"/>
              </a:rPr>
              <a:t>Unschuldsvermutung</a:t>
            </a:r>
            <a:r>
              <a:rPr lang="en-US" dirty="0">
                <a:sym typeface="Wingdings" pitchFamily="2" charset="2"/>
              </a:rPr>
              <a:t>)</a:t>
            </a:r>
          </a:p>
          <a:p>
            <a:pPr marL="171450" lvl="0" indent="-171450" algn="l" rtl="0">
              <a:spcBef>
                <a:spcPts val="0"/>
              </a:spcBef>
              <a:spcAft>
                <a:spcPts val="0"/>
              </a:spcAft>
              <a:buFont typeface="Wingdings" pitchFamily="2" charset="2"/>
              <a:buChar char="è"/>
            </a:pPr>
            <a:r>
              <a:rPr lang="en-US" dirty="0" err="1">
                <a:sym typeface="Wingdings" pitchFamily="2" charset="2"/>
              </a:rPr>
              <a:t>Genau</a:t>
            </a:r>
            <a:r>
              <a:rPr lang="en-US" dirty="0">
                <a:sym typeface="Wingdings" pitchFamily="2" charset="2"/>
              </a:rPr>
              <a:t> </a:t>
            </a:r>
            <a:r>
              <a:rPr lang="en-US" dirty="0" err="1">
                <a:sym typeface="Wingdings" pitchFamily="2" charset="2"/>
              </a:rPr>
              <a:t>dafür</a:t>
            </a:r>
            <a:r>
              <a:rPr lang="en-US" dirty="0">
                <a:sym typeface="Wingdings" pitchFamily="2" charset="2"/>
              </a:rPr>
              <a:t> </a:t>
            </a:r>
            <a:r>
              <a:rPr lang="en-US" dirty="0" err="1">
                <a:sym typeface="Wingdings" pitchFamily="2" charset="2"/>
              </a:rPr>
              <a:t>braucht</a:t>
            </a:r>
            <a:r>
              <a:rPr lang="en-US" dirty="0">
                <a:sym typeface="Wingdings" pitchFamily="2" charset="2"/>
              </a:rPr>
              <a:t> man </a:t>
            </a:r>
            <a:r>
              <a:rPr lang="en-US" dirty="0" err="1">
                <a:sym typeface="Wingdings" pitchFamily="2" charset="2"/>
              </a:rPr>
              <a:t>digitale</a:t>
            </a:r>
            <a:r>
              <a:rPr lang="en-US" dirty="0">
                <a:sym typeface="Wingdings" pitchFamily="2" charset="2"/>
              </a:rPr>
              <a:t> </a:t>
            </a:r>
            <a:r>
              <a:rPr lang="en-US" dirty="0" err="1">
                <a:sym typeface="Wingdings" pitchFamily="2" charset="2"/>
              </a:rPr>
              <a:t>Forensik</a:t>
            </a:r>
            <a:r>
              <a:rPr lang="en-US" dirty="0">
                <a:sym typeface="Wingdings" pitchFamily="2" charset="2"/>
              </a:rPr>
              <a:t>, da </a:t>
            </a:r>
            <a:r>
              <a:rPr lang="en-US" dirty="0" err="1">
                <a:sym typeface="Wingdings" pitchFamily="2" charset="2"/>
              </a:rPr>
              <a:t>sie</a:t>
            </a:r>
            <a:r>
              <a:rPr lang="en-US" dirty="0">
                <a:sym typeface="Wingdings" pitchFamily="2" charset="2"/>
              </a:rPr>
              <a:t> </a:t>
            </a:r>
            <a:r>
              <a:rPr lang="en-US" dirty="0" err="1">
                <a:sym typeface="Wingdings" pitchFamily="2" charset="2"/>
              </a:rPr>
              <a:t>digitale</a:t>
            </a:r>
            <a:r>
              <a:rPr lang="en-US" dirty="0">
                <a:sym typeface="Wingdings" pitchFamily="2" charset="2"/>
              </a:rPr>
              <a:t> </a:t>
            </a:r>
            <a:r>
              <a:rPr lang="en-US" dirty="0" err="1">
                <a:sym typeface="Wingdings" pitchFamily="2" charset="2"/>
              </a:rPr>
              <a:t>Beweissicherung</a:t>
            </a:r>
            <a:r>
              <a:rPr lang="en-US" dirty="0">
                <a:sym typeface="Wingdings" pitchFamily="2" charset="2"/>
              </a:rPr>
              <a:t> </a:t>
            </a:r>
            <a:r>
              <a:rPr lang="en-US" dirty="0" err="1">
                <a:sym typeface="Wingdings" pitchFamily="2" charset="2"/>
              </a:rPr>
              <a:t>ermöglicht</a:t>
            </a:r>
            <a:r>
              <a:rPr lang="en-US" dirty="0">
                <a:sym typeface="Wingdings" pitchFamily="2" charset="2"/>
              </a:rPr>
              <a:t> (see Quote)</a:t>
            </a:r>
            <a:endParaRPr dirty="0"/>
          </a:p>
        </p:txBody>
      </p:sp>
    </p:spTree>
    <p:extLst>
      <p:ext uri="{BB962C8B-B14F-4D97-AF65-F5344CB8AC3E}">
        <p14:creationId xmlns:p14="http://schemas.microsoft.com/office/powerpoint/2010/main" val="202494317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BE61C61-0613-5DE1-D793-5AF6178CDE60}"/>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FF88E044-3822-BC6C-2799-A1C469DC47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41D09F5D-DD0C-0DA6-E0D9-717B6E6F26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Wir haben ein System untersucht, das Opfer eines klassischen </a:t>
            </a:r>
            <a:r>
              <a:rPr lang="de-DE" dirty="0" err="1"/>
              <a:t>Ransomeware</a:t>
            </a:r>
            <a:r>
              <a:rPr lang="de-DE" dirty="0"/>
              <a:t>-Angriffes war (</a:t>
            </a:r>
            <a:r>
              <a:rPr lang="de-DE" dirty="0" err="1"/>
              <a:t>see</a:t>
            </a:r>
            <a:r>
              <a:rPr lang="de-DE" dirty="0"/>
              <a:t> Pic)</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Dateien verschlüsselt -&gt; Geldforderung (</a:t>
            </a:r>
            <a:r>
              <a:rPr lang="de-DE" dirty="0" err="1"/>
              <a:t>see</a:t>
            </a:r>
            <a:r>
              <a:rPr lang="de-DE" dirty="0"/>
              <a:t> Note)</a:t>
            </a:r>
            <a:endParaRPr dirty="0"/>
          </a:p>
        </p:txBody>
      </p:sp>
    </p:spTree>
    <p:extLst>
      <p:ext uri="{BB962C8B-B14F-4D97-AF65-F5344CB8AC3E}">
        <p14:creationId xmlns:p14="http://schemas.microsoft.com/office/powerpoint/2010/main" val="224425003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CFA28E05-6B49-3EB3-2D7A-48EF391DD6C5}"/>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B5D045F4-C886-0DA4-1EA2-C6FF7A96CF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DCE722F4-C08C-74F1-C36D-7A1C071A6D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Die </a:t>
            </a:r>
            <a:r>
              <a:rPr lang="en-US" dirty="0" err="1"/>
              <a:t>Dateien</a:t>
            </a:r>
            <a:r>
              <a:rPr lang="en-US" dirty="0"/>
              <a:t> </a:t>
            </a:r>
            <a:r>
              <a:rPr lang="en-US" dirty="0" err="1"/>
              <a:t>wurden</a:t>
            </a:r>
            <a:r>
              <a:rPr lang="en-US" dirty="0"/>
              <a:t> </a:t>
            </a:r>
            <a:r>
              <a:rPr lang="en-US" dirty="0" err="1"/>
              <a:t>mit</a:t>
            </a:r>
            <a:r>
              <a:rPr lang="en-US" dirty="0"/>
              <a:t> </a:t>
            </a:r>
            <a:r>
              <a:rPr lang="en-US" dirty="0" err="1"/>
              <a:t>einem</a:t>
            </a:r>
            <a:r>
              <a:rPr lang="en-US" dirty="0"/>
              <a:t> </a:t>
            </a:r>
            <a:r>
              <a:rPr lang="en-US" dirty="0" err="1"/>
              <a:t>symmetrischen</a:t>
            </a:r>
            <a:r>
              <a:rPr lang="en-US" dirty="0"/>
              <a:t> </a:t>
            </a:r>
            <a:r>
              <a:rPr lang="en-US" dirty="0" err="1"/>
              <a:t>Verfahren</a:t>
            </a:r>
            <a:r>
              <a:rPr lang="en-US" dirty="0"/>
              <a:t> </a:t>
            </a:r>
            <a:r>
              <a:rPr lang="en-US" dirty="0" err="1"/>
              <a:t>verschlüsselt</a:t>
            </a:r>
            <a:endParaRPr dirty="0"/>
          </a:p>
        </p:txBody>
      </p:sp>
    </p:spTree>
    <p:extLst>
      <p:ext uri="{BB962C8B-B14F-4D97-AF65-F5344CB8AC3E}">
        <p14:creationId xmlns:p14="http://schemas.microsoft.com/office/powerpoint/2010/main" val="425704478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5E559055-5CFB-9BB8-CE91-EA01422C619B}"/>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7D68D66F-5011-C87E-CA51-D3EAD9041E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71C55BC6-E340-7A1F-0639-A48CDA1C8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Untersuchung zeigte, dies ist durch eine </a:t>
            </a:r>
            <a:r>
              <a:rPr lang="de-DE" dirty="0" err="1"/>
              <a:t>Spearfishing</a:t>
            </a:r>
            <a:r>
              <a:rPr lang="de-DE" dirty="0"/>
              <a:t>-Email geschehen, die einen Link zum Angreifer Server enthielt</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Der </a:t>
            </a:r>
            <a:r>
              <a:rPr lang="de-DE" dirty="0" err="1"/>
              <a:t>Anreifer</a:t>
            </a:r>
            <a:r>
              <a:rPr lang="de-DE" dirty="0"/>
              <a:t> hat sich als Microsoft support ausgegeben, einem vertrauenswürdigen Absender</a:t>
            </a:r>
          </a:p>
        </p:txBody>
      </p:sp>
    </p:spTree>
    <p:extLst>
      <p:ext uri="{BB962C8B-B14F-4D97-AF65-F5344CB8AC3E}">
        <p14:creationId xmlns:p14="http://schemas.microsoft.com/office/powerpoint/2010/main" val="282989501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08C86067-9304-210F-CFA9-5C238E4F27FB}"/>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F8EDDFE7-7CDC-087A-1654-80975753F2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210B14FE-5CA9-EDC1-FF05-17B8A7DDDF4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Die Webseite hatte ein simuliertes "Captcha" </a:t>
            </a:r>
            <a:r>
              <a:rPr lang="de-DE" dirty="0" err="1"/>
              <a:t>feld</a:t>
            </a:r>
            <a:endParaRPr dirty="0"/>
          </a:p>
        </p:txBody>
      </p:sp>
    </p:spTree>
    <p:extLst>
      <p:ext uri="{BB962C8B-B14F-4D97-AF65-F5344CB8AC3E}">
        <p14:creationId xmlns:p14="http://schemas.microsoft.com/office/powerpoint/2010/main" val="140506887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02EFC090-8A87-B9FF-3FFC-D139234E0818}"/>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561D31CB-4BE5-247D-0089-37F01BE08A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BA2220E7-5C1D-A47F-817F-ABC1A7AA14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welches bei einem Click Schadcode in die Zwischenablage legt und den User dazu auffordert, diesen über den Windows Ausführen Dialog auszuführen</a:t>
            </a:r>
            <a:endParaRPr dirty="0"/>
          </a:p>
        </p:txBody>
      </p:sp>
    </p:spTree>
    <p:extLst>
      <p:ext uri="{BB962C8B-B14F-4D97-AF65-F5344CB8AC3E}">
        <p14:creationId xmlns:p14="http://schemas.microsoft.com/office/powerpoint/2010/main" val="240725243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B721764-C418-1085-3CE1-7B3FC7378BA8}"/>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F95719A4-71D9-42B7-29E7-0A24F0ABC6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8CB6685C-E7C9-A199-FE22-793D32C087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de-DE" dirty="0"/>
              <a:t>Dies lies sich im SIEM verfolgen, und funktioniert wie folgt</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50900988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53F9E28A-A016-D659-1425-C74703D2039B}"/>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4A427154-BDBC-DE63-5330-383E519201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577FA0DF-2BCF-5085-5FB5-66B56A5A04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Der </a:t>
            </a:r>
            <a:r>
              <a:rPr lang="de-DE" dirty="0" err="1"/>
              <a:t>Powershell</a:t>
            </a:r>
            <a:r>
              <a:rPr lang="de-DE" dirty="0"/>
              <a:t> Prozess wird erstellt</a:t>
            </a:r>
            <a:endParaRPr dirty="0"/>
          </a:p>
        </p:txBody>
      </p:sp>
    </p:spTree>
    <p:extLst>
      <p:ext uri="{BB962C8B-B14F-4D97-AF65-F5344CB8AC3E}">
        <p14:creationId xmlns:p14="http://schemas.microsoft.com/office/powerpoint/2010/main" val="43807571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D78D7AB-B09C-9CD5-3E05-B49ABFCE21CD}"/>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81976898-B88C-9D89-E5B9-B84300AE7B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64359698-C409-E522-C14F-0E5B0E450A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Der eigentliche Schadcode wird heruntergeladen</a:t>
            </a:r>
            <a:endParaRPr dirty="0"/>
          </a:p>
        </p:txBody>
      </p:sp>
    </p:spTree>
    <p:extLst>
      <p:ext uri="{BB962C8B-B14F-4D97-AF65-F5344CB8AC3E}">
        <p14:creationId xmlns:p14="http://schemas.microsoft.com/office/powerpoint/2010/main" val="95656206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519FC66E-3DDB-5A5F-5B93-DD166FF040EA}"/>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CD319207-ED35-EF49-D9D6-98058B8F2D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0A572215-A377-3BB0-7150-16AC4E30F3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err="1"/>
              <a:t>Invoke</a:t>
            </a:r>
            <a:r>
              <a:rPr lang="de-DE" dirty="0"/>
              <a:t> Expression führt den Schadcode aus, der die Dateien verschlüsselt und den Hintergrund ändert, sowie die Nachricht auf dem Desktop anlegt</a:t>
            </a:r>
            <a:endParaRPr dirty="0"/>
          </a:p>
        </p:txBody>
      </p:sp>
    </p:spTree>
    <p:extLst>
      <p:ext uri="{BB962C8B-B14F-4D97-AF65-F5344CB8AC3E}">
        <p14:creationId xmlns:p14="http://schemas.microsoft.com/office/powerpoint/2010/main" val="426497442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F8BE2A9-871F-ACAD-5F1E-242CCCC90772}"/>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4C58D79D-6570-58B6-F20C-3AB57030F8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61F40BEC-119B-CA0A-1C95-A083F5F66F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Der Schadcode </a:t>
            </a:r>
            <a:r>
              <a:rPr lang="de-DE" dirty="0" err="1"/>
              <a:t>liesß</a:t>
            </a:r>
            <a:r>
              <a:rPr lang="de-DE" dirty="0"/>
              <a:t> sich aus einem Wireshark trace entnehmen, mit dem auch der gesamte Phishing angriff verfolgt werden konnte</a:t>
            </a:r>
            <a:endParaRPr dirty="0"/>
          </a:p>
        </p:txBody>
      </p:sp>
    </p:spTree>
    <p:extLst>
      <p:ext uri="{BB962C8B-B14F-4D97-AF65-F5344CB8AC3E}">
        <p14:creationId xmlns:p14="http://schemas.microsoft.com/office/powerpoint/2010/main" val="412695290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60BDB1ED-79EB-7E7D-E032-8946E5B3DE6D}"/>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401EB853-FC9B-CD44-2750-301EFCDD69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D744CC9B-4111-D963-811A-A32BA264D7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Das Skript lies sich umkehren, wodurch der </a:t>
            </a:r>
            <a:r>
              <a:rPr lang="de-DE" dirty="0" err="1"/>
              <a:t>urpsrpüngliche</a:t>
            </a:r>
            <a:r>
              <a:rPr lang="de-DE" dirty="0"/>
              <a:t> Zustand wieder hergestellt werden konnte</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Dies ging, da der Schlüssel noch vorhanden war, und das Verfahren symmetrisch ist</a:t>
            </a:r>
            <a:endParaRPr dirty="0"/>
          </a:p>
        </p:txBody>
      </p:sp>
    </p:spTree>
    <p:extLst>
      <p:ext uri="{BB962C8B-B14F-4D97-AF65-F5344CB8AC3E}">
        <p14:creationId xmlns:p14="http://schemas.microsoft.com/office/powerpoint/2010/main" val="409576836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72D0E8DA-D76C-0DC4-1B85-990EBB146787}"/>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D3A7E44C-672A-BA52-7B83-C3A2FA3676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9F48BD67-114B-5F75-E04E-A3F7A7C3CA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Der letzte Teil der Forensik Aufgabe war die Verfolgung einer Reverse Shell über Command </a:t>
            </a:r>
            <a:r>
              <a:rPr lang="de-DE" dirty="0" err="1"/>
              <a:t>Injection</a:t>
            </a:r>
            <a:endParaRPr dirty="0"/>
          </a:p>
        </p:txBody>
      </p:sp>
    </p:spTree>
    <p:extLst>
      <p:ext uri="{BB962C8B-B14F-4D97-AF65-F5344CB8AC3E}">
        <p14:creationId xmlns:p14="http://schemas.microsoft.com/office/powerpoint/2010/main" val="264883960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C12A00F5-58CC-83F3-38F7-2E822C971567}"/>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372C2656-AB77-4D11-C2F9-8E187FA775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BD1667B5-8BCA-B01F-B3C6-153F304F4E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Diese lies sich im SIEM </a:t>
            </a:r>
            <a:r>
              <a:rPr lang="de-DE" dirty="0" err="1"/>
              <a:t>system</a:t>
            </a:r>
            <a:r>
              <a:rPr lang="de-DE" dirty="0"/>
              <a:t> verfolgen, da eine </a:t>
            </a:r>
            <a:r>
              <a:rPr lang="de-DE" dirty="0" err="1"/>
              <a:t>regel</a:t>
            </a:r>
            <a:r>
              <a:rPr lang="de-DE" dirty="0"/>
              <a:t> dafür eingerichtet war, die Alarm schlug</a:t>
            </a:r>
            <a:endParaRPr dirty="0"/>
          </a:p>
        </p:txBody>
      </p:sp>
    </p:spTree>
    <p:extLst>
      <p:ext uri="{BB962C8B-B14F-4D97-AF65-F5344CB8AC3E}">
        <p14:creationId xmlns:p14="http://schemas.microsoft.com/office/powerpoint/2010/main" val="10158977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F7FAC48-8FEB-68E2-ADB5-FB332485DD6C}"/>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AFD84CBB-4272-25E1-9E48-79FF849903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D5CD501B-7A6C-90E9-0152-96342996F0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Verdächtig war dass ein Webserver eine Bash </a:t>
            </a:r>
            <a:r>
              <a:rPr lang="de-DE" dirty="0" err="1"/>
              <a:t>spawned</a:t>
            </a:r>
            <a:r>
              <a:rPr lang="de-DE" dirty="0"/>
              <a:t>.</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Das könnte passieren, jedoch sollte ein Server keine verdächtigen Befehle wie </a:t>
            </a:r>
            <a:r>
              <a:rPr lang="de-DE" dirty="0" err="1"/>
              <a:t>whoami</a:t>
            </a:r>
            <a:r>
              <a:rPr lang="de-DE" dirty="0"/>
              <a:t> verwenden</a:t>
            </a:r>
            <a:endParaRPr dirty="0"/>
          </a:p>
        </p:txBody>
      </p:sp>
    </p:spTree>
    <p:extLst>
      <p:ext uri="{BB962C8B-B14F-4D97-AF65-F5344CB8AC3E}">
        <p14:creationId xmlns:p14="http://schemas.microsoft.com/office/powerpoint/2010/main" val="196627601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F4740F23-C567-2E16-278F-9E9EB7124458}"/>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30561510-EEC4-5DBD-CFA9-9855EE156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51D1D505-24E3-E13D-B058-BB4F0ACC66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Außerdem wurde der Befehl </a:t>
            </a:r>
            <a:r>
              <a:rPr lang="de-DE" dirty="0" err="1"/>
              <a:t>gelogged</a:t>
            </a:r>
            <a:r>
              <a:rPr lang="de-DE" dirty="0"/>
              <a:t>, der die Reverse </a:t>
            </a:r>
            <a:r>
              <a:rPr lang="de-DE" dirty="0" err="1"/>
              <a:t>shell</a:t>
            </a:r>
            <a:r>
              <a:rPr lang="de-DE" dirty="0"/>
              <a:t> erstellt hat</a:t>
            </a:r>
          </a:p>
          <a:p>
            <a:pPr marL="0" lvl="0" indent="0" algn="l" rtl="0">
              <a:spcBef>
                <a:spcPts val="0"/>
              </a:spcBef>
              <a:spcAft>
                <a:spcPts val="0"/>
              </a:spcAft>
              <a:buNone/>
            </a:pPr>
            <a:r>
              <a:rPr lang="de-DE" dirty="0"/>
              <a:t>Dieser sollte nie von einem Webserver genutzt werden</a:t>
            </a:r>
          </a:p>
        </p:txBody>
      </p:sp>
    </p:spTree>
    <p:extLst>
      <p:ext uri="{BB962C8B-B14F-4D97-AF65-F5344CB8AC3E}">
        <p14:creationId xmlns:p14="http://schemas.microsoft.com/office/powerpoint/2010/main" val="100351289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7EDE3FD1-5E9E-A86D-0F91-AF975798FF5C}"/>
            </a:ext>
          </a:extLst>
        </p:cNvPr>
        <p:cNvGrpSpPr/>
        <p:nvPr/>
      </p:nvGrpSpPr>
      <p:grpSpPr>
        <a:xfrm>
          <a:off x="0" y="0"/>
          <a:ext cx="0" cy="0"/>
          <a:chOff x="0" y="0"/>
          <a:chExt cx="0" cy="0"/>
        </a:xfrm>
      </p:grpSpPr>
      <p:sp>
        <p:nvSpPr>
          <p:cNvPr id="101" name="Google Shape;101;gab0add0b17_0_80:notes">
            <a:extLst>
              <a:ext uri="{FF2B5EF4-FFF2-40B4-BE49-F238E27FC236}">
                <a16:creationId xmlns:a16="http://schemas.microsoft.com/office/drawing/2014/main" id="{2E295830-9FC1-AB89-D06D-1F25E9D44C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ab0add0b17_0_80:notes">
            <a:extLst>
              <a:ext uri="{FF2B5EF4-FFF2-40B4-BE49-F238E27FC236}">
                <a16:creationId xmlns:a16="http://schemas.microsoft.com/office/drawing/2014/main" id="{CCD2B740-3177-3A1A-3342-6301EE36F1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3986611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ab0add0b17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ab0add0b17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de" smtClean="0"/>
              <a:pPr/>
              <a:t>‹#›</a:t>
            </a:fld>
            <a:endParaRPr lang="d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de" smtClean="0"/>
              <a:pPr/>
              <a:t>‹#›</a:t>
            </a:fld>
            <a:endParaRPr lang="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de" smtClean="0"/>
              <a:pPr/>
              <a:t>‹#›</a:t>
            </a:fld>
            <a:endParaRPr lang="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de" smtClean="0"/>
              <a:pPr/>
              <a:t>‹#›</a:t>
            </a:fld>
            <a:endParaRPr lang="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de" smtClean="0"/>
              <a:pPr/>
              <a:t>‹#›</a:t>
            </a:fld>
            <a:endParaRPr lang="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de" smtClean="0"/>
              <a:pPr/>
              <a:t>‹#›</a:t>
            </a:fld>
            <a:endParaRPr lang="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643"/>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de" smtClean="0"/>
              <a:pPr/>
              <a:t>‹#›</a:t>
            </a:fld>
            <a:endParaRPr lang="d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de" smtClean="0"/>
              <a:pPr/>
              <a:t>‹#›</a:t>
            </a:fld>
            <a:endParaRPr lang="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de" smtClean="0"/>
              <a:pPr/>
              <a:t>‹#›</a:t>
            </a:fld>
            <a:endParaRPr lang="d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de" smtClean="0"/>
              <a:pPr/>
              <a:t>‹#›</a:t>
            </a:fld>
            <a:endParaRPr lang="d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fld id="{00000000-1234-1234-1234-123412341234}" type="slidenum">
              <a:rPr lang="de" smtClean="0"/>
              <a:pPr/>
              <a:t>‹#›</a:t>
            </a:fld>
            <a:endParaRPr lang="d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link.springer.com/article/10.1007/s40812-025-00370-3#ref-CR113"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jpg"/><Relationship Id="rId5" Type="http://schemas.openxmlformats.org/officeDocument/2006/relationships/hyperlink" Target="https://link.springer.com/article/10.1007/s40812-025-00370-3#ref-CR162" TargetMode="External"/><Relationship Id="rId4" Type="http://schemas.openxmlformats.org/officeDocument/2006/relationships/hyperlink" Target="https://link.springer.com/article/10.1007/s40812-025-00370-3#ref-CR74"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3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9.png"/><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4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4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4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5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5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5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5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5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7.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5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6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6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6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6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6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6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6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6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6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6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7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7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7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7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4"/>
        <p:cNvGrpSpPr/>
        <p:nvPr/>
      </p:nvGrpSpPr>
      <p:grpSpPr>
        <a:xfrm>
          <a:off x="0" y="0"/>
          <a:ext cx="0" cy="0"/>
          <a:chOff x="0" y="0"/>
          <a:chExt cx="0" cy="0"/>
        </a:xfrm>
      </p:grpSpPr>
      <p:sp>
        <p:nvSpPr>
          <p:cNvPr id="85" name="Google Shape;85;p18"/>
          <p:cNvSpPr txBox="1"/>
          <p:nvPr/>
        </p:nvSpPr>
        <p:spPr>
          <a:xfrm>
            <a:off x="3369325" y="3297300"/>
            <a:ext cx="4682854" cy="583200"/>
          </a:xfrm>
          <a:prstGeom prst="rect">
            <a:avLst/>
          </a:prstGeom>
          <a:noFill/>
          <a:ln>
            <a:noFill/>
          </a:ln>
        </p:spPr>
        <p:txBody>
          <a:bodyPr spcFirstLastPara="1" wrap="square" lIns="91425" tIns="91425" rIns="91425" bIns="91425" anchor="t" anchorCtr="0">
            <a:noAutofit/>
          </a:bodyPr>
          <a:lstStyle/>
          <a:p>
            <a:r>
              <a:rPr lang="de" sz="3200" b="1" dirty="0">
                <a:solidFill>
                  <a:srgbClr val="292E60"/>
                </a:solidFill>
              </a:rPr>
              <a:t>Final </a:t>
            </a:r>
            <a:r>
              <a:rPr lang="de" sz="3200" b="1" dirty="0" err="1">
                <a:solidFill>
                  <a:srgbClr val="292E60"/>
                </a:solidFill>
              </a:rPr>
              <a:t>Presentation</a:t>
            </a:r>
            <a:endParaRPr sz="3200" b="1" dirty="0">
              <a:solidFill>
                <a:srgbClr val="292E60"/>
              </a:solidFill>
            </a:endParaRPr>
          </a:p>
        </p:txBody>
      </p:sp>
      <p:sp>
        <p:nvSpPr>
          <p:cNvPr id="2" name="Google Shape;85;p18">
            <a:extLst>
              <a:ext uri="{FF2B5EF4-FFF2-40B4-BE49-F238E27FC236}">
                <a16:creationId xmlns:a16="http://schemas.microsoft.com/office/drawing/2014/main" id="{4F945E9B-2BB6-3194-45DE-7322A48154BF}"/>
              </a:ext>
            </a:extLst>
          </p:cNvPr>
          <p:cNvSpPr txBox="1"/>
          <p:nvPr/>
        </p:nvSpPr>
        <p:spPr>
          <a:xfrm>
            <a:off x="3369325" y="3914213"/>
            <a:ext cx="4682854" cy="583200"/>
          </a:xfrm>
          <a:prstGeom prst="rect">
            <a:avLst/>
          </a:prstGeom>
          <a:noFill/>
          <a:ln>
            <a:noFill/>
          </a:ln>
        </p:spPr>
        <p:txBody>
          <a:bodyPr spcFirstLastPara="1" wrap="square" lIns="91425" tIns="91425" rIns="91425" bIns="91425" anchor="t" anchorCtr="0">
            <a:noAutofit/>
          </a:bodyPr>
          <a:lstStyle/>
          <a:p>
            <a:r>
              <a:rPr lang="de" sz="2800" dirty="0">
                <a:solidFill>
                  <a:srgbClr val="292E60"/>
                </a:solidFill>
              </a:rPr>
              <a:t>Neubert, Simon</a:t>
            </a:r>
            <a:endParaRPr sz="2800" dirty="0">
              <a:solidFill>
                <a:srgbClr val="292E6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a:solidFill>
                  <a:srgbClr val="292E60"/>
                </a:solidFill>
              </a:rPr>
              <a:t>Table </a:t>
            </a:r>
            <a:r>
              <a:rPr lang="de" b="1" dirty="0" err="1">
                <a:solidFill>
                  <a:srgbClr val="292E60"/>
                </a:solidFill>
              </a:rPr>
              <a:t>of</a:t>
            </a:r>
            <a:r>
              <a:rPr lang="de" b="1" dirty="0">
                <a:solidFill>
                  <a:srgbClr val="292E60"/>
                </a:solidFill>
              </a:rPr>
              <a:t> Contents</a:t>
            </a:r>
            <a:endParaRPr b="1" dirty="0">
              <a:solidFill>
                <a:srgbClr val="292E60"/>
              </a:solidFill>
            </a:endParaRPr>
          </a:p>
        </p:txBody>
      </p:sp>
      <p:sp>
        <p:nvSpPr>
          <p:cNvPr id="91" name="Google Shape;91;p19"/>
          <p:cNvSpPr txBox="1">
            <a:spLocks noGrp="1"/>
          </p:cNvSpPr>
          <p:nvPr>
            <p:ph type="body" idx="1"/>
          </p:nvPr>
        </p:nvSpPr>
        <p:spPr>
          <a:xfrm>
            <a:off x="311700" y="1152475"/>
            <a:ext cx="4260300" cy="3416400"/>
          </a:xfrm>
          <a:prstGeom prst="rect">
            <a:avLst/>
          </a:prstGeom>
        </p:spPr>
        <p:txBody>
          <a:bodyPr spcFirstLastPara="1" wrap="square" lIns="91425" tIns="91425" rIns="91425" bIns="91425" anchor="t" anchorCtr="0">
            <a:noAutofit/>
          </a:bodyPr>
          <a:lstStyle/>
          <a:p>
            <a:pPr marL="0" indent="0">
              <a:buNone/>
            </a:pPr>
            <a:r>
              <a:rPr lang="de" b="1" dirty="0">
                <a:solidFill>
                  <a:srgbClr val="DCE1F3"/>
                </a:solidFill>
              </a:rPr>
              <a:t>01 </a:t>
            </a:r>
            <a:r>
              <a:rPr lang="de" dirty="0"/>
              <a:t>	</a:t>
            </a:r>
            <a:r>
              <a:rPr lang="de" b="1" dirty="0">
                <a:solidFill>
                  <a:srgbClr val="1D1D1B"/>
                </a:solidFill>
              </a:rPr>
              <a:t>Buffer Overflow </a:t>
            </a:r>
            <a:endParaRPr b="1" dirty="0">
              <a:solidFill>
                <a:srgbClr val="1D1D1B"/>
              </a:solidFill>
            </a:endParaRPr>
          </a:p>
          <a:p>
            <a:pPr marL="0" indent="0">
              <a:spcBef>
                <a:spcPts val="1600"/>
              </a:spcBef>
              <a:buNone/>
            </a:pPr>
            <a:r>
              <a:rPr lang="de" dirty="0">
                <a:solidFill>
                  <a:srgbClr val="1D1D1B"/>
                </a:solidFill>
              </a:rPr>
              <a:t>	</a:t>
            </a:r>
            <a:r>
              <a:rPr lang="de" dirty="0">
                <a:solidFill>
                  <a:srgbClr val="1D1D1A"/>
                </a:solidFill>
              </a:rPr>
              <a:t>- </a:t>
            </a:r>
            <a:r>
              <a:rPr lang="de" dirty="0" err="1">
                <a:solidFill>
                  <a:srgbClr val="1D1D1A"/>
                </a:solidFill>
              </a:rPr>
              <a:t>Relevancy</a:t>
            </a:r>
            <a:br>
              <a:rPr lang="de" dirty="0">
                <a:solidFill>
                  <a:srgbClr val="1D1D1A"/>
                </a:solidFill>
              </a:rPr>
            </a:br>
            <a:r>
              <a:rPr lang="de" dirty="0">
                <a:solidFill>
                  <a:srgbClr val="1D1D1A"/>
                </a:solidFill>
              </a:rPr>
              <a:t>	- </a:t>
            </a:r>
            <a:r>
              <a:rPr lang="en-US" dirty="0">
                <a:solidFill>
                  <a:srgbClr val="1D1D1A"/>
                </a:solidFill>
              </a:rPr>
              <a:t>Methodology</a:t>
            </a:r>
            <a:br>
              <a:rPr lang="de" dirty="0">
                <a:solidFill>
                  <a:srgbClr val="1D1D1A"/>
                </a:solidFill>
              </a:rPr>
            </a:br>
            <a:r>
              <a:rPr lang="de" dirty="0">
                <a:solidFill>
                  <a:srgbClr val="1D1D1A"/>
                </a:solidFill>
              </a:rPr>
              <a:t>	- </a:t>
            </a:r>
            <a:r>
              <a:rPr lang="en-US" dirty="0">
                <a:solidFill>
                  <a:srgbClr val="1D1D1A"/>
                </a:solidFill>
              </a:rPr>
              <a:t>Challenges</a:t>
            </a:r>
          </a:p>
          <a:p>
            <a:pPr marL="0" indent="0">
              <a:spcBef>
                <a:spcPts val="1600"/>
              </a:spcBef>
              <a:buNone/>
            </a:pPr>
            <a:r>
              <a:rPr lang="de" b="1" dirty="0">
                <a:solidFill>
                  <a:srgbClr val="DCE1F3"/>
                </a:solidFill>
              </a:rPr>
              <a:t>02 </a:t>
            </a:r>
            <a:r>
              <a:rPr lang="de" dirty="0">
                <a:solidFill>
                  <a:srgbClr val="1D1D1B"/>
                </a:solidFill>
              </a:rPr>
              <a:t>	</a:t>
            </a:r>
            <a:r>
              <a:rPr lang="de" b="1" dirty="0">
                <a:solidFill>
                  <a:srgbClr val="1D1D1B"/>
                </a:solidFill>
              </a:rPr>
              <a:t> Penetration Test</a:t>
            </a:r>
            <a:endParaRPr b="1" dirty="0">
              <a:solidFill>
                <a:srgbClr val="1D1D1B"/>
              </a:solidFill>
            </a:endParaRPr>
          </a:p>
          <a:p>
            <a:pPr marL="0" indent="0">
              <a:spcBef>
                <a:spcPts val="1600"/>
              </a:spcBef>
              <a:spcAft>
                <a:spcPts val="1600"/>
              </a:spcAft>
              <a:buNone/>
            </a:pPr>
            <a:r>
              <a:rPr lang="de" dirty="0">
                <a:solidFill>
                  <a:srgbClr val="1D1D1B"/>
                </a:solidFill>
              </a:rPr>
              <a:t>	</a:t>
            </a:r>
            <a:r>
              <a:rPr lang="de" dirty="0">
                <a:solidFill>
                  <a:srgbClr val="1D1D1A"/>
                </a:solidFill>
              </a:rPr>
              <a:t>- </a:t>
            </a:r>
            <a:r>
              <a:rPr lang="de" dirty="0" err="1">
                <a:solidFill>
                  <a:srgbClr val="1D1D1A"/>
                </a:solidFill>
              </a:rPr>
              <a:t>Relevancy</a:t>
            </a:r>
            <a:br>
              <a:rPr lang="de" dirty="0">
                <a:solidFill>
                  <a:srgbClr val="1D1D1A"/>
                </a:solidFill>
              </a:rPr>
            </a:br>
            <a:r>
              <a:rPr lang="de" dirty="0">
                <a:solidFill>
                  <a:srgbClr val="1D1D1A"/>
                </a:solidFill>
              </a:rPr>
              <a:t>	- </a:t>
            </a:r>
            <a:r>
              <a:rPr lang="en-US" dirty="0">
                <a:solidFill>
                  <a:srgbClr val="1D1D1A"/>
                </a:solidFill>
              </a:rPr>
              <a:t>Methodology</a:t>
            </a:r>
            <a:br>
              <a:rPr lang="de" dirty="0">
                <a:solidFill>
                  <a:srgbClr val="1D1D1A"/>
                </a:solidFill>
              </a:rPr>
            </a:br>
            <a:r>
              <a:rPr lang="de" dirty="0">
                <a:solidFill>
                  <a:srgbClr val="1D1D1A"/>
                </a:solidFill>
              </a:rPr>
              <a:t>	- </a:t>
            </a:r>
            <a:r>
              <a:rPr lang="en-US" dirty="0">
                <a:solidFill>
                  <a:srgbClr val="1D1D1A"/>
                </a:solidFill>
              </a:rPr>
              <a:t>Challenges</a:t>
            </a:r>
          </a:p>
          <a:p>
            <a:pPr marL="0" indent="0">
              <a:spcBef>
                <a:spcPts val="1600"/>
              </a:spcBef>
              <a:spcAft>
                <a:spcPts val="1600"/>
              </a:spcAft>
              <a:buNone/>
            </a:pPr>
            <a:endParaRPr dirty="0">
              <a:solidFill>
                <a:srgbClr val="1D1D1B"/>
              </a:solidFill>
            </a:endParaRPr>
          </a:p>
        </p:txBody>
      </p:sp>
      <p:sp>
        <p:nvSpPr>
          <p:cNvPr id="92" name="Google Shape;92;p19"/>
          <p:cNvSpPr txBox="1">
            <a:spLocks noGrp="1"/>
          </p:cNvSpPr>
          <p:nvPr>
            <p:ph type="body" idx="1"/>
          </p:nvPr>
        </p:nvSpPr>
        <p:spPr>
          <a:xfrm>
            <a:off x="4610100" y="1152475"/>
            <a:ext cx="4260300" cy="3416400"/>
          </a:xfrm>
          <a:prstGeom prst="rect">
            <a:avLst/>
          </a:prstGeom>
        </p:spPr>
        <p:txBody>
          <a:bodyPr spcFirstLastPara="1" wrap="square" lIns="91425" tIns="91425" rIns="91425" bIns="91425" anchor="t" anchorCtr="0">
            <a:noAutofit/>
          </a:bodyPr>
          <a:lstStyle/>
          <a:p>
            <a:pPr marL="0" indent="0">
              <a:buNone/>
            </a:pPr>
            <a:r>
              <a:rPr lang="de" b="1" dirty="0">
                <a:solidFill>
                  <a:srgbClr val="DCE1F3"/>
                </a:solidFill>
              </a:rPr>
              <a:t>03 </a:t>
            </a:r>
            <a:r>
              <a:rPr lang="de" dirty="0"/>
              <a:t>	</a:t>
            </a:r>
            <a:r>
              <a:rPr lang="en-US" b="1" dirty="0">
                <a:solidFill>
                  <a:srgbClr val="1D1D1B"/>
                </a:solidFill>
              </a:rPr>
              <a:t>Digital Forensics</a:t>
            </a:r>
            <a:endParaRPr b="1" dirty="0">
              <a:solidFill>
                <a:srgbClr val="1D1D1B"/>
              </a:solidFill>
            </a:endParaRPr>
          </a:p>
          <a:p>
            <a:pPr marL="0" indent="0">
              <a:spcBef>
                <a:spcPts val="1600"/>
              </a:spcBef>
              <a:spcAft>
                <a:spcPts val="1600"/>
              </a:spcAft>
              <a:buNone/>
            </a:pPr>
            <a:r>
              <a:rPr lang="de" dirty="0">
                <a:solidFill>
                  <a:srgbClr val="1D1D1B"/>
                </a:solidFill>
              </a:rPr>
              <a:t>	- </a:t>
            </a:r>
            <a:r>
              <a:rPr lang="de" dirty="0" err="1">
                <a:solidFill>
                  <a:srgbClr val="1D1D1A"/>
                </a:solidFill>
              </a:rPr>
              <a:t>Relevancy</a:t>
            </a:r>
            <a:br>
              <a:rPr lang="de" dirty="0">
                <a:solidFill>
                  <a:srgbClr val="1D1D1A"/>
                </a:solidFill>
              </a:rPr>
            </a:br>
            <a:r>
              <a:rPr lang="de" dirty="0">
                <a:solidFill>
                  <a:srgbClr val="1D1D1A"/>
                </a:solidFill>
              </a:rPr>
              <a:t>	- </a:t>
            </a:r>
            <a:r>
              <a:rPr lang="en-US" dirty="0">
                <a:solidFill>
                  <a:srgbClr val="1D1D1A"/>
                </a:solidFill>
              </a:rPr>
              <a:t>Methodology</a:t>
            </a:r>
            <a:br>
              <a:rPr lang="de" dirty="0">
                <a:solidFill>
                  <a:srgbClr val="1D1D1A"/>
                </a:solidFill>
              </a:rPr>
            </a:br>
            <a:r>
              <a:rPr lang="de" dirty="0">
                <a:solidFill>
                  <a:srgbClr val="1D1D1A"/>
                </a:solidFill>
              </a:rPr>
              <a:t>	- </a:t>
            </a:r>
            <a:r>
              <a:rPr lang="en-US" dirty="0">
                <a:solidFill>
                  <a:srgbClr val="1D1D1A"/>
                </a:solidFill>
              </a:rPr>
              <a:t>Challenges</a:t>
            </a:r>
          </a:p>
        </p:txBody>
      </p:sp>
      <p:pic>
        <p:nvPicPr>
          <p:cNvPr id="93" name="Google Shape;93;p19"/>
          <p:cNvPicPr preferRelativeResize="0"/>
          <p:nvPr/>
        </p:nvPicPr>
        <p:blipFill>
          <a:blip r:embed="rId3">
            <a:alphaModFix/>
          </a:blip>
          <a:stretch>
            <a:fillRect/>
          </a:stretch>
        </p:blipFill>
        <p:spPr>
          <a:xfrm>
            <a:off x="3441100" y="881450"/>
            <a:ext cx="155800" cy="155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7"/>
        <p:cNvGrpSpPr/>
        <p:nvPr/>
      </p:nvGrpSpPr>
      <p:grpSpPr>
        <a:xfrm>
          <a:off x="0" y="0"/>
          <a:ext cx="0" cy="0"/>
          <a:chOff x="0" y="0"/>
          <a:chExt cx="0" cy="0"/>
        </a:xfrm>
      </p:grpSpPr>
      <p:sp>
        <p:nvSpPr>
          <p:cNvPr id="98" name="Google Shape;98;p20"/>
          <p:cNvSpPr txBox="1">
            <a:spLocks noGrp="1"/>
          </p:cNvSpPr>
          <p:nvPr>
            <p:ph type="title"/>
          </p:nvPr>
        </p:nvSpPr>
        <p:spPr>
          <a:xfrm>
            <a:off x="3245475" y="2055225"/>
            <a:ext cx="1408800" cy="1189200"/>
          </a:xfrm>
          <a:prstGeom prst="rect">
            <a:avLst/>
          </a:prstGeom>
        </p:spPr>
        <p:txBody>
          <a:bodyPr spcFirstLastPara="1" wrap="square" lIns="91425" tIns="91425" rIns="91425" bIns="91425" anchor="t" anchorCtr="0">
            <a:noAutofit/>
          </a:bodyPr>
          <a:lstStyle/>
          <a:p>
            <a:r>
              <a:rPr lang="de" sz="8000" b="1">
                <a:solidFill>
                  <a:srgbClr val="1D1D1B"/>
                </a:solidFill>
              </a:rPr>
              <a:t>01</a:t>
            </a:r>
            <a:endParaRPr sz="8000" b="1">
              <a:solidFill>
                <a:srgbClr val="1D1D1B"/>
              </a:solidFill>
            </a:endParaRPr>
          </a:p>
        </p:txBody>
      </p:sp>
      <p:sp>
        <p:nvSpPr>
          <p:cNvPr id="99" name="Google Shape;99;p20"/>
          <p:cNvSpPr txBox="1"/>
          <p:nvPr/>
        </p:nvSpPr>
        <p:spPr>
          <a:xfrm>
            <a:off x="4580650" y="2670225"/>
            <a:ext cx="3515600" cy="726600"/>
          </a:xfrm>
          <a:prstGeom prst="rect">
            <a:avLst/>
          </a:prstGeom>
          <a:noFill/>
          <a:ln>
            <a:noFill/>
          </a:ln>
        </p:spPr>
        <p:txBody>
          <a:bodyPr spcFirstLastPara="1" wrap="square" lIns="91425" tIns="91425" rIns="91425" bIns="91425" anchor="t" anchorCtr="0">
            <a:noAutofit/>
          </a:bodyPr>
          <a:lstStyle/>
          <a:p>
            <a:r>
              <a:rPr lang="de" sz="3000" b="1" dirty="0">
                <a:solidFill>
                  <a:srgbClr val="1D1D1B"/>
                </a:solidFill>
              </a:rPr>
              <a:t>Buffer Overflow</a:t>
            </a:r>
            <a:endParaRPr sz="3000" b="1" dirty="0">
              <a:solidFill>
                <a:srgbClr val="1D1D1B"/>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Relevancy</a:t>
            </a:r>
            <a:r>
              <a:rPr lang="de" b="1" dirty="0">
                <a:solidFill>
                  <a:srgbClr val="292E60"/>
                </a:solidFill>
              </a:rPr>
              <a:t> </a:t>
            </a:r>
            <a:r>
              <a:rPr lang="de" b="1" dirty="0" err="1">
                <a:solidFill>
                  <a:srgbClr val="292E60"/>
                </a:solidFill>
              </a:rPr>
              <a:t>of</a:t>
            </a:r>
            <a:r>
              <a:rPr lang="de" b="1" dirty="0">
                <a:solidFill>
                  <a:srgbClr val="292E60"/>
                </a:solidFill>
              </a:rPr>
              <a:t> Buffer Overflows</a:t>
            </a:r>
            <a:endParaRPr b="1" dirty="0">
              <a:solidFill>
                <a:srgbClr val="292E60"/>
              </a:solidFill>
            </a:endParaRPr>
          </a:p>
        </p:txBody>
      </p:sp>
      <p:sp>
        <p:nvSpPr>
          <p:cNvPr id="106" name="Google Shape;106;p21"/>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4</a:t>
            </a:r>
            <a:endParaRPr sz="1000" dirty="0"/>
          </a:p>
        </p:txBody>
      </p:sp>
      <p:pic>
        <p:nvPicPr>
          <p:cNvPr id="107" name="Google Shape;107;p21"/>
          <p:cNvPicPr preferRelativeResize="0"/>
          <p:nvPr/>
        </p:nvPicPr>
        <p:blipFill>
          <a:blip r:embed="rId3">
            <a:alphaModFix/>
          </a:blip>
          <a:stretch>
            <a:fillRect/>
          </a:stretch>
        </p:blipFill>
        <p:spPr>
          <a:xfrm>
            <a:off x="5615147" y="878900"/>
            <a:ext cx="155800" cy="155800"/>
          </a:xfrm>
          <a:prstGeom prst="rect">
            <a:avLst/>
          </a:prstGeom>
          <a:noFill/>
          <a:ln>
            <a:noFill/>
          </a:ln>
        </p:spPr>
      </p:pic>
      <p:pic>
        <p:nvPicPr>
          <p:cNvPr id="3" name="Picture 2">
            <a:extLst>
              <a:ext uri="{FF2B5EF4-FFF2-40B4-BE49-F238E27FC236}">
                <a16:creationId xmlns:a16="http://schemas.microsoft.com/office/drawing/2014/main" id="{659F92CD-A9CF-7188-F6B9-CE57AC41A33E}"/>
              </a:ext>
            </a:extLst>
          </p:cNvPr>
          <p:cNvPicPr>
            <a:picLocks noChangeAspect="1"/>
          </p:cNvPicPr>
          <p:nvPr/>
        </p:nvPicPr>
        <p:blipFill>
          <a:blip r:embed="rId4"/>
          <a:srcRect l="1909"/>
          <a:stretch>
            <a:fillRect/>
          </a:stretch>
        </p:blipFill>
        <p:spPr>
          <a:xfrm>
            <a:off x="552477" y="1586276"/>
            <a:ext cx="7624057" cy="1701453"/>
          </a:xfrm>
          <a:prstGeom prst="roundRect">
            <a:avLst>
              <a:gd name="adj" fmla="val 8594"/>
            </a:avLst>
          </a:prstGeom>
          <a:solidFill>
            <a:srgbClr val="FFFFFF">
              <a:shade val="85000"/>
            </a:srgbClr>
          </a:solidFill>
          <a:ln>
            <a:noFill/>
          </a:ln>
          <a:effectLst>
            <a:reflection blurRad="12700" endPos="0" dist="5000" dir="5400000" sy="-100000" algn="bl" rotWithShape="0"/>
          </a:effectLst>
        </p:spPr>
      </p:pic>
      <p:sp>
        <p:nvSpPr>
          <p:cNvPr id="4" name="TextBox 3">
            <a:extLst>
              <a:ext uri="{FF2B5EF4-FFF2-40B4-BE49-F238E27FC236}">
                <a16:creationId xmlns:a16="http://schemas.microsoft.com/office/drawing/2014/main" id="{24CC4311-2632-9FE3-2F95-7ACD453B1DD1}"/>
              </a:ext>
            </a:extLst>
          </p:cNvPr>
          <p:cNvSpPr txBox="1"/>
          <p:nvPr/>
        </p:nvSpPr>
        <p:spPr>
          <a:xfrm>
            <a:off x="488022" y="3577691"/>
            <a:ext cx="7467600" cy="261610"/>
          </a:xfrm>
          <a:prstGeom prst="rect">
            <a:avLst/>
          </a:prstGeom>
          <a:noFill/>
        </p:spPr>
        <p:txBody>
          <a:bodyPr wrap="square" rtlCol="0">
            <a:spAutoFit/>
          </a:bodyPr>
          <a:lstStyle/>
          <a:p>
            <a:r>
              <a:rPr lang="en-US" sz="1100" dirty="0"/>
              <a:t>Source: </a:t>
            </a:r>
            <a:r>
              <a:rPr lang="en-US" sz="1100" dirty="0" err="1"/>
              <a:t>www.cve.org</a:t>
            </a:r>
            <a:r>
              <a:rPr lang="en-US" sz="1100" dirty="0"/>
              <a:t>/</a:t>
            </a:r>
            <a:r>
              <a:rPr lang="en-US" sz="1100" dirty="0" err="1"/>
              <a:t>CVERecord</a:t>
            </a:r>
            <a:r>
              <a:rPr lang="en-US" sz="1100" dirty="0"/>
              <a:t>/</a:t>
            </a:r>
            <a:r>
              <a:rPr lang="en-US" sz="1100" dirty="0" err="1"/>
              <a:t>SearchResults?query</a:t>
            </a:r>
            <a:r>
              <a:rPr lang="en-US" sz="1100" dirty="0"/>
              <a:t>=</a:t>
            </a:r>
            <a:r>
              <a:rPr lang="en-US" sz="1100" dirty="0" err="1"/>
              <a:t>Buffer+Overflow</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2F2D345-29DA-29F9-1355-D677CE078D55}"/>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9B6623E8-7F36-0A8E-4EE2-08C41C2D14AB}"/>
              </a:ext>
            </a:extLst>
          </p:cNvPr>
          <p:cNvPicPr>
            <a:picLocks noChangeAspect="1"/>
          </p:cNvPicPr>
          <p:nvPr/>
        </p:nvPicPr>
        <p:blipFill>
          <a:blip r:embed="rId3"/>
          <a:srcRect l="54512" t="8236" r="19129" b="84260"/>
          <a:stretch>
            <a:fillRect/>
          </a:stretch>
        </p:blipFill>
        <p:spPr>
          <a:xfrm>
            <a:off x="402381" y="1148699"/>
            <a:ext cx="7533386" cy="3595429"/>
          </a:xfrm>
          <a:prstGeom prst="rect">
            <a:avLst/>
          </a:prstGeom>
        </p:spPr>
      </p:pic>
      <p:sp>
        <p:nvSpPr>
          <p:cNvPr id="104" name="Google Shape;104;p21">
            <a:extLst>
              <a:ext uri="{FF2B5EF4-FFF2-40B4-BE49-F238E27FC236}">
                <a16:creationId xmlns:a16="http://schemas.microsoft.com/office/drawing/2014/main" id="{B265A171-97FD-35D3-3F08-2F4B610D5F23}"/>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Relevancy</a:t>
            </a:r>
            <a:r>
              <a:rPr lang="de" b="1" dirty="0">
                <a:solidFill>
                  <a:srgbClr val="292E60"/>
                </a:solidFill>
              </a:rPr>
              <a:t> </a:t>
            </a:r>
            <a:r>
              <a:rPr lang="de" b="1" dirty="0" err="1">
                <a:solidFill>
                  <a:srgbClr val="292E60"/>
                </a:solidFill>
              </a:rPr>
              <a:t>of</a:t>
            </a:r>
            <a:r>
              <a:rPr lang="de" b="1" dirty="0">
                <a:solidFill>
                  <a:srgbClr val="292E60"/>
                </a:solidFill>
              </a:rPr>
              <a:t> Buffer Overflows</a:t>
            </a:r>
            <a:endParaRPr b="1" dirty="0">
              <a:solidFill>
                <a:srgbClr val="292E60"/>
              </a:solidFill>
            </a:endParaRPr>
          </a:p>
        </p:txBody>
      </p:sp>
      <p:sp>
        <p:nvSpPr>
          <p:cNvPr id="106" name="Google Shape;106;p21">
            <a:extLst>
              <a:ext uri="{FF2B5EF4-FFF2-40B4-BE49-F238E27FC236}">
                <a16:creationId xmlns:a16="http://schemas.microsoft.com/office/drawing/2014/main" id="{5C25985A-A3B9-34DC-EC75-4A4DC7B97C4B}"/>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5</a:t>
            </a:r>
            <a:endParaRPr sz="1000" dirty="0"/>
          </a:p>
        </p:txBody>
      </p:sp>
      <p:pic>
        <p:nvPicPr>
          <p:cNvPr id="107" name="Google Shape;107;p21">
            <a:extLst>
              <a:ext uri="{FF2B5EF4-FFF2-40B4-BE49-F238E27FC236}">
                <a16:creationId xmlns:a16="http://schemas.microsoft.com/office/drawing/2014/main" id="{FB84BEF4-3967-8D95-9DFA-63E7E2DA5A13}"/>
              </a:ext>
            </a:extLst>
          </p:cNvPr>
          <p:cNvPicPr preferRelativeResize="0"/>
          <p:nvPr/>
        </p:nvPicPr>
        <p:blipFill>
          <a:blip r:embed="rId4">
            <a:alphaModFix/>
          </a:blip>
          <a:stretch>
            <a:fillRect/>
          </a:stretch>
        </p:blipFill>
        <p:spPr>
          <a:xfrm>
            <a:off x="5615147" y="878900"/>
            <a:ext cx="155800" cy="155800"/>
          </a:xfrm>
          <a:prstGeom prst="rect">
            <a:avLst/>
          </a:prstGeom>
          <a:noFill/>
          <a:ln>
            <a:noFill/>
          </a:ln>
        </p:spPr>
      </p:pic>
      <p:sp>
        <p:nvSpPr>
          <p:cNvPr id="4" name="TextBox 3">
            <a:extLst>
              <a:ext uri="{FF2B5EF4-FFF2-40B4-BE49-F238E27FC236}">
                <a16:creationId xmlns:a16="http://schemas.microsoft.com/office/drawing/2014/main" id="{917558A0-FEB9-B7DC-DB7F-B1E9C396EBAE}"/>
              </a:ext>
            </a:extLst>
          </p:cNvPr>
          <p:cNvSpPr txBox="1"/>
          <p:nvPr/>
        </p:nvSpPr>
        <p:spPr>
          <a:xfrm>
            <a:off x="311702" y="4758740"/>
            <a:ext cx="7415277" cy="261610"/>
          </a:xfrm>
          <a:prstGeom prst="rect">
            <a:avLst/>
          </a:prstGeom>
          <a:noFill/>
        </p:spPr>
        <p:txBody>
          <a:bodyPr wrap="square" rtlCol="0">
            <a:spAutoFit/>
          </a:bodyPr>
          <a:lstStyle/>
          <a:p>
            <a:r>
              <a:rPr lang="en-US" sz="1100" dirty="0"/>
              <a:t>Source: </a:t>
            </a:r>
            <a:r>
              <a:rPr lang="en-US" sz="1100" dirty="0" err="1"/>
              <a:t>cwe.mitre.org</a:t>
            </a:r>
            <a:r>
              <a:rPr lang="en-US" sz="1100" dirty="0"/>
              <a:t>/top25/archive/2025/2025_cwe_top25.html</a:t>
            </a:r>
          </a:p>
        </p:txBody>
      </p:sp>
      <p:pic>
        <p:nvPicPr>
          <p:cNvPr id="8" name="Picture 7">
            <a:extLst>
              <a:ext uri="{FF2B5EF4-FFF2-40B4-BE49-F238E27FC236}">
                <a16:creationId xmlns:a16="http://schemas.microsoft.com/office/drawing/2014/main" id="{D17C3E31-BC44-D4FD-ABBA-B431CA958836}"/>
              </a:ext>
            </a:extLst>
          </p:cNvPr>
          <p:cNvPicPr>
            <a:picLocks noChangeAspect="1"/>
          </p:cNvPicPr>
          <p:nvPr/>
        </p:nvPicPr>
        <p:blipFill>
          <a:blip r:embed="rId5"/>
          <a:stretch>
            <a:fillRect/>
          </a:stretch>
        </p:blipFill>
        <p:spPr>
          <a:xfrm>
            <a:off x="409307" y="1148700"/>
            <a:ext cx="3747914" cy="3595429"/>
          </a:xfrm>
          <a:prstGeom prst="rect">
            <a:avLst/>
          </a:prstGeom>
        </p:spPr>
      </p:pic>
      <p:pic>
        <p:nvPicPr>
          <p:cNvPr id="10" name="Picture 9">
            <a:extLst>
              <a:ext uri="{FF2B5EF4-FFF2-40B4-BE49-F238E27FC236}">
                <a16:creationId xmlns:a16="http://schemas.microsoft.com/office/drawing/2014/main" id="{F63C2D73-A3A2-F97B-D759-4B63F389A87D}"/>
              </a:ext>
            </a:extLst>
          </p:cNvPr>
          <p:cNvPicPr>
            <a:picLocks noChangeAspect="1"/>
          </p:cNvPicPr>
          <p:nvPr/>
        </p:nvPicPr>
        <p:blipFill>
          <a:blip r:embed="rId3"/>
          <a:srcRect t="53885"/>
          <a:stretch>
            <a:fillRect/>
          </a:stretch>
        </p:blipFill>
        <p:spPr>
          <a:xfrm>
            <a:off x="4324287" y="3086100"/>
            <a:ext cx="3611480" cy="1658026"/>
          </a:xfrm>
          <a:prstGeom prst="rect">
            <a:avLst/>
          </a:prstGeom>
        </p:spPr>
      </p:pic>
      <p:pic>
        <p:nvPicPr>
          <p:cNvPr id="11" name="Picture 10">
            <a:extLst>
              <a:ext uri="{FF2B5EF4-FFF2-40B4-BE49-F238E27FC236}">
                <a16:creationId xmlns:a16="http://schemas.microsoft.com/office/drawing/2014/main" id="{0045F383-523F-B82A-69E7-F5C6894ECD02}"/>
              </a:ext>
            </a:extLst>
          </p:cNvPr>
          <p:cNvPicPr>
            <a:picLocks noChangeAspect="1"/>
          </p:cNvPicPr>
          <p:nvPr/>
        </p:nvPicPr>
        <p:blipFill>
          <a:blip r:embed="rId3"/>
          <a:srcRect b="46115"/>
          <a:stretch>
            <a:fillRect/>
          </a:stretch>
        </p:blipFill>
        <p:spPr>
          <a:xfrm>
            <a:off x="4324287" y="1148699"/>
            <a:ext cx="3611480" cy="1937403"/>
          </a:xfrm>
          <a:prstGeom prst="rect">
            <a:avLst/>
          </a:prstGeom>
        </p:spPr>
      </p:pic>
    </p:spTree>
    <p:extLst>
      <p:ext uri="{BB962C8B-B14F-4D97-AF65-F5344CB8AC3E}">
        <p14:creationId xmlns:p14="http://schemas.microsoft.com/office/powerpoint/2010/main" val="1658729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30CFB23E-35BF-2D7E-2742-7F5C3FCF15A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6DFDAFF-F768-D1B5-F353-638C1A365E1E}"/>
              </a:ext>
            </a:extLst>
          </p:cNvPr>
          <p:cNvPicPr>
            <a:picLocks noChangeAspect="1"/>
          </p:cNvPicPr>
          <p:nvPr/>
        </p:nvPicPr>
        <p:blipFill>
          <a:blip r:embed="rId3"/>
          <a:srcRect l="54512" t="8236" r="19129" b="84260"/>
          <a:stretch>
            <a:fillRect/>
          </a:stretch>
        </p:blipFill>
        <p:spPr>
          <a:xfrm>
            <a:off x="402381" y="1904892"/>
            <a:ext cx="8536826" cy="2337050"/>
          </a:xfrm>
          <a:prstGeom prst="rect">
            <a:avLst/>
          </a:prstGeom>
        </p:spPr>
      </p:pic>
      <p:sp>
        <p:nvSpPr>
          <p:cNvPr id="104" name="Google Shape;104;p21">
            <a:extLst>
              <a:ext uri="{FF2B5EF4-FFF2-40B4-BE49-F238E27FC236}">
                <a16:creationId xmlns:a16="http://schemas.microsoft.com/office/drawing/2014/main" id="{9DEEB6C0-9D11-0AF3-92B0-3D50323C4413}"/>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Relevancy</a:t>
            </a:r>
            <a:r>
              <a:rPr lang="de" b="1" dirty="0">
                <a:solidFill>
                  <a:srgbClr val="292E60"/>
                </a:solidFill>
              </a:rPr>
              <a:t> </a:t>
            </a:r>
            <a:r>
              <a:rPr lang="de" b="1" dirty="0" err="1">
                <a:solidFill>
                  <a:srgbClr val="292E60"/>
                </a:solidFill>
              </a:rPr>
              <a:t>of</a:t>
            </a:r>
            <a:r>
              <a:rPr lang="de" b="1" dirty="0">
                <a:solidFill>
                  <a:srgbClr val="292E60"/>
                </a:solidFill>
              </a:rPr>
              <a:t> Buffer Overflows</a:t>
            </a:r>
            <a:endParaRPr b="1" dirty="0">
              <a:solidFill>
                <a:srgbClr val="292E60"/>
              </a:solidFill>
            </a:endParaRPr>
          </a:p>
        </p:txBody>
      </p:sp>
      <p:sp>
        <p:nvSpPr>
          <p:cNvPr id="106" name="Google Shape;106;p21">
            <a:extLst>
              <a:ext uri="{FF2B5EF4-FFF2-40B4-BE49-F238E27FC236}">
                <a16:creationId xmlns:a16="http://schemas.microsoft.com/office/drawing/2014/main" id="{52F89998-FE1A-F7CE-4CB7-23F090E345EA}"/>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6</a:t>
            </a:r>
            <a:endParaRPr sz="1000" dirty="0"/>
          </a:p>
        </p:txBody>
      </p:sp>
      <p:pic>
        <p:nvPicPr>
          <p:cNvPr id="107" name="Google Shape;107;p21">
            <a:extLst>
              <a:ext uri="{FF2B5EF4-FFF2-40B4-BE49-F238E27FC236}">
                <a16:creationId xmlns:a16="http://schemas.microsoft.com/office/drawing/2014/main" id="{AEC1F929-5966-9421-C393-A3B9E04A9FF1}"/>
              </a:ext>
            </a:extLst>
          </p:cNvPr>
          <p:cNvPicPr preferRelativeResize="0"/>
          <p:nvPr/>
        </p:nvPicPr>
        <p:blipFill>
          <a:blip r:embed="rId4">
            <a:alphaModFix/>
          </a:blip>
          <a:stretch>
            <a:fillRect/>
          </a:stretch>
        </p:blipFill>
        <p:spPr>
          <a:xfrm>
            <a:off x="5615147" y="878900"/>
            <a:ext cx="155800" cy="155800"/>
          </a:xfrm>
          <a:prstGeom prst="rect">
            <a:avLst/>
          </a:prstGeom>
          <a:noFill/>
          <a:ln>
            <a:noFill/>
          </a:ln>
        </p:spPr>
      </p:pic>
      <p:sp>
        <p:nvSpPr>
          <p:cNvPr id="4" name="TextBox 3">
            <a:extLst>
              <a:ext uri="{FF2B5EF4-FFF2-40B4-BE49-F238E27FC236}">
                <a16:creationId xmlns:a16="http://schemas.microsoft.com/office/drawing/2014/main" id="{865074B6-83D8-B899-5773-9C0FA14CC3F2}"/>
              </a:ext>
            </a:extLst>
          </p:cNvPr>
          <p:cNvSpPr txBox="1"/>
          <p:nvPr/>
        </p:nvSpPr>
        <p:spPr>
          <a:xfrm>
            <a:off x="323132" y="4244160"/>
            <a:ext cx="7415277" cy="261610"/>
          </a:xfrm>
          <a:prstGeom prst="rect">
            <a:avLst/>
          </a:prstGeom>
          <a:noFill/>
        </p:spPr>
        <p:txBody>
          <a:bodyPr wrap="square" rtlCol="0">
            <a:spAutoFit/>
          </a:bodyPr>
          <a:lstStyle/>
          <a:p>
            <a:r>
              <a:rPr lang="en-US" sz="1100" dirty="0"/>
              <a:t>Source: </a:t>
            </a:r>
            <a:r>
              <a:rPr lang="en-US" sz="1100" dirty="0" err="1"/>
              <a:t>cwe.mitre.org</a:t>
            </a:r>
            <a:r>
              <a:rPr lang="en-US" sz="1100" dirty="0"/>
              <a:t>/top25/archive/2025/2025_cwe_top25.html</a:t>
            </a:r>
          </a:p>
        </p:txBody>
      </p:sp>
      <p:pic>
        <p:nvPicPr>
          <p:cNvPr id="8" name="Picture 7">
            <a:extLst>
              <a:ext uri="{FF2B5EF4-FFF2-40B4-BE49-F238E27FC236}">
                <a16:creationId xmlns:a16="http://schemas.microsoft.com/office/drawing/2014/main" id="{3731E9BD-87F4-424F-3AAA-64FD0F092D0C}"/>
              </a:ext>
            </a:extLst>
          </p:cNvPr>
          <p:cNvPicPr>
            <a:picLocks noChangeAspect="1"/>
          </p:cNvPicPr>
          <p:nvPr/>
        </p:nvPicPr>
        <p:blipFill>
          <a:blip r:embed="rId5"/>
          <a:srcRect l="4947" t="84071" r="22951" b="6907"/>
          <a:stretch>
            <a:fillRect/>
          </a:stretch>
        </p:blipFill>
        <p:spPr>
          <a:xfrm>
            <a:off x="402385" y="1244071"/>
            <a:ext cx="8536829" cy="1024721"/>
          </a:xfrm>
          <a:prstGeom prst="rect">
            <a:avLst/>
          </a:prstGeom>
        </p:spPr>
      </p:pic>
      <p:pic>
        <p:nvPicPr>
          <p:cNvPr id="10" name="Picture 9">
            <a:extLst>
              <a:ext uri="{FF2B5EF4-FFF2-40B4-BE49-F238E27FC236}">
                <a16:creationId xmlns:a16="http://schemas.microsoft.com/office/drawing/2014/main" id="{9715E44E-888B-9D2F-4608-7FC18A2706CE}"/>
              </a:ext>
            </a:extLst>
          </p:cNvPr>
          <p:cNvPicPr>
            <a:picLocks noChangeAspect="1"/>
          </p:cNvPicPr>
          <p:nvPr/>
        </p:nvPicPr>
        <p:blipFill>
          <a:blip r:embed="rId3"/>
          <a:srcRect l="6234" t="23242" r="19351" b="69254"/>
          <a:stretch>
            <a:fillRect/>
          </a:stretch>
        </p:blipFill>
        <p:spPr>
          <a:xfrm>
            <a:off x="449276" y="3274247"/>
            <a:ext cx="8489933" cy="852317"/>
          </a:xfrm>
          <a:prstGeom prst="rect">
            <a:avLst/>
          </a:prstGeom>
        </p:spPr>
      </p:pic>
      <p:pic>
        <p:nvPicPr>
          <p:cNvPr id="11" name="Picture 10">
            <a:extLst>
              <a:ext uri="{FF2B5EF4-FFF2-40B4-BE49-F238E27FC236}">
                <a16:creationId xmlns:a16="http://schemas.microsoft.com/office/drawing/2014/main" id="{9547EF03-2EC8-C12A-88E8-866780E8A646}"/>
              </a:ext>
            </a:extLst>
          </p:cNvPr>
          <p:cNvPicPr>
            <a:picLocks noChangeAspect="1"/>
          </p:cNvPicPr>
          <p:nvPr/>
        </p:nvPicPr>
        <p:blipFill>
          <a:blip r:embed="rId3"/>
          <a:srcRect l="6045" t="8236" r="19335" b="84260"/>
          <a:stretch>
            <a:fillRect/>
          </a:stretch>
        </p:blipFill>
        <p:spPr>
          <a:xfrm>
            <a:off x="425828" y="2339536"/>
            <a:ext cx="8513381" cy="852314"/>
          </a:xfrm>
          <a:prstGeom prst="rect">
            <a:avLst/>
          </a:prstGeom>
        </p:spPr>
      </p:pic>
    </p:spTree>
    <p:extLst>
      <p:ext uri="{BB962C8B-B14F-4D97-AF65-F5344CB8AC3E}">
        <p14:creationId xmlns:p14="http://schemas.microsoft.com/office/powerpoint/2010/main" val="27647543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B899898-30B2-98F2-2387-647F302C7519}"/>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5BE946C5-E96C-681C-7889-19C036D7D1C3}"/>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Relevancy</a:t>
            </a:r>
            <a:r>
              <a:rPr lang="de" b="1" dirty="0">
                <a:solidFill>
                  <a:srgbClr val="292E60"/>
                </a:solidFill>
              </a:rPr>
              <a:t> </a:t>
            </a:r>
            <a:r>
              <a:rPr lang="de" b="1" dirty="0" err="1">
                <a:solidFill>
                  <a:srgbClr val="292E60"/>
                </a:solidFill>
              </a:rPr>
              <a:t>of</a:t>
            </a:r>
            <a:r>
              <a:rPr lang="de" b="1" dirty="0">
                <a:solidFill>
                  <a:srgbClr val="292E60"/>
                </a:solidFill>
              </a:rPr>
              <a:t> Buffer Overflows</a:t>
            </a:r>
            <a:endParaRPr b="1" dirty="0">
              <a:solidFill>
                <a:srgbClr val="292E60"/>
              </a:solidFill>
            </a:endParaRPr>
          </a:p>
        </p:txBody>
      </p:sp>
      <p:pic>
        <p:nvPicPr>
          <p:cNvPr id="107" name="Google Shape;107;p21">
            <a:extLst>
              <a:ext uri="{FF2B5EF4-FFF2-40B4-BE49-F238E27FC236}">
                <a16:creationId xmlns:a16="http://schemas.microsoft.com/office/drawing/2014/main" id="{63E1F5A9-7AAB-853F-FC28-CE506AD36419}"/>
              </a:ext>
            </a:extLst>
          </p:cNvPr>
          <p:cNvPicPr preferRelativeResize="0"/>
          <p:nvPr/>
        </p:nvPicPr>
        <p:blipFill>
          <a:blip r:embed="rId3">
            <a:alphaModFix/>
          </a:blip>
          <a:stretch>
            <a:fillRect/>
          </a:stretch>
        </p:blipFill>
        <p:spPr>
          <a:xfrm>
            <a:off x="5615147" y="878900"/>
            <a:ext cx="155800" cy="155800"/>
          </a:xfrm>
          <a:prstGeom prst="rect">
            <a:avLst/>
          </a:prstGeom>
          <a:noFill/>
          <a:ln>
            <a:noFill/>
          </a:ln>
        </p:spPr>
      </p:pic>
      <p:sp>
        <p:nvSpPr>
          <p:cNvPr id="4" name="TextBox 3">
            <a:extLst>
              <a:ext uri="{FF2B5EF4-FFF2-40B4-BE49-F238E27FC236}">
                <a16:creationId xmlns:a16="http://schemas.microsoft.com/office/drawing/2014/main" id="{67981767-08EE-021C-A742-893EA0B8CF4F}"/>
              </a:ext>
            </a:extLst>
          </p:cNvPr>
          <p:cNvSpPr txBox="1"/>
          <p:nvPr/>
        </p:nvSpPr>
        <p:spPr>
          <a:xfrm>
            <a:off x="346506" y="3223608"/>
            <a:ext cx="7415277" cy="261610"/>
          </a:xfrm>
          <a:prstGeom prst="rect">
            <a:avLst/>
          </a:prstGeom>
          <a:noFill/>
        </p:spPr>
        <p:txBody>
          <a:bodyPr wrap="square" rtlCol="0">
            <a:spAutoFit/>
          </a:bodyPr>
          <a:lstStyle/>
          <a:p>
            <a:r>
              <a:rPr lang="en-US" sz="1100" dirty="0"/>
              <a:t>Source: </a:t>
            </a:r>
            <a:r>
              <a:rPr lang="en-US" sz="1100" dirty="0" err="1"/>
              <a:t>cwe.mitre.org</a:t>
            </a:r>
            <a:r>
              <a:rPr lang="en-US" sz="1100" dirty="0"/>
              <a:t>/top25/archive/2025/2025_cwe_top25.html</a:t>
            </a:r>
          </a:p>
        </p:txBody>
      </p:sp>
      <p:pic>
        <p:nvPicPr>
          <p:cNvPr id="3" name="Picture 2">
            <a:extLst>
              <a:ext uri="{FF2B5EF4-FFF2-40B4-BE49-F238E27FC236}">
                <a16:creationId xmlns:a16="http://schemas.microsoft.com/office/drawing/2014/main" id="{D64B2380-5D98-7D31-0CC9-2DCFDADCBB42}"/>
              </a:ext>
            </a:extLst>
          </p:cNvPr>
          <p:cNvPicPr>
            <a:picLocks noChangeAspect="1"/>
          </p:cNvPicPr>
          <p:nvPr/>
        </p:nvPicPr>
        <p:blipFill>
          <a:blip r:embed="rId4"/>
          <a:srcRect l="5306" t="38925" r="42047" b="52594"/>
          <a:stretch>
            <a:fillRect/>
          </a:stretch>
        </p:blipFill>
        <p:spPr>
          <a:xfrm>
            <a:off x="416844" y="1929631"/>
            <a:ext cx="8310315" cy="1284241"/>
          </a:xfrm>
          <a:prstGeom prst="rect">
            <a:avLst/>
          </a:prstGeom>
        </p:spPr>
      </p:pic>
      <p:sp>
        <p:nvSpPr>
          <p:cNvPr id="2" name="Google Shape;106;p21">
            <a:extLst>
              <a:ext uri="{FF2B5EF4-FFF2-40B4-BE49-F238E27FC236}">
                <a16:creationId xmlns:a16="http://schemas.microsoft.com/office/drawing/2014/main" id="{D4B73838-1449-36FC-747B-9D29F3441ECE}"/>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7</a:t>
            </a:r>
            <a:endParaRPr sz="1000" dirty="0"/>
          </a:p>
        </p:txBody>
      </p:sp>
    </p:spTree>
    <p:extLst>
      <p:ext uri="{BB962C8B-B14F-4D97-AF65-F5344CB8AC3E}">
        <p14:creationId xmlns:p14="http://schemas.microsoft.com/office/powerpoint/2010/main" val="30919685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351C8AFA-14D7-BD76-836C-EBC9F3BB0B57}"/>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8AC46F8A-FF0B-B3F7-AF4C-3CDE904B2A2F}"/>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Relevancy</a:t>
            </a:r>
            <a:r>
              <a:rPr lang="de" b="1" dirty="0">
                <a:solidFill>
                  <a:srgbClr val="292E60"/>
                </a:solidFill>
              </a:rPr>
              <a:t> </a:t>
            </a:r>
            <a:r>
              <a:rPr lang="de" b="1" dirty="0" err="1">
                <a:solidFill>
                  <a:srgbClr val="292E60"/>
                </a:solidFill>
              </a:rPr>
              <a:t>of</a:t>
            </a:r>
            <a:r>
              <a:rPr lang="de" b="1" dirty="0">
                <a:solidFill>
                  <a:srgbClr val="292E60"/>
                </a:solidFill>
              </a:rPr>
              <a:t> Buffer Overflows</a:t>
            </a:r>
            <a:endParaRPr b="1" dirty="0">
              <a:solidFill>
                <a:srgbClr val="292E60"/>
              </a:solidFill>
            </a:endParaRPr>
          </a:p>
        </p:txBody>
      </p:sp>
      <p:pic>
        <p:nvPicPr>
          <p:cNvPr id="107" name="Google Shape;107;p21">
            <a:extLst>
              <a:ext uri="{FF2B5EF4-FFF2-40B4-BE49-F238E27FC236}">
                <a16:creationId xmlns:a16="http://schemas.microsoft.com/office/drawing/2014/main" id="{90DB6EBD-CEF9-FD2C-B1DE-6FF44424DD38}"/>
              </a:ext>
            </a:extLst>
          </p:cNvPr>
          <p:cNvPicPr preferRelativeResize="0"/>
          <p:nvPr/>
        </p:nvPicPr>
        <p:blipFill>
          <a:blip r:embed="rId3">
            <a:alphaModFix/>
          </a:blip>
          <a:stretch>
            <a:fillRect/>
          </a:stretch>
        </p:blipFill>
        <p:spPr>
          <a:xfrm>
            <a:off x="5615147" y="878900"/>
            <a:ext cx="155800" cy="155800"/>
          </a:xfrm>
          <a:prstGeom prst="rect">
            <a:avLst/>
          </a:prstGeom>
          <a:noFill/>
          <a:ln>
            <a:noFill/>
          </a:ln>
        </p:spPr>
      </p:pic>
      <p:pic>
        <p:nvPicPr>
          <p:cNvPr id="5" name="Picture 4">
            <a:extLst>
              <a:ext uri="{FF2B5EF4-FFF2-40B4-BE49-F238E27FC236}">
                <a16:creationId xmlns:a16="http://schemas.microsoft.com/office/drawing/2014/main" id="{F0B18E97-4F11-50DA-BA59-1FE2C015FEFC}"/>
              </a:ext>
            </a:extLst>
          </p:cNvPr>
          <p:cNvPicPr>
            <a:picLocks noChangeAspect="1"/>
          </p:cNvPicPr>
          <p:nvPr/>
        </p:nvPicPr>
        <p:blipFill>
          <a:blip r:embed="rId4"/>
          <a:stretch>
            <a:fillRect/>
          </a:stretch>
        </p:blipFill>
        <p:spPr>
          <a:xfrm>
            <a:off x="2164517" y="1153746"/>
            <a:ext cx="4814969" cy="3355888"/>
          </a:xfrm>
          <a:prstGeom prst="rect">
            <a:avLst/>
          </a:prstGeom>
        </p:spPr>
      </p:pic>
      <p:sp>
        <p:nvSpPr>
          <p:cNvPr id="6" name="Google Shape;106;p21">
            <a:extLst>
              <a:ext uri="{FF2B5EF4-FFF2-40B4-BE49-F238E27FC236}">
                <a16:creationId xmlns:a16="http://schemas.microsoft.com/office/drawing/2014/main" id="{28E42C6F-7729-6833-BA8D-B2F2BFE14B89}"/>
              </a:ext>
            </a:extLst>
          </p:cNvPr>
          <p:cNvSpPr txBox="1"/>
          <p:nvPr/>
        </p:nvSpPr>
        <p:spPr>
          <a:xfrm>
            <a:off x="9358" y="4825549"/>
            <a:ext cx="2193000" cy="398700"/>
          </a:xfrm>
          <a:prstGeom prst="rect">
            <a:avLst/>
          </a:prstGeom>
          <a:noFill/>
          <a:ln>
            <a:noFill/>
          </a:ln>
        </p:spPr>
        <p:txBody>
          <a:bodyPr spcFirstLastPara="1" wrap="square" lIns="91425" tIns="91425" rIns="91425" bIns="91425" anchor="t" anchorCtr="0">
            <a:noAutofit/>
          </a:bodyPr>
          <a:lstStyle/>
          <a:p>
            <a:r>
              <a:rPr lang="de" sz="1000" dirty="0"/>
              <a:t>8</a:t>
            </a:r>
            <a:endParaRPr sz="1000" dirty="0"/>
          </a:p>
        </p:txBody>
      </p:sp>
      <p:sp>
        <p:nvSpPr>
          <p:cNvPr id="9" name="TextBox 8">
            <a:extLst>
              <a:ext uri="{FF2B5EF4-FFF2-40B4-BE49-F238E27FC236}">
                <a16:creationId xmlns:a16="http://schemas.microsoft.com/office/drawing/2014/main" id="{BF86FEFE-1732-502E-601A-EE5827A1A445}"/>
              </a:ext>
            </a:extLst>
          </p:cNvPr>
          <p:cNvSpPr txBox="1"/>
          <p:nvPr/>
        </p:nvSpPr>
        <p:spPr>
          <a:xfrm>
            <a:off x="2164517" y="4518329"/>
            <a:ext cx="4814969" cy="261610"/>
          </a:xfrm>
          <a:prstGeom prst="rect">
            <a:avLst/>
          </a:prstGeom>
          <a:noFill/>
        </p:spPr>
        <p:txBody>
          <a:bodyPr wrap="square" rtlCol="0">
            <a:spAutoFit/>
          </a:bodyPr>
          <a:lstStyle/>
          <a:p>
            <a:pPr algn="ctr"/>
            <a:r>
              <a:rPr lang="en-US" sz="1100" dirty="0"/>
              <a:t>Source: </a:t>
            </a:r>
            <a:r>
              <a:rPr lang="en-US" sz="1100" dirty="0" err="1"/>
              <a:t>www.cve.org</a:t>
            </a:r>
            <a:r>
              <a:rPr lang="en-US" sz="1100" dirty="0"/>
              <a:t>/</a:t>
            </a:r>
            <a:r>
              <a:rPr lang="en-US" sz="1100" dirty="0" err="1"/>
              <a:t>CVERecord?id</a:t>
            </a:r>
            <a:r>
              <a:rPr lang="en-US" sz="1100" dirty="0"/>
              <a:t>=CVE-2026-41089</a:t>
            </a:r>
          </a:p>
        </p:txBody>
      </p:sp>
      <p:cxnSp>
        <p:nvCxnSpPr>
          <p:cNvPr id="3" name="Straight Connector 2">
            <a:extLst>
              <a:ext uri="{FF2B5EF4-FFF2-40B4-BE49-F238E27FC236}">
                <a16:creationId xmlns:a16="http://schemas.microsoft.com/office/drawing/2014/main" id="{CC769BFC-36D8-C788-A314-5E8B9610FAB2}"/>
              </a:ext>
            </a:extLst>
          </p:cNvPr>
          <p:cNvCxnSpPr>
            <a:cxnSpLocks/>
          </p:cNvCxnSpPr>
          <p:nvPr/>
        </p:nvCxnSpPr>
        <p:spPr>
          <a:xfrm>
            <a:off x="2167692" y="4509634"/>
            <a:ext cx="4814969" cy="0"/>
          </a:xfrm>
          <a:prstGeom prst="line">
            <a:avLst/>
          </a:prstGeom>
          <a:ln w="0"/>
        </p:spPr>
        <p:style>
          <a:lnRef idx="1">
            <a:schemeClr val="accent2"/>
          </a:lnRef>
          <a:fillRef idx="0">
            <a:schemeClr val="accent2"/>
          </a:fillRef>
          <a:effectRef idx="0">
            <a:schemeClr val="accent2"/>
          </a:effectRef>
          <a:fontRef idx="minor">
            <a:schemeClr val="tx1"/>
          </a:fontRef>
        </p:style>
      </p:cxnSp>
      <p:sp>
        <p:nvSpPr>
          <p:cNvPr id="7" name="Rectangle 6">
            <a:extLst>
              <a:ext uri="{FF2B5EF4-FFF2-40B4-BE49-F238E27FC236}">
                <a16:creationId xmlns:a16="http://schemas.microsoft.com/office/drawing/2014/main" id="{30DFFA54-D842-F0D2-7115-65F24475566E}"/>
              </a:ext>
            </a:extLst>
          </p:cNvPr>
          <p:cNvSpPr/>
          <p:nvPr/>
        </p:nvSpPr>
        <p:spPr>
          <a:xfrm>
            <a:off x="6979486" y="4250043"/>
            <a:ext cx="441325" cy="5365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0766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8C18B6D1-F4BE-A10B-7D85-2E757B528790}"/>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CB95D3AB-0522-F969-DC70-A848467E8FC6}"/>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Relevancy</a:t>
            </a:r>
            <a:r>
              <a:rPr lang="de" b="1" dirty="0">
                <a:solidFill>
                  <a:srgbClr val="292E60"/>
                </a:solidFill>
              </a:rPr>
              <a:t> </a:t>
            </a:r>
            <a:r>
              <a:rPr lang="de" b="1" dirty="0" err="1">
                <a:solidFill>
                  <a:srgbClr val="292E60"/>
                </a:solidFill>
              </a:rPr>
              <a:t>of</a:t>
            </a:r>
            <a:r>
              <a:rPr lang="de" b="1" dirty="0">
                <a:solidFill>
                  <a:srgbClr val="292E60"/>
                </a:solidFill>
              </a:rPr>
              <a:t> Buffer Overflows</a:t>
            </a:r>
            <a:endParaRPr b="1" dirty="0">
              <a:solidFill>
                <a:srgbClr val="292E60"/>
              </a:solidFill>
            </a:endParaRPr>
          </a:p>
        </p:txBody>
      </p:sp>
      <p:pic>
        <p:nvPicPr>
          <p:cNvPr id="107" name="Google Shape;107;p21">
            <a:extLst>
              <a:ext uri="{FF2B5EF4-FFF2-40B4-BE49-F238E27FC236}">
                <a16:creationId xmlns:a16="http://schemas.microsoft.com/office/drawing/2014/main" id="{D2D91CEC-439D-E354-3DD5-CAAFDD8B1CDB}"/>
              </a:ext>
            </a:extLst>
          </p:cNvPr>
          <p:cNvPicPr preferRelativeResize="0"/>
          <p:nvPr/>
        </p:nvPicPr>
        <p:blipFill>
          <a:blip r:embed="rId3">
            <a:alphaModFix/>
          </a:blip>
          <a:stretch>
            <a:fillRect/>
          </a:stretch>
        </p:blipFill>
        <p:spPr>
          <a:xfrm>
            <a:off x="5615147" y="878900"/>
            <a:ext cx="155800" cy="155800"/>
          </a:xfrm>
          <a:prstGeom prst="rect">
            <a:avLst/>
          </a:prstGeom>
          <a:noFill/>
          <a:ln>
            <a:noFill/>
          </a:ln>
        </p:spPr>
      </p:pic>
      <p:pic>
        <p:nvPicPr>
          <p:cNvPr id="5" name="Picture 4">
            <a:extLst>
              <a:ext uri="{FF2B5EF4-FFF2-40B4-BE49-F238E27FC236}">
                <a16:creationId xmlns:a16="http://schemas.microsoft.com/office/drawing/2014/main" id="{F1A45E7D-2533-ED17-1A89-D960F71909A6}"/>
              </a:ext>
            </a:extLst>
          </p:cNvPr>
          <p:cNvPicPr>
            <a:picLocks noChangeAspect="1"/>
          </p:cNvPicPr>
          <p:nvPr/>
        </p:nvPicPr>
        <p:blipFill>
          <a:blip r:embed="rId4"/>
          <a:srcRect l="1218" t="82934" r="1696"/>
          <a:stretch>
            <a:fillRect/>
          </a:stretch>
        </p:blipFill>
        <p:spPr>
          <a:xfrm>
            <a:off x="515405" y="3231565"/>
            <a:ext cx="8047570" cy="985929"/>
          </a:xfrm>
          <a:prstGeom prst="rect">
            <a:avLst/>
          </a:prstGeom>
        </p:spPr>
      </p:pic>
      <p:sp>
        <p:nvSpPr>
          <p:cNvPr id="6" name="Google Shape;106;p21">
            <a:extLst>
              <a:ext uri="{FF2B5EF4-FFF2-40B4-BE49-F238E27FC236}">
                <a16:creationId xmlns:a16="http://schemas.microsoft.com/office/drawing/2014/main" id="{34CC35D5-F454-1FFB-A9DB-6C1F62A269F9}"/>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8</a:t>
            </a:r>
            <a:endParaRPr sz="1000" dirty="0"/>
          </a:p>
        </p:txBody>
      </p:sp>
      <p:sp>
        <p:nvSpPr>
          <p:cNvPr id="9" name="TextBox 8">
            <a:extLst>
              <a:ext uri="{FF2B5EF4-FFF2-40B4-BE49-F238E27FC236}">
                <a16:creationId xmlns:a16="http://schemas.microsoft.com/office/drawing/2014/main" id="{4A0FA4E3-31AE-BEF5-7FA9-9A8DE186D7EF}"/>
              </a:ext>
            </a:extLst>
          </p:cNvPr>
          <p:cNvSpPr txBox="1"/>
          <p:nvPr/>
        </p:nvSpPr>
        <p:spPr>
          <a:xfrm>
            <a:off x="546654" y="4253988"/>
            <a:ext cx="7961245" cy="261610"/>
          </a:xfrm>
          <a:prstGeom prst="rect">
            <a:avLst/>
          </a:prstGeom>
          <a:noFill/>
        </p:spPr>
        <p:txBody>
          <a:bodyPr wrap="square" rtlCol="0">
            <a:spAutoFit/>
          </a:bodyPr>
          <a:lstStyle/>
          <a:p>
            <a:pPr algn="ctr"/>
            <a:r>
              <a:rPr lang="en-US" sz="1100" dirty="0"/>
              <a:t>Source: </a:t>
            </a:r>
            <a:r>
              <a:rPr lang="en-US" sz="1100" dirty="0" err="1"/>
              <a:t>www.cve.org</a:t>
            </a:r>
            <a:r>
              <a:rPr lang="en-US" sz="1100" dirty="0"/>
              <a:t>/</a:t>
            </a:r>
            <a:r>
              <a:rPr lang="en-US" sz="1100" dirty="0" err="1"/>
              <a:t>CVERecord?id</a:t>
            </a:r>
            <a:r>
              <a:rPr lang="en-US" sz="1100" dirty="0"/>
              <a:t>=CVE-2026-41089</a:t>
            </a:r>
          </a:p>
        </p:txBody>
      </p:sp>
      <p:pic>
        <p:nvPicPr>
          <p:cNvPr id="2" name="Picture 1">
            <a:extLst>
              <a:ext uri="{FF2B5EF4-FFF2-40B4-BE49-F238E27FC236}">
                <a16:creationId xmlns:a16="http://schemas.microsoft.com/office/drawing/2014/main" id="{2E3B45D0-7640-9FDF-1608-D5E372448443}"/>
              </a:ext>
            </a:extLst>
          </p:cNvPr>
          <p:cNvPicPr>
            <a:picLocks noChangeAspect="1"/>
          </p:cNvPicPr>
          <p:nvPr/>
        </p:nvPicPr>
        <p:blipFill>
          <a:blip r:embed="rId4"/>
          <a:srcRect l="-308" t="10948" r="-1095" b="74012"/>
          <a:stretch>
            <a:fillRect/>
          </a:stretch>
        </p:blipFill>
        <p:spPr>
          <a:xfrm>
            <a:off x="523323" y="1291920"/>
            <a:ext cx="8074027" cy="834686"/>
          </a:xfrm>
          <a:prstGeom prst="rect">
            <a:avLst/>
          </a:prstGeom>
        </p:spPr>
      </p:pic>
      <p:pic>
        <p:nvPicPr>
          <p:cNvPr id="3" name="Picture 2">
            <a:extLst>
              <a:ext uri="{FF2B5EF4-FFF2-40B4-BE49-F238E27FC236}">
                <a16:creationId xmlns:a16="http://schemas.microsoft.com/office/drawing/2014/main" id="{B3DE7B16-C638-2AB6-4600-B86A77D02849}"/>
              </a:ext>
            </a:extLst>
          </p:cNvPr>
          <p:cNvPicPr>
            <a:picLocks noChangeAspect="1"/>
          </p:cNvPicPr>
          <p:nvPr/>
        </p:nvPicPr>
        <p:blipFill>
          <a:blip r:embed="rId4"/>
          <a:srcRect t="48914" r="-24" b="29598"/>
          <a:stretch>
            <a:fillRect/>
          </a:stretch>
        </p:blipFill>
        <p:spPr>
          <a:xfrm>
            <a:off x="546653" y="2126608"/>
            <a:ext cx="7961245" cy="1192021"/>
          </a:xfrm>
          <a:prstGeom prst="rect">
            <a:avLst/>
          </a:prstGeom>
        </p:spPr>
      </p:pic>
    </p:spTree>
    <p:extLst>
      <p:ext uri="{BB962C8B-B14F-4D97-AF65-F5344CB8AC3E}">
        <p14:creationId xmlns:p14="http://schemas.microsoft.com/office/powerpoint/2010/main" val="26660074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719419B8-CE23-B4CF-0AC5-A661C6ED102D}"/>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5D641F1C-05A6-06BC-176A-1812B444CFF3}"/>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7</a:t>
            </a:r>
            <a:endParaRPr sz="1000" dirty="0"/>
          </a:p>
        </p:txBody>
      </p:sp>
      <p:sp>
        <p:nvSpPr>
          <p:cNvPr id="4" name="Google Shape;104;p21">
            <a:extLst>
              <a:ext uri="{FF2B5EF4-FFF2-40B4-BE49-F238E27FC236}">
                <a16:creationId xmlns:a16="http://schemas.microsoft.com/office/drawing/2014/main" id="{2C8BB7FF-A6BA-B0E9-E698-6256E0CDC14D}"/>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Preparation</a:t>
            </a:r>
            <a:endParaRPr b="1" dirty="0">
              <a:solidFill>
                <a:srgbClr val="292E60"/>
              </a:solidFill>
            </a:endParaRPr>
          </a:p>
        </p:txBody>
      </p:sp>
      <p:pic>
        <p:nvPicPr>
          <p:cNvPr id="5" name="Google Shape;107;p21">
            <a:extLst>
              <a:ext uri="{FF2B5EF4-FFF2-40B4-BE49-F238E27FC236}">
                <a16:creationId xmlns:a16="http://schemas.microsoft.com/office/drawing/2014/main" id="{E4B07B27-B5CF-68E7-7088-551C33F190CC}"/>
              </a:ext>
            </a:extLst>
          </p:cNvPr>
          <p:cNvPicPr preferRelativeResize="0"/>
          <p:nvPr/>
        </p:nvPicPr>
        <p:blipFill>
          <a:blip r:embed="rId3">
            <a:alphaModFix/>
          </a:blip>
          <a:stretch>
            <a:fillRect/>
          </a:stretch>
        </p:blipFill>
        <p:spPr>
          <a:xfrm>
            <a:off x="2356490" y="878900"/>
            <a:ext cx="155800" cy="155800"/>
          </a:xfrm>
          <a:prstGeom prst="rect">
            <a:avLst/>
          </a:prstGeom>
          <a:noFill/>
          <a:ln>
            <a:noFill/>
          </a:ln>
        </p:spPr>
      </p:pic>
      <p:sp>
        <p:nvSpPr>
          <p:cNvPr id="9" name="Google Shape;105;p21">
            <a:extLst>
              <a:ext uri="{FF2B5EF4-FFF2-40B4-BE49-F238E27FC236}">
                <a16:creationId xmlns:a16="http://schemas.microsoft.com/office/drawing/2014/main" id="{BB37C9ED-5A21-FD7F-BDC9-B6F334500DF3}"/>
              </a:ext>
            </a:extLst>
          </p:cNvPr>
          <p:cNvSpPr txBox="1">
            <a:spLocks noGrp="1"/>
          </p:cNvSpPr>
          <p:nvPr>
            <p:ph type="body" idx="1"/>
          </p:nvPr>
        </p:nvSpPr>
        <p:spPr>
          <a:xfrm>
            <a:off x="552475" y="1175053"/>
            <a:ext cx="8279700" cy="3416400"/>
          </a:xfrm>
          <a:prstGeom prst="rect">
            <a:avLst/>
          </a:prstGeom>
        </p:spPr>
        <p:txBody>
          <a:bodyPr spcFirstLastPara="1" wrap="square" lIns="91425" tIns="91425" rIns="91425" bIns="91425" anchor="t" anchorCtr="0">
            <a:noAutofit/>
          </a:bodyPr>
          <a:lstStyle/>
          <a:p>
            <a:pPr marL="0" indent="0">
              <a:spcAft>
                <a:spcPts val="1600"/>
              </a:spcAft>
              <a:buNone/>
            </a:pPr>
            <a:r>
              <a:rPr lang="de" b="1" dirty="0" err="1">
                <a:solidFill>
                  <a:srgbClr val="1D1D1A"/>
                </a:solidFill>
              </a:rPr>
              <a:t>Active</a:t>
            </a:r>
            <a:r>
              <a:rPr lang="de" b="1" dirty="0">
                <a:solidFill>
                  <a:srgbClr val="1D1D1A"/>
                </a:solidFill>
              </a:rPr>
              <a:t> Scanning </a:t>
            </a:r>
            <a:r>
              <a:rPr lang="de" dirty="0">
                <a:solidFill>
                  <a:srgbClr val="1D1D1A"/>
                </a:solidFill>
              </a:rPr>
              <a:t>(</a:t>
            </a:r>
            <a:r>
              <a:rPr lang="en-US" dirty="0">
                <a:solidFill>
                  <a:srgbClr val="1D1D1A"/>
                </a:solidFill>
              </a:rPr>
              <a:t>T1595</a:t>
            </a:r>
            <a:r>
              <a:rPr lang="en-US" dirty="0"/>
              <a:t>),</a:t>
            </a:r>
            <a:r>
              <a:rPr lang="de" dirty="0">
                <a:solidFill>
                  <a:srgbClr val="1D1D1A"/>
                </a:solidFill>
              </a:rPr>
              <a:t> </a:t>
            </a:r>
            <a:r>
              <a:rPr lang="de" dirty="0" err="1">
                <a:solidFill>
                  <a:srgbClr val="1D1D1A"/>
                </a:solidFill>
              </a:rPr>
              <a:t>to</a:t>
            </a:r>
            <a:r>
              <a:rPr lang="de" dirty="0">
                <a:solidFill>
                  <a:srgbClr val="1D1D1A"/>
                </a:solidFill>
              </a:rPr>
              <a:t> </a:t>
            </a:r>
            <a:r>
              <a:rPr lang="de" dirty="0" err="1">
                <a:solidFill>
                  <a:srgbClr val="1D1D1A"/>
                </a:solidFill>
              </a:rPr>
              <a:t>gather</a:t>
            </a:r>
            <a:r>
              <a:rPr lang="de" dirty="0">
                <a:solidFill>
                  <a:srgbClr val="1D1D1A"/>
                </a:solidFill>
              </a:rPr>
              <a:t> </a:t>
            </a:r>
            <a:r>
              <a:rPr lang="de" dirty="0" err="1">
                <a:solidFill>
                  <a:srgbClr val="1D1D1A"/>
                </a:solidFill>
              </a:rPr>
              <a:t>information</a:t>
            </a:r>
            <a:r>
              <a:rPr lang="de" dirty="0">
                <a:solidFill>
                  <a:srgbClr val="1D1D1A"/>
                </a:solidFill>
              </a:rPr>
              <a:t> </a:t>
            </a:r>
            <a:r>
              <a:rPr lang="de" dirty="0" err="1">
                <a:solidFill>
                  <a:srgbClr val="1D1D1A"/>
                </a:solidFill>
              </a:rPr>
              <a:t>about</a:t>
            </a:r>
            <a:r>
              <a:rPr lang="de" dirty="0">
                <a:solidFill>
                  <a:srgbClr val="1D1D1A"/>
                </a:solidFill>
              </a:rPr>
              <a:t>:</a:t>
            </a:r>
          </a:p>
          <a:p>
            <a:pPr marL="742950" lvl="1" indent="-285750">
              <a:spcAft>
                <a:spcPts val="1600"/>
              </a:spcAft>
              <a:buFont typeface="Arial" panose="020B0604020202020204" pitchFamily="34" charset="0"/>
              <a:buChar char="•"/>
            </a:pPr>
            <a:r>
              <a:rPr lang="de" sz="1800" dirty="0">
                <a:solidFill>
                  <a:srgbClr val="1D1D1A"/>
                </a:solidFill>
              </a:rPr>
              <a:t>OS</a:t>
            </a:r>
          </a:p>
          <a:p>
            <a:pPr marL="742950" lvl="1" indent="-285750">
              <a:spcAft>
                <a:spcPts val="1600"/>
              </a:spcAft>
              <a:buFont typeface="Arial" panose="020B0604020202020204" pitchFamily="34" charset="0"/>
              <a:buChar char="•"/>
            </a:pPr>
            <a:r>
              <a:rPr lang="de" sz="1800" dirty="0">
                <a:solidFill>
                  <a:srgbClr val="1D1D1A"/>
                </a:solidFill>
              </a:rPr>
              <a:t>Services</a:t>
            </a:r>
          </a:p>
          <a:p>
            <a:pPr marL="742950" lvl="1" indent="-285750">
              <a:spcAft>
                <a:spcPts val="1600"/>
              </a:spcAft>
              <a:buFont typeface="Arial" panose="020B0604020202020204" pitchFamily="34" charset="0"/>
              <a:buChar char="•"/>
            </a:pPr>
            <a:r>
              <a:rPr lang="de" sz="1800" dirty="0" err="1">
                <a:solidFill>
                  <a:srgbClr val="1D1D1A"/>
                </a:solidFill>
              </a:rPr>
              <a:t>Vulnerabilities</a:t>
            </a:r>
            <a:endParaRPr lang="de" sz="1800" dirty="0">
              <a:solidFill>
                <a:srgbClr val="1D1D1A"/>
              </a:solidFill>
            </a:endParaRPr>
          </a:p>
        </p:txBody>
      </p:sp>
    </p:spTree>
    <p:extLst>
      <p:ext uri="{BB962C8B-B14F-4D97-AF65-F5344CB8AC3E}">
        <p14:creationId xmlns:p14="http://schemas.microsoft.com/office/powerpoint/2010/main" val="3472388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6E3C697-7120-32CC-AF85-67BB7EFBEE89}"/>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13BD694D-0403-798D-4DC3-2FE64F7E9624}"/>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7</a:t>
            </a:r>
            <a:endParaRPr sz="1000" dirty="0"/>
          </a:p>
        </p:txBody>
      </p:sp>
      <p:sp>
        <p:nvSpPr>
          <p:cNvPr id="4" name="Google Shape;104;p21">
            <a:extLst>
              <a:ext uri="{FF2B5EF4-FFF2-40B4-BE49-F238E27FC236}">
                <a16:creationId xmlns:a16="http://schemas.microsoft.com/office/drawing/2014/main" id="{E37FAFDD-CEA0-1562-C3E2-D4CEA5301DD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Methodology</a:t>
            </a:r>
            <a:endParaRPr b="1" dirty="0">
              <a:solidFill>
                <a:srgbClr val="292E60"/>
              </a:solidFill>
            </a:endParaRPr>
          </a:p>
        </p:txBody>
      </p:sp>
      <p:pic>
        <p:nvPicPr>
          <p:cNvPr id="5" name="Google Shape;107;p21">
            <a:extLst>
              <a:ext uri="{FF2B5EF4-FFF2-40B4-BE49-F238E27FC236}">
                <a16:creationId xmlns:a16="http://schemas.microsoft.com/office/drawing/2014/main" id="{30903546-4FF6-DF8F-FAFA-AD51104D4F94}"/>
              </a:ext>
            </a:extLst>
          </p:cNvPr>
          <p:cNvPicPr preferRelativeResize="0"/>
          <p:nvPr/>
        </p:nvPicPr>
        <p:blipFill>
          <a:blip r:embed="rId3">
            <a:alphaModFix/>
          </a:blip>
          <a:stretch>
            <a:fillRect/>
          </a:stretch>
        </p:blipFill>
        <p:spPr>
          <a:xfrm>
            <a:off x="2592930" y="878900"/>
            <a:ext cx="155800" cy="155800"/>
          </a:xfrm>
          <a:prstGeom prst="rect">
            <a:avLst/>
          </a:prstGeom>
          <a:noFill/>
          <a:ln>
            <a:noFill/>
          </a:ln>
        </p:spPr>
      </p:pic>
      <p:sp>
        <p:nvSpPr>
          <p:cNvPr id="9" name="Google Shape;105;p21">
            <a:extLst>
              <a:ext uri="{FF2B5EF4-FFF2-40B4-BE49-F238E27FC236}">
                <a16:creationId xmlns:a16="http://schemas.microsoft.com/office/drawing/2014/main" id="{E446D0B5-B176-4F52-42DB-6AA2AAD6FFBC}"/>
              </a:ext>
            </a:extLst>
          </p:cNvPr>
          <p:cNvSpPr txBox="1">
            <a:spLocks noGrp="1"/>
          </p:cNvSpPr>
          <p:nvPr>
            <p:ph type="body" idx="1"/>
          </p:nvPr>
        </p:nvSpPr>
        <p:spPr>
          <a:xfrm>
            <a:off x="552475" y="1175053"/>
            <a:ext cx="8279700" cy="3416400"/>
          </a:xfrm>
          <a:prstGeom prst="rect">
            <a:avLst/>
          </a:prstGeom>
        </p:spPr>
        <p:txBody>
          <a:bodyPr spcFirstLastPara="1" wrap="square" lIns="91425" tIns="91425" rIns="91425" bIns="91425" anchor="t" anchorCtr="0">
            <a:noAutofit/>
          </a:bodyPr>
          <a:lstStyle/>
          <a:p>
            <a:pPr marL="342900">
              <a:spcAft>
                <a:spcPts val="1600"/>
              </a:spcAft>
              <a:buAutoNum type="arabicPeriod"/>
            </a:pPr>
            <a:r>
              <a:rPr lang="de" b="1" dirty="0" err="1">
                <a:solidFill>
                  <a:srgbClr val="1D1D1A"/>
                </a:solidFill>
              </a:rPr>
              <a:t>Inciting</a:t>
            </a:r>
            <a:r>
              <a:rPr lang="de" b="1" dirty="0">
                <a:solidFill>
                  <a:srgbClr val="1D1D1A"/>
                </a:solidFill>
              </a:rPr>
              <a:t> a crash</a:t>
            </a:r>
          </a:p>
          <a:p>
            <a:pPr marL="342900">
              <a:spcAft>
                <a:spcPts val="1600"/>
              </a:spcAft>
              <a:buAutoNum type="arabicPeriod"/>
            </a:pPr>
            <a:r>
              <a:rPr lang="de" dirty="0" err="1">
                <a:solidFill>
                  <a:srgbClr val="1D1D1A"/>
                </a:solidFill>
              </a:rPr>
              <a:t>Determining</a:t>
            </a:r>
            <a:r>
              <a:rPr lang="de" dirty="0">
                <a:solidFill>
                  <a:srgbClr val="1D1D1A"/>
                </a:solidFill>
              </a:rPr>
              <a:t> </a:t>
            </a:r>
            <a:r>
              <a:rPr lang="de" dirty="0" err="1">
                <a:solidFill>
                  <a:srgbClr val="1D1D1A"/>
                </a:solidFill>
              </a:rPr>
              <a:t>the</a:t>
            </a:r>
            <a:r>
              <a:rPr lang="de" dirty="0">
                <a:solidFill>
                  <a:srgbClr val="1D1D1A"/>
                </a:solidFill>
              </a:rPr>
              <a:t> </a:t>
            </a:r>
            <a:r>
              <a:rPr lang="de" dirty="0" err="1">
                <a:solidFill>
                  <a:srgbClr val="1D1D1A"/>
                </a:solidFill>
              </a:rPr>
              <a:t>offset</a:t>
            </a:r>
            <a:endParaRPr lang="de" dirty="0">
              <a:solidFill>
                <a:srgbClr val="1D1D1A"/>
              </a:solidFill>
            </a:endParaRPr>
          </a:p>
          <a:p>
            <a:pPr marL="342900">
              <a:spcAft>
                <a:spcPts val="1600"/>
              </a:spcAft>
              <a:buAutoNum type="arabicPeriod"/>
            </a:pPr>
            <a:r>
              <a:rPr lang="de" dirty="0" err="1">
                <a:solidFill>
                  <a:srgbClr val="1D1D1A"/>
                </a:solidFill>
              </a:rPr>
              <a:t>Determining</a:t>
            </a:r>
            <a:r>
              <a:rPr lang="de" dirty="0">
                <a:solidFill>
                  <a:srgbClr val="1D1D1A"/>
                </a:solidFill>
              </a:rPr>
              <a:t> </a:t>
            </a:r>
            <a:r>
              <a:rPr lang="de" dirty="0" err="1">
                <a:solidFill>
                  <a:srgbClr val="1D1D1A"/>
                </a:solidFill>
              </a:rPr>
              <a:t>bad</a:t>
            </a:r>
            <a:r>
              <a:rPr lang="de" dirty="0">
                <a:solidFill>
                  <a:srgbClr val="1D1D1A"/>
                </a:solidFill>
              </a:rPr>
              <a:t> </a:t>
            </a:r>
            <a:r>
              <a:rPr lang="de" dirty="0" err="1">
                <a:solidFill>
                  <a:srgbClr val="1D1D1A"/>
                </a:solidFill>
              </a:rPr>
              <a:t>characters</a:t>
            </a:r>
            <a:endParaRPr lang="de" dirty="0">
              <a:solidFill>
                <a:srgbClr val="1D1D1A"/>
              </a:solidFill>
            </a:endParaRPr>
          </a:p>
          <a:p>
            <a:pPr marL="342900">
              <a:spcAft>
                <a:spcPts val="1600"/>
              </a:spcAft>
              <a:buAutoNum type="arabicPeriod"/>
            </a:pPr>
            <a:r>
              <a:rPr lang="de" dirty="0" err="1">
                <a:solidFill>
                  <a:srgbClr val="1D1D1A"/>
                </a:solidFill>
              </a:rPr>
              <a:t>Injecting</a:t>
            </a:r>
            <a:r>
              <a:rPr lang="de" dirty="0">
                <a:solidFill>
                  <a:srgbClr val="1D1D1A"/>
                </a:solidFill>
              </a:rPr>
              <a:t> </a:t>
            </a:r>
            <a:r>
              <a:rPr lang="de" dirty="0" err="1">
                <a:solidFill>
                  <a:srgbClr val="1D1D1A"/>
                </a:solidFill>
              </a:rPr>
              <a:t>payload</a:t>
            </a:r>
            <a:endParaRPr lang="de" dirty="0">
              <a:solidFill>
                <a:srgbClr val="1D1D1A"/>
              </a:solidFill>
            </a:endParaRPr>
          </a:p>
        </p:txBody>
      </p:sp>
      <p:sp>
        <p:nvSpPr>
          <p:cNvPr id="3" name="TextBox 2">
            <a:extLst>
              <a:ext uri="{FF2B5EF4-FFF2-40B4-BE49-F238E27FC236}">
                <a16:creationId xmlns:a16="http://schemas.microsoft.com/office/drawing/2014/main" id="{A9F718C9-436C-FE1B-925F-79F64400D134}"/>
              </a:ext>
            </a:extLst>
          </p:cNvPr>
          <p:cNvSpPr txBox="1"/>
          <p:nvPr/>
        </p:nvSpPr>
        <p:spPr>
          <a:xfrm>
            <a:off x="6759146" y="4667112"/>
            <a:ext cx="2384854" cy="307777"/>
          </a:xfrm>
          <a:prstGeom prst="rect">
            <a:avLst/>
          </a:prstGeom>
          <a:noFill/>
        </p:spPr>
        <p:txBody>
          <a:bodyPr wrap="square">
            <a:spAutoFit/>
          </a:bodyPr>
          <a:lstStyle/>
          <a:p>
            <a:pPr algn="ctr"/>
            <a:r>
              <a:rPr lang="en-US" dirty="0">
                <a:solidFill>
                  <a:srgbClr val="1D1D1A"/>
                </a:solidFill>
                <a:latin typeface="Arial" panose="020B0604020202020204" pitchFamily="34" charset="0"/>
                <a:cs typeface="Arial" panose="020B0604020202020204" pitchFamily="34" charset="0"/>
              </a:rPr>
              <a:t>Denial of Service (</a:t>
            </a:r>
            <a:r>
              <a:rPr lang="en-US" dirty="0"/>
              <a:t>T0814</a:t>
            </a:r>
            <a:r>
              <a:rPr lang="en-US" dirty="0">
                <a:solidFill>
                  <a:srgbClr val="1D1D1A"/>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845466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9EAEC445-DF87-34C3-47F6-11A255203D8A}"/>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CC231323-174C-17EB-821F-F3A5FCAB419F}"/>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Methodology</a:t>
            </a:r>
            <a:endParaRPr b="1" dirty="0">
              <a:solidFill>
                <a:srgbClr val="292E60"/>
              </a:solidFill>
            </a:endParaRPr>
          </a:p>
        </p:txBody>
      </p:sp>
      <p:sp>
        <p:nvSpPr>
          <p:cNvPr id="106" name="Google Shape;106;p21">
            <a:extLst>
              <a:ext uri="{FF2B5EF4-FFF2-40B4-BE49-F238E27FC236}">
                <a16:creationId xmlns:a16="http://schemas.microsoft.com/office/drawing/2014/main" id="{C40E876C-B61E-1596-C98E-57094FC2198E}"/>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8</a:t>
            </a:r>
            <a:endParaRPr sz="1000" dirty="0"/>
          </a:p>
        </p:txBody>
      </p:sp>
      <p:pic>
        <p:nvPicPr>
          <p:cNvPr id="107" name="Google Shape;107;p21">
            <a:extLst>
              <a:ext uri="{FF2B5EF4-FFF2-40B4-BE49-F238E27FC236}">
                <a16:creationId xmlns:a16="http://schemas.microsoft.com/office/drawing/2014/main" id="{CC3B7E9F-F98E-D474-CDB6-68275B390859}"/>
              </a:ext>
            </a:extLst>
          </p:cNvPr>
          <p:cNvPicPr preferRelativeResize="0"/>
          <p:nvPr/>
        </p:nvPicPr>
        <p:blipFill>
          <a:blip r:embed="rId3">
            <a:alphaModFix/>
          </a:blip>
          <a:stretch>
            <a:fillRect/>
          </a:stretch>
        </p:blipFill>
        <p:spPr>
          <a:xfrm>
            <a:off x="2592930" y="878900"/>
            <a:ext cx="155800" cy="155800"/>
          </a:xfrm>
          <a:prstGeom prst="rect">
            <a:avLst/>
          </a:prstGeom>
          <a:noFill/>
          <a:ln>
            <a:noFill/>
          </a:ln>
        </p:spPr>
      </p:pic>
      <p:grpSp>
        <p:nvGrpSpPr>
          <p:cNvPr id="9" name="Group 8">
            <a:extLst>
              <a:ext uri="{FF2B5EF4-FFF2-40B4-BE49-F238E27FC236}">
                <a16:creationId xmlns:a16="http://schemas.microsoft.com/office/drawing/2014/main" id="{9EFDF85C-18FD-3273-7727-BC1E1064CB43}"/>
              </a:ext>
            </a:extLst>
          </p:cNvPr>
          <p:cNvGrpSpPr/>
          <p:nvPr/>
        </p:nvGrpSpPr>
        <p:grpSpPr>
          <a:xfrm>
            <a:off x="421999" y="1231901"/>
            <a:ext cx="1771003" cy="3466575"/>
            <a:chOff x="1653201" y="493931"/>
            <a:chExt cx="8335926" cy="5938283"/>
          </a:xfrm>
        </p:grpSpPr>
        <p:sp>
          <p:nvSpPr>
            <p:cNvPr id="10" name="Rectangle 9">
              <a:extLst>
                <a:ext uri="{FF2B5EF4-FFF2-40B4-BE49-F238E27FC236}">
                  <a16:creationId xmlns:a16="http://schemas.microsoft.com/office/drawing/2014/main" id="{93BE0CBC-5688-DEBE-2C28-ACB126ED7203}"/>
                </a:ext>
              </a:extLst>
            </p:cNvPr>
            <p:cNvSpPr/>
            <p:nvPr/>
          </p:nvSpPr>
          <p:spPr>
            <a:xfrm>
              <a:off x="1653201" y="493931"/>
              <a:ext cx="8335926" cy="304091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Stack</a:t>
              </a:r>
            </a:p>
          </p:txBody>
        </p:sp>
        <p:sp>
          <p:nvSpPr>
            <p:cNvPr id="11" name="Rectangle 10">
              <a:extLst>
                <a:ext uri="{FF2B5EF4-FFF2-40B4-BE49-F238E27FC236}">
                  <a16:creationId xmlns:a16="http://schemas.microsoft.com/office/drawing/2014/main" id="{15556E3E-49A1-D233-8767-A5242A5B3FA5}"/>
                </a:ext>
              </a:extLst>
            </p:cNvPr>
            <p:cNvSpPr/>
            <p:nvPr/>
          </p:nvSpPr>
          <p:spPr>
            <a:xfrm>
              <a:off x="1653201" y="3534842"/>
              <a:ext cx="8335926" cy="967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Frame Pointer</a:t>
              </a:r>
            </a:p>
          </p:txBody>
        </p:sp>
        <p:sp>
          <p:nvSpPr>
            <p:cNvPr id="12" name="Rectangle 11">
              <a:extLst>
                <a:ext uri="{FF2B5EF4-FFF2-40B4-BE49-F238E27FC236}">
                  <a16:creationId xmlns:a16="http://schemas.microsoft.com/office/drawing/2014/main" id="{82582D91-F6B8-0D97-DEC6-26F75584D35F}"/>
                </a:ext>
              </a:extLst>
            </p:cNvPr>
            <p:cNvSpPr/>
            <p:nvPr/>
          </p:nvSpPr>
          <p:spPr>
            <a:xfrm>
              <a:off x="1653201" y="4502405"/>
              <a:ext cx="8335926" cy="967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Return Address</a:t>
              </a:r>
            </a:p>
          </p:txBody>
        </p:sp>
        <p:sp>
          <p:nvSpPr>
            <p:cNvPr id="13" name="Rectangle 12">
              <a:extLst>
                <a:ext uri="{FF2B5EF4-FFF2-40B4-BE49-F238E27FC236}">
                  <a16:creationId xmlns:a16="http://schemas.microsoft.com/office/drawing/2014/main" id="{07468314-2232-3061-6D32-6979AD66F360}"/>
                </a:ext>
              </a:extLst>
            </p:cNvPr>
            <p:cNvSpPr/>
            <p:nvPr/>
          </p:nvSpPr>
          <p:spPr>
            <a:xfrm>
              <a:off x="1653201" y="5464651"/>
              <a:ext cx="8335926" cy="967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Caller - Stack Frame</a:t>
              </a:r>
            </a:p>
          </p:txBody>
        </p:sp>
      </p:grpSp>
      <p:grpSp>
        <p:nvGrpSpPr>
          <p:cNvPr id="14" name="Group 13">
            <a:extLst>
              <a:ext uri="{FF2B5EF4-FFF2-40B4-BE49-F238E27FC236}">
                <a16:creationId xmlns:a16="http://schemas.microsoft.com/office/drawing/2014/main" id="{9B4D0408-5C22-E51E-927D-3598279D2A2E}"/>
              </a:ext>
            </a:extLst>
          </p:cNvPr>
          <p:cNvGrpSpPr/>
          <p:nvPr/>
        </p:nvGrpSpPr>
        <p:grpSpPr>
          <a:xfrm>
            <a:off x="6429699" y="1231901"/>
            <a:ext cx="1771003" cy="3466575"/>
            <a:chOff x="1653201" y="493931"/>
            <a:chExt cx="8335926" cy="5938283"/>
          </a:xfrm>
        </p:grpSpPr>
        <p:sp>
          <p:nvSpPr>
            <p:cNvPr id="15" name="Rectangle 14">
              <a:extLst>
                <a:ext uri="{FF2B5EF4-FFF2-40B4-BE49-F238E27FC236}">
                  <a16:creationId xmlns:a16="http://schemas.microsoft.com/office/drawing/2014/main" id="{E708BCE9-A755-4E74-4B9C-8694814254FD}"/>
                </a:ext>
              </a:extLst>
            </p:cNvPr>
            <p:cNvSpPr/>
            <p:nvPr/>
          </p:nvSpPr>
          <p:spPr>
            <a:xfrm>
              <a:off x="1653201" y="493931"/>
              <a:ext cx="8335926" cy="304091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 A A A A A A A A</a:t>
              </a:r>
            </a:p>
            <a:p>
              <a:pPr algn="ctr"/>
              <a:r>
                <a:rPr lang="en-US" dirty="0">
                  <a:solidFill>
                    <a:schemeClr val="tx1"/>
                  </a:solidFill>
                </a:rPr>
                <a:t>A A A A A A A A A</a:t>
              </a:r>
            </a:p>
            <a:p>
              <a:pPr algn="ctr"/>
              <a:r>
                <a:rPr lang="en-US" dirty="0">
                  <a:solidFill>
                    <a:schemeClr val="tx1"/>
                  </a:solidFill>
                </a:rPr>
                <a:t>A A A A A A A A A</a:t>
              </a:r>
            </a:p>
            <a:p>
              <a:pPr algn="ctr"/>
              <a:r>
                <a:rPr lang="en-US" dirty="0">
                  <a:solidFill>
                    <a:schemeClr val="tx1"/>
                  </a:solidFill>
                </a:rPr>
                <a:t>A A A A A A A A A</a:t>
              </a:r>
            </a:p>
            <a:p>
              <a:pPr algn="ctr"/>
              <a:r>
                <a:rPr lang="en-US" dirty="0">
                  <a:solidFill>
                    <a:schemeClr val="tx1"/>
                  </a:solidFill>
                </a:rPr>
                <a:t>A A A A A A A A A</a:t>
              </a:r>
            </a:p>
            <a:p>
              <a:pPr algn="ctr"/>
              <a:r>
                <a:rPr lang="en-US" dirty="0">
                  <a:solidFill>
                    <a:schemeClr val="tx1"/>
                  </a:solidFill>
                </a:rPr>
                <a:t>A A A A A A A A A</a:t>
              </a:r>
            </a:p>
            <a:p>
              <a:pPr algn="ctr"/>
              <a:r>
                <a:rPr lang="en-US" dirty="0">
                  <a:solidFill>
                    <a:schemeClr val="tx1"/>
                  </a:solidFill>
                </a:rPr>
                <a:t>A A A A A A A A A</a:t>
              </a:r>
            </a:p>
          </p:txBody>
        </p:sp>
        <p:sp>
          <p:nvSpPr>
            <p:cNvPr id="16" name="Rectangle 15">
              <a:extLst>
                <a:ext uri="{FF2B5EF4-FFF2-40B4-BE49-F238E27FC236}">
                  <a16:creationId xmlns:a16="http://schemas.microsoft.com/office/drawing/2014/main" id="{26C03FCC-0676-FA8F-B20D-337451CAEF46}"/>
                </a:ext>
              </a:extLst>
            </p:cNvPr>
            <p:cNvSpPr/>
            <p:nvPr/>
          </p:nvSpPr>
          <p:spPr>
            <a:xfrm>
              <a:off x="1653201" y="3534842"/>
              <a:ext cx="8335926" cy="967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 A </a:t>
              </a:r>
              <a:r>
                <a:rPr lang="en-US">
                  <a:solidFill>
                    <a:schemeClr val="tx1"/>
                  </a:solidFill>
                </a:rPr>
                <a:t>A A </a:t>
              </a:r>
              <a:r>
                <a:rPr lang="en-US" dirty="0">
                  <a:solidFill>
                    <a:schemeClr val="tx1"/>
                  </a:solidFill>
                </a:rPr>
                <a:t>A A A A A</a:t>
              </a:r>
            </a:p>
          </p:txBody>
        </p:sp>
        <p:sp>
          <p:nvSpPr>
            <p:cNvPr id="17" name="Rectangle 16">
              <a:extLst>
                <a:ext uri="{FF2B5EF4-FFF2-40B4-BE49-F238E27FC236}">
                  <a16:creationId xmlns:a16="http://schemas.microsoft.com/office/drawing/2014/main" id="{BAD6F315-C4E5-EB97-5764-AF139B87B3EE}"/>
                </a:ext>
              </a:extLst>
            </p:cNvPr>
            <p:cNvSpPr/>
            <p:nvPr/>
          </p:nvSpPr>
          <p:spPr>
            <a:xfrm>
              <a:off x="1653201" y="4502405"/>
              <a:ext cx="8335926" cy="967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D51763"/>
                  </a:solidFill>
                </a:rPr>
                <a:t>A A A A A A A A A</a:t>
              </a:r>
            </a:p>
          </p:txBody>
        </p:sp>
        <p:sp>
          <p:nvSpPr>
            <p:cNvPr id="18" name="Rectangle 17">
              <a:extLst>
                <a:ext uri="{FF2B5EF4-FFF2-40B4-BE49-F238E27FC236}">
                  <a16:creationId xmlns:a16="http://schemas.microsoft.com/office/drawing/2014/main" id="{4C685426-AACB-0D5B-1723-0EB490DF45C8}"/>
                </a:ext>
              </a:extLst>
            </p:cNvPr>
            <p:cNvSpPr/>
            <p:nvPr/>
          </p:nvSpPr>
          <p:spPr>
            <a:xfrm>
              <a:off x="1653201" y="5464651"/>
              <a:ext cx="8335926" cy="967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 A A A A A A A A</a:t>
              </a:r>
            </a:p>
          </p:txBody>
        </p:sp>
      </p:grpSp>
      <p:grpSp>
        <p:nvGrpSpPr>
          <p:cNvPr id="19" name="Group 18">
            <a:extLst>
              <a:ext uri="{FF2B5EF4-FFF2-40B4-BE49-F238E27FC236}">
                <a16:creationId xmlns:a16="http://schemas.microsoft.com/office/drawing/2014/main" id="{EEFC7731-801E-A4B2-CEFE-E6F9C5E91856}"/>
              </a:ext>
            </a:extLst>
          </p:cNvPr>
          <p:cNvGrpSpPr/>
          <p:nvPr/>
        </p:nvGrpSpPr>
        <p:grpSpPr>
          <a:xfrm>
            <a:off x="3425849" y="1233626"/>
            <a:ext cx="1771003" cy="3466575"/>
            <a:chOff x="1653201" y="493931"/>
            <a:chExt cx="8335926" cy="5938283"/>
          </a:xfrm>
        </p:grpSpPr>
        <p:sp>
          <p:nvSpPr>
            <p:cNvPr id="20" name="Rectangle 19">
              <a:extLst>
                <a:ext uri="{FF2B5EF4-FFF2-40B4-BE49-F238E27FC236}">
                  <a16:creationId xmlns:a16="http://schemas.microsoft.com/office/drawing/2014/main" id="{4AEB1A03-D66E-4E13-A40A-B7F27779310D}"/>
                </a:ext>
              </a:extLst>
            </p:cNvPr>
            <p:cNvSpPr/>
            <p:nvPr/>
          </p:nvSpPr>
          <p:spPr>
            <a:xfrm>
              <a:off x="1653201" y="493931"/>
              <a:ext cx="8335926" cy="304091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x x x x x x x x</a:t>
              </a:r>
            </a:p>
          </p:txBody>
        </p:sp>
        <p:sp>
          <p:nvSpPr>
            <p:cNvPr id="21" name="Rectangle 20">
              <a:extLst>
                <a:ext uri="{FF2B5EF4-FFF2-40B4-BE49-F238E27FC236}">
                  <a16:creationId xmlns:a16="http://schemas.microsoft.com/office/drawing/2014/main" id="{FCEEAA5E-B112-4E68-04DF-CFEC20E1E9EE}"/>
                </a:ext>
              </a:extLst>
            </p:cNvPr>
            <p:cNvSpPr/>
            <p:nvPr/>
          </p:nvSpPr>
          <p:spPr>
            <a:xfrm>
              <a:off x="1653201" y="3534842"/>
              <a:ext cx="8335926" cy="967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Frame Pointer</a:t>
              </a:r>
            </a:p>
          </p:txBody>
        </p:sp>
        <p:sp>
          <p:nvSpPr>
            <p:cNvPr id="22" name="Rectangle 21">
              <a:extLst>
                <a:ext uri="{FF2B5EF4-FFF2-40B4-BE49-F238E27FC236}">
                  <a16:creationId xmlns:a16="http://schemas.microsoft.com/office/drawing/2014/main" id="{0BD0F2BA-97C3-366D-B8A0-4C99A2C36C94}"/>
                </a:ext>
              </a:extLst>
            </p:cNvPr>
            <p:cNvSpPr/>
            <p:nvPr/>
          </p:nvSpPr>
          <p:spPr>
            <a:xfrm>
              <a:off x="1653201" y="4502405"/>
              <a:ext cx="8335926" cy="967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Return Address</a:t>
              </a:r>
            </a:p>
          </p:txBody>
        </p:sp>
        <p:sp>
          <p:nvSpPr>
            <p:cNvPr id="23" name="Rectangle 22">
              <a:extLst>
                <a:ext uri="{FF2B5EF4-FFF2-40B4-BE49-F238E27FC236}">
                  <a16:creationId xmlns:a16="http://schemas.microsoft.com/office/drawing/2014/main" id="{C1A28DF7-39BD-F8E8-DC16-A161F0588D90}"/>
                </a:ext>
              </a:extLst>
            </p:cNvPr>
            <p:cNvSpPr/>
            <p:nvPr/>
          </p:nvSpPr>
          <p:spPr>
            <a:xfrm>
              <a:off x="1653201" y="5464651"/>
              <a:ext cx="8335926" cy="967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Caller - Stack Frame</a:t>
              </a:r>
            </a:p>
          </p:txBody>
        </p:sp>
      </p:grpSp>
      <p:sp>
        <p:nvSpPr>
          <p:cNvPr id="24" name="Right Arrow 23">
            <a:extLst>
              <a:ext uri="{FF2B5EF4-FFF2-40B4-BE49-F238E27FC236}">
                <a16:creationId xmlns:a16="http://schemas.microsoft.com/office/drawing/2014/main" id="{47803B17-C4D0-0DDE-8E0C-440CBAAD4205}"/>
              </a:ext>
            </a:extLst>
          </p:cNvPr>
          <p:cNvSpPr/>
          <p:nvPr/>
        </p:nvSpPr>
        <p:spPr>
          <a:xfrm>
            <a:off x="2295073" y="2862443"/>
            <a:ext cx="1028700" cy="289283"/>
          </a:xfrm>
          <a:prstGeom prst="rightArrow">
            <a:avLst/>
          </a:prstGeom>
          <a:solidFill>
            <a:srgbClr val="292E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ight Arrow 24">
            <a:extLst>
              <a:ext uri="{FF2B5EF4-FFF2-40B4-BE49-F238E27FC236}">
                <a16:creationId xmlns:a16="http://schemas.microsoft.com/office/drawing/2014/main" id="{5C5C4008-040B-E5FA-BCFD-A29B627683F9}"/>
              </a:ext>
            </a:extLst>
          </p:cNvPr>
          <p:cNvSpPr/>
          <p:nvPr/>
        </p:nvSpPr>
        <p:spPr>
          <a:xfrm>
            <a:off x="5298923" y="2862443"/>
            <a:ext cx="1028700" cy="289283"/>
          </a:xfrm>
          <a:prstGeom prst="rightArrow">
            <a:avLst/>
          </a:prstGeom>
          <a:solidFill>
            <a:srgbClr val="292E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0FE4FE55-7F49-C2B4-B688-BAB96B5A2E59}"/>
              </a:ext>
            </a:extLst>
          </p:cNvPr>
          <p:cNvSpPr txBox="1"/>
          <p:nvPr/>
        </p:nvSpPr>
        <p:spPr>
          <a:xfrm>
            <a:off x="2295073" y="2611587"/>
            <a:ext cx="1028700" cy="307777"/>
          </a:xfrm>
          <a:prstGeom prst="rect">
            <a:avLst/>
          </a:prstGeom>
          <a:noFill/>
        </p:spPr>
        <p:txBody>
          <a:bodyPr wrap="square" rtlCol="0">
            <a:spAutoFit/>
          </a:bodyPr>
          <a:lstStyle/>
          <a:p>
            <a:pPr algn="ctr"/>
            <a:r>
              <a:rPr lang="en-US" dirty="0"/>
              <a:t>Regular</a:t>
            </a:r>
          </a:p>
        </p:txBody>
      </p:sp>
      <p:sp>
        <p:nvSpPr>
          <p:cNvPr id="27" name="TextBox 26">
            <a:extLst>
              <a:ext uri="{FF2B5EF4-FFF2-40B4-BE49-F238E27FC236}">
                <a16:creationId xmlns:a16="http://schemas.microsoft.com/office/drawing/2014/main" id="{2CF95EED-A16F-E695-E6D7-29717444B7EB}"/>
              </a:ext>
            </a:extLst>
          </p:cNvPr>
          <p:cNvSpPr txBox="1"/>
          <p:nvPr/>
        </p:nvSpPr>
        <p:spPr>
          <a:xfrm>
            <a:off x="2295073" y="3094805"/>
            <a:ext cx="1028700" cy="307777"/>
          </a:xfrm>
          <a:prstGeom prst="rect">
            <a:avLst/>
          </a:prstGeom>
          <a:noFill/>
        </p:spPr>
        <p:txBody>
          <a:bodyPr wrap="square" rtlCol="0">
            <a:spAutoFit/>
          </a:bodyPr>
          <a:lstStyle/>
          <a:p>
            <a:pPr algn="ctr"/>
            <a:r>
              <a:rPr lang="en-US" dirty="0"/>
              <a:t>Input</a:t>
            </a:r>
          </a:p>
        </p:txBody>
      </p:sp>
      <p:sp>
        <p:nvSpPr>
          <p:cNvPr id="28" name="TextBox 27">
            <a:extLst>
              <a:ext uri="{FF2B5EF4-FFF2-40B4-BE49-F238E27FC236}">
                <a16:creationId xmlns:a16="http://schemas.microsoft.com/office/drawing/2014/main" id="{EA9ADB07-F4D4-4749-F676-E93A4E63DE60}"/>
              </a:ext>
            </a:extLst>
          </p:cNvPr>
          <p:cNvSpPr txBox="1"/>
          <p:nvPr/>
        </p:nvSpPr>
        <p:spPr>
          <a:xfrm>
            <a:off x="5268267" y="2611586"/>
            <a:ext cx="1028700" cy="307777"/>
          </a:xfrm>
          <a:prstGeom prst="rect">
            <a:avLst/>
          </a:prstGeom>
          <a:noFill/>
        </p:spPr>
        <p:txBody>
          <a:bodyPr wrap="square" rtlCol="0">
            <a:spAutoFit/>
          </a:bodyPr>
          <a:lstStyle/>
          <a:p>
            <a:pPr algn="ctr"/>
            <a:r>
              <a:rPr lang="en-US" dirty="0"/>
              <a:t>Malicious</a:t>
            </a:r>
          </a:p>
        </p:txBody>
      </p:sp>
      <p:sp>
        <p:nvSpPr>
          <p:cNvPr id="29" name="TextBox 28">
            <a:extLst>
              <a:ext uri="{FF2B5EF4-FFF2-40B4-BE49-F238E27FC236}">
                <a16:creationId xmlns:a16="http://schemas.microsoft.com/office/drawing/2014/main" id="{CC8F545A-D9BC-62A0-0FB2-D1F82204F51F}"/>
              </a:ext>
            </a:extLst>
          </p:cNvPr>
          <p:cNvSpPr txBox="1"/>
          <p:nvPr/>
        </p:nvSpPr>
        <p:spPr>
          <a:xfrm>
            <a:off x="5268267" y="3094805"/>
            <a:ext cx="1028700" cy="307777"/>
          </a:xfrm>
          <a:prstGeom prst="rect">
            <a:avLst/>
          </a:prstGeom>
          <a:noFill/>
        </p:spPr>
        <p:txBody>
          <a:bodyPr wrap="square" rtlCol="0">
            <a:spAutoFit/>
          </a:bodyPr>
          <a:lstStyle/>
          <a:p>
            <a:pPr algn="ctr"/>
            <a:r>
              <a:rPr lang="en-US" dirty="0"/>
              <a:t>Input</a:t>
            </a:r>
          </a:p>
        </p:txBody>
      </p:sp>
    </p:spTree>
    <p:extLst>
      <p:ext uri="{BB962C8B-B14F-4D97-AF65-F5344CB8AC3E}">
        <p14:creationId xmlns:p14="http://schemas.microsoft.com/office/powerpoint/2010/main" val="2224687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p:bldP spid="27" grpId="0"/>
      <p:bldP spid="28" grpId="0"/>
      <p:bldP spid="2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CA4A60D2-6444-77FF-E08E-D2F3C36D5A2A}"/>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BD40310F-413A-6FEA-047D-F53D35D5EB31}"/>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9</a:t>
            </a:r>
            <a:endParaRPr sz="1000" dirty="0"/>
          </a:p>
        </p:txBody>
      </p:sp>
      <p:sp>
        <p:nvSpPr>
          <p:cNvPr id="4" name="Google Shape;104;p21">
            <a:extLst>
              <a:ext uri="{FF2B5EF4-FFF2-40B4-BE49-F238E27FC236}">
                <a16:creationId xmlns:a16="http://schemas.microsoft.com/office/drawing/2014/main" id="{1E8B2E6F-2686-4F50-5BE2-DC5F494329B0}"/>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Methodology</a:t>
            </a:r>
            <a:endParaRPr b="1" dirty="0">
              <a:solidFill>
                <a:srgbClr val="292E60"/>
              </a:solidFill>
            </a:endParaRPr>
          </a:p>
        </p:txBody>
      </p:sp>
      <p:pic>
        <p:nvPicPr>
          <p:cNvPr id="5" name="Google Shape;107;p21">
            <a:extLst>
              <a:ext uri="{FF2B5EF4-FFF2-40B4-BE49-F238E27FC236}">
                <a16:creationId xmlns:a16="http://schemas.microsoft.com/office/drawing/2014/main" id="{1E67F128-0715-2B91-139D-08DFAEF907B9}"/>
              </a:ext>
            </a:extLst>
          </p:cNvPr>
          <p:cNvPicPr preferRelativeResize="0"/>
          <p:nvPr/>
        </p:nvPicPr>
        <p:blipFill>
          <a:blip r:embed="rId3">
            <a:alphaModFix/>
          </a:blip>
          <a:stretch>
            <a:fillRect/>
          </a:stretch>
        </p:blipFill>
        <p:spPr>
          <a:xfrm>
            <a:off x="2592930" y="878900"/>
            <a:ext cx="155800" cy="155800"/>
          </a:xfrm>
          <a:prstGeom prst="rect">
            <a:avLst/>
          </a:prstGeom>
          <a:noFill/>
          <a:ln>
            <a:noFill/>
          </a:ln>
        </p:spPr>
      </p:pic>
      <p:sp>
        <p:nvSpPr>
          <p:cNvPr id="7" name="Google Shape;105;p21">
            <a:extLst>
              <a:ext uri="{FF2B5EF4-FFF2-40B4-BE49-F238E27FC236}">
                <a16:creationId xmlns:a16="http://schemas.microsoft.com/office/drawing/2014/main" id="{07EFAF25-BC23-7EB7-DBC4-58E464C70609}"/>
              </a:ext>
            </a:extLst>
          </p:cNvPr>
          <p:cNvSpPr txBox="1">
            <a:spLocks/>
          </p:cNvSpPr>
          <p:nvPr/>
        </p:nvSpPr>
        <p:spPr>
          <a:xfrm>
            <a:off x="552475" y="1175053"/>
            <a:ext cx="8279700" cy="3416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342900">
              <a:spcAft>
                <a:spcPts val="1600"/>
              </a:spcAft>
              <a:buFont typeface="Arial"/>
              <a:buAutoNum type="arabicPeriod"/>
            </a:pPr>
            <a:r>
              <a:rPr lang="de" dirty="0" err="1">
                <a:solidFill>
                  <a:srgbClr val="1D1D1A"/>
                </a:solidFill>
              </a:rPr>
              <a:t>Inciting</a:t>
            </a:r>
            <a:r>
              <a:rPr lang="de" dirty="0">
                <a:solidFill>
                  <a:srgbClr val="1D1D1A"/>
                </a:solidFill>
              </a:rPr>
              <a:t> a crash</a:t>
            </a:r>
          </a:p>
          <a:p>
            <a:pPr marL="342900">
              <a:spcAft>
                <a:spcPts val="1600"/>
              </a:spcAft>
              <a:buFont typeface="Arial"/>
              <a:buAutoNum type="arabicPeriod"/>
            </a:pPr>
            <a:r>
              <a:rPr lang="de" b="1" dirty="0" err="1">
                <a:solidFill>
                  <a:srgbClr val="1D1D1A"/>
                </a:solidFill>
              </a:rPr>
              <a:t>Determining</a:t>
            </a:r>
            <a:r>
              <a:rPr lang="de" b="1" dirty="0">
                <a:solidFill>
                  <a:srgbClr val="1D1D1A"/>
                </a:solidFill>
              </a:rPr>
              <a:t> </a:t>
            </a:r>
            <a:r>
              <a:rPr lang="de" b="1" dirty="0" err="1">
                <a:solidFill>
                  <a:srgbClr val="1D1D1A"/>
                </a:solidFill>
              </a:rPr>
              <a:t>the</a:t>
            </a:r>
            <a:r>
              <a:rPr lang="de" b="1" dirty="0">
                <a:solidFill>
                  <a:srgbClr val="1D1D1A"/>
                </a:solidFill>
              </a:rPr>
              <a:t> </a:t>
            </a:r>
            <a:r>
              <a:rPr lang="de" b="1" dirty="0" err="1">
                <a:solidFill>
                  <a:srgbClr val="1D1D1A"/>
                </a:solidFill>
              </a:rPr>
              <a:t>offset</a:t>
            </a:r>
            <a:endParaRPr lang="de" b="1" dirty="0">
              <a:solidFill>
                <a:srgbClr val="1D1D1A"/>
              </a:solidFill>
            </a:endParaRPr>
          </a:p>
          <a:p>
            <a:pPr marL="342900">
              <a:spcAft>
                <a:spcPts val="1600"/>
              </a:spcAft>
              <a:buFont typeface="Arial"/>
              <a:buAutoNum type="arabicPeriod"/>
            </a:pPr>
            <a:r>
              <a:rPr lang="de" dirty="0" err="1">
                <a:solidFill>
                  <a:srgbClr val="1D1D1A"/>
                </a:solidFill>
              </a:rPr>
              <a:t>Determining</a:t>
            </a:r>
            <a:r>
              <a:rPr lang="de" dirty="0">
                <a:solidFill>
                  <a:srgbClr val="1D1D1A"/>
                </a:solidFill>
              </a:rPr>
              <a:t> </a:t>
            </a:r>
            <a:r>
              <a:rPr lang="de" dirty="0" err="1">
                <a:solidFill>
                  <a:srgbClr val="1D1D1A"/>
                </a:solidFill>
              </a:rPr>
              <a:t>bad</a:t>
            </a:r>
            <a:r>
              <a:rPr lang="de" dirty="0">
                <a:solidFill>
                  <a:srgbClr val="1D1D1A"/>
                </a:solidFill>
              </a:rPr>
              <a:t> </a:t>
            </a:r>
            <a:r>
              <a:rPr lang="de" dirty="0" err="1">
                <a:solidFill>
                  <a:srgbClr val="1D1D1A"/>
                </a:solidFill>
              </a:rPr>
              <a:t>characters</a:t>
            </a:r>
            <a:endParaRPr lang="de" dirty="0">
              <a:solidFill>
                <a:srgbClr val="1D1D1A"/>
              </a:solidFill>
            </a:endParaRPr>
          </a:p>
          <a:p>
            <a:pPr marL="342900">
              <a:spcAft>
                <a:spcPts val="1600"/>
              </a:spcAft>
              <a:buFont typeface="Arial"/>
              <a:buAutoNum type="arabicPeriod"/>
            </a:pPr>
            <a:r>
              <a:rPr lang="de" dirty="0" err="1">
                <a:solidFill>
                  <a:srgbClr val="1D1D1A"/>
                </a:solidFill>
              </a:rPr>
              <a:t>Injecting</a:t>
            </a:r>
            <a:r>
              <a:rPr lang="de" dirty="0">
                <a:solidFill>
                  <a:srgbClr val="1D1D1A"/>
                </a:solidFill>
              </a:rPr>
              <a:t> </a:t>
            </a:r>
            <a:r>
              <a:rPr lang="de" dirty="0" err="1">
                <a:solidFill>
                  <a:srgbClr val="1D1D1A"/>
                </a:solidFill>
              </a:rPr>
              <a:t>payload</a:t>
            </a:r>
            <a:endParaRPr lang="de" dirty="0">
              <a:solidFill>
                <a:srgbClr val="1D1D1A"/>
              </a:solidFill>
            </a:endParaRPr>
          </a:p>
        </p:txBody>
      </p:sp>
      <p:sp>
        <p:nvSpPr>
          <p:cNvPr id="2" name="TextBox 1">
            <a:extLst>
              <a:ext uri="{FF2B5EF4-FFF2-40B4-BE49-F238E27FC236}">
                <a16:creationId xmlns:a16="http://schemas.microsoft.com/office/drawing/2014/main" id="{6ADDFCB1-2193-2DA5-5A55-2817575151C0}"/>
              </a:ext>
            </a:extLst>
          </p:cNvPr>
          <p:cNvSpPr txBox="1"/>
          <p:nvPr/>
        </p:nvSpPr>
        <p:spPr>
          <a:xfrm>
            <a:off x="5622324" y="4667112"/>
            <a:ext cx="3521676" cy="307777"/>
          </a:xfrm>
          <a:prstGeom prst="rect">
            <a:avLst/>
          </a:prstGeom>
          <a:noFill/>
        </p:spPr>
        <p:txBody>
          <a:bodyPr wrap="square">
            <a:spAutoFit/>
          </a:bodyPr>
          <a:lstStyle/>
          <a:p>
            <a:r>
              <a:rPr lang="en-US" dirty="0">
                <a:solidFill>
                  <a:srgbClr val="1D1D1A"/>
                </a:solidFill>
                <a:latin typeface="Arial" panose="020B0604020202020204" pitchFamily="34" charset="0"/>
                <a:cs typeface="Arial" panose="020B0604020202020204" pitchFamily="34" charset="0"/>
              </a:rPr>
              <a:t>Exploit Public-Facing Application (</a:t>
            </a:r>
            <a:r>
              <a:rPr lang="en-US" dirty="0"/>
              <a:t>T0819</a:t>
            </a:r>
            <a:r>
              <a:rPr lang="en-US" dirty="0">
                <a:solidFill>
                  <a:srgbClr val="1D1D1A"/>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42745868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122F35-92D9-C01E-9642-1070C07265A8}"/>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639C87C4-C33B-48F1-3727-F01D368E88DF}"/>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Methodology</a:t>
            </a:r>
            <a:endParaRPr b="1" dirty="0">
              <a:solidFill>
                <a:srgbClr val="292E60"/>
              </a:solidFill>
            </a:endParaRPr>
          </a:p>
        </p:txBody>
      </p:sp>
      <p:sp>
        <p:nvSpPr>
          <p:cNvPr id="106" name="Google Shape;106;p21">
            <a:extLst>
              <a:ext uri="{FF2B5EF4-FFF2-40B4-BE49-F238E27FC236}">
                <a16:creationId xmlns:a16="http://schemas.microsoft.com/office/drawing/2014/main" id="{6D7DC2DF-D5B0-7992-5D0B-96B85FC159A9}"/>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10</a:t>
            </a:r>
            <a:endParaRPr sz="1000" dirty="0"/>
          </a:p>
        </p:txBody>
      </p:sp>
      <p:pic>
        <p:nvPicPr>
          <p:cNvPr id="107" name="Google Shape;107;p21">
            <a:extLst>
              <a:ext uri="{FF2B5EF4-FFF2-40B4-BE49-F238E27FC236}">
                <a16:creationId xmlns:a16="http://schemas.microsoft.com/office/drawing/2014/main" id="{5546CECD-C0FD-FA18-1777-2DF728F3080A}"/>
              </a:ext>
            </a:extLst>
          </p:cNvPr>
          <p:cNvPicPr preferRelativeResize="0"/>
          <p:nvPr/>
        </p:nvPicPr>
        <p:blipFill>
          <a:blip r:embed="rId3">
            <a:alphaModFix/>
          </a:blip>
          <a:stretch>
            <a:fillRect/>
          </a:stretch>
        </p:blipFill>
        <p:spPr>
          <a:xfrm>
            <a:off x="2592930" y="878900"/>
            <a:ext cx="155800" cy="155800"/>
          </a:xfrm>
          <a:prstGeom prst="rect">
            <a:avLst/>
          </a:prstGeom>
          <a:noFill/>
          <a:ln>
            <a:noFill/>
          </a:ln>
        </p:spPr>
      </p:pic>
      <p:grpSp>
        <p:nvGrpSpPr>
          <p:cNvPr id="9" name="Group 8">
            <a:extLst>
              <a:ext uri="{FF2B5EF4-FFF2-40B4-BE49-F238E27FC236}">
                <a16:creationId xmlns:a16="http://schemas.microsoft.com/office/drawing/2014/main" id="{0FBE7409-0F11-5D43-88C5-53A09C25BCFD}"/>
              </a:ext>
            </a:extLst>
          </p:cNvPr>
          <p:cNvGrpSpPr/>
          <p:nvPr/>
        </p:nvGrpSpPr>
        <p:grpSpPr>
          <a:xfrm>
            <a:off x="1863230" y="1186077"/>
            <a:ext cx="1771003" cy="3466575"/>
            <a:chOff x="1653201" y="493931"/>
            <a:chExt cx="8335926" cy="5938283"/>
          </a:xfrm>
        </p:grpSpPr>
        <p:sp>
          <p:nvSpPr>
            <p:cNvPr id="10" name="Rectangle 9">
              <a:extLst>
                <a:ext uri="{FF2B5EF4-FFF2-40B4-BE49-F238E27FC236}">
                  <a16:creationId xmlns:a16="http://schemas.microsoft.com/office/drawing/2014/main" id="{59877C3D-297A-2556-5503-E1DBB91A421B}"/>
                </a:ext>
              </a:extLst>
            </p:cNvPr>
            <p:cNvSpPr/>
            <p:nvPr/>
          </p:nvSpPr>
          <p:spPr>
            <a:xfrm>
              <a:off x="1653201" y="493931"/>
              <a:ext cx="8335926" cy="304091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Stack</a:t>
              </a:r>
            </a:p>
          </p:txBody>
        </p:sp>
        <p:sp>
          <p:nvSpPr>
            <p:cNvPr id="11" name="Rectangle 10">
              <a:extLst>
                <a:ext uri="{FF2B5EF4-FFF2-40B4-BE49-F238E27FC236}">
                  <a16:creationId xmlns:a16="http://schemas.microsoft.com/office/drawing/2014/main" id="{AADC7AC9-23D4-A587-2A6E-781E767E0455}"/>
                </a:ext>
              </a:extLst>
            </p:cNvPr>
            <p:cNvSpPr/>
            <p:nvPr/>
          </p:nvSpPr>
          <p:spPr>
            <a:xfrm>
              <a:off x="1653201" y="3534842"/>
              <a:ext cx="8335926" cy="967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Frame Pointer</a:t>
              </a:r>
            </a:p>
          </p:txBody>
        </p:sp>
        <p:sp>
          <p:nvSpPr>
            <p:cNvPr id="12" name="Rectangle 11">
              <a:extLst>
                <a:ext uri="{FF2B5EF4-FFF2-40B4-BE49-F238E27FC236}">
                  <a16:creationId xmlns:a16="http://schemas.microsoft.com/office/drawing/2014/main" id="{54BC8E22-2A92-676E-3795-0DB787D68537}"/>
                </a:ext>
              </a:extLst>
            </p:cNvPr>
            <p:cNvSpPr/>
            <p:nvPr/>
          </p:nvSpPr>
          <p:spPr>
            <a:xfrm>
              <a:off x="1653201" y="4502405"/>
              <a:ext cx="8335926" cy="967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Return Address</a:t>
              </a:r>
            </a:p>
          </p:txBody>
        </p:sp>
        <p:sp>
          <p:nvSpPr>
            <p:cNvPr id="13" name="Rectangle 12">
              <a:extLst>
                <a:ext uri="{FF2B5EF4-FFF2-40B4-BE49-F238E27FC236}">
                  <a16:creationId xmlns:a16="http://schemas.microsoft.com/office/drawing/2014/main" id="{2DBB1B32-D47E-F12B-B3BA-2F7F2E6E341E}"/>
                </a:ext>
              </a:extLst>
            </p:cNvPr>
            <p:cNvSpPr/>
            <p:nvPr/>
          </p:nvSpPr>
          <p:spPr>
            <a:xfrm>
              <a:off x="1653201" y="5464651"/>
              <a:ext cx="8335926" cy="967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Caller - Stack Frame</a:t>
              </a:r>
            </a:p>
          </p:txBody>
        </p:sp>
      </p:grpSp>
      <p:grpSp>
        <p:nvGrpSpPr>
          <p:cNvPr id="14" name="Group 13">
            <a:extLst>
              <a:ext uri="{FF2B5EF4-FFF2-40B4-BE49-F238E27FC236}">
                <a16:creationId xmlns:a16="http://schemas.microsoft.com/office/drawing/2014/main" id="{689F9CF4-489E-AED2-F617-41D732BF0F53}"/>
              </a:ext>
            </a:extLst>
          </p:cNvPr>
          <p:cNvGrpSpPr/>
          <p:nvPr/>
        </p:nvGrpSpPr>
        <p:grpSpPr>
          <a:xfrm>
            <a:off x="5001607" y="1186077"/>
            <a:ext cx="1771003" cy="3466575"/>
            <a:chOff x="1653201" y="493931"/>
            <a:chExt cx="8335926" cy="5938283"/>
          </a:xfrm>
        </p:grpSpPr>
        <p:sp>
          <p:nvSpPr>
            <p:cNvPr id="15" name="Rectangle 14">
              <a:extLst>
                <a:ext uri="{FF2B5EF4-FFF2-40B4-BE49-F238E27FC236}">
                  <a16:creationId xmlns:a16="http://schemas.microsoft.com/office/drawing/2014/main" id="{58C51D75-FF0D-B977-AB77-4527A570BB45}"/>
                </a:ext>
              </a:extLst>
            </p:cNvPr>
            <p:cNvSpPr/>
            <p:nvPr/>
          </p:nvSpPr>
          <p:spPr>
            <a:xfrm>
              <a:off x="1653201" y="493931"/>
              <a:ext cx="8335926" cy="304091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Aa0Aa1Aa2Aa3Aa4Aa5Aa6Aa7Aa8Aa9Ab0Ab1Ab2Ab3Ab4Ab5Ab6Ab7Ab8Ab9Ac0Ac1Ac2Ac3Ac4Ac5Ac6Ac7Ac8Ac9Ad0Ad1Ad2Ad3Ad4</a:t>
              </a:r>
            </a:p>
          </p:txBody>
        </p:sp>
        <p:sp>
          <p:nvSpPr>
            <p:cNvPr id="16" name="Rectangle 15">
              <a:extLst>
                <a:ext uri="{FF2B5EF4-FFF2-40B4-BE49-F238E27FC236}">
                  <a16:creationId xmlns:a16="http://schemas.microsoft.com/office/drawing/2014/main" id="{C29C11E5-0B4A-77DF-85B4-E71D0BF1914B}"/>
                </a:ext>
              </a:extLst>
            </p:cNvPr>
            <p:cNvSpPr/>
            <p:nvPr/>
          </p:nvSpPr>
          <p:spPr>
            <a:xfrm>
              <a:off x="1653201" y="3534842"/>
              <a:ext cx="8335926" cy="967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Ad5Ad6Ad7Ad8Ad9</a:t>
              </a:r>
            </a:p>
          </p:txBody>
        </p:sp>
        <p:sp>
          <p:nvSpPr>
            <p:cNvPr id="17" name="Rectangle 16">
              <a:extLst>
                <a:ext uri="{FF2B5EF4-FFF2-40B4-BE49-F238E27FC236}">
                  <a16:creationId xmlns:a16="http://schemas.microsoft.com/office/drawing/2014/main" id="{91A5D60B-E125-6860-0AFB-F82C4DBF97EE}"/>
                </a:ext>
              </a:extLst>
            </p:cNvPr>
            <p:cNvSpPr/>
            <p:nvPr/>
          </p:nvSpPr>
          <p:spPr>
            <a:xfrm>
              <a:off x="1653201" y="4502405"/>
              <a:ext cx="8335926" cy="967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D51763"/>
                  </a:solidFill>
                </a:rPr>
                <a:t>Ae0Ae1Ae2Ae3Ae</a:t>
              </a:r>
            </a:p>
          </p:txBody>
        </p:sp>
        <p:sp>
          <p:nvSpPr>
            <p:cNvPr id="18" name="Rectangle 17">
              <a:extLst>
                <a:ext uri="{FF2B5EF4-FFF2-40B4-BE49-F238E27FC236}">
                  <a16:creationId xmlns:a16="http://schemas.microsoft.com/office/drawing/2014/main" id="{BD57A26F-EF44-48B4-02BC-04C45964A33C}"/>
                </a:ext>
              </a:extLst>
            </p:cNvPr>
            <p:cNvSpPr/>
            <p:nvPr/>
          </p:nvSpPr>
          <p:spPr>
            <a:xfrm>
              <a:off x="1653201" y="5464651"/>
              <a:ext cx="8335926" cy="967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4Ae5Ae6Ae7Ae8Ae</a:t>
              </a:r>
            </a:p>
          </p:txBody>
        </p:sp>
      </p:grpSp>
      <p:sp>
        <p:nvSpPr>
          <p:cNvPr id="25" name="Right Arrow 24">
            <a:extLst>
              <a:ext uri="{FF2B5EF4-FFF2-40B4-BE49-F238E27FC236}">
                <a16:creationId xmlns:a16="http://schemas.microsoft.com/office/drawing/2014/main" id="{0A8BC530-D75F-A427-4E1E-36AE5F9C00AD}"/>
              </a:ext>
            </a:extLst>
          </p:cNvPr>
          <p:cNvSpPr/>
          <p:nvPr/>
        </p:nvSpPr>
        <p:spPr>
          <a:xfrm>
            <a:off x="3818896" y="2816619"/>
            <a:ext cx="1028700" cy="289283"/>
          </a:xfrm>
          <a:prstGeom prst="rightArrow">
            <a:avLst/>
          </a:prstGeom>
          <a:solidFill>
            <a:srgbClr val="292E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020650D-8724-B39D-F52E-B8FAA4F7B88F}"/>
              </a:ext>
            </a:extLst>
          </p:cNvPr>
          <p:cNvSpPr txBox="1"/>
          <p:nvPr/>
        </p:nvSpPr>
        <p:spPr>
          <a:xfrm>
            <a:off x="3755118" y="2534941"/>
            <a:ext cx="1028700" cy="307777"/>
          </a:xfrm>
          <a:prstGeom prst="rect">
            <a:avLst/>
          </a:prstGeom>
          <a:noFill/>
        </p:spPr>
        <p:txBody>
          <a:bodyPr wrap="square" rtlCol="0">
            <a:spAutoFit/>
          </a:bodyPr>
          <a:lstStyle/>
          <a:p>
            <a:pPr algn="ctr"/>
            <a:r>
              <a:rPr lang="en-US" dirty="0"/>
              <a:t>Unique</a:t>
            </a:r>
          </a:p>
        </p:txBody>
      </p:sp>
      <p:sp>
        <p:nvSpPr>
          <p:cNvPr id="3" name="TextBox 2">
            <a:extLst>
              <a:ext uri="{FF2B5EF4-FFF2-40B4-BE49-F238E27FC236}">
                <a16:creationId xmlns:a16="http://schemas.microsoft.com/office/drawing/2014/main" id="{C4A2B227-F7D4-89CC-C64D-268EE8AF2AED}"/>
              </a:ext>
            </a:extLst>
          </p:cNvPr>
          <p:cNvSpPr txBox="1"/>
          <p:nvPr/>
        </p:nvSpPr>
        <p:spPr>
          <a:xfrm>
            <a:off x="3736304" y="3084040"/>
            <a:ext cx="1028700" cy="307777"/>
          </a:xfrm>
          <a:prstGeom prst="rect">
            <a:avLst/>
          </a:prstGeom>
          <a:noFill/>
        </p:spPr>
        <p:txBody>
          <a:bodyPr wrap="square" rtlCol="0">
            <a:spAutoFit/>
          </a:bodyPr>
          <a:lstStyle/>
          <a:p>
            <a:pPr algn="ctr"/>
            <a:r>
              <a:rPr lang="en-US" dirty="0"/>
              <a:t>Pattern</a:t>
            </a:r>
          </a:p>
        </p:txBody>
      </p:sp>
    </p:spTree>
    <p:extLst>
      <p:ext uri="{BB962C8B-B14F-4D97-AF65-F5344CB8AC3E}">
        <p14:creationId xmlns:p14="http://schemas.microsoft.com/office/powerpoint/2010/main" val="2612059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E0E2393C-8656-63DA-ADF4-07C6D8DFC94E}"/>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8B0CAA91-2F4D-403D-9DAA-076F0D9A0CA6}"/>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11</a:t>
            </a:r>
            <a:endParaRPr sz="1000" dirty="0"/>
          </a:p>
        </p:txBody>
      </p:sp>
      <p:sp>
        <p:nvSpPr>
          <p:cNvPr id="4" name="Google Shape;104;p21">
            <a:extLst>
              <a:ext uri="{FF2B5EF4-FFF2-40B4-BE49-F238E27FC236}">
                <a16:creationId xmlns:a16="http://schemas.microsoft.com/office/drawing/2014/main" id="{48BF40A5-A0F4-9F3B-D427-13122959C9FA}"/>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Methodology</a:t>
            </a:r>
            <a:endParaRPr b="1" dirty="0">
              <a:solidFill>
                <a:srgbClr val="292E60"/>
              </a:solidFill>
            </a:endParaRPr>
          </a:p>
        </p:txBody>
      </p:sp>
      <p:pic>
        <p:nvPicPr>
          <p:cNvPr id="5" name="Google Shape;107;p21">
            <a:extLst>
              <a:ext uri="{FF2B5EF4-FFF2-40B4-BE49-F238E27FC236}">
                <a16:creationId xmlns:a16="http://schemas.microsoft.com/office/drawing/2014/main" id="{DFDD6008-F79D-87DF-1D39-A68C26958FBE}"/>
              </a:ext>
            </a:extLst>
          </p:cNvPr>
          <p:cNvPicPr preferRelativeResize="0"/>
          <p:nvPr/>
        </p:nvPicPr>
        <p:blipFill>
          <a:blip r:embed="rId3">
            <a:alphaModFix/>
          </a:blip>
          <a:stretch>
            <a:fillRect/>
          </a:stretch>
        </p:blipFill>
        <p:spPr>
          <a:xfrm>
            <a:off x="2592930" y="878900"/>
            <a:ext cx="155800" cy="155800"/>
          </a:xfrm>
          <a:prstGeom prst="rect">
            <a:avLst/>
          </a:prstGeom>
          <a:noFill/>
          <a:ln>
            <a:noFill/>
          </a:ln>
        </p:spPr>
      </p:pic>
      <p:sp>
        <p:nvSpPr>
          <p:cNvPr id="7" name="Google Shape;105;p21">
            <a:extLst>
              <a:ext uri="{FF2B5EF4-FFF2-40B4-BE49-F238E27FC236}">
                <a16:creationId xmlns:a16="http://schemas.microsoft.com/office/drawing/2014/main" id="{D295E9BF-8583-9AB6-6B8F-49D7974D0801}"/>
              </a:ext>
            </a:extLst>
          </p:cNvPr>
          <p:cNvSpPr txBox="1">
            <a:spLocks/>
          </p:cNvSpPr>
          <p:nvPr/>
        </p:nvSpPr>
        <p:spPr>
          <a:xfrm>
            <a:off x="552475" y="1175053"/>
            <a:ext cx="8279700" cy="3416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342900">
              <a:spcAft>
                <a:spcPts val="1600"/>
              </a:spcAft>
              <a:buFont typeface="Arial"/>
              <a:buAutoNum type="arabicPeriod"/>
            </a:pPr>
            <a:r>
              <a:rPr lang="de" dirty="0" err="1">
                <a:solidFill>
                  <a:srgbClr val="1D1D1A"/>
                </a:solidFill>
              </a:rPr>
              <a:t>Inciting</a:t>
            </a:r>
            <a:r>
              <a:rPr lang="de" dirty="0">
                <a:solidFill>
                  <a:srgbClr val="1D1D1A"/>
                </a:solidFill>
              </a:rPr>
              <a:t> a crash</a:t>
            </a:r>
          </a:p>
          <a:p>
            <a:pPr marL="342900">
              <a:spcAft>
                <a:spcPts val="1600"/>
              </a:spcAft>
              <a:buFont typeface="Arial"/>
              <a:buAutoNum type="arabicPeriod"/>
            </a:pPr>
            <a:r>
              <a:rPr lang="de" dirty="0" err="1">
                <a:solidFill>
                  <a:srgbClr val="1D1D1A"/>
                </a:solidFill>
              </a:rPr>
              <a:t>Determining</a:t>
            </a:r>
            <a:r>
              <a:rPr lang="de" dirty="0">
                <a:solidFill>
                  <a:srgbClr val="1D1D1A"/>
                </a:solidFill>
              </a:rPr>
              <a:t> </a:t>
            </a:r>
            <a:r>
              <a:rPr lang="de" dirty="0" err="1">
                <a:solidFill>
                  <a:srgbClr val="1D1D1A"/>
                </a:solidFill>
              </a:rPr>
              <a:t>the</a:t>
            </a:r>
            <a:r>
              <a:rPr lang="de" dirty="0">
                <a:solidFill>
                  <a:srgbClr val="1D1D1A"/>
                </a:solidFill>
              </a:rPr>
              <a:t> </a:t>
            </a:r>
            <a:r>
              <a:rPr lang="de" dirty="0" err="1">
                <a:solidFill>
                  <a:srgbClr val="1D1D1A"/>
                </a:solidFill>
              </a:rPr>
              <a:t>offset</a:t>
            </a:r>
            <a:endParaRPr lang="de" dirty="0">
              <a:solidFill>
                <a:srgbClr val="1D1D1A"/>
              </a:solidFill>
            </a:endParaRPr>
          </a:p>
          <a:p>
            <a:pPr marL="342900">
              <a:spcAft>
                <a:spcPts val="1600"/>
              </a:spcAft>
              <a:buFont typeface="Arial"/>
              <a:buAutoNum type="arabicPeriod"/>
            </a:pPr>
            <a:r>
              <a:rPr lang="de" b="1" dirty="0" err="1">
                <a:solidFill>
                  <a:srgbClr val="1D1D1A"/>
                </a:solidFill>
              </a:rPr>
              <a:t>Determining</a:t>
            </a:r>
            <a:r>
              <a:rPr lang="de" b="1" dirty="0">
                <a:solidFill>
                  <a:srgbClr val="1D1D1A"/>
                </a:solidFill>
              </a:rPr>
              <a:t> </a:t>
            </a:r>
            <a:r>
              <a:rPr lang="de" b="1" dirty="0" err="1">
                <a:solidFill>
                  <a:srgbClr val="1D1D1A"/>
                </a:solidFill>
              </a:rPr>
              <a:t>bad</a:t>
            </a:r>
            <a:r>
              <a:rPr lang="de" b="1" dirty="0">
                <a:solidFill>
                  <a:srgbClr val="1D1D1A"/>
                </a:solidFill>
              </a:rPr>
              <a:t> </a:t>
            </a:r>
            <a:r>
              <a:rPr lang="de" b="1" dirty="0" err="1">
                <a:solidFill>
                  <a:srgbClr val="1D1D1A"/>
                </a:solidFill>
              </a:rPr>
              <a:t>characters</a:t>
            </a:r>
            <a:endParaRPr lang="de" b="1" dirty="0">
              <a:solidFill>
                <a:srgbClr val="1D1D1A"/>
              </a:solidFill>
            </a:endParaRPr>
          </a:p>
          <a:p>
            <a:pPr marL="342900">
              <a:spcAft>
                <a:spcPts val="1600"/>
              </a:spcAft>
              <a:buFont typeface="Arial"/>
              <a:buAutoNum type="arabicPeriod"/>
            </a:pPr>
            <a:r>
              <a:rPr lang="de" dirty="0" err="1">
                <a:solidFill>
                  <a:srgbClr val="1D1D1A"/>
                </a:solidFill>
              </a:rPr>
              <a:t>Injecting</a:t>
            </a:r>
            <a:r>
              <a:rPr lang="de" dirty="0">
                <a:solidFill>
                  <a:srgbClr val="1D1D1A"/>
                </a:solidFill>
              </a:rPr>
              <a:t> </a:t>
            </a:r>
            <a:r>
              <a:rPr lang="de" dirty="0" err="1">
                <a:solidFill>
                  <a:srgbClr val="1D1D1A"/>
                </a:solidFill>
              </a:rPr>
              <a:t>payload</a:t>
            </a:r>
            <a:endParaRPr lang="de" dirty="0">
              <a:solidFill>
                <a:srgbClr val="1D1D1A"/>
              </a:solidFill>
            </a:endParaRPr>
          </a:p>
        </p:txBody>
      </p:sp>
      <p:sp>
        <p:nvSpPr>
          <p:cNvPr id="2" name="TextBox 1">
            <a:extLst>
              <a:ext uri="{FF2B5EF4-FFF2-40B4-BE49-F238E27FC236}">
                <a16:creationId xmlns:a16="http://schemas.microsoft.com/office/drawing/2014/main" id="{EEA0F5AE-2679-44AD-FF43-1FD85B0FE240}"/>
              </a:ext>
            </a:extLst>
          </p:cNvPr>
          <p:cNvSpPr txBox="1"/>
          <p:nvPr/>
        </p:nvSpPr>
        <p:spPr>
          <a:xfrm>
            <a:off x="5622324" y="4667112"/>
            <a:ext cx="3521676" cy="307777"/>
          </a:xfrm>
          <a:prstGeom prst="rect">
            <a:avLst/>
          </a:prstGeom>
          <a:noFill/>
        </p:spPr>
        <p:txBody>
          <a:bodyPr wrap="square">
            <a:spAutoFit/>
          </a:bodyPr>
          <a:lstStyle/>
          <a:p>
            <a:r>
              <a:rPr lang="en-US" dirty="0">
                <a:solidFill>
                  <a:srgbClr val="1D1D1A"/>
                </a:solidFill>
                <a:latin typeface="Arial" panose="020B0604020202020204" pitchFamily="34" charset="0"/>
                <a:cs typeface="Arial" panose="020B0604020202020204" pitchFamily="34" charset="0"/>
              </a:rPr>
              <a:t>Exploit Public-Facing Application (</a:t>
            </a:r>
            <a:r>
              <a:rPr lang="en-US" dirty="0"/>
              <a:t>T0819</a:t>
            </a:r>
            <a:r>
              <a:rPr lang="en-US" dirty="0">
                <a:solidFill>
                  <a:srgbClr val="1D1D1A"/>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940480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EA47016B-EC8E-3ED9-4C91-FE57678EC894}"/>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22FFBFB7-655F-C934-F7AE-35FAEE24229E}"/>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Methodology</a:t>
            </a:r>
            <a:endParaRPr b="1" dirty="0">
              <a:solidFill>
                <a:srgbClr val="292E60"/>
              </a:solidFill>
            </a:endParaRPr>
          </a:p>
        </p:txBody>
      </p:sp>
      <p:sp>
        <p:nvSpPr>
          <p:cNvPr id="106" name="Google Shape;106;p21">
            <a:extLst>
              <a:ext uri="{FF2B5EF4-FFF2-40B4-BE49-F238E27FC236}">
                <a16:creationId xmlns:a16="http://schemas.microsoft.com/office/drawing/2014/main" id="{12A7E82A-EFD6-F2AA-BD6E-4EAED814FF5D}"/>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12</a:t>
            </a:r>
            <a:endParaRPr sz="1000" dirty="0"/>
          </a:p>
        </p:txBody>
      </p:sp>
      <p:pic>
        <p:nvPicPr>
          <p:cNvPr id="107" name="Google Shape;107;p21">
            <a:extLst>
              <a:ext uri="{FF2B5EF4-FFF2-40B4-BE49-F238E27FC236}">
                <a16:creationId xmlns:a16="http://schemas.microsoft.com/office/drawing/2014/main" id="{4DD1ED79-BD12-A0AA-1CCC-FD94AAE2CBCB}"/>
              </a:ext>
            </a:extLst>
          </p:cNvPr>
          <p:cNvPicPr preferRelativeResize="0"/>
          <p:nvPr/>
        </p:nvPicPr>
        <p:blipFill>
          <a:blip r:embed="rId3">
            <a:alphaModFix/>
          </a:blip>
          <a:stretch>
            <a:fillRect/>
          </a:stretch>
        </p:blipFill>
        <p:spPr>
          <a:xfrm>
            <a:off x="2592930" y="878900"/>
            <a:ext cx="155800" cy="155800"/>
          </a:xfrm>
          <a:prstGeom prst="rect">
            <a:avLst/>
          </a:prstGeom>
          <a:noFill/>
          <a:ln>
            <a:noFill/>
          </a:ln>
        </p:spPr>
      </p:pic>
      <p:grpSp>
        <p:nvGrpSpPr>
          <p:cNvPr id="9" name="Group 8">
            <a:extLst>
              <a:ext uri="{FF2B5EF4-FFF2-40B4-BE49-F238E27FC236}">
                <a16:creationId xmlns:a16="http://schemas.microsoft.com/office/drawing/2014/main" id="{5284C67D-C624-589C-DEAB-AB7B6175D09A}"/>
              </a:ext>
            </a:extLst>
          </p:cNvPr>
          <p:cNvGrpSpPr/>
          <p:nvPr/>
        </p:nvGrpSpPr>
        <p:grpSpPr>
          <a:xfrm>
            <a:off x="1863230" y="1231902"/>
            <a:ext cx="1771003" cy="3466575"/>
            <a:chOff x="1653201" y="493931"/>
            <a:chExt cx="8335926" cy="5938283"/>
          </a:xfrm>
        </p:grpSpPr>
        <p:sp>
          <p:nvSpPr>
            <p:cNvPr id="10" name="Rectangle 9">
              <a:extLst>
                <a:ext uri="{FF2B5EF4-FFF2-40B4-BE49-F238E27FC236}">
                  <a16:creationId xmlns:a16="http://schemas.microsoft.com/office/drawing/2014/main" id="{0F2F79FF-DCA6-7660-E4D5-CEAFD45E73A5}"/>
                </a:ext>
              </a:extLst>
            </p:cNvPr>
            <p:cNvSpPr/>
            <p:nvPr/>
          </p:nvSpPr>
          <p:spPr>
            <a:xfrm>
              <a:off x="1653201" y="493931"/>
              <a:ext cx="8335926" cy="304091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Stack</a:t>
              </a:r>
            </a:p>
          </p:txBody>
        </p:sp>
        <p:sp>
          <p:nvSpPr>
            <p:cNvPr id="11" name="Rectangle 10">
              <a:extLst>
                <a:ext uri="{FF2B5EF4-FFF2-40B4-BE49-F238E27FC236}">
                  <a16:creationId xmlns:a16="http://schemas.microsoft.com/office/drawing/2014/main" id="{616BA9F7-3319-FFD1-8F84-6FFE90B08E80}"/>
                </a:ext>
              </a:extLst>
            </p:cNvPr>
            <p:cNvSpPr/>
            <p:nvPr/>
          </p:nvSpPr>
          <p:spPr>
            <a:xfrm>
              <a:off x="1653201" y="3534842"/>
              <a:ext cx="8335926" cy="967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Frame Pointer</a:t>
              </a:r>
            </a:p>
          </p:txBody>
        </p:sp>
        <p:sp>
          <p:nvSpPr>
            <p:cNvPr id="12" name="Rectangle 11">
              <a:extLst>
                <a:ext uri="{FF2B5EF4-FFF2-40B4-BE49-F238E27FC236}">
                  <a16:creationId xmlns:a16="http://schemas.microsoft.com/office/drawing/2014/main" id="{07B9247E-9C01-53D4-1876-F85A2052196F}"/>
                </a:ext>
              </a:extLst>
            </p:cNvPr>
            <p:cNvSpPr/>
            <p:nvPr/>
          </p:nvSpPr>
          <p:spPr>
            <a:xfrm>
              <a:off x="1653201" y="4502405"/>
              <a:ext cx="8335926" cy="967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Return Address</a:t>
              </a:r>
            </a:p>
          </p:txBody>
        </p:sp>
        <p:sp>
          <p:nvSpPr>
            <p:cNvPr id="13" name="Rectangle 12">
              <a:extLst>
                <a:ext uri="{FF2B5EF4-FFF2-40B4-BE49-F238E27FC236}">
                  <a16:creationId xmlns:a16="http://schemas.microsoft.com/office/drawing/2014/main" id="{861537F4-7AAB-70E7-093F-B4014997EC90}"/>
                </a:ext>
              </a:extLst>
            </p:cNvPr>
            <p:cNvSpPr/>
            <p:nvPr/>
          </p:nvSpPr>
          <p:spPr>
            <a:xfrm>
              <a:off x="1653201" y="5464651"/>
              <a:ext cx="8335926" cy="967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Caller - Stack Frame</a:t>
              </a:r>
            </a:p>
          </p:txBody>
        </p:sp>
      </p:grpSp>
      <p:grpSp>
        <p:nvGrpSpPr>
          <p:cNvPr id="14" name="Group 13">
            <a:extLst>
              <a:ext uri="{FF2B5EF4-FFF2-40B4-BE49-F238E27FC236}">
                <a16:creationId xmlns:a16="http://schemas.microsoft.com/office/drawing/2014/main" id="{9E7FE51A-E8A6-502F-668C-541AA079D0CA}"/>
              </a:ext>
            </a:extLst>
          </p:cNvPr>
          <p:cNvGrpSpPr/>
          <p:nvPr/>
        </p:nvGrpSpPr>
        <p:grpSpPr>
          <a:xfrm>
            <a:off x="4935363" y="1237902"/>
            <a:ext cx="1771003" cy="3466575"/>
            <a:chOff x="1653201" y="493931"/>
            <a:chExt cx="8335926" cy="5938283"/>
          </a:xfrm>
        </p:grpSpPr>
        <p:sp>
          <p:nvSpPr>
            <p:cNvPr id="15" name="Rectangle 14">
              <a:extLst>
                <a:ext uri="{FF2B5EF4-FFF2-40B4-BE49-F238E27FC236}">
                  <a16:creationId xmlns:a16="http://schemas.microsoft.com/office/drawing/2014/main" id="{99B6C008-B8AD-346C-FC86-D3BE0A132619}"/>
                </a:ext>
              </a:extLst>
            </p:cNvPr>
            <p:cNvSpPr/>
            <p:nvPr/>
          </p:nvSpPr>
          <p:spPr>
            <a:xfrm>
              <a:off x="1653201" y="493931"/>
              <a:ext cx="8335926" cy="304091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 A A A A A A A A</a:t>
              </a:r>
            </a:p>
            <a:p>
              <a:pPr algn="ctr"/>
              <a:r>
                <a:rPr lang="en-US" dirty="0">
                  <a:solidFill>
                    <a:schemeClr val="tx1"/>
                  </a:solidFill>
                </a:rPr>
                <a:t>A A A A A A A A A</a:t>
              </a:r>
            </a:p>
            <a:p>
              <a:pPr algn="ctr"/>
              <a:r>
                <a:rPr lang="en-US" dirty="0">
                  <a:solidFill>
                    <a:schemeClr val="tx1"/>
                  </a:solidFill>
                </a:rPr>
                <a:t>A A A A A A A A A</a:t>
              </a:r>
            </a:p>
            <a:p>
              <a:pPr algn="ctr"/>
              <a:r>
                <a:rPr lang="en-US" dirty="0">
                  <a:solidFill>
                    <a:schemeClr val="tx1"/>
                  </a:solidFill>
                </a:rPr>
                <a:t>A A A A A A A A A</a:t>
              </a:r>
            </a:p>
            <a:p>
              <a:pPr algn="ctr"/>
              <a:r>
                <a:rPr lang="en-US" dirty="0">
                  <a:solidFill>
                    <a:schemeClr val="tx1"/>
                  </a:solidFill>
                </a:rPr>
                <a:t>A A A A A A A A A</a:t>
              </a:r>
            </a:p>
            <a:p>
              <a:pPr algn="ctr"/>
              <a:r>
                <a:rPr lang="en-US" dirty="0">
                  <a:solidFill>
                    <a:schemeClr val="tx1"/>
                  </a:solidFill>
                </a:rPr>
                <a:t>A A A A A A A A A</a:t>
              </a:r>
            </a:p>
            <a:p>
              <a:pPr algn="ctr"/>
              <a:r>
                <a:rPr lang="en-US" dirty="0">
                  <a:solidFill>
                    <a:schemeClr val="tx1"/>
                  </a:solidFill>
                </a:rPr>
                <a:t>A A A A A A A A A</a:t>
              </a:r>
            </a:p>
          </p:txBody>
        </p:sp>
        <p:sp>
          <p:nvSpPr>
            <p:cNvPr id="16" name="Rectangle 15">
              <a:extLst>
                <a:ext uri="{FF2B5EF4-FFF2-40B4-BE49-F238E27FC236}">
                  <a16:creationId xmlns:a16="http://schemas.microsoft.com/office/drawing/2014/main" id="{0239DCC7-A439-DDB4-E3DD-E75C36B75BD2}"/>
                </a:ext>
              </a:extLst>
            </p:cNvPr>
            <p:cNvSpPr/>
            <p:nvPr/>
          </p:nvSpPr>
          <p:spPr>
            <a:xfrm>
              <a:off x="1653201" y="3534842"/>
              <a:ext cx="8335926" cy="967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 A A A A A A A A</a:t>
              </a:r>
            </a:p>
          </p:txBody>
        </p:sp>
        <p:sp>
          <p:nvSpPr>
            <p:cNvPr id="17" name="Rectangle 16">
              <a:extLst>
                <a:ext uri="{FF2B5EF4-FFF2-40B4-BE49-F238E27FC236}">
                  <a16:creationId xmlns:a16="http://schemas.microsoft.com/office/drawing/2014/main" id="{FA2ABA15-FDF2-8B9E-47A2-34FFC5F434FE}"/>
                </a:ext>
              </a:extLst>
            </p:cNvPr>
            <p:cNvSpPr/>
            <p:nvPr/>
          </p:nvSpPr>
          <p:spPr>
            <a:xfrm>
              <a:off x="1653201" y="4502405"/>
              <a:ext cx="8335926" cy="967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 A A A A A A A A</a:t>
              </a:r>
            </a:p>
          </p:txBody>
        </p:sp>
        <p:sp>
          <p:nvSpPr>
            <p:cNvPr id="18" name="Rectangle 17">
              <a:extLst>
                <a:ext uri="{FF2B5EF4-FFF2-40B4-BE49-F238E27FC236}">
                  <a16:creationId xmlns:a16="http://schemas.microsoft.com/office/drawing/2014/main" id="{9F78260B-6668-CE3D-4C01-D416AB7B87C8}"/>
                </a:ext>
              </a:extLst>
            </p:cNvPr>
            <p:cNvSpPr/>
            <p:nvPr/>
          </p:nvSpPr>
          <p:spPr>
            <a:xfrm>
              <a:off x="1653201" y="5464651"/>
              <a:ext cx="8335926" cy="967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D51763"/>
                  </a:solidFill>
                </a:rPr>
                <a:t>\x00 \x01 \x02 …</a:t>
              </a:r>
            </a:p>
          </p:txBody>
        </p:sp>
      </p:grpSp>
      <p:sp>
        <p:nvSpPr>
          <p:cNvPr id="25" name="Right Arrow 24">
            <a:extLst>
              <a:ext uri="{FF2B5EF4-FFF2-40B4-BE49-F238E27FC236}">
                <a16:creationId xmlns:a16="http://schemas.microsoft.com/office/drawing/2014/main" id="{53890AE7-7406-F47F-07CA-6F6E82AFBF5A}"/>
              </a:ext>
            </a:extLst>
          </p:cNvPr>
          <p:cNvSpPr/>
          <p:nvPr/>
        </p:nvSpPr>
        <p:spPr>
          <a:xfrm>
            <a:off x="3785774" y="2862444"/>
            <a:ext cx="1028700" cy="289283"/>
          </a:xfrm>
          <a:prstGeom prst="rightArrow">
            <a:avLst/>
          </a:prstGeom>
          <a:solidFill>
            <a:srgbClr val="292E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7022A05-7ED5-CBC3-0A3B-7668396AD339}"/>
              </a:ext>
            </a:extLst>
          </p:cNvPr>
          <p:cNvSpPr txBox="1"/>
          <p:nvPr/>
        </p:nvSpPr>
        <p:spPr>
          <a:xfrm>
            <a:off x="3753885" y="2573923"/>
            <a:ext cx="1028700" cy="307777"/>
          </a:xfrm>
          <a:prstGeom prst="rect">
            <a:avLst/>
          </a:prstGeom>
          <a:noFill/>
        </p:spPr>
        <p:txBody>
          <a:bodyPr wrap="square" rtlCol="0">
            <a:spAutoFit/>
          </a:bodyPr>
          <a:lstStyle/>
          <a:p>
            <a:pPr algn="ctr"/>
            <a:r>
              <a:rPr lang="en-US" dirty="0"/>
              <a:t>Bad</a:t>
            </a:r>
          </a:p>
        </p:txBody>
      </p:sp>
      <p:sp>
        <p:nvSpPr>
          <p:cNvPr id="5" name="TextBox 4">
            <a:extLst>
              <a:ext uri="{FF2B5EF4-FFF2-40B4-BE49-F238E27FC236}">
                <a16:creationId xmlns:a16="http://schemas.microsoft.com/office/drawing/2014/main" id="{B15BB8F1-95EB-CAE7-B8AE-D7CE3DF77E27}"/>
              </a:ext>
            </a:extLst>
          </p:cNvPr>
          <p:cNvSpPr txBox="1"/>
          <p:nvPr/>
        </p:nvSpPr>
        <p:spPr>
          <a:xfrm>
            <a:off x="3753885" y="3123021"/>
            <a:ext cx="1061822" cy="307777"/>
          </a:xfrm>
          <a:prstGeom prst="rect">
            <a:avLst/>
          </a:prstGeom>
          <a:noFill/>
        </p:spPr>
        <p:txBody>
          <a:bodyPr wrap="square" rtlCol="0">
            <a:spAutoFit/>
          </a:bodyPr>
          <a:lstStyle/>
          <a:p>
            <a:pPr algn="ctr"/>
            <a:r>
              <a:rPr lang="en-US" dirty="0"/>
              <a:t>Characters</a:t>
            </a:r>
          </a:p>
        </p:txBody>
      </p:sp>
    </p:spTree>
    <p:extLst>
      <p:ext uri="{BB962C8B-B14F-4D97-AF65-F5344CB8AC3E}">
        <p14:creationId xmlns:p14="http://schemas.microsoft.com/office/powerpoint/2010/main" val="1662832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EA3C993D-714B-8E5C-192E-5A9D1931F20B}"/>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312D74FE-5E5E-AC20-4BD6-B5FFE5B42A89}"/>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13</a:t>
            </a:r>
            <a:endParaRPr sz="1000" dirty="0"/>
          </a:p>
        </p:txBody>
      </p:sp>
      <p:sp>
        <p:nvSpPr>
          <p:cNvPr id="4" name="Google Shape;104;p21">
            <a:extLst>
              <a:ext uri="{FF2B5EF4-FFF2-40B4-BE49-F238E27FC236}">
                <a16:creationId xmlns:a16="http://schemas.microsoft.com/office/drawing/2014/main" id="{89E68F84-A692-AF23-F558-8137AC4710B6}"/>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Methodology</a:t>
            </a:r>
            <a:endParaRPr b="1" dirty="0">
              <a:solidFill>
                <a:srgbClr val="292E60"/>
              </a:solidFill>
            </a:endParaRPr>
          </a:p>
        </p:txBody>
      </p:sp>
      <p:pic>
        <p:nvPicPr>
          <p:cNvPr id="5" name="Google Shape;107;p21">
            <a:extLst>
              <a:ext uri="{FF2B5EF4-FFF2-40B4-BE49-F238E27FC236}">
                <a16:creationId xmlns:a16="http://schemas.microsoft.com/office/drawing/2014/main" id="{F8AA37ED-A585-0FB0-D439-E589438CD14C}"/>
              </a:ext>
            </a:extLst>
          </p:cNvPr>
          <p:cNvPicPr preferRelativeResize="0"/>
          <p:nvPr/>
        </p:nvPicPr>
        <p:blipFill>
          <a:blip r:embed="rId3">
            <a:alphaModFix/>
          </a:blip>
          <a:stretch>
            <a:fillRect/>
          </a:stretch>
        </p:blipFill>
        <p:spPr>
          <a:xfrm>
            <a:off x="2592930" y="878900"/>
            <a:ext cx="155800" cy="155800"/>
          </a:xfrm>
          <a:prstGeom prst="rect">
            <a:avLst/>
          </a:prstGeom>
          <a:noFill/>
          <a:ln>
            <a:noFill/>
          </a:ln>
        </p:spPr>
      </p:pic>
      <p:sp>
        <p:nvSpPr>
          <p:cNvPr id="6" name="Google Shape;105;p21">
            <a:extLst>
              <a:ext uri="{FF2B5EF4-FFF2-40B4-BE49-F238E27FC236}">
                <a16:creationId xmlns:a16="http://schemas.microsoft.com/office/drawing/2014/main" id="{88E1CEF7-9799-68D6-A1E5-01D77A117B90}"/>
              </a:ext>
            </a:extLst>
          </p:cNvPr>
          <p:cNvSpPr txBox="1">
            <a:spLocks noGrp="1"/>
          </p:cNvSpPr>
          <p:nvPr>
            <p:ph type="body" idx="1"/>
          </p:nvPr>
        </p:nvSpPr>
        <p:spPr>
          <a:xfrm>
            <a:off x="552475" y="1175053"/>
            <a:ext cx="8279700" cy="3416400"/>
          </a:xfrm>
          <a:prstGeom prst="rect">
            <a:avLst/>
          </a:prstGeom>
        </p:spPr>
        <p:txBody>
          <a:bodyPr spcFirstLastPara="1" wrap="square" lIns="91425" tIns="91425" rIns="91425" bIns="91425" anchor="t" anchorCtr="0">
            <a:noAutofit/>
          </a:bodyPr>
          <a:lstStyle/>
          <a:p>
            <a:pPr marL="342900">
              <a:spcAft>
                <a:spcPts val="1600"/>
              </a:spcAft>
              <a:buAutoNum type="arabicPeriod"/>
            </a:pPr>
            <a:r>
              <a:rPr lang="de" dirty="0" err="1">
                <a:solidFill>
                  <a:srgbClr val="1D1D1A"/>
                </a:solidFill>
              </a:rPr>
              <a:t>Inciting</a:t>
            </a:r>
            <a:r>
              <a:rPr lang="de" dirty="0">
                <a:solidFill>
                  <a:srgbClr val="1D1D1A"/>
                </a:solidFill>
              </a:rPr>
              <a:t> a crash</a:t>
            </a:r>
          </a:p>
          <a:p>
            <a:pPr marL="342900">
              <a:spcAft>
                <a:spcPts val="1600"/>
              </a:spcAft>
              <a:buAutoNum type="arabicPeriod"/>
            </a:pPr>
            <a:r>
              <a:rPr lang="de" dirty="0" err="1">
                <a:solidFill>
                  <a:srgbClr val="1D1D1A"/>
                </a:solidFill>
              </a:rPr>
              <a:t>Determining</a:t>
            </a:r>
            <a:r>
              <a:rPr lang="de" dirty="0">
                <a:solidFill>
                  <a:srgbClr val="1D1D1A"/>
                </a:solidFill>
              </a:rPr>
              <a:t> </a:t>
            </a:r>
            <a:r>
              <a:rPr lang="de" dirty="0" err="1">
                <a:solidFill>
                  <a:srgbClr val="1D1D1A"/>
                </a:solidFill>
              </a:rPr>
              <a:t>the</a:t>
            </a:r>
            <a:r>
              <a:rPr lang="de" dirty="0">
                <a:solidFill>
                  <a:srgbClr val="1D1D1A"/>
                </a:solidFill>
              </a:rPr>
              <a:t> </a:t>
            </a:r>
            <a:r>
              <a:rPr lang="de" dirty="0" err="1">
                <a:solidFill>
                  <a:srgbClr val="1D1D1A"/>
                </a:solidFill>
              </a:rPr>
              <a:t>offset</a:t>
            </a:r>
            <a:endParaRPr lang="de" dirty="0">
              <a:solidFill>
                <a:srgbClr val="1D1D1A"/>
              </a:solidFill>
            </a:endParaRPr>
          </a:p>
          <a:p>
            <a:pPr marL="342900">
              <a:spcAft>
                <a:spcPts val="1600"/>
              </a:spcAft>
              <a:buAutoNum type="arabicPeriod"/>
            </a:pPr>
            <a:r>
              <a:rPr lang="de" dirty="0" err="1">
                <a:solidFill>
                  <a:srgbClr val="1D1D1A"/>
                </a:solidFill>
              </a:rPr>
              <a:t>Determining</a:t>
            </a:r>
            <a:r>
              <a:rPr lang="de" dirty="0">
                <a:solidFill>
                  <a:srgbClr val="1D1D1A"/>
                </a:solidFill>
              </a:rPr>
              <a:t> </a:t>
            </a:r>
            <a:r>
              <a:rPr lang="de" dirty="0" err="1">
                <a:solidFill>
                  <a:srgbClr val="1D1D1A"/>
                </a:solidFill>
              </a:rPr>
              <a:t>bad</a:t>
            </a:r>
            <a:r>
              <a:rPr lang="de" dirty="0">
                <a:solidFill>
                  <a:srgbClr val="1D1D1A"/>
                </a:solidFill>
              </a:rPr>
              <a:t> </a:t>
            </a:r>
            <a:r>
              <a:rPr lang="de" dirty="0" err="1">
                <a:solidFill>
                  <a:srgbClr val="1D1D1A"/>
                </a:solidFill>
              </a:rPr>
              <a:t>characters</a:t>
            </a:r>
            <a:endParaRPr lang="de" dirty="0">
              <a:solidFill>
                <a:srgbClr val="1D1D1A"/>
              </a:solidFill>
            </a:endParaRPr>
          </a:p>
          <a:p>
            <a:pPr marL="342900">
              <a:spcAft>
                <a:spcPts val="1600"/>
              </a:spcAft>
              <a:buAutoNum type="arabicPeriod"/>
            </a:pPr>
            <a:r>
              <a:rPr lang="de" b="1" dirty="0" err="1">
                <a:solidFill>
                  <a:srgbClr val="1D1D1A"/>
                </a:solidFill>
              </a:rPr>
              <a:t>Injecting</a:t>
            </a:r>
            <a:r>
              <a:rPr lang="de" b="1" dirty="0">
                <a:solidFill>
                  <a:srgbClr val="1D1D1A"/>
                </a:solidFill>
              </a:rPr>
              <a:t> </a:t>
            </a:r>
            <a:r>
              <a:rPr lang="de" b="1" dirty="0" err="1">
                <a:solidFill>
                  <a:srgbClr val="1D1D1A"/>
                </a:solidFill>
              </a:rPr>
              <a:t>payload</a:t>
            </a:r>
            <a:endParaRPr lang="de" b="1" dirty="0">
              <a:solidFill>
                <a:srgbClr val="1D1D1A"/>
              </a:solidFill>
            </a:endParaRPr>
          </a:p>
        </p:txBody>
      </p:sp>
      <p:sp>
        <p:nvSpPr>
          <p:cNvPr id="3" name="TextBox 2">
            <a:extLst>
              <a:ext uri="{FF2B5EF4-FFF2-40B4-BE49-F238E27FC236}">
                <a16:creationId xmlns:a16="http://schemas.microsoft.com/office/drawing/2014/main" id="{C28F789C-4467-67F2-3565-C274380C3751}"/>
              </a:ext>
            </a:extLst>
          </p:cNvPr>
          <p:cNvSpPr txBox="1"/>
          <p:nvPr/>
        </p:nvSpPr>
        <p:spPr>
          <a:xfrm>
            <a:off x="2916197" y="4667112"/>
            <a:ext cx="6227805" cy="307777"/>
          </a:xfrm>
          <a:prstGeom prst="rect">
            <a:avLst/>
          </a:prstGeom>
          <a:noFill/>
        </p:spPr>
        <p:txBody>
          <a:bodyPr wrap="square">
            <a:spAutoFit/>
          </a:bodyPr>
          <a:lstStyle/>
          <a:p>
            <a:r>
              <a:rPr lang="en-US" dirty="0"/>
              <a:t>Command and Scripting Interpreter: Windows Command Shell </a:t>
            </a:r>
            <a:r>
              <a:rPr lang="en-US" dirty="0">
                <a:solidFill>
                  <a:srgbClr val="1D1D1A"/>
                </a:solidFill>
                <a:latin typeface="Arial" panose="020B0604020202020204" pitchFamily="34" charset="0"/>
                <a:cs typeface="Arial" panose="020B0604020202020204" pitchFamily="34" charset="0"/>
              </a:rPr>
              <a:t>(</a:t>
            </a:r>
            <a:r>
              <a:rPr lang="en-US" dirty="0"/>
              <a:t>T1059.003</a:t>
            </a:r>
            <a:r>
              <a:rPr lang="en-US" dirty="0">
                <a:solidFill>
                  <a:srgbClr val="1D1D1A"/>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3733593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2E9A7D0A-2BE6-DF51-48E2-2ABD4F4B47F3}"/>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884CDE59-D07E-49E5-5015-FE309A1A5122}"/>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Methodology</a:t>
            </a:r>
            <a:endParaRPr b="1" dirty="0">
              <a:solidFill>
                <a:srgbClr val="292E60"/>
              </a:solidFill>
            </a:endParaRPr>
          </a:p>
        </p:txBody>
      </p:sp>
      <p:sp>
        <p:nvSpPr>
          <p:cNvPr id="106" name="Google Shape;106;p21">
            <a:extLst>
              <a:ext uri="{FF2B5EF4-FFF2-40B4-BE49-F238E27FC236}">
                <a16:creationId xmlns:a16="http://schemas.microsoft.com/office/drawing/2014/main" id="{F54C0992-AF45-9489-4547-70623AFA82A2}"/>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14</a:t>
            </a:r>
            <a:endParaRPr sz="1000" dirty="0"/>
          </a:p>
        </p:txBody>
      </p:sp>
      <p:pic>
        <p:nvPicPr>
          <p:cNvPr id="107" name="Google Shape;107;p21">
            <a:extLst>
              <a:ext uri="{FF2B5EF4-FFF2-40B4-BE49-F238E27FC236}">
                <a16:creationId xmlns:a16="http://schemas.microsoft.com/office/drawing/2014/main" id="{4CC77AA5-4076-029B-C0EA-4C1ADCAFF259}"/>
              </a:ext>
            </a:extLst>
          </p:cNvPr>
          <p:cNvPicPr preferRelativeResize="0"/>
          <p:nvPr/>
        </p:nvPicPr>
        <p:blipFill>
          <a:blip r:embed="rId3">
            <a:alphaModFix/>
          </a:blip>
          <a:stretch>
            <a:fillRect/>
          </a:stretch>
        </p:blipFill>
        <p:spPr>
          <a:xfrm>
            <a:off x="2592930" y="878900"/>
            <a:ext cx="155800" cy="155800"/>
          </a:xfrm>
          <a:prstGeom prst="rect">
            <a:avLst/>
          </a:prstGeom>
          <a:noFill/>
          <a:ln>
            <a:noFill/>
          </a:ln>
        </p:spPr>
      </p:pic>
      <p:grpSp>
        <p:nvGrpSpPr>
          <p:cNvPr id="9" name="Group 8">
            <a:extLst>
              <a:ext uri="{FF2B5EF4-FFF2-40B4-BE49-F238E27FC236}">
                <a16:creationId xmlns:a16="http://schemas.microsoft.com/office/drawing/2014/main" id="{6A1986E6-A99F-9D79-18F4-5E51C4158487}"/>
              </a:ext>
            </a:extLst>
          </p:cNvPr>
          <p:cNvGrpSpPr/>
          <p:nvPr/>
        </p:nvGrpSpPr>
        <p:grpSpPr>
          <a:xfrm>
            <a:off x="2193002" y="1231902"/>
            <a:ext cx="1771003" cy="3466575"/>
            <a:chOff x="1653201" y="493931"/>
            <a:chExt cx="8335926" cy="5938283"/>
          </a:xfrm>
        </p:grpSpPr>
        <p:sp>
          <p:nvSpPr>
            <p:cNvPr id="10" name="Rectangle 9">
              <a:extLst>
                <a:ext uri="{FF2B5EF4-FFF2-40B4-BE49-F238E27FC236}">
                  <a16:creationId xmlns:a16="http://schemas.microsoft.com/office/drawing/2014/main" id="{BFF36ED8-59CD-D36B-E689-BE7B03E0A094}"/>
                </a:ext>
              </a:extLst>
            </p:cNvPr>
            <p:cNvSpPr/>
            <p:nvPr/>
          </p:nvSpPr>
          <p:spPr>
            <a:xfrm>
              <a:off x="1653201" y="493931"/>
              <a:ext cx="8335926" cy="304091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Stack</a:t>
              </a:r>
            </a:p>
          </p:txBody>
        </p:sp>
        <p:sp>
          <p:nvSpPr>
            <p:cNvPr id="11" name="Rectangle 10">
              <a:extLst>
                <a:ext uri="{FF2B5EF4-FFF2-40B4-BE49-F238E27FC236}">
                  <a16:creationId xmlns:a16="http://schemas.microsoft.com/office/drawing/2014/main" id="{B82A1EB9-B836-9A8B-EB48-3EB5754840BD}"/>
                </a:ext>
              </a:extLst>
            </p:cNvPr>
            <p:cNvSpPr/>
            <p:nvPr/>
          </p:nvSpPr>
          <p:spPr>
            <a:xfrm>
              <a:off x="1653201" y="3534842"/>
              <a:ext cx="8335926" cy="967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Frame Pointer</a:t>
              </a:r>
            </a:p>
          </p:txBody>
        </p:sp>
        <p:sp>
          <p:nvSpPr>
            <p:cNvPr id="12" name="Rectangle 11">
              <a:extLst>
                <a:ext uri="{FF2B5EF4-FFF2-40B4-BE49-F238E27FC236}">
                  <a16:creationId xmlns:a16="http://schemas.microsoft.com/office/drawing/2014/main" id="{FF32912A-4283-36FB-7458-3D6A0950F000}"/>
                </a:ext>
              </a:extLst>
            </p:cNvPr>
            <p:cNvSpPr/>
            <p:nvPr/>
          </p:nvSpPr>
          <p:spPr>
            <a:xfrm>
              <a:off x="1653201" y="4502405"/>
              <a:ext cx="8335926" cy="967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Return Address</a:t>
              </a:r>
            </a:p>
          </p:txBody>
        </p:sp>
        <p:sp>
          <p:nvSpPr>
            <p:cNvPr id="13" name="Rectangle 12">
              <a:extLst>
                <a:ext uri="{FF2B5EF4-FFF2-40B4-BE49-F238E27FC236}">
                  <a16:creationId xmlns:a16="http://schemas.microsoft.com/office/drawing/2014/main" id="{A8E2D03E-6940-41E3-D274-E5882B5A3F71}"/>
                </a:ext>
              </a:extLst>
            </p:cNvPr>
            <p:cNvSpPr/>
            <p:nvPr/>
          </p:nvSpPr>
          <p:spPr>
            <a:xfrm>
              <a:off x="1653201" y="5464651"/>
              <a:ext cx="8335926" cy="967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Caller - Stack Frame</a:t>
              </a:r>
            </a:p>
          </p:txBody>
        </p:sp>
      </p:grpSp>
      <p:grpSp>
        <p:nvGrpSpPr>
          <p:cNvPr id="14" name="Group 13">
            <a:extLst>
              <a:ext uri="{FF2B5EF4-FFF2-40B4-BE49-F238E27FC236}">
                <a16:creationId xmlns:a16="http://schemas.microsoft.com/office/drawing/2014/main" id="{5A86C483-D3E9-6536-650F-77FA6D7D26FC}"/>
              </a:ext>
            </a:extLst>
          </p:cNvPr>
          <p:cNvGrpSpPr/>
          <p:nvPr/>
        </p:nvGrpSpPr>
        <p:grpSpPr>
          <a:xfrm>
            <a:off x="5265135" y="1237902"/>
            <a:ext cx="1771003" cy="3466575"/>
            <a:chOff x="1653201" y="493931"/>
            <a:chExt cx="8335926" cy="5938283"/>
          </a:xfrm>
        </p:grpSpPr>
        <p:sp>
          <p:nvSpPr>
            <p:cNvPr id="15" name="Rectangle 14">
              <a:extLst>
                <a:ext uri="{FF2B5EF4-FFF2-40B4-BE49-F238E27FC236}">
                  <a16:creationId xmlns:a16="http://schemas.microsoft.com/office/drawing/2014/main" id="{42A5CDED-4159-3CDA-6933-16D26DA2170C}"/>
                </a:ext>
              </a:extLst>
            </p:cNvPr>
            <p:cNvSpPr/>
            <p:nvPr/>
          </p:nvSpPr>
          <p:spPr>
            <a:xfrm>
              <a:off x="1653201" y="493931"/>
              <a:ext cx="8335926" cy="304091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 A A A A A A A A</a:t>
              </a:r>
            </a:p>
            <a:p>
              <a:pPr algn="ctr"/>
              <a:r>
                <a:rPr lang="en-US" dirty="0">
                  <a:solidFill>
                    <a:schemeClr val="tx1"/>
                  </a:solidFill>
                </a:rPr>
                <a:t>A A A A A A A A A</a:t>
              </a:r>
            </a:p>
            <a:p>
              <a:pPr algn="ctr"/>
              <a:r>
                <a:rPr lang="en-US" dirty="0">
                  <a:solidFill>
                    <a:schemeClr val="tx1"/>
                  </a:solidFill>
                </a:rPr>
                <a:t>A A A A A A A A A</a:t>
              </a:r>
            </a:p>
            <a:p>
              <a:pPr algn="ctr"/>
              <a:r>
                <a:rPr lang="en-US" dirty="0">
                  <a:solidFill>
                    <a:schemeClr val="tx1"/>
                  </a:solidFill>
                </a:rPr>
                <a:t>A A A A A A A A A</a:t>
              </a:r>
            </a:p>
            <a:p>
              <a:pPr algn="ctr"/>
              <a:r>
                <a:rPr lang="en-US" dirty="0">
                  <a:solidFill>
                    <a:schemeClr val="tx1"/>
                  </a:solidFill>
                </a:rPr>
                <a:t>A A A A A A A A A</a:t>
              </a:r>
            </a:p>
            <a:p>
              <a:pPr algn="ctr"/>
              <a:r>
                <a:rPr lang="en-US" dirty="0">
                  <a:solidFill>
                    <a:schemeClr val="tx1"/>
                  </a:solidFill>
                </a:rPr>
                <a:t>A A A A A A A A A</a:t>
              </a:r>
            </a:p>
            <a:p>
              <a:pPr algn="ctr"/>
              <a:r>
                <a:rPr lang="en-US" dirty="0">
                  <a:solidFill>
                    <a:schemeClr val="tx1"/>
                  </a:solidFill>
                </a:rPr>
                <a:t>A A A A A A A A A</a:t>
              </a:r>
            </a:p>
          </p:txBody>
        </p:sp>
        <p:sp>
          <p:nvSpPr>
            <p:cNvPr id="16" name="Rectangle 15">
              <a:extLst>
                <a:ext uri="{FF2B5EF4-FFF2-40B4-BE49-F238E27FC236}">
                  <a16:creationId xmlns:a16="http://schemas.microsoft.com/office/drawing/2014/main" id="{D6A3E9D1-229C-0984-4EA2-BC033B8A8DD4}"/>
                </a:ext>
              </a:extLst>
            </p:cNvPr>
            <p:cNvSpPr/>
            <p:nvPr/>
          </p:nvSpPr>
          <p:spPr>
            <a:xfrm>
              <a:off x="1653201" y="3534842"/>
              <a:ext cx="8335926" cy="967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 A A A A A A A A</a:t>
              </a:r>
            </a:p>
          </p:txBody>
        </p:sp>
        <p:sp>
          <p:nvSpPr>
            <p:cNvPr id="17" name="Rectangle 16">
              <a:extLst>
                <a:ext uri="{FF2B5EF4-FFF2-40B4-BE49-F238E27FC236}">
                  <a16:creationId xmlns:a16="http://schemas.microsoft.com/office/drawing/2014/main" id="{47A1D423-C03F-5EE5-4387-80CF6F6FDE64}"/>
                </a:ext>
              </a:extLst>
            </p:cNvPr>
            <p:cNvSpPr/>
            <p:nvPr/>
          </p:nvSpPr>
          <p:spPr>
            <a:xfrm>
              <a:off x="1653201" y="4502405"/>
              <a:ext cx="8335926" cy="967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D51763"/>
                  </a:solidFill>
                </a:rPr>
                <a:t>JMP ESP</a:t>
              </a:r>
            </a:p>
          </p:txBody>
        </p:sp>
        <p:sp>
          <p:nvSpPr>
            <p:cNvPr id="18" name="Rectangle 17">
              <a:extLst>
                <a:ext uri="{FF2B5EF4-FFF2-40B4-BE49-F238E27FC236}">
                  <a16:creationId xmlns:a16="http://schemas.microsoft.com/office/drawing/2014/main" id="{499EFA87-793F-5515-3CEE-A341A71756F3}"/>
                </a:ext>
              </a:extLst>
            </p:cNvPr>
            <p:cNvSpPr/>
            <p:nvPr/>
          </p:nvSpPr>
          <p:spPr>
            <a:xfrm>
              <a:off x="1653201" y="5464651"/>
              <a:ext cx="8335926" cy="967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D51763"/>
                  </a:solidFill>
                </a:rPr>
                <a:t>Payload</a:t>
              </a:r>
            </a:p>
          </p:txBody>
        </p:sp>
      </p:grpSp>
      <p:sp>
        <p:nvSpPr>
          <p:cNvPr id="25" name="Right Arrow 24">
            <a:extLst>
              <a:ext uri="{FF2B5EF4-FFF2-40B4-BE49-F238E27FC236}">
                <a16:creationId xmlns:a16="http://schemas.microsoft.com/office/drawing/2014/main" id="{85D92DEA-D32B-B93D-160E-5F5E36A6D3F1}"/>
              </a:ext>
            </a:extLst>
          </p:cNvPr>
          <p:cNvSpPr/>
          <p:nvPr/>
        </p:nvSpPr>
        <p:spPr>
          <a:xfrm>
            <a:off x="4115546" y="2862444"/>
            <a:ext cx="1028700" cy="289283"/>
          </a:xfrm>
          <a:prstGeom prst="rightArrow">
            <a:avLst/>
          </a:prstGeom>
          <a:solidFill>
            <a:srgbClr val="292E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DB36106-F0D8-5DB8-6A07-3B4FB7176206}"/>
              </a:ext>
            </a:extLst>
          </p:cNvPr>
          <p:cNvSpPr txBox="1"/>
          <p:nvPr/>
        </p:nvSpPr>
        <p:spPr>
          <a:xfrm>
            <a:off x="4082424" y="2577817"/>
            <a:ext cx="1028700" cy="307777"/>
          </a:xfrm>
          <a:prstGeom prst="rect">
            <a:avLst/>
          </a:prstGeom>
          <a:noFill/>
        </p:spPr>
        <p:txBody>
          <a:bodyPr wrap="square" rtlCol="0">
            <a:spAutoFit/>
          </a:bodyPr>
          <a:lstStyle/>
          <a:p>
            <a:pPr algn="ctr"/>
            <a:r>
              <a:rPr lang="en-US" dirty="0"/>
              <a:t>Attack</a:t>
            </a:r>
          </a:p>
        </p:txBody>
      </p:sp>
      <p:sp>
        <p:nvSpPr>
          <p:cNvPr id="3" name="TextBox 2">
            <a:extLst>
              <a:ext uri="{FF2B5EF4-FFF2-40B4-BE49-F238E27FC236}">
                <a16:creationId xmlns:a16="http://schemas.microsoft.com/office/drawing/2014/main" id="{9FF1A45F-8F40-423A-A2B2-A2E9780FC469}"/>
              </a:ext>
            </a:extLst>
          </p:cNvPr>
          <p:cNvSpPr txBox="1"/>
          <p:nvPr/>
        </p:nvSpPr>
        <p:spPr>
          <a:xfrm>
            <a:off x="4082424" y="3126915"/>
            <a:ext cx="1061822" cy="307777"/>
          </a:xfrm>
          <a:prstGeom prst="rect">
            <a:avLst/>
          </a:prstGeom>
          <a:noFill/>
        </p:spPr>
        <p:txBody>
          <a:bodyPr wrap="square" rtlCol="0">
            <a:spAutoFit/>
          </a:bodyPr>
          <a:lstStyle/>
          <a:p>
            <a:pPr algn="ctr"/>
            <a:r>
              <a:rPr lang="en-US" dirty="0"/>
              <a:t>Execution</a:t>
            </a:r>
          </a:p>
        </p:txBody>
      </p:sp>
    </p:spTree>
    <p:extLst>
      <p:ext uri="{BB962C8B-B14F-4D97-AF65-F5344CB8AC3E}">
        <p14:creationId xmlns:p14="http://schemas.microsoft.com/office/powerpoint/2010/main" val="737911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8D255DBC-4DE8-1FD7-5ADB-384282D697EF}"/>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2584F1CB-8483-30AD-C829-8788CB6DA51C}"/>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Methodology</a:t>
            </a:r>
            <a:endParaRPr b="1" dirty="0">
              <a:solidFill>
                <a:srgbClr val="292E60"/>
              </a:solidFill>
            </a:endParaRPr>
          </a:p>
        </p:txBody>
      </p:sp>
      <p:sp>
        <p:nvSpPr>
          <p:cNvPr id="106" name="Google Shape;106;p21">
            <a:extLst>
              <a:ext uri="{FF2B5EF4-FFF2-40B4-BE49-F238E27FC236}">
                <a16:creationId xmlns:a16="http://schemas.microsoft.com/office/drawing/2014/main" id="{BD92D8B0-7AE3-633A-662F-027544854F8D}"/>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14</a:t>
            </a:r>
            <a:endParaRPr sz="1000" dirty="0"/>
          </a:p>
        </p:txBody>
      </p:sp>
      <p:pic>
        <p:nvPicPr>
          <p:cNvPr id="107" name="Google Shape;107;p21">
            <a:extLst>
              <a:ext uri="{FF2B5EF4-FFF2-40B4-BE49-F238E27FC236}">
                <a16:creationId xmlns:a16="http://schemas.microsoft.com/office/drawing/2014/main" id="{F8E9E9B3-38AB-46C4-A074-F53AB7DAFCE6}"/>
              </a:ext>
            </a:extLst>
          </p:cNvPr>
          <p:cNvPicPr preferRelativeResize="0"/>
          <p:nvPr/>
        </p:nvPicPr>
        <p:blipFill>
          <a:blip r:embed="rId3">
            <a:alphaModFix/>
          </a:blip>
          <a:stretch>
            <a:fillRect/>
          </a:stretch>
        </p:blipFill>
        <p:spPr>
          <a:xfrm>
            <a:off x="2592930" y="878900"/>
            <a:ext cx="155800" cy="155800"/>
          </a:xfrm>
          <a:prstGeom prst="rect">
            <a:avLst/>
          </a:prstGeom>
          <a:noFill/>
          <a:ln>
            <a:noFill/>
          </a:ln>
        </p:spPr>
      </p:pic>
      <p:pic>
        <p:nvPicPr>
          <p:cNvPr id="5" name="Picture 4">
            <a:extLst>
              <a:ext uri="{FF2B5EF4-FFF2-40B4-BE49-F238E27FC236}">
                <a16:creationId xmlns:a16="http://schemas.microsoft.com/office/drawing/2014/main" id="{C248A257-86ED-015D-F488-BF86067CF7FE}"/>
              </a:ext>
            </a:extLst>
          </p:cNvPr>
          <p:cNvPicPr>
            <a:picLocks noChangeAspect="1"/>
          </p:cNvPicPr>
          <p:nvPr/>
        </p:nvPicPr>
        <p:blipFill>
          <a:blip r:embed="rId4"/>
          <a:srcRect r="6751"/>
          <a:stretch>
            <a:fillRect/>
          </a:stretch>
        </p:blipFill>
        <p:spPr>
          <a:xfrm>
            <a:off x="260947" y="1999376"/>
            <a:ext cx="8681740" cy="1482169"/>
          </a:xfrm>
          <a:prstGeom prst="roundRect">
            <a:avLst>
              <a:gd name="adj" fmla="val 4941"/>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contourClr>
              <a:srgbClr val="969696"/>
            </a:contourClr>
          </a:sp3d>
        </p:spPr>
      </p:pic>
    </p:spTree>
    <p:extLst>
      <p:ext uri="{BB962C8B-B14F-4D97-AF65-F5344CB8AC3E}">
        <p14:creationId xmlns:p14="http://schemas.microsoft.com/office/powerpoint/2010/main" val="19536921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BA1AD57-EFC9-12D6-55A5-4AAA9A88D18D}"/>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015ADF57-1252-7628-025E-5D94A08DAC96}"/>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a:solidFill>
                  <a:srgbClr val="292E60"/>
                </a:solidFill>
              </a:rPr>
              <a:t>Challenges</a:t>
            </a:r>
            <a:endParaRPr b="1" dirty="0">
              <a:solidFill>
                <a:srgbClr val="292E60"/>
              </a:solidFill>
            </a:endParaRPr>
          </a:p>
        </p:txBody>
      </p:sp>
      <p:sp>
        <p:nvSpPr>
          <p:cNvPr id="105" name="Google Shape;105;p21">
            <a:extLst>
              <a:ext uri="{FF2B5EF4-FFF2-40B4-BE49-F238E27FC236}">
                <a16:creationId xmlns:a16="http://schemas.microsoft.com/office/drawing/2014/main" id="{AE3A40BE-6BCC-0D79-5E0B-4409962A997E}"/>
              </a:ext>
            </a:extLst>
          </p:cNvPr>
          <p:cNvSpPr txBox="1">
            <a:spLocks noGrp="1"/>
          </p:cNvSpPr>
          <p:nvPr>
            <p:ph type="body" idx="1"/>
          </p:nvPr>
        </p:nvSpPr>
        <p:spPr>
          <a:xfrm>
            <a:off x="541186" y="1186066"/>
            <a:ext cx="8279700" cy="3416400"/>
          </a:xfrm>
          <a:prstGeom prst="rect">
            <a:avLst/>
          </a:prstGeom>
        </p:spPr>
        <p:txBody>
          <a:bodyPr spcFirstLastPara="1" wrap="square" lIns="91425" tIns="91425" rIns="91425" bIns="91425" anchor="t" anchorCtr="0">
            <a:noAutofit/>
          </a:bodyPr>
          <a:lstStyle/>
          <a:p>
            <a:pPr marL="285750" indent="-285750">
              <a:spcAft>
                <a:spcPts val="1600"/>
              </a:spcAft>
              <a:buFont typeface="Arial" panose="020B0604020202020204" pitchFamily="34" charset="0"/>
              <a:buChar char="•"/>
            </a:pPr>
            <a:r>
              <a:rPr lang="de" dirty="0">
                <a:solidFill>
                  <a:srgbClr val="1D1D1A"/>
                </a:solidFill>
              </a:rPr>
              <a:t>Operating </a:t>
            </a:r>
            <a:r>
              <a:rPr lang="de" dirty="0" err="1">
                <a:solidFill>
                  <a:srgbClr val="1D1D1A"/>
                </a:solidFill>
              </a:rPr>
              <a:t>the</a:t>
            </a:r>
            <a:r>
              <a:rPr lang="de" dirty="0">
                <a:solidFill>
                  <a:srgbClr val="1D1D1A"/>
                </a:solidFill>
              </a:rPr>
              <a:t> </a:t>
            </a:r>
            <a:r>
              <a:rPr lang="de" dirty="0" err="1">
                <a:solidFill>
                  <a:srgbClr val="1D1D1A"/>
                </a:solidFill>
              </a:rPr>
              <a:t>debugger</a:t>
            </a:r>
            <a:endParaRPr lang="de" dirty="0">
              <a:solidFill>
                <a:srgbClr val="1D1D1A"/>
              </a:solidFill>
            </a:endParaRPr>
          </a:p>
          <a:p>
            <a:pPr marL="285750" indent="-285750">
              <a:spcAft>
                <a:spcPts val="1600"/>
              </a:spcAft>
              <a:buFont typeface="Arial" panose="020B0604020202020204" pitchFamily="34" charset="0"/>
              <a:buChar char="•"/>
            </a:pPr>
            <a:r>
              <a:rPr lang="de" dirty="0">
                <a:solidFill>
                  <a:srgbClr val="1D1D1A"/>
                </a:solidFill>
              </a:rPr>
              <a:t>Attention </a:t>
            </a:r>
            <a:r>
              <a:rPr lang="de" dirty="0" err="1">
                <a:solidFill>
                  <a:srgbClr val="1D1D1A"/>
                </a:solidFill>
              </a:rPr>
              <a:t>to</a:t>
            </a:r>
            <a:r>
              <a:rPr lang="de" dirty="0">
                <a:solidFill>
                  <a:srgbClr val="1D1D1A"/>
                </a:solidFill>
              </a:rPr>
              <a:t> </a:t>
            </a:r>
            <a:r>
              <a:rPr lang="de" dirty="0" err="1">
                <a:solidFill>
                  <a:srgbClr val="1D1D1A"/>
                </a:solidFill>
              </a:rPr>
              <a:t>detail</a:t>
            </a:r>
            <a:r>
              <a:rPr lang="de" dirty="0">
                <a:solidFill>
                  <a:srgbClr val="1D1D1A"/>
                </a:solidFill>
              </a:rPr>
              <a:t> (e.g. </a:t>
            </a:r>
            <a:r>
              <a:rPr lang="de" dirty="0" err="1">
                <a:solidFill>
                  <a:srgbClr val="1D1D1A"/>
                </a:solidFill>
              </a:rPr>
              <a:t>missing</a:t>
            </a:r>
            <a:r>
              <a:rPr lang="de" dirty="0">
                <a:solidFill>
                  <a:srgbClr val="1D1D1A"/>
                </a:solidFill>
              </a:rPr>
              <a:t> </a:t>
            </a:r>
            <a:r>
              <a:rPr lang="de" dirty="0" err="1">
                <a:solidFill>
                  <a:srgbClr val="1D1D1A"/>
                </a:solidFill>
              </a:rPr>
              <a:t>whitespace</a:t>
            </a:r>
            <a:r>
              <a:rPr lang="de" dirty="0">
                <a:solidFill>
                  <a:srgbClr val="1D1D1A"/>
                </a:solidFill>
              </a:rPr>
              <a:t>)</a:t>
            </a:r>
          </a:p>
          <a:p>
            <a:pPr marL="285750" indent="-285750">
              <a:spcAft>
                <a:spcPts val="1600"/>
              </a:spcAft>
              <a:buFont typeface="Arial" panose="020B0604020202020204" pitchFamily="34" charset="0"/>
              <a:buChar char="•"/>
            </a:pPr>
            <a:r>
              <a:rPr lang="de" dirty="0" err="1">
                <a:solidFill>
                  <a:srgbClr val="1D1D1A"/>
                </a:solidFill>
              </a:rPr>
              <a:t>Misunderstanding</a:t>
            </a:r>
            <a:r>
              <a:rPr lang="de" dirty="0">
                <a:solidFill>
                  <a:srgbClr val="1D1D1A"/>
                </a:solidFill>
              </a:rPr>
              <a:t> </a:t>
            </a:r>
            <a:r>
              <a:rPr lang="de" dirty="0" err="1">
                <a:solidFill>
                  <a:srgbClr val="1D1D1A"/>
                </a:solidFill>
              </a:rPr>
              <a:t>the</a:t>
            </a:r>
            <a:r>
              <a:rPr lang="de" dirty="0">
                <a:solidFill>
                  <a:srgbClr val="1D1D1A"/>
                </a:solidFill>
              </a:rPr>
              <a:t> </a:t>
            </a:r>
            <a:r>
              <a:rPr lang="de" dirty="0" err="1">
                <a:solidFill>
                  <a:srgbClr val="1D1D1A"/>
                </a:solidFill>
              </a:rPr>
              <a:t>stack</a:t>
            </a:r>
            <a:r>
              <a:rPr lang="de" dirty="0">
                <a:solidFill>
                  <a:srgbClr val="1D1D1A"/>
                </a:solidFill>
              </a:rPr>
              <a:t> </a:t>
            </a:r>
            <a:r>
              <a:rPr lang="de" dirty="0" err="1">
                <a:solidFill>
                  <a:srgbClr val="1D1D1A"/>
                </a:solidFill>
              </a:rPr>
              <a:t>allocation</a:t>
            </a:r>
            <a:endParaRPr lang="de" dirty="0">
              <a:solidFill>
                <a:srgbClr val="1D1D1A"/>
              </a:solidFill>
            </a:endParaRPr>
          </a:p>
          <a:p>
            <a:pPr marL="285750" indent="-285750">
              <a:spcAft>
                <a:spcPts val="1600"/>
              </a:spcAft>
              <a:buFontTx/>
              <a:buChar char="-"/>
            </a:pPr>
            <a:endParaRPr lang="de" dirty="0">
              <a:solidFill>
                <a:srgbClr val="1D1D1A"/>
              </a:solidFill>
            </a:endParaRPr>
          </a:p>
          <a:p>
            <a:pPr marL="285750" indent="-285750">
              <a:spcAft>
                <a:spcPts val="1600"/>
              </a:spcAft>
              <a:buFontTx/>
              <a:buChar char="-"/>
            </a:pPr>
            <a:endParaRPr dirty="0">
              <a:solidFill>
                <a:srgbClr val="1D1D1A"/>
              </a:solidFill>
            </a:endParaRPr>
          </a:p>
        </p:txBody>
      </p:sp>
      <p:sp>
        <p:nvSpPr>
          <p:cNvPr id="106" name="Google Shape;106;p21">
            <a:extLst>
              <a:ext uri="{FF2B5EF4-FFF2-40B4-BE49-F238E27FC236}">
                <a16:creationId xmlns:a16="http://schemas.microsoft.com/office/drawing/2014/main" id="{1D027045-160D-F125-688F-98BF0980F05C}"/>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15</a:t>
            </a:r>
            <a:endParaRPr sz="1000" dirty="0"/>
          </a:p>
        </p:txBody>
      </p:sp>
      <p:pic>
        <p:nvPicPr>
          <p:cNvPr id="107" name="Google Shape;107;p21">
            <a:extLst>
              <a:ext uri="{FF2B5EF4-FFF2-40B4-BE49-F238E27FC236}">
                <a16:creationId xmlns:a16="http://schemas.microsoft.com/office/drawing/2014/main" id="{D0E21E21-DBED-CC61-E55F-4132C8EC1E36}"/>
              </a:ext>
            </a:extLst>
          </p:cNvPr>
          <p:cNvPicPr preferRelativeResize="0"/>
          <p:nvPr/>
        </p:nvPicPr>
        <p:blipFill>
          <a:blip r:embed="rId3">
            <a:alphaModFix/>
          </a:blip>
          <a:stretch>
            <a:fillRect/>
          </a:stretch>
        </p:blipFill>
        <p:spPr>
          <a:xfrm>
            <a:off x="2287087" y="878900"/>
            <a:ext cx="155800" cy="155800"/>
          </a:xfrm>
          <a:prstGeom prst="rect">
            <a:avLst/>
          </a:prstGeom>
          <a:noFill/>
          <a:ln>
            <a:noFill/>
          </a:ln>
        </p:spPr>
      </p:pic>
    </p:spTree>
    <p:extLst>
      <p:ext uri="{BB962C8B-B14F-4D97-AF65-F5344CB8AC3E}">
        <p14:creationId xmlns:p14="http://schemas.microsoft.com/office/powerpoint/2010/main" val="5527913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7">
          <a:extLst>
            <a:ext uri="{FF2B5EF4-FFF2-40B4-BE49-F238E27FC236}">
              <a16:creationId xmlns:a16="http://schemas.microsoft.com/office/drawing/2014/main" id="{05B7479C-3882-1040-FF7B-3A956685B32D}"/>
            </a:ext>
          </a:extLst>
        </p:cNvPr>
        <p:cNvGrpSpPr/>
        <p:nvPr/>
      </p:nvGrpSpPr>
      <p:grpSpPr>
        <a:xfrm>
          <a:off x="0" y="0"/>
          <a:ext cx="0" cy="0"/>
          <a:chOff x="0" y="0"/>
          <a:chExt cx="0" cy="0"/>
        </a:xfrm>
      </p:grpSpPr>
      <p:sp>
        <p:nvSpPr>
          <p:cNvPr id="98" name="Google Shape;98;p20">
            <a:extLst>
              <a:ext uri="{FF2B5EF4-FFF2-40B4-BE49-F238E27FC236}">
                <a16:creationId xmlns:a16="http://schemas.microsoft.com/office/drawing/2014/main" id="{193FBD44-380B-243C-8406-31B3BD5A29A6}"/>
              </a:ext>
            </a:extLst>
          </p:cNvPr>
          <p:cNvSpPr txBox="1">
            <a:spLocks noGrp="1"/>
          </p:cNvSpPr>
          <p:nvPr>
            <p:ph type="title"/>
          </p:nvPr>
        </p:nvSpPr>
        <p:spPr>
          <a:xfrm>
            <a:off x="3245475" y="2055225"/>
            <a:ext cx="1408800" cy="1189200"/>
          </a:xfrm>
          <a:prstGeom prst="rect">
            <a:avLst/>
          </a:prstGeom>
        </p:spPr>
        <p:txBody>
          <a:bodyPr spcFirstLastPara="1" wrap="square" lIns="91425" tIns="91425" rIns="91425" bIns="91425" anchor="t" anchorCtr="0">
            <a:noAutofit/>
          </a:bodyPr>
          <a:lstStyle/>
          <a:p>
            <a:r>
              <a:rPr lang="de" sz="8000" b="1" dirty="0">
                <a:solidFill>
                  <a:srgbClr val="1D1D1B"/>
                </a:solidFill>
              </a:rPr>
              <a:t>02</a:t>
            </a:r>
            <a:endParaRPr sz="8000" b="1" dirty="0">
              <a:solidFill>
                <a:srgbClr val="1D1D1B"/>
              </a:solidFill>
            </a:endParaRPr>
          </a:p>
        </p:txBody>
      </p:sp>
      <p:sp>
        <p:nvSpPr>
          <p:cNvPr id="99" name="Google Shape;99;p20">
            <a:extLst>
              <a:ext uri="{FF2B5EF4-FFF2-40B4-BE49-F238E27FC236}">
                <a16:creationId xmlns:a16="http://schemas.microsoft.com/office/drawing/2014/main" id="{69CB1590-028A-E8DC-AADE-BBC9CF04CF12}"/>
              </a:ext>
            </a:extLst>
          </p:cNvPr>
          <p:cNvSpPr txBox="1"/>
          <p:nvPr/>
        </p:nvSpPr>
        <p:spPr>
          <a:xfrm>
            <a:off x="4580650" y="2670225"/>
            <a:ext cx="3515600" cy="726600"/>
          </a:xfrm>
          <a:prstGeom prst="rect">
            <a:avLst/>
          </a:prstGeom>
          <a:noFill/>
          <a:ln>
            <a:noFill/>
          </a:ln>
        </p:spPr>
        <p:txBody>
          <a:bodyPr spcFirstLastPara="1" wrap="square" lIns="91425" tIns="91425" rIns="91425" bIns="91425" anchor="t" anchorCtr="0">
            <a:noAutofit/>
          </a:bodyPr>
          <a:lstStyle/>
          <a:p>
            <a:r>
              <a:rPr lang="de" sz="3000" b="1" dirty="0">
                <a:solidFill>
                  <a:srgbClr val="1D1D1B"/>
                </a:solidFill>
              </a:rPr>
              <a:t>Penetration Test</a:t>
            </a:r>
            <a:endParaRPr sz="3000" b="1" dirty="0">
              <a:solidFill>
                <a:srgbClr val="1D1D1B"/>
              </a:solidFill>
            </a:endParaRPr>
          </a:p>
        </p:txBody>
      </p:sp>
    </p:spTree>
    <p:extLst>
      <p:ext uri="{BB962C8B-B14F-4D97-AF65-F5344CB8AC3E}">
        <p14:creationId xmlns:p14="http://schemas.microsoft.com/office/powerpoint/2010/main" val="33665092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F81314E-4BE0-DE68-F443-660B65F3D28C}"/>
              </a:ext>
            </a:extLst>
          </p:cNvPr>
          <p:cNvSpPr>
            <a:spLocks noGrp="1"/>
          </p:cNvSpPr>
          <p:nvPr>
            <p:ph type="body" idx="1"/>
          </p:nvPr>
        </p:nvSpPr>
        <p:spPr/>
        <p:txBody>
          <a:bodyPr/>
          <a:lstStyle/>
          <a:p>
            <a:pPr marL="114300" indent="0">
              <a:buNone/>
            </a:pPr>
            <a:r>
              <a:rPr lang="en-US" b="1" dirty="0">
                <a:solidFill>
                  <a:srgbClr val="1D1D1A"/>
                </a:solidFill>
                <a:sym typeface="Wingdings" pitchFamily="2" charset="2"/>
              </a:rPr>
              <a:t>  </a:t>
            </a:r>
            <a:r>
              <a:rPr lang="en-US" b="1" dirty="0">
                <a:solidFill>
                  <a:srgbClr val="1D1D1A"/>
                </a:solidFill>
              </a:rPr>
              <a:t>Monetary Incentive</a:t>
            </a:r>
          </a:p>
          <a:p>
            <a:endParaRPr lang="en-US" b="1" dirty="0">
              <a:solidFill>
                <a:srgbClr val="1D1D1A"/>
              </a:solidFill>
            </a:endParaRPr>
          </a:p>
          <a:p>
            <a:r>
              <a:rPr lang="en-US" dirty="0">
                <a:solidFill>
                  <a:srgbClr val="1D1D1A"/>
                </a:solidFill>
              </a:rPr>
              <a:t>Prevention</a:t>
            </a:r>
          </a:p>
          <a:p>
            <a:pPr marL="114300" indent="0">
              <a:buNone/>
            </a:pPr>
            <a:endParaRPr lang="en-US" dirty="0">
              <a:solidFill>
                <a:srgbClr val="1D1D1A"/>
              </a:solidFill>
            </a:endParaRPr>
          </a:p>
          <a:p>
            <a:r>
              <a:rPr lang="en-US" dirty="0">
                <a:solidFill>
                  <a:srgbClr val="1D1D1A"/>
                </a:solidFill>
              </a:rPr>
              <a:t>Prioritization</a:t>
            </a:r>
          </a:p>
          <a:p>
            <a:endParaRPr lang="en-US" dirty="0">
              <a:solidFill>
                <a:srgbClr val="1D1D1A"/>
              </a:solidFill>
            </a:endParaRPr>
          </a:p>
          <a:p>
            <a:r>
              <a:rPr lang="en-US" dirty="0">
                <a:solidFill>
                  <a:srgbClr val="1D1D1A"/>
                </a:solidFill>
              </a:rPr>
              <a:t>Compliance</a:t>
            </a:r>
          </a:p>
          <a:p>
            <a:endParaRPr lang="en-US" dirty="0">
              <a:solidFill>
                <a:srgbClr val="1D1D1A"/>
              </a:solidFill>
            </a:endParaRPr>
          </a:p>
          <a:p>
            <a:endParaRPr lang="en-US" dirty="0">
              <a:solidFill>
                <a:srgbClr val="1D1D1A"/>
              </a:solidFill>
            </a:endParaRPr>
          </a:p>
          <a:p>
            <a:endParaRPr lang="en-US" dirty="0">
              <a:solidFill>
                <a:srgbClr val="1D1D1A"/>
              </a:solidFill>
            </a:endParaRPr>
          </a:p>
        </p:txBody>
      </p:sp>
      <p:sp>
        <p:nvSpPr>
          <p:cNvPr id="4" name="Google Shape;104;p21">
            <a:extLst>
              <a:ext uri="{FF2B5EF4-FFF2-40B4-BE49-F238E27FC236}">
                <a16:creationId xmlns:a16="http://schemas.microsoft.com/office/drawing/2014/main" id="{CF4834A8-5BBD-633F-1023-A274119B171A}"/>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Relevancy</a:t>
            </a:r>
            <a:r>
              <a:rPr lang="de" b="1" dirty="0">
                <a:solidFill>
                  <a:srgbClr val="292E60"/>
                </a:solidFill>
              </a:rPr>
              <a:t> </a:t>
            </a:r>
            <a:r>
              <a:rPr lang="de" b="1" dirty="0" err="1">
                <a:solidFill>
                  <a:srgbClr val="292E60"/>
                </a:solidFill>
              </a:rPr>
              <a:t>of</a:t>
            </a:r>
            <a:r>
              <a:rPr lang="de" b="1" dirty="0">
                <a:solidFill>
                  <a:srgbClr val="292E60"/>
                </a:solidFill>
              </a:rPr>
              <a:t> Penetration </a:t>
            </a:r>
            <a:r>
              <a:rPr lang="de" b="1" dirty="0" err="1">
                <a:solidFill>
                  <a:srgbClr val="292E60"/>
                </a:solidFill>
              </a:rPr>
              <a:t>Testing</a:t>
            </a:r>
            <a:endParaRPr b="1" dirty="0">
              <a:solidFill>
                <a:srgbClr val="292E60"/>
              </a:solidFill>
            </a:endParaRPr>
          </a:p>
        </p:txBody>
      </p:sp>
      <p:pic>
        <p:nvPicPr>
          <p:cNvPr id="7" name="Google Shape;107;p21">
            <a:extLst>
              <a:ext uri="{FF2B5EF4-FFF2-40B4-BE49-F238E27FC236}">
                <a16:creationId xmlns:a16="http://schemas.microsoft.com/office/drawing/2014/main" id="{F546262B-F8D7-CC4C-D4AD-4FE40DA89506}"/>
              </a:ext>
            </a:extLst>
          </p:cNvPr>
          <p:cNvPicPr preferRelativeResize="0"/>
          <p:nvPr/>
        </p:nvPicPr>
        <p:blipFill>
          <a:blip r:embed="rId3">
            <a:alphaModFix/>
          </a:blip>
          <a:stretch>
            <a:fillRect/>
          </a:stretch>
        </p:blipFill>
        <p:spPr>
          <a:xfrm>
            <a:off x="6031014" y="878900"/>
            <a:ext cx="155800" cy="155800"/>
          </a:xfrm>
          <a:prstGeom prst="rect">
            <a:avLst/>
          </a:prstGeom>
          <a:noFill/>
          <a:ln>
            <a:noFill/>
          </a:ln>
        </p:spPr>
      </p:pic>
    </p:spTree>
    <p:extLst>
      <p:ext uri="{BB962C8B-B14F-4D97-AF65-F5344CB8AC3E}">
        <p14:creationId xmlns:p14="http://schemas.microsoft.com/office/powerpoint/2010/main" val="10452770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0A305-7E24-66BD-408A-C8EAEC74A18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40B716B-FEDB-967C-167E-54E973F0ECD7}"/>
              </a:ext>
            </a:extLst>
          </p:cNvPr>
          <p:cNvSpPr>
            <a:spLocks noGrp="1"/>
          </p:cNvSpPr>
          <p:nvPr>
            <p:ph type="body" idx="1"/>
          </p:nvPr>
        </p:nvSpPr>
        <p:spPr/>
        <p:txBody>
          <a:bodyPr/>
          <a:lstStyle/>
          <a:p>
            <a:r>
              <a:rPr lang="en-US" dirty="0">
                <a:solidFill>
                  <a:srgbClr val="1D1D1A"/>
                </a:solidFill>
              </a:rPr>
              <a:t>"An ounce of prevention is worth a pound of cure.”</a:t>
            </a:r>
          </a:p>
          <a:p>
            <a:pPr marL="114300" indent="0">
              <a:buNone/>
            </a:pPr>
            <a:r>
              <a:rPr lang="en-US" sz="1400" dirty="0">
                <a:solidFill>
                  <a:srgbClr val="1D1D1A"/>
                </a:solidFill>
              </a:rPr>
              <a:t>       - Benjamin Franklin, 1736</a:t>
            </a:r>
          </a:p>
          <a:p>
            <a:pPr marL="114300" indent="0">
              <a:buNone/>
            </a:pPr>
            <a:endParaRPr lang="en-US" sz="1400" dirty="0">
              <a:solidFill>
                <a:srgbClr val="1D1D1A"/>
              </a:solidFill>
            </a:endParaRPr>
          </a:p>
          <a:p>
            <a:r>
              <a:rPr lang="en-US" dirty="0">
                <a:solidFill>
                  <a:srgbClr val="1D1D1A"/>
                </a:solidFill>
              </a:rPr>
              <a:t>"</a:t>
            </a:r>
            <a:r>
              <a:rPr lang="en-US" dirty="0" err="1">
                <a:solidFill>
                  <a:srgbClr val="1D1D1A"/>
                </a:solidFill>
              </a:rPr>
              <a:t>Jamilov</a:t>
            </a:r>
            <a:r>
              <a:rPr lang="en-US" dirty="0">
                <a:solidFill>
                  <a:srgbClr val="1D1D1A"/>
                </a:solidFill>
              </a:rPr>
              <a:t> et al. (</a:t>
            </a:r>
            <a:r>
              <a:rPr lang="en-US" dirty="0">
                <a:solidFill>
                  <a:srgbClr val="1D1D1A"/>
                </a:solidFill>
                <a:hlinkClick r:id="rId3" tooltip="Jamilov, R., Rey, H., &amp; Tahoun, A. (2023). The anatomy of cyber risk. NBER Working Paper no. 2890.">
                  <a:extLst>
                    <a:ext uri="{A12FA001-AC4F-418D-AE19-62706E023703}">
                      <ahyp:hlinkClr xmlns:ahyp="http://schemas.microsoft.com/office/drawing/2018/hyperlinkcolor" val="tx"/>
                    </a:ext>
                  </a:extLst>
                </a:hlinkClick>
              </a:rPr>
              <a:t>2023</a:t>
            </a:r>
            <a:r>
              <a:rPr lang="en-US" dirty="0">
                <a:solidFill>
                  <a:srgbClr val="1D1D1A"/>
                </a:solidFill>
              </a:rPr>
              <a:t>) estimate that the global cost of cyber risk exceeds </a:t>
            </a:r>
            <a:r>
              <a:rPr lang="en-US" b="1" dirty="0">
                <a:solidFill>
                  <a:srgbClr val="D51763"/>
                </a:solidFill>
              </a:rPr>
              <a:t>$200 billion </a:t>
            </a:r>
            <a:r>
              <a:rPr lang="en-US" dirty="0">
                <a:solidFill>
                  <a:srgbClr val="1D1D1A"/>
                </a:solidFill>
              </a:rPr>
              <a:t>annually. Other projections are even more pessimistic, estimating the global cost of cybercrime at over </a:t>
            </a:r>
            <a:r>
              <a:rPr lang="en-US" b="1" dirty="0">
                <a:solidFill>
                  <a:srgbClr val="D51763"/>
                </a:solidFill>
              </a:rPr>
              <a:t>$8 trillion</a:t>
            </a:r>
            <a:r>
              <a:rPr lang="en-US" dirty="0">
                <a:solidFill>
                  <a:srgbClr val="D51763"/>
                </a:solidFill>
              </a:rPr>
              <a:t> </a:t>
            </a:r>
            <a:r>
              <a:rPr lang="en-US" dirty="0">
                <a:solidFill>
                  <a:srgbClr val="1D1D1A"/>
                </a:solidFill>
              </a:rPr>
              <a:t>in 2023 (Fleck and Richter, </a:t>
            </a:r>
            <a:r>
              <a:rPr lang="en-US" dirty="0">
                <a:solidFill>
                  <a:srgbClr val="1D1D1A"/>
                </a:solidFill>
                <a:hlinkClick r:id="rId4" tooltip="Fleck, A., &amp; Richter, F. (2024). Cybercrime expected to Skyrocket in coming years, Statista Daily Data. &#10;                  https://www.statista.com/chart/28878/expected-cost-of-cybercrime-until2027/&#10;                  &#10;                ">
                  <a:extLst>
                    <a:ext uri="{A12FA001-AC4F-418D-AE19-62706E023703}">
                      <ahyp:hlinkClr xmlns:ahyp="http://schemas.microsoft.com/office/drawing/2018/hyperlinkcolor" val="tx"/>
                    </a:ext>
                  </a:extLst>
                </a:hlinkClick>
              </a:rPr>
              <a:t>2024</a:t>
            </a:r>
            <a:r>
              <a:rPr lang="en-US" dirty="0">
                <a:solidFill>
                  <a:srgbClr val="1D1D1A"/>
                </a:solidFill>
              </a:rPr>
              <a:t>) and at </a:t>
            </a:r>
            <a:r>
              <a:rPr lang="en-US" b="1" dirty="0">
                <a:solidFill>
                  <a:srgbClr val="D51763"/>
                </a:solidFill>
              </a:rPr>
              <a:t>$9 trillion </a:t>
            </a:r>
            <a:r>
              <a:rPr lang="en-US" dirty="0">
                <a:solidFill>
                  <a:srgbClr val="1D1D1A"/>
                </a:solidFill>
              </a:rPr>
              <a:t>in 2024 (Petrosyan, </a:t>
            </a:r>
            <a:r>
              <a:rPr lang="en-US" dirty="0">
                <a:solidFill>
                  <a:srgbClr val="1D1D1A"/>
                </a:solidFill>
                <a:hlinkClick r:id="rId5" tooltip="Petrosyan, A. (2023). Global cybercrime estimated cost 2028. Statista. &#10;                  https://www.statista.com/forecasts/1280009/cost-cybercrime-worldwide&#10;                  &#10;                ">
                  <a:extLst>
                    <a:ext uri="{A12FA001-AC4F-418D-AE19-62706E023703}">
                      <ahyp:hlinkClr xmlns:ahyp="http://schemas.microsoft.com/office/drawing/2018/hyperlinkcolor" val="tx"/>
                    </a:ext>
                  </a:extLst>
                </a:hlinkClick>
              </a:rPr>
              <a:t>2023</a:t>
            </a:r>
            <a:r>
              <a:rPr lang="en-US" dirty="0">
                <a:solidFill>
                  <a:srgbClr val="1D1D1A"/>
                </a:solidFill>
              </a:rPr>
              <a:t>)."</a:t>
            </a:r>
          </a:p>
          <a:p>
            <a:pPr marL="114300" indent="0">
              <a:buNone/>
            </a:pPr>
            <a:r>
              <a:rPr lang="en-US" dirty="0">
                <a:solidFill>
                  <a:srgbClr val="1D1D1A"/>
                </a:solidFill>
              </a:rPr>
              <a:t>      - </a:t>
            </a:r>
            <a:r>
              <a:rPr lang="en-US" sz="1400" dirty="0" err="1">
                <a:solidFill>
                  <a:schemeClr val="tx1"/>
                </a:solidFill>
              </a:rPr>
              <a:t>Abrardi</a:t>
            </a:r>
            <a:r>
              <a:rPr lang="en-US" sz="1400" dirty="0">
                <a:solidFill>
                  <a:schemeClr val="tx1"/>
                </a:solidFill>
              </a:rPr>
              <a:t>, L., Comino, S. &amp; Grassini, S. The economics of cyber risk: a survey of the</a:t>
            </a:r>
          </a:p>
          <a:p>
            <a:pPr marL="114300" indent="0">
              <a:buNone/>
            </a:pPr>
            <a:r>
              <a:rPr lang="en-US" sz="1400" dirty="0">
                <a:solidFill>
                  <a:schemeClr val="tx1"/>
                </a:solidFill>
              </a:rPr>
              <a:t>          </a:t>
            </a:r>
            <a:r>
              <a:rPr lang="en-US" sz="1400" dirty="0" err="1">
                <a:solidFill>
                  <a:schemeClr val="tx1"/>
                </a:solidFill>
              </a:rPr>
              <a:t>literature.</a:t>
            </a:r>
            <a:r>
              <a:rPr lang="en-US" sz="1400" i="1" dirty="0" err="1">
                <a:solidFill>
                  <a:schemeClr val="tx1"/>
                </a:solidFill>
              </a:rPr>
              <a:t>J</a:t>
            </a:r>
            <a:r>
              <a:rPr lang="en-US" sz="1400" i="1" dirty="0">
                <a:solidFill>
                  <a:schemeClr val="tx1"/>
                </a:solidFill>
              </a:rPr>
              <a:t>. Ind. Bus. Econ.</a:t>
            </a:r>
            <a:r>
              <a:rPr lang="en-US" sz="1400" dirty="0">
                <a:solidFill>
                  <a:schemeClr val="tx1"/>
                </a:solidFill>
              </a:rPr>
              <a:t> </a:t>
            </a:r>
            <a:r>
              <a:rPr lang="en-US" sz="1400" b="1" dirty="0">
                <a:solidFill>
                  <a:schemeClr val="tx1"/>
                </a:solidFill>
              </a:rPr>
              <a:t>53</a:t>
            </a:r>
            <a:r>
              <a:rPr lang="en-US" sz="1400" dirty="0">
                <a:solidFill>
                  <a:schemeClr val="tx1"/>
                </a:solidFill>
              </a:rPr>
              <a:t>, 573–607 (2026). https://</a:t>
            </a:r>
            <a:r>
              <a:rPr lang="en-US" sz="1400" dirty="0" err="1">
                <a:solidFill>
                  <a:schemeClr val="tx1"/>
                </a:solidFill>
              </a:rPr>
              <a:t>doi.org</a:t>
            </a:r>
            <a:r>
              <a:rPr lang="en-US" sz="1400" dirty="0">
                <a:solidFill>
                  <a:schemeClr val="tx1"/>
                </a:solidFill>
              </a:rPr>
              <a:t>/10.1007/s40812-025-00370-3</a:t>
            </a:r>
          </a:p>
          <a:p>
            <a:endParaRPr lang="en-US" dirty="0">
              <a:solidFill>
                <a:srgbClr val="1D1D1A"/>
              </a:solidFill>
            </a:endParaRPr>
          </a:p>
        </p:txBody>
      </p:sp>
      <p:sp>
        <p:nvSpPr>
          <p:cNvPr id="4" name="Google Shape;104;p21">
            <a:extLst>
              <a:ext uri="{FF2B5EF4-FFF2-40B4-BE49-F238E27FC236}">
                <a16:creationId xmlns:a16="http://schemas.microsoft.com/office/drawing/2014/main" id="{6A71AFC8-54C8-2E9D-87F9-9A6D46810C0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Prevention</a:t>
            </a:r>
            <a:endParaRPr b="1" dirty="0">
              <a:solidFill>
                <a:srgbClr val="292E60"/>
              </a:solidFill>
            </a:endParaRPr>
          </a:p>
        </p:txBody>
      </p:sp>
      <p:pic>
        <p:nvPicPr>
          <p:cNvPr id="7" name="Google Shape;107;p21">
            <a:extLst>
              <a:ext uri="{FF2B5EF4-FFF2-40B4-BE49-F238E27FC236}">
                <a16:creationId xmlns:a16="http://schemas.microsoft.com/office/drawing/2014/main" id="{ACCB7BAA-2EEB-F484-FCCA-57893004A927}"/>
              </a:ext>
            </a:extLst>
          </p:cNvPr>
          <p:cNvPicPr preferRelativeResize="0"/>
          <p:nvPr/>
        </p:nvPicPr>
        <p:blipFill>
          <a:blip r:embed="rId6">
            <a:alphaModFix/>
          </a:blip>
          <a:stretch>
            <a:fillRect/>
          </a:stretch>
        </p:blipFill>
        <p:spPr>
          <a:xfrm>
            <a:off x="2209265" y="878900"/>
            <a:ext cx="155800" cy="155800"/>
          </a:xfrm>
          <a:prstGeom prst="rect">
            <a:avLst/>
          </a:prstGeom>
          <a:noFill/>
          <a:ln>
            <a:noFill/>
          </a:ln>
        </p:spPr>
      </p:pic>
    </p:spTree>
    <p:extLst>
      <p:ext uri="{BB962C8B-B14F-4D97-AF65-F5344CB8AC3E}">
        <p14:creationId xmlns:p14="http://schemas.microsoft.com/office/powerpoint/2010/main" val="2028416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1FD06-BC92-0C8D-4188-8A461EA1C3B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D779D33-6381-19BA-E011-63D14CF20236}"/>
              </a:ext>
            </a:extLst>
          </p:cNvPr>
          <p:cNvSpPr>
            <a:spLocks noGrp="1"/>
          </p:cNvSpPr>
          <p:nvPr>
            <p:ph type="body" idx="1"/>
          </p:nvPr>
        </p:nvSpPr>
        <p:spPr/>
        <p:txBody>
          <a:bodyPr/>
          <a:lstStyle/>
          <a:p>
            <a:r>
              <a:rPr lang="en-US" dirty="0">
                <a:solidFill>
                  <a:schemeClr val="tx1"/>
                </a:solidFill>
              </a:rPr>
              <a:t>Risk Assessment via scores based on evidence</a:t>
            </a:r>
          </a:p>
          <a:p>
            <a:endParaRPr lang="en-US" dirty="0">
              <a:solidFill>
                <a:schemeClr val="tx1"/>
              </a:solidFill>
            </a:endParaRPr>
          </a:p>
          <a:p>
            <a:endParaRPr lang="en-US" dirty="0">
              <a:solidFill>
                <a:schemeClr val="tx1"/>
              </a:solidFill>
            </a:endParaRPr>
          </a:p>
        </p:txBody>
      </p:sp>
      <p:sp>
        <p:nvSpPr>
          <p:cNvPr id="4" name="Google Shape;104;p21">
            <a:extLst>
              <a:ext uri="{FF2B5EF4-FFF2-40B4-BE49-F238E27FC236}">
                <a16:creationId xmlns:a16="http://schemas.microsoft.com/office/drawing/2014/main" id="{09B75111-1514-DC03-9408-7EC39F932DA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Prioritization</a:t>
            </a:r>
            <a:endParaRPr b="1" dirty="0">
              <a:solidFill>
                <a:srgbClr val="292E60"/>
              </a:solidFill>
            </a:endParaRPr>
          </a:p>
        </p:txBody>
      </p:sp>
      <p:pic>
        <p:nvPicPr>
          <p:cNvPr id="7" name="Google Shape;107;p21">
            <a:extLst>
              <a:ext uri="{FF2B5EF4-FFF2-40B4-BE49-F238E27FC236}">
                <a16:creationId xmlns:a16="http://schemas.microsoft.com/office/drawing/2014/main" id="{73617766-7140-3DD8-565E-6CD66B4F5AA5}"/>
              </a:ext>
            </a:extLst>
          </p:cNvPr>
          <p:cNvPicPr preferRelativeResize="0"/>
          <p:nvPr/>
        </p:nvPicPr>
        <p:blipFill>
          <a:blip r:embed="rId3">
            <a:alphaModFix/>
          </a:blip>
          <a:stretch>
            <a:fillRect/>
          </a:stretch>
        </p:blipFill>
        <p:spPr>
          <a:xfrm>
            <a:off x="2553817" y="878900"/>
            <a:ext cx="155800" cy="155800"/>
          </a:xfrm>
          <a:prstGeom prst="rect">
            <a:avLst/>
          </a:prstGeom>
          <a:noFill/>
          <a:ln>
            <a:noFill/>
          </a:ln>
        </p:spPr>
      </p:pic>
      <p:pic>
        <p:nvPicPr>
          <p:cNvPr id="2" name="Picture 1">
            <a:extLst>
              <a:ext uri="{FF2B5EF4-FFF2-40B4-BE49-F238E27FC236}">
                <a16:creationId xmlns:a16="http://schemas.microsoft.com/office/drawing/2014/main" id="{4FD4533A-E71E-0E8D-B4D5-3C50FEB4277E}"/>
              </a:ext>
            </a:extLst>
          </p:cNvPr>
          <p:cNvPicPr>
            <a:picLocks noChangeAspect="1"/>
          </p:cNvPicPr>
          <p:nvPr/>
        </p:nvPicPr>
        <p:blipFill>
          <a:blip r:embed="rId4"/>
          <a:srcRect l="1218" t="82934" r="1696"/>
          <a:stretch>
            <a:fillRect/>
          </a:stretch>
        </p:blipFill>
        <p:spPr>
          <a:xfrm>
            <a:off x="526774" y="2076159"/>
            <a:ext cx="8090452" cy="991182"/>
          </a:xfrm>
          <a:prstGeom prst="rect">
            <a:avLst/>
          </a:prstGeom>
        </p:spPr>
      </p:pic>
      <p:sp>
        <p:nvSpPr>
          <p:cNvPr id="5" name="TextBox 4">
            <a:extLst>
              <a:ext uri="{FF2B5EF4-FFF2-40B4-BE49-F238E27FC236}">
                <a16:creationId xmlns:a16="http://schemas.microsoft.com/office/drawing/2014/main" id="{A19ABB1B-8C4A-7FD5-2E6E-5D0360000685}"/>
              </a:ext>
            </a:extLst>
          </p:cNvPr>
          <p:cNvSpPr txBox="1"/>
          <p:nvPr/>
        </p:nvSpPr>
        <p:spPr>
          <a:xfrm>
            <a:off x="526776" y="3067341"/>
            <a:ext cx="7961245" cy="261610"/>
          </a:xfrm>
          <a:prstGeom prst="rect">
            <a:avLst/>
          </a:prstGeom>
          <a:noFill/>
        </p:spPr>
        <p:txBody>
          <a:bodyPr wrap="square" rtlCol="0">
            <a:spAutoFit/>
          </a:bodyPr>
          <a:lstStyle/>
          <a:p>
            <a:pPr algn="ctr"/>
            <a:r>
              <a:rPr lang="en-US" sz="1100" dirty="0"/>
              <a:t>Source: </a:t>
            </a:r>
            <a:r>
              <a:rPr lang="en-US" sz="1100" dirty="0" err="1"/>
              <a:t>www.cve.org</a:t>
            </a:r>
            <a:r>
              <a:rPr lang="en-US" sz="1100" dirty="0"/>
              <a:t>/</a:t>
            </a:r>
            <a:r>
              <a:rPr lang="en-US" sz="1100" dirty="0" err="1"/>
              <a:t>CVERecord?id</a:t>
            </a:r>
            <a:r>
              <a:rPr lang="en-US" sz="1100" dirty="0"/>
              <a:t>=CVE-2026-41089</a:t>
            </a:r>
          </a:p>
        </p:txBody>
      </p:sp>
    </p:spTree>
    <p:extLst>
      <p:ext uri="{BB962C8B-B14F-4D97-AF65-F5344CB8AC3E}">
        <p14:creationId xmlns:p14="http://schemas.microsoft.com/office/powerpoint/2010/main" val="40217640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46E31176-E09E-41DC-BFE7-22655BCA2B06}"/>
            </a:ext>
          </a:extLst>
        </p:cNvPr>
        <p:cNvGrpSpPr/>
        <p:nvPr/>
      </p:nvGrpSpPr>
      <p:grpSpPr>
        <a:xfrm>
          <a:off x="0" y="0"/>
          <a:ext cx="0" cy="0"/>
          <a:chOff x="0" y="0"/>
          <a:chExt cx="0" cy="0"/>
        </a:xfrm>
      </p:grpSpPr>
      <p:sp>
        <p:nvSpPr>
          <p:cNvPr id="105" name="Google Shape;105;p21">
            <a:extLst>
              <a:ext uri="{FF2B5EF4-FFF2-40B4-BE49-F238E27FC236}">
                <a16:creationId xmlns:a16="http://schemas.microsoft.com/office/drawing/2014/main" id="{B573C1E8-6554-558B-D520-ADF8100D6786}"/>
              </a:ext>
            </a:extLst>
          </p:cNvPr>
          <p:cNvSpPr txBox="1">
            <a:spLocks noGrp="1"/>
          </p:cNvSpPr>
          <p:nvPr>
            <p:ph type="body" idx="1"/>
          </p:nvPr>
        </p:nvSpPr>
        <p:spPr>
          <a:xfrm>
            <a:off x="489954" y="3108391"/>
            <a:ext cx="967853" cy="423275"/>
          </a:xfrm>
          <a:prstGeom prst="rect">
            <a:avLst/>
          </a:prstGeom>
        </p:spPr>
        <p:txBody>
          <a:bodyPr spcFirstLastPara="1" wrap="square" lIns="91425" tIns="91425" rIns="91425" bIns="91425" anchor="t" anchorCtr="0">
            <a:noAutofit/>
          </a:bodyPr>
          <a:lstStyle/>
          <a:p>
            <a:pPr marL="0" indent="0">
              <a:spcAft>
                <a:spcPts val="1600"/>
              </a:spcAft>
              <a:buNone/>
            </a:pPr>
            <a:r>
              <a:rPr lang="de" b="1" dirty="0">
                <a:solidFill>
                  <a:srgbClr val="D51763"/>
                </a:solidFill>
              </a:rPr>
              <a:t>HIPPA:</a:t>
            </a:r>
            <a:endParaRPr b="1" dirty="0">
              <a:solidFill>
                <a:srgbClr val="D51763"/>
              </a:solidFill>
            </a:endParaRPr>
          </a:p>
        </p:txBody>
      </p:sp>
      <p:sp>
        <p:nvSpPr>
          <p:cNvPr id="106" name="Google Shape;106;p21">
            <a:extLst>
              <a:ext uri="{FF2B5EF4-FFF2-40B4-BE49-F238E27FC236}">
                <a16:creationId xmlns:a16="http://schemas.microsoft.com/office/drawing/2014/main" id="{A50987BB-D4EE-00C1-03CA-2B8AB645EFA4}"/>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sp>
        <p:nvSpPr>
          <p:cNvPr id="6" name="TextBox 5">
            <a:extLst>
              <a:ext uri="{FF2B5EF4-FFF2-40B4-BE49-F238E27FC236}">
                <a16:creationId xmlns:a16="http://schemas.microsoft.com/office/drawing/2014/main" id="{BABC6987-6862-E565-0D26-7930B50A973D}"/>
              </a:ext>
            </a:extLst>
          </p:cNvPr>
          <p:cNvSpPr txBox="1"/>
          <p:nvPr/>
        </p:nvSpPr>
        <p:spPr>
          <a:xfrm>
            <a:off x="480158" y="4165662"/>
            <a:ext cx="7415277" cy="261610"/>
          </a:xfrm>
          <a:prstGeom prst="rect">
            <a:avLst/>
          </a:prstGeom>
          <a:noFill/>
        </p:spPr>
        <p:txBody>
          <a:bodyPr wrap="square" rtlCol="0">
            <a:spAutoFit/>
          </a:bodyPr>
          <a:lstStyle/>
          <a:p>
            <a:r>
              <a:rPr lang="en-US" sz="1100" dirty="0"/>
              <a:t>Source: https://</a:t>
            </a:r>
            <a:r>
              <a:rPr lang="en-US" sz="1100" dirty="0" err="1"/>
              <a:t>www.hhs.gov</a:t>
            </a:r>
            <a:r>
              <a:rPr lang="en-US" sz="1100" dirty="0"/>
              <a:t>/</a:t>
            </a:r>
            <a:r>
              <a:rPr lang="en-US" sz="1100" dirty="0" err="1"/>
              <a:t>hipaa</a:t>
            </a:r>
            <a:r>
              <a:rPr lang="en-US" sz="1100" dirty="0"/>
              <a:t>/for-professionals/security/</a:t>
            </a:r>
            <a:r>
              <a:rPr lang="en-US" sz="1100" dirty="0" err="1"/>
              <a:t>hipaa</a:t>
            </a:r>
            <a:r>
              <a:rPr lang="en-US" sz="1100" dirty="0"/>
              <a:t>-security-rule-</a:t>
            </a:r>
            <a:r>
              <a:rPr lang="en-US" sz="1100" dirty="0" err="1"/>
              <a:t>nprm</a:t>
            </a:r>
            <a:r>
              <a:rPr lang="en-US" sz="1100" dirty="0"/>
              <a:t>/factsheet/</a:t>
            </a:r>
            <a:r>
              <a:rPr lang="en-US" sz="1100" dirty="0" err="1"/>
              <a:t>index.html</a:t>
            </a:r>
            <a:endParaRPr lang="en-US" sz="1100" dirty="0"/>
          </a:p>
        </p:txBody>
      </p:sp>
      <p:sp>
        <p:nvSpPr>
          <p:cNvPr id="12" name="Google Shape;104;p21">
            <a:extLst>
              <a:ext uri="{FF2B5EF4-FFF2-40B4-BE49-F238E27FC236}">
                <a16:creationId xmlns:a16="http://schemas.microsoft.com/office/drawing/2014/main" id="{6522512A-98C7-6B96-4060-D2F50D35D213}"/>
              </a:ext>
            </a:extLst>
          </p:cNvPr>
          <p:cNvSpPr txBox="1">
            <a:spLocks/>
          </p:cNvSpPr>
          <p:nvPr/>
        </p:nvSpPr>
        <p:spPr>
          <a:xfrm>
            <a:off x="311700" y="445025"/>
            <a:ext cx="77724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292E60"/>
                </a:solidFill>
              </a:rPr>
              <a:t>Compliance</a:t>
            </a:r>
          </a:p>
        </p:txBody>
      </p:sp>
      <p:pic>
        <p:nvPicPr>
          <p:cNvPr id="13" name="Google Shape;107;p21">
            <a:extLst>
              <a:ext uri="{FF2B5EF4-FFF2-40B4-BE49-F238E27FC236}">
                <a16:creationId xmlns:a16="http://schemas.microsoft.com/office/drawing/2014/main" id="{45E2911E-EB8E-9807-FAAE-57AFAC031B83}"/>
              </a:ext>
            </a:extLst>
          </p:cNvPr>
          <p:cNvPicPr preferRelativeResize="0"/>
          <p:nvPr/>
        </p:nvPicPr>
        <p:blipFill>
          <a:blip r:embed="rId3">
            <a:alphaModFix/>
          </a:blip>
          <a:stretch>
            <a:fillRect/>
          </a:stretch>
        </p:blipFill>
        <p:spPr>
          <a:xfrm>
            <a:off x="2395736" y="824190"/>
            <a:ext cx="142119" cy="155800"/>
          </a:xfrm>
          <a:prstGeom prst="rect">
            <a:avLst/>
          </a:prstGeom>
          <a:noFill/>
          <a:ln>
            <a:noFill/>
          </a:ln>
        </p:spPr>
      </p:pic>
      <p:sp>
        <p:nvSpPr>
          <p:cNvPr id="17" name="TextBox 16">
            <a:extLst>
              <a:ext uri="{FF2B5EF4-FFF2-40B4-BE49-F238E27FC236}">
                <a16:creationId xmlns:a16="http://schemas.microsoft.com/office/drawing/2014/main" id="{F1D97BD2-7C57-9187-051C-2E8DD8F613D6}"/>
              </a:ext>
            </a:extLst>
          </p:cNvPr>
          <p:cNvSpPr txBox="1"/>
          <p:nvPr/>
        </p:nvSpPr>
        <p:spPr>
          <a:xfrm>
            <a:off x="489951" y="1350656"/>
            <a:ext cx="4572000" cy="369332"/>
          </a:xfrm>
          <a:prstGeom prst="rect">
            <a:avLst/>
          </a:prstGeom>
          <a:noFill/>
        </p:spPr>
        <p:txBody>
          <a:bodyPr wrap="square">
            <a:spAutoFit/>
          </a:bodyPr>
          <a:lstStyle/>
          <a:p>
            <a:pPr>
              <a:spcAft>
                <a:spcPts val="1600"/>
              </a:spcAft>
            </a:pPr>
            <a:r>
              <a:rPr lang="en-US" sz="1800" b="1" dirty="0">
                <a:solidFill>
                  <a:srgbClr val="D51763"/>
                </a:solidFill>
              </a:rPr>
              <a:t>GDPR:</a:t>
            </a:r>
          </a:p>
        </p:txBody>
      </p:sp>
      <p:sp>
        <p:nvSpPr>
          <p:cNvPr id="25" name="TextBox 24">
            <a:extLst>
              <a:ext uri="{FF2B5EF4-FFF2-40B4-BE49-F238E27FC236}">
                <a16:creationId xmlns:a16="http://schemas.microsoft.com/office/drawing/2014/main" id="{0C93BD90-AE1E-6C61-A4CD-2B7F50D092A2}"/>
              </a:ext>
            </a:extLst>
          </p:cNvPr>
          <p:cNvSpPr txBox="1"/>
          <p:nvPr/>
        </p:nvSpPr>
        <p:spPr>
          <a:xfrm>
            <a:off x="497770" y="2620180"/>
            <a:ext cx="4572000" cy="261610"/>
          </a:xfrm>
          <a:prstGeom prst="rect">
            <a:avLst/>
          </a:prstGeom>
          <a:noFill/>
        </p:spPr>
        <p:txBody>
          <a:bodyPr wrap="square">
            <a:spAutoFit/>
          </a:bodyPr>
          <a:lstStyle/>
          <a:p>
            <a:r>
              <a:rPr lang="en-US" sz="1100" dirty="0"/>
              <a:t>Source: https://</a:t>
            </a:r>
            <a:r>
              <a:rPr lang="en-US" sz="1100" dirty="0" err="1"/>
              <a:t>gdpr.eu</a:t>
            </a:r>
            <a:r>
              <a:rPr lang="en-US" sz="1100" dirty="0"/>
              <a:t>/fines/</a:t>
            </a:r>
          </a:p>
        </p:txBody>
      </p:sp>
      <p:sp>
        <p:nvSpPr>
          <p:cNvPr id="8" name="TextBox 7">
            <a:extLst>
              <a:ext uri="{FF2B5EF4-FFF2-40B4-BE49-F238E27FC236}">
                <a16:creationId xmlns:a16="http://schemas.microsoft.com/office/drawing/2014/main" id="{6F49A8DD-9497-2D5B-49E9-3E5D8EA30A3E}"/>
              </a:ext>
            </a:extLst>
          </p:cNvPr>
          <p:cNvSpPr txBox="1"/>
          <p:nvPr/>
        </p:nvSpPr>
        <p:spPr>
          <a:xfrm>
            <a:off x="489951" y="1728036"/>
            <a:ext cx="7164614" cy="923330"/>
          </a:xfrm>
          <a:prstGeom prst="rect">
            <a:avLst/>
          </a:prstGeom>
          <a:noFill/>
        </p:spPr>
        <p:txBody>
          <a:bodyPr wrap="square">
            <a:spAutoFit/>
          </a:bodyPr>
          <a:lstStyle/>
          <a:p>
            <a:r>
              <a:rPr lang="en-US" sz="1800" dirty="0">
                <a:solidFill>
                  <a:srgbClr val="1D1D1A"/>
                </a:solidFill>
              </a:rPr>
              <a:t>"</a:t>
            </a:r>
            <a:r>
              <a:rPr lang="en-US" sz="1800" dirty="0">
                <a:solidFill>
                  <a:srgbClr val="1D1D1A"/>
                </a:solidFill>
                <a:latin typeface="Arial" panose="020B0604020202020204" pitchFamily="34" charset="0"/>
                <a:cs typeface="Arial" panose="020B0604020202020204" pitchFamily="34" charset="0"/>
              </a:rPr>
              <a:t>Data (</a:t>
            </a:r>
            <a:r>
              <a:rPr lang="en-US" sz="1800" dirty="0"/>
              <a:t>...)</a:t>
            </a:r>
            <a:r>
              <a:rPr lang="en-US" sz="1800" dirty="0">
                <a:solidFill>
                  <a:srgbClr val="1D1D1A"/>
                </a:solidFill>
                <a:latin typeface="Arial" panose="020B0604020202020204" pitchFamily="34" charset="0"/>
                <a:cs typeface="Arial" panose="020B0604020202020204" pitchFamily="34" charset="0"/>
              </a:rPr>
              <a:t> must be (</a:t>
            </a:r>
            <a:r>
              <a:rPr lang="en-US" sz="1800" dirty="0"/>
              <a:t>...)</a:t>
            </a:r>
            <a:r>
              <a:rPr lang="en-US" sz="1800" dirty="0">
                <a:solidFill>
                  <a:srgbClr val="1D1D1A"/>
                </a:solidFill>
                <a:latin typeface="Arial" panose="020B0604020202020204" pitchFamily="34" charset="0"/>
                <a:cs typeface="Arial" panose="020B0604020202020204" pitchFamily="34" charset="0"/>
              </a:rPr>
              <a:t> </a:t>
            </a:r>
            <a:r>
              <a:rPr lang="en-US" sz="1800" dirty="0"/>
              <a:t>processed in a manner that ensures its security. [S]</a:t>
            </a:r>
            <a:r>
              <a:rPr lang="en-US" sz="1800" dirty="0" err="1"/>
              <a:t>erious</a:t>
            </a:r>
            <a:r>
              <a:rPr lang="en-US" sz="1800" dirty="0"/>
              <a:t> infringements (...)</a:t>
            </a:r>
            <a:r>
              <a:rPr lang="en-US" sz="1800" b="1" dirty="0"/>
              <a:t> could result in a fine of up to €20 million, or 4% of the firm’s worldwide annual revenue.</a:t>
            </a:r>
            <a:r>
              <a:rPr lang="en-US" sz="1800" dirty="0">
                <a:solidFill>
                  <a:srgbClr val="1D1D1A"/>
                </a:solidFill>
              </a:rPr>
              <a:t>"</a:t>
            </a:r>
            <a:endParaRPr lang="en-US" sz="1800" dirty="0">
              <a:solidFill>
                <a:srgbClr val="1D1D1A"/>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C0590BB3-26F2-8F0D-98CF-3494D983755A}"/>
              </a:ext>
            </a:extLst>
          </p:cNvPr>
          <p:cNvSpPr txBox="1"/>
          <p:nvPr/>
        </p:nvSpPr>
        <p:spPr>
          <a:xfrm>
            <a:off x="497771" y="3547763"/>
            <a:ext cx="7156795" cy="646331"/>
          </a:xfrm>
          <a:prstGeom prst="rect">
            <a:avLst/>
          </a:prstGeom>
          <a:noFill/>
        </p:spPr>
        <p:txBody>
          <a:bodyPr wrap="square">
            <a:spAutoFit/>
          </a:bodyPr>
          <a:lstStyle/>
          <a:p>
            <a:r>
              <a:rPr lang="en-US" sz="1800" dirty="0">
                <a:solidFill>
                  <a:srgbClr val="1D1D1A"/>
                </a:solidFill>
              </a:rPr>
              <a:t>"</a:t>
            </a:r>
            <a:r>
              <a:rPr lang="en-US" sz="1800" dirty="0">
                <a:solidFill>
                  <a:srgbClr val="1D1D1A"/>
                </a:solidFill>
                <a:latin typeface="Arial" panose="020B0604020202020204" pitchFamily="34" charset="0"/>
                <a:cs typeface="Arial" panose="020B0604020202020204" pitchFamily="34" charset="0"/>
              </a:rPr>
              <a:t>Require vulnerability scanning at least every six months and penetration testing at least once every 12 months.</a:t>
            </a:r>
            <a:r>
              <a:rPr lang="en-US" sz="1800" dirty="0">
                <a:solidFill>
                  <a:srgbClr val="1D1D1A"/>
                </a:solidFill>
              </a:rPr>
              <a:t>"</a:t>
            </a:r>
            <a:endParaRPr lang="en-US" sz="1800" dirty="0">
              <a:solidFill>
                <a:srgbClr val="1D1D1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426893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BB21B271-2A0F-8A20-D766-EB99201F26E0}"/>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4024E68C-1717-59FB-CD84-7DE1EFE7C7D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Methodology</a:t>
            </a:r>
            <a:endParaRPr b="1" dirty="0">
              <a:solidFill>
                <a:srgbClr val="292E60"/>
              </a:solidFill>
            </a:endParaRPr>
          </a:p>
        </p:txBody>
      </p:sp>
      <p:sp>
        <p:nvSpPr>
          <p:cNvPr id="106" name="Google Shape;106;p21">
            <a:extLst>
              <a:ext uri="{FF2B5EF4-FFF2-40B4-BE49-F238E27FC236}">
                <a16:creationId xmlns:a16="http://schemas.microsoft.com/office/drawing/2014/main" id="{133B3DE1-529A-18EF-3E89-210D5566513A}"/>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pic>
        <p:nvPicPr>
          <p:cNvPr id="107" name="Google Shape;107;p21">
            <a:extLst>
              <a:ext uri="{FF2B5EF4-FFF2-40B4-BE49-F238E27FC236}">
                <a16:creationId xmlns:a16="http://schemas.microsoft.com/office/drawing/2014/main" id="{E88398AE-629A-2670-5DF6-5D4A3D5FE824}"/>
              </a:ext>
            </a:extLst>
          </p:cNvPr>
          <p:cNvPicPr preferRelativeResize="0"/>
          <p:nvPr/>
        </p:nvPicPr>
        <p:blipFill>
          <a:blip r:embed="rId3">
            <a:alphaModFix/>
          </a:blip>
          <a:stretch>
            <a:fillRect/>
          </a:stretch>
        </p:blipFill>
        <p:spPr>
          <a:xfrm>
            <a:off x="2648250" y="878900"/>
            <a:ext cx="155800" cy="155800"/>
          </a:xfrm>
          <a:prstGeom prst="rect">
            <a:avLst/>
          </a:prstGeom>
          <a:noFill/>
          <a:ln>
            <a:noFill/>
          </a:ln>
        </p:spPr>
      </p:pic>
      <p:sp>
        <p:nvSpPr>
          <p:cNvPr id="4" name="Google Shape;105;p21">
            <a:extLst>
              <a:ext uri="{FF2B5EF4-FFF2-40B4-BE49-F238E27FC236}">
                <a16:creationId xmlns:a16="http://schemas.microsoft.com/office/drawing/2014/main" id="{9AE48553-2B04-BE6B-D482-CE69589337CF}"/>
              </a:ext>
            </a:extLst>
          </p:cNvPr>
          <p:cNvSpPr txBox="1">
            <a:spLocks/>
          </p:cNvSpPr>
          <p:nvPr/>
        </p:nvSpPr>
        <p:spPr>
          <a:xfrm>
            <a:off x="552475" y="1175053"/>
            <a:ext cx="8279700" cy="3416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342900">
              <a:spcAft>
                <a:spcPts val="1600"/>
              </a:spcAft>
              <a:buFont typeface="Arial"/>
              <a:buAutoNum type="arabicPeriod"/>
            </a:pPr>
            <a:r>
              <a:rPr lang="de" dirty="0">
                <a:solidFill>
                  <a:srgbClr val="1D1D1A"/>
                </a:solidFill>
              </a:rPr>
              <a:t>OSINT</a:t>
            </a:r>
          </a:p>
          <a:p>
            <a:pPr marL="342900">
              <a:spcAft>
                <a:spcPts val="1600"/>
              </a:spcAft>
              <a:buFont typeface="Arial"/>
              <a:buAutoNum type="arabicPeriod"/>
            </a:pPr>
            <a:r>
              <a:rPr lang="de" dirty="0" err="1">
                <a:solidFill>
                  <a:srgbClr val="1D1D1A"/>
                </a:solidFill>
              </a:rPr>
              <a:t>Active</a:t>
            </a:r>
            <a:r>
              <a:rPr lang="de" dirty="0">
                <a:solidFill>
                  <a:srgbClr val="1D1D1A"/>
                </a:solidFill>
              </a:rPr>
              <a:t> Scan / Interaction</a:t>
            </a:r>
          </a:p>
          <a:p>
            <a:pPr marL="342900">
              <a:spcAft>
                <a:spcPts val="1600"/>
              </a:spcAft>
              <a:buFont typeface="Arial"/>
              <a:buAutoNum type="arabicPeriod"/>
            </a:pPr>
            <a:r>
              <a:rPr lang="de" dirty="0">
                <a:solidFill>
                  <a:srgbClr val="1D1D1A"/>
                </a:solidFill>
              </a:rPr>
              <a:t>Brute </a:t>
            </a:r>
            <a:r>
              <a:rPr lang="de" dirty="0" err="1">
                <a:solidFill>
                  <a:srgbClr val="1D1D1A"/>
                </a:solidFill>
              </a:rPr>
              <a:t>Forcing</a:t>
            </a:r>
            <a:r>
              <a:rPr lang="de" dirty="0">
                <a:solidFill>
                  <a:srgbClr val="1D1D1A"/>
                </a:solidFill>
              </a:rPr>
              <a:t> &amp; </a:t>
            </a:r>
            <a:r>
              <a:rPr lang="de" dirty="0" err="1">
                <a:solidFill>
                  <a:srgbClr val="1D1D1A"/>
                </a:solidFill>
              </a:rPr>
              <a:t>Cracking</a:t>
            </a:r>
            <a:r>
              <a:rPr lang="de" dirty="0">
                <a:solidFill>
                  <a:srgbClr val="1D1D1A"/>
                </a:solidFill>
              </a:rPr>
              <a:t> Passwords</a:t>
            </a:r>
          </a:p>
          <a:p>
            <a:pPr marL="342900">
              <a:spcAft>
                <a:spcPts val="1600"/>
              </a:spcAft>
              <a:buFont typeface="Arial"/>
              <a:buAutoNum type="arabicPeriod"/>
            </a:pPr>
            <a:r>
              <a:rPr lang="de" dirty="0">
                <a:solidFill>
                  <a:srgbClr val="1D1D1A"/>
                </a:solidFill>
              </a:rPr>
              <a:t>SQL </a:t>
            </a:r>
            <a:r>
              <a:rPr lang="de" dirty="0" err="1">
                <a:solidFill>
                  <a:srgbClr val="1D1D1A"/>
                </a:solidFill>
              </a:rPr>
              <a:t>Injection</a:t>
            </a:r>
            <a:r>
              <a:rPr lang="de" dirty="0">
                <a:solidFill>
                  <a:srgbClr val="1D1D1A"/>
                </a:solidFill>
              </a:rPr>
              <a:t> / Command </a:t>
            </a:r>
            <a:r>
              <a:rPr lang="de" dirty="0" err="1">
                <a:solidFill>
                  <a:srgbClr val="1D1D1A"/>
                </a:solidFill>
              </a:rPr>
              <a:t>Injection</a:t>
            </a:r>
            <a:endParaRPr lang="de" dirty="0">
              <a:solidFill>
                <a:srgbClr val="1D1D1A"/>
              </a:solidFill>
            </a:endParaRPr>
          </a:p>
          <a:p>
            <a:pPr marL="342900">
              <a:spcAft>
                <a:spcPts val="1600"/>
              </a:spcAft>
              <a:buFont typeface="Arial"/>
              <a:buAutoNum type="arabicPeriod"/>
            </a:pPr>
            <a:r>
              <a:rPr lang="de" dirty="0">
                <a:solidFill>
                  <a:srgbClr val="1D1D1A"/>
                </a:solidFill>
              </a:rPr>
              <a:t>Privilege </a:t>
            </a:r>
            <a:r>
              <a:rPr lang="de" dirty="0" err="1">
                <a:solidFill>
                  <a:srgbClr val="1D1D1A"/>
                </a:solidFill>
              </a:rPr>
              <a:t>Escalation</a:t>
            </a:r>
            <a:endParaRPr lang="de" dirty="0">
              <a:solidFill>
                <a:srgbClr val="1D1D1A"/>
              </a:solidFill>
            </a:endParaRPr>
          </a:p>
          <a:p>
            <a:pPr marL="342900">
              <a:spcAft>
                <a:spcPts val="1600"/>
              </a:spcAft>
              <a:buFont typeface="Arial"/>
              <a:buAutoNum type="arabicPeriod"/>
            </a:pPr>
            <a:r>
              <a:rPr lang="de" dirty="0">
                <a:solidFill>
                  <a:srgbClr val="1D1D1A"/>
                </a:solidFill>
              </a:rPr>
              <a:t>Public Exploit</a:t>
            </a:r>
          </a:p>
        </p:txBody>
      </p:sp>
    </p:spTree>
    <p:extLst>
      <p:ext uri="{BB962C8B-B14F-4D97-AF65-F5344CB8AC3E}">
        <p14:creationId xmlns:p14="http://schemas.microsoft.com/office/powerpoint/2010/main" val="14920724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A3EED999-1C3B-12DB-E5F6-CD333D8262C8}"/>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C1CD8B77-2078-0A57-4D8B-AB4595D1B621}"/>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a:solidFill>
                  <a:srgbClr val="292E60"/>
                </a:solidFill>
              </a:rPr>
              <a:t>OSINT</a:t>
            </a:r>
            <a:endParaRPr b="1" dirty="0">
              <a:solidFill>
                <a:srgbClr val="292E60"/>
              </a:solidFill>
            </a:endParaRPr>
          </a:p>
        </p:txBody>
      </p:sp>
      <p:sp>
        <p:nvSpPr>
          <p:cNvPr id="106" name="Google Shape;106;p21">
            <a:extLst>
              <a:ext uri="{FF2B5EF4-FFF2-40B4-BE49-F238E27FC236}">
                <a16:creationId xmlns:a16="http://schemas.microsoft.com/office/drawing/2014/main" id="{EBA5B5FF-81A0-0535-3D01-12A7DEB0E580}"/>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pic>
        <p:nvPicPr>
          <p:cNvPr id="107" name="Google Shape;107;p21">
            <a:extLst>
              <a:ext uri="{FF2B5EF4-FFF2-40B4-BE49-F238E27FC236}">
                <a16:creationId xmlns:a16="http://schemas.microsoft.com/office/drawing/2014/main" id="{ECBAB7C4-1C84-5AEA-D302-68974D2C9F61}"/>
              </a:ext>
            </a:extLst>
          </p:cNvPr>
          <p:cNvPicPr preferRelativeResize="0"/>
          <p:nvPr/>
        </p:nvPicPr>
        <p:blipFill>
          <a:blip r:embed="rId3">
            <a:alphaModFix/>
          </a:blip>
          <a:stretch>
            <a:fillRect/>
          </a:stretch>
        </p:blipFill>
        <p:spPr>
          <a:xfrm>
            <a:off x="1459083" y="878900"/>
            <a:ext cx="155800" cy="155800"/>
          </a:xfrm>
          <a:prstGeom prst="rect">
            <a:avLst/>
          </a:prstGeom>
          <a:noFill/>
          <a:ln>
            <a:noFill/>
          </a:ln>
        </p:spPr>
      </p:pic>
      <p:sp>
        <p:nvSpPr>
          <p:cNvPr id="6" name="Rectangle 5">
            <a:extLst>
              <a:ext uri="{FF2B5EF4-FFF2-40B4-BE49-F238E27FC236}">
                <a16:creationId xmlns:a16="http://schemas.microsoft.com/office/drawing/2014/main" id="{D79E4101-E2F5-F7BC-D2C5-904FE77AF72C}"/>
              </a:ext>
            </a:extLst>
          </p:cNvPr>
          <p:cNvSpPr/>
          <p:nvPr/>
        </p:nvSpPr>
        <p:spPr>
          <a:xfrm>
            <a:off x="5874184" y="2867675"/>
            <a:ext cx="210647" cy="3829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4B2A94B-3F91-3287-C663-66AE02D08762}"/>
              </a:ext>
            </a:extLst>
          </p:cNvPr>
          <p:cNvSpPr txBox="1"/>
          <p:nvPr/>
        </p:nvSpPr>
        <p:spPr>
          <a:xfrm>
            <a:off x="2964361" y="4497130"/>
            <a:ext cx="6030288" cy="523220"/>
          </a:xfrm>
          <a:prstGeom prst="rect">
            <a:avLst/>
          </a:prstGeom>
          <a:noFill/>
        </p:spPr>
        <p:txBody>
          <a:bodyPr wrap="square">
            <a:spAutoFit/>
          </a:bodyPr>
          <a:lstStyle/>
          <a:p>
            <a:pPr algn="r"/>
            <a:r>
              <a:rPr lang="en-US" dirty="0"/>
              <a:t>Search Victim-Owned Websites (T1594)</a:t>
            </a:r>
            <a:endParaRPr lang="en-US" dirty="0">
              <a:solidFill>
                <a:srgbClr val="1D1D1A"/>
              </a:solidFill>
              <a:latin typeface="Arial" panose="020B0604020202020204" pitchFamily="34" charset="0"/>
              <a:cs typeface="Arial" panose="020B0604020202020204" pitchFamily="34" charset="0"/>
            </a:endParaRPr>
          </a:p>
          <a:p>
            <a:pPr algn="r"/>
            <a:r>
              <a:rPr lang="en-US" dirty="0">
                <a:solidFill>
                  <a:srgbClr val="1D1D1A"/>
                </a:solidFill>
                <a:latin typeface="Arial" panose="020B0604020202020204" pitchFamily="34" charset="0"/>
                <a:cs typeface="Arial" panose="020B0604020202020204" pitchFamily="34" charset="0"/>
              </a:rPr>
              <a:t>Gather Victim Identity Information: Employee Names (</a:t>
            </a:r>
            <a:r>
              <a:rPr lang="en-US" dirty="0"/>
              <a:t>T1589.003)</a:t>
            </a:r>
            <a:endParaRPr lang="en-US" dirty="0">
              <a:solidFill>
                <a:srgbClr val="1D1D1A"/>
              </a:solidFill>
              <a:latin typeface="Arial" panose="020B0604020202020204" pitchFamily="34" charset="0"/>
              <a:cs typeface="Arial" panose="020B0604020202020204" pitchFamily="34" charset="0"/>
            </a:endParaRPr>
          </a:p>
        </p:txBody>
      </p:sp>
      <p:grpSp>
        <p:nvGrpSpPr>
          <p:cNvPr id="7" name="Group 6">
            <a:extLst>
              <a:ext uri="{FF2B5EF4-FFF2-40B4-BE49-F238E27FC236}">
                <a16:creationId xmlns:a16="http://schemas.microsoft.com/office/drawing/2014/main" id="{AA1050CD-D2A7-9B71-9839-CC5A69DD6788}"/>
              </a:ext>
            </a:extLst>
          </p:cNvPr>
          <p:cNvGrpSpPr/>
          <p:nvPr/>
        </p:nvGrpSpPr>
        <p:grpSpPr>
          <a:xfrm>
            <a:off x="1188332" y="1214443"/>
            <a:ext cx="6767339" cy="3190299"/>
            <a:chOff x="1188330" y="1214441"/>
            <a:chExt cx="6767339" cy="3190299"/>
          </a:xfrm>
        </p:grpSpPr>
        <p:pic>
          <p:nvPicPr>
            <p:cNvPr id="3" name="Picture 2">
              <a:extLst>
                <a:ext uri="{FF2B5EF4-FFF2-40B4-BE49-F238E27FC236}">
                  <a16:creationId xmlns:a16="http://schemas.microsoft.com/office/drawing/2014/main" id="{FD80FA18-D6FF-8416-F60E-BDB516FFBF73}"/>
                </a:ext>
              </a:extLst>
            </p:cNvPr>
            <p:cNvPicPr>
              <a:picLocks noChangeAspect="1"/>
            </p:cNvPicPr>
            <p:nvPr/>
          </p:nvPicPr>
          <p:blipFill>
            <a:blip r:embed="rId4"/>
            <a:srcRect l="21147" t="45702" r="22222" b="9283"/>
            <a:stretch>
              <a:fillRect/>
            </a:stretch>
          </p:blipFill>
          <p:spPr>
            <a:xfrm>
              <a:off x="1188330" y="1214441"/>
              <a:ext cx="6767339" cy="2936218"/>
            </a:xfrm>
            <a:prstGeom prst="rect">
              <a:avLst/>
            </a:prstGeom>
          </p:spPr>
        </p:pic>
        <p:pic>
          <p:nvPicPr>
            <p:cNvPr id="5" name="Picture 4">
              <a:extLst>
                <a:ext uri="{FF2B5EF4-FFF2-40B4-BE49-F238E27FC236}">
                  <a16:creationId xmlns:a16="http://schemas.microsoft.com/office/drawing/2014/main" id="{02F53BB0-7B6C-D88C-38AA-5E794D7A5A61}"/>
                </a:ext>
              </a:extLst>
            </p:cNvPr>
            <p:cNvPicPr>
              <a:picLocks noChangeAspect="1"/>
            </p:cNvPicPr>
            <p:nvPr/>
          </p:nvPicPr>
          <p:blipFill>
            <a:blip r:embed="rId4"/>
            <a:srcRect l="41392" t="90521" r="41699" b="3607"/>
            <a:stretch>
              <a:fillRect/>
            </a:stretch>
          </p:blipFill>
          <p:spPr>
            <a:xfrm>
              <a:off x="3673405" y="4021744"/>
              <a:ext cx="2020633" cy="382996"/>
            </a:xfrm>
            <a:prstGeom prst="rect">
              <a:avLst/>
            </a:prstGeom>
          </p:spPr>
        </p:pic>
      </p:grpSp>
      <p:sp>
        <p:nvSpPr>
          <p:cNvPr id="8" name="Rectangle 7">
            <a:extLst>
              <a:ext uri="{FF2B5EF4-FFF2-40B4-BE49-F238E27FC236}">
                <a16:creationId xmlns:a16="http://schemas.microsoft.com/office/drawing/2014/main" id="{A16EFBD6-6E49-6ACA-BAD6-F17146688539}"/>
              </a:ext>
            </a:extLst>
          </p:cNvPr>
          <p:cNvSpPr/>
          <p:nvPr/>
        </p:nvSpPr>
        <p:spPr>
          <a:xfrm>
            <a:off x="5737505" y="2724251"/>
            <a:ext cx="347324" cy="4358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3554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C582E786-0D52-994E-25DB-D4522F98CC6F}"/>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305F0BE2-AC68-7269-55A9-853200542B9E}"/>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pic>
        <p:nvPicPr>
          <p:cNvPr id="4" name="Picture 3">
            <a:extLst>
              <a:ext uri="{FF2B5EF4-FFF2-40B4-BE49-F238E27FC236}">
                <a16:creationId xmlns:a16="http://schemas.microsoft.com/office/drawing/2014/main" id="{7DBCE89A-8C71-BBC4-AA79-ACB9139948C1}"/>
              </a:ext>
            </a:extLst>
          </p:cNvPr>
          <p:cNvPicPr>
            <a:picLocks noChangeAspect="1"/>
          </p:cNvPicPr>
          <p:nvPr/>
        </p:nvPicPr>
        <p:blipFill>
          <a:blip r:embed="rId3"/>
          <a:stretch>
            <a:fillRect/>
          </a:stretch>
        </p:blipFill>
        <p:spPr>
          <a:xfrm>
            <a:off x="354821" y="1806303"/>
            <a:ext cx="8434358" cy="1530894"/>
          </a:xfrm>
          <a:prstGeom prst="roundRect">
            <a:avLst>
              <a:gd name="adj" fmla="val 7110"/>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contourClr>
              <a:srgbClr val="969696"/>
            </a:contourClr>
          </a:sp3d>
        </p:spPr>
      </p:pic>
      <p:sp>
        <p:nvSpPr>
          <p:cNvPr id="5" name="Google Shape;104;p21">
            <a:extLst>
              <a:ext uri="{FF2B5EF4-FFF2-40B4-BE49-F238E27FC236}">
                <a16:creationId xmlns:a16="http://schemas.microsoft.com/office/drawing/2014/main" id="{A36DADF2-DEBB-3E75-66AC-38F152440CF0}"/>
              </a:ext>
            </a:extLst>
          </p:cNvPr>
          <p:cNvSpPr txBox="1">
            <a:spLocks/>
          </p:cNvSpPr>
          <p:nvPr/>
        </p:nvSpPr>
        <p:spPr>
          <a:xfrm>
            <a:off x="311702" y="445025"/>
            <a:ext cx="7961443"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a:solidFill>
                  <a:srgbClr val="292E60"/>
                </a:solidFill>
              </a:rPr>
              <a:t>OSINT</a:t>
            </a:r>
            <a:endParaRPr lang="en-US" b="1" dirty="0">
              <a:solidFill>
                <a:srgbClr val="292E60"/>
              </a:solidFill>
            </a:endParaRPr>
          </a:p>
        </p:txBody>
      </p:sp>
      <p:pic>
        <p:nvPicPr>
          <p:cNvPr id="6" name="Google Shape;107;p21">
            <a:extLst>
              <a:ext uri="{FF2B5EF4-FFF2-40B4-BE49-F238E27FC236}">
                <a16:creationId xmlns:a16="http://schemas.microsoft.com/office/drawing/2014/main" id="{AF758821-CD83-17E5-BF50-71F31D904C51}"/>
              </a:ext>
            </a:extLst>
          </p:cNvPr>
          <p:cNvPicPr preferRelativeResize="0"/>
          <p:nvPr/>
        </p:nvPicPr>
        <p:blipFill>
          <a:blip r:embed="rId4">
            <a:alphaModFix/>
          </a:blip>
          <a:stretch>
            <a:fillRect/>
          </a:stretch>
        </p:blipFill>
        <p:spPr>
          <a:xfrm>
            <a:off x="1459083" y="878900"/>
            <a:ext cx="145576" cy="155800"/>
          </a:xfrm>
          <a:prstGeom prst="rect">
            <a:avLst/>
          </a:prstGeom>
          <a:noFill/>
          <a:ln>
            <a:noFill/>
          </a:ln>
        </p:spPr>
      </p:pic>
      <p:sp>
        <p:nvSpPr>
          <p:cNvPr id="8" name="TextBox 7">
            <a:extLst>
              <a:ext uri="{FF2B5EF4-FFF2-40B4-BE49-F238E27FC236}">
                <a16:creationId xmlns:a16="http://schemas.microsoft.com/office/drawing/2014/main" id="{51926ABB-CD0F-AA6B-A06B-19919932F54C}"/>
              </a:ext>
            </a:extLst>
          </p:cNvPr>
          <p:cNvSpPr txBox="1"/>
          <p:nvPr/>
        </p:nvSpPr>
        <p:spPr>
          <a:xfrm>
            <a:off x="353841" y="3410405"/>
            <a:ext cx="4572000" cy="261610"/>
          </a:xfrm>
          <a:prstGeom prst="rect">
            <a:avLst/>
          </a:prstGeom>
          <a:noFill/>
        </p:spPr>
        <p:txBody>
          <a:bodyPr wrap="square">
            <a:spAutoFit/>
          </a:bodyPr>
          <a:lstStyle/>
          <a:p>
            <a:r>
              <a:rPr lang="en-US" sz="1100" dirty="0"/>
              <a:t>Source: </a:t>
            </a:r>
            <a:r>
              <a:rPr lang="en-US" sz="1100" dirty="0" err="1"/>
              <a:t>x.com</a:t>
            </a:r>
            <a:r>
              <a:rPr lang="en-US" sz="1100" dirty="0"/>
              <a:t>/</a:t>
            </a:r>
            <a:r>
              <a:rPr lang="en-US" sz="1100" dirty="0" err="1"/>
              <a:t>MBuckerzerg</a:t>
            </a:r>
            <a:endParaRPr lang="en-US" sz="1100" dirty="0"/>
          </a:p>
        </p:txBody>
      </p:sp>
      <p:sp>
        <p:nvSpPr>
          <p:cNvPr id="3" name="TextBox 2">
            <a:extLst>
              <a:ext uri="{FF2B5EF4-FFF2-40B4-BE49-F238E27FC236}">
                <a16:creationId xmlns:a16="http://schemas.microsoft.com/office/drawing/2014/main" id="{5130E229-2FB9-9857-4E0E-1A6D8BA2910A}"/>
              </a:ext>
            </a:extLst>
          </p:cNvPr>
          <p:cNvSpPr txBox="1"/>
          <p:nvPr/>
        </p:nvSpPr>
        <p:spPr>
          <a:xfrm>
            <a:off x="3814918" y="4667112"/>
            <a:ext cx="5049505" cy="307777"/>
          </a:xfrm>
          <a:prstGeom prst="rect">
            <a:avLst/>
          </a:prstGeom>
          <a:noFill/>
        </p:spPr>
        <p:txBody>
          <a:bodyPr wrap="square">
            <a:spAutoFit/>
          </a:bodyPr>
          <a:lstStyle/>
          <a:p>
            <a:pPr algn="r"/>
            <a:r>
              <a:rPr lang="en-US" dirty="0">
                <a:solidFill>
                  <a:srgbClr val="1D1D1A"/>
                </a:solidFill>
                <a:latin typeface="Arial" panose="020B0604020202020204" pitchFamily="34" charset="0"/>
                <a:cs typeface="Arial" panose="020B0604020202020204" pitchFamily="34" charset="0"/>
              </a:rPr>
              <a:t>Search Open Websites / Domains: Social Media (</a:t>
            </a:r>
            <a:r>
              <a:rPr lang="en-US" dirty="0"/>
              <a:t>T1593.001)</a:t>
            </a:r>
            <a:endParaRPr lang="en-US" dirty="0">
              <a:solidFill>
                <a:srgbClr val="1D1D1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43284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1910DD8-33E8-C127-64E8-C2E4CB0D8515}"/>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125A3D37-6366-49DE-E915-4985B6973796}"/>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pic>
        <p:nvPicPr>
          <p:cNvPr id="6" name="Picture 5">
            <a:extLst>
              <a:ext uri="{FF2B5EF4-FFF2-40B4-BE49-F238E27FC236}">
                <a16:creationId xmlns:a16="http://schemas.microsoft.com/office/drawing/2014/main" id="{ADB9A8B1-C68D-8A9C-F8E3-B9BAB244CD4F}"/>
              </a:ext>
            </a:extLst>
          </p:cNvPr>
          <p:cNvPicPr>
            <a:picLocks noChangeAspect="1"/>
          </p:cNvPicPr>
          <p:nvPr/>
        </p:nvPicPr>
        <p:blipFill>
          <a:blip r:embed="rId3"/>
          <a:srcRect l="2477" t="29109" r="74493" b="56488"/>
          <a:stretch>
            <a:fillRect/>
          </a:stretch>
        </p:blipFill>
        <p:spPr>
          <a:xfrm>
            <a:off x="4710782" y="2008124"/>
            <a:ext cx="3475342" cy="1822479"/>
          </a:xfrm>
          <a:prstGeom prst="rect">
            <a:avLst/>
          </a:prstGeom>
        </p:spPr>
      </p:pic>
      <p:sp>
        <p:nvSpPr>
          <p:cNvPr id="9" name="Google Shape;104;p21">
            <a:extLst>
              <a:ext uri="{FF2B5EF4-FFF2-40B4-BE49-F238E27FC236}">
                <a16:creationId xmlns:a16="http://schemas.microsoft.com/office/drawing/2014/main" id="{EA37CB9C-B0C6-2DF9-90DF-D455CC9ABCFA}"/>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Active</a:t>
            </a:r>
            <a:r>
              <a:rPr lang="de" b="1" dirty="0">
                <a:solidFill>
                  <a:srgbClr val="292E60"/>
                </a:solidFill>
              </a:rPr>
              <a:t> Scan</a:t>
            </a:r>
            <a:endParaRPr b="1" dirty="0">
              <a:solidFill>
                <a:srgbClr val="292E60"/>
              </a:solidFill>
            </a:endParaRPr>
          </a:p>
        </p:txBody>
      </p:sp>
      <p:pic>
        <p:nvPicPr>
          <p:cNvPr id="10" name="Google Shape;107;p21">
            <a:extLst>
              <a:ext uri="{FF2B5EF4-FFF2-40B4-BE49-F238E27FC236}">
                <a16:creationId xmlns:a16="http://schemas.microsoft.com/office/drawing/2014/main" id="{5746E840-A2D4-1073-62B5-76DFA3EE98D5}"/>
              </a:ext>
            </a:extLst>
          </p:cNvPr>
          <p:cNvPicPr preferRelativeResize="0"/>
          <p:nvPr/>
        </p:nvPicPr>
        <p:blipFill>
          <a:blip r:embed="rId4">
            <a:alphaModFix/>
          </a:blip>
          <a:stretch>
            <a:fillRect/>
          </a:stretch>
        </p:blipFill>
        <p:spPr>
          <a:xfrm>
            <a:off x="2373485" y="878900"/>
            <a:ext cx="155800" cy="155800"/>
          </a:xfrm>
          <a:prstGeom prst="rect">
            <a:avLst/>
          </a:prstGeom>
          <a:noFill/>
          <a:ln>
            <a:noFill/>
          </a:ln>
        </p:spPr>
      </p:pic>
      <p:sp>
        <p:nvSpPr>
          <p:cNvPr id="4" name="TextBox 3">
            <a:extLst>
              <a:ext uri="{FF2B5EF4-FFF2-40B4-BE49-F238E27FC236}">
                <a16:creationId xmlns:a16="http://schemas.microsoft.com/office/drawing/2014/main" id="{596C830A-F535-EE41-74B0-903EC1921AEC}"/>
              </a:ext>
            </a:extLst>
          </p:cNvPr>
          <p:cNvSpPr txBox="1"/>
          <p:nvPr/>
        </p:nvSpPr>
        <p:spPr>
          <a:xfrm>
            <a:off x="5142273" y="4667112"/>
            <a:ext cx="4001729" cy="307777"/>
          </a:xfrm>
          <a:prstGeom prst="rect">
            <a:avLst/>
          </a:prstGeom>
          <a:noFill/>
        </p:spPr>
        <p:txBody>
          <a:bodyPr wrap="square">
            <a:spAutoFit/>
          </a:bodyPr>
          <a:lstStyle/>
          <a:p>
            <a:r>
              <a:rPr lang="en-US" dirty="0">
                <a:solidFill>
                  <a:srgbClr val="1D1D1A"/>
                </a:solidFill>
                <a:latin typeface="Roboto-Light"/>
              </a:rPr>
              <a:t>Active Scanning: Wordlist Scanning (</a:t>
            </a:r>
            <a:r>
              <a:rPr lang="en-US" dirty="0"/>
              <a:t>T1595.003)</a:t>
            </a:r>
            <a:endParaRPr lang="en-US" dirty="0">
              <a:solidFill>
                <a:srgbClr val="1D1D1A"/>
              </a:solidFill>
              <a:latin typeface="Roboto-Light"/>
            </a:endParaRPr>
          </a:p>
        </p:txBody>
      </p:sp>
      <p:pic>
        <p:nvPicPr>
          <p:cNvPr id="5" name="Picture 4">
            <a:extLst>
              <a:ext uri="{FF2B5EF4-FFF2-40B4-BE49-F238E27FC236}">
                <a16:creationId xmlns:a16="http://schemas.microsoft.com/office/drawing/2014/main" id="{37DE5516-4BC2-6C08-E80B-8CD015DF07C0}"/>
              </a:ext>
            </a:extLst>
          </p:cNvPr>
          <p:cNvPicPr>
            <a:picLocks noChangeAspect="1"/>
          </p:cNvPicPr>
          <p:nvPr/>
        </p:nvPicPr>
        <p:blipFill>
          <a:blip r:embed="rId3"/>
          <a:srcRect l="2477" t="43590" r="74493" b="39728"/>
          <a:stretch>
            <a:fillRect/>
          </a:stretch>
        </p:blipFill>
        <p:spPr>
          <a:xfrm>
            <a:off x="1105293" y="1863915"/>
            <a:ext cx="3475342" cy="2110899"/>
          </a:xfrm>
          <a:prstGeom prst="rect">
            <a:avLst/>
          </a:prstGeom>
        </p:spPr>
      </p:pic>
      <p:sp>
        <p:nvSpPr>
          <p:cNvPr id="2" name="TextBox 1">
            <a:extLst>
              <a:ext uri="{FF2B5EF4-FFF2-40B4-BE49-F238E27FC236}">
                <a16:creationId xmlns:a16="http://schemas.microsoft.com/office/drawing/2014/main" id="{4D45DDB1-A0F3-9D60-FA62-2A6E9C5C8D0E}"/>
              </a:ext>
            </a:extLst>
          </p:cNvPr>
          <p:cNvSpPr txBox="1"/>
          <p:nvPr/>
        </p:nvSpPr>
        <p:spPr>
          <a:xfrm>
            <a:off x="315842" y="1247665"/>
            <a:ext cx="3754316" cy="369332"/>
          </a:xfrm>
          <a:prstGeom prst="rect">
            <a:avLst/>
          </a:prstGeom>
          <a:noFill/>
        </p:spPr>
        <p:txBody>
          <a:bodyPr wrap="square" rtlCol="0">
            <a:spAutoFit/>
          </a:bodyPr>
          <a:lstStyle/>
          <a:p>
            <a:r>
              <a:rPr lang="en-US" sz="1800" dirty="0" err="1"/>
              <a:t>Dirbuster</a:t>
            </a:r>
            <a:r>
              <a:rPr lang="en-US" sz="1800" dirty="0"/>
              <a:t> results:</a:t>
            </a:r>
          </a:p>
        </p:txBody>
      </p:sp>
    </p:spTree>
    <p:extLst>
      <p:ext uri="{BB962C8B-B14F-4D97-AF65-F5344CB8AC3E}">
        <p14:creationId xmlns:p14="http://schemas.microsoft.com/office/powerpoint/2010/main" val="39669085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2EF21036-4DEE-2E0D-7B92-D3BF615C0997}"/>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17CA3F43-DADB-13C0-52BE-02216639BB1F}"/>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sp>
        <p:nvSpPr>
          <p:cNvPr id="9" name="Google Shape;104;p21">
            <a:extLst>
              <a:ext uri="{FF2B5EF4-FFF2-40B4-BE49-F238E27FC236}">
                <a16:creationId xmlns:a16="http://schemas.microsoft.com/office/drawing/2014/main" id="{EC0CEF13-254C-AED6-2944-E460369C6B70}"/>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Active</a:t>
            </a:r>
            <a:r>
              <a:rPr lang="de" b="1" dirty="0">
                <a:solidFill>
                  <a:srgbClr val="292E60"/>
                </a:solidFill>
              </a:rPr>
              <a:t> Scan</a:t>
            </a:r>
            <a:endParaRPr b="1" dirty="0">
              <a:solidFill>
                <a:srgbClr val="292E60"/>
              </a:solidFill>
            </a:endParaRPr>
          </a:p>
        </p:txBody>
      </p:sp>
      <p:pic>
        <p:nvPicPr>
          <p:cNvPr id="10" name="Google Shape;107;p21">
            <a:extLst>
              <a:ext uri="{FF2B5EF4-FFF2-40B4-BE49-F238E27FC236}">
                <a16:creationId xmlns:a16="http://schemas.microsoft.com/office/drawing/2014/main" id="{8E53E8E5-B139-9719-A955-78DF813AFF1E}"/>
              </a:ext>
            </a:extLst>
          </p:cNvPr>
          <p:cNvPicPr preferRelativeResize="0"/>
          <p:nvPr/>
        </p:nvPicPr>
        <p:blipFill>
          <a:blip r:embed="rId3">
            <a:alphaModFix/>
          </a:blip>
          <a:stretch>
            <a:fillRect/>
          </a:stretch>
        </p:blipFill>
        <p:spPr>
          <a:xfrm>
            <a:off x="2373485" y="878900"/>
            <a:ext cx="155800" cy="155800"/>
          </a:xfrm>
          <a:prstGeom prst="rect">
            <a:avLst/>
          </a:prstGeom>
          <a:noFill/>
          <a:ln>
            <a:noFill/>
          </a:ln>
        </p:spPr>
      </p:pic>
      <p:pic>
        <p:nvPicPr>
          <p:cNvPr id="3" name="Picture 2">
            <a:extLst>
              <a:ext uri="{FF2B5EF4-FFF2-40B4-BE49-F238E27FC236}">
                <a16:creationId xmlns:a16="http://schemas.microsoft.com/office/drawing/2014/main" id="{F9259D7A-745F-5E0B-C045-09974567C0FE}"/>
              </a:ext>
            </a:extLst>
          </p:cNvPr>
          <p:cNvPicPr>
            <a:picLocks noChangeAspect="1"/>
          </p:cNvPicPr>
          <p:nvPr/>
        </p:nvPicPr>
        <p:blipFill>
          <a:blip r:embed="rId4"/>
          <a:srcRect b="3380"/>
          <a:stretch>
            <a:fillRect/>
          </a:stretch>
        </p:blipFill>
        <p:spPr>
          <a:xfrm>
            <a:off x="311702" y="1451601"/>
            <a:ext cx="8520599" cy="2443744"/>
          </a:xfrm>
          <a:prstGeom prst="roundRect">
            <a:avLst>
              <a:gd name="adj" fmla="val 3652"/>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contourClr>
              <a:srgbClr val="969696"/>
            </a:contourClr>
          </a:sp3d>
        </p:spPr>
      </p:pic>
    </p:spTree>
    <p:extLst>
      <p:ext uri="{BB962C8B-B14F-4D97-AF65-F5344CB8AC3E}">
        <p14:creationId xmlns:p14="http://schemas.microsoft.com/office/powerpoint/2010/main" val="30363176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2BD2EAC-3F5C-7D44-AB26-1EC8D8E4DEF7}"/>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C94ABB21-C9E7-62AA-6A11-467374AC4770}"/>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sp>
        <p:nvSpPr>
          <p:cNvPr id="9" name="Google Shape;104;p21">
            <a:extLst>
              <a:ext uri="{FF2B5EF4-FFF2-40B4-BE49-F238E27FC236}">
                <a16:creationId xmlns:a16="http://schemas.microsoft.com/office/drawing/2014/main" id="{99E90030-2E8F-7855-56F6-427CF47080F4}"/>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Active</a:t>
            </a:r>
            <a:r>
              <a:rPr lang="de" b="1" dirty="0">
                <a:solidFill>
                  <a:srgbClr val="292E60"/>
                </a:solidFill>
              </a:rPr>
              <a:t> Scan</a:t>
            </a:r>
            <a:endParaRPr b="1" dirty="0">
              <a:solidFill>
                <a:srgbClr val="292E60"/>
              </a:solidFill>
            </a:endParaRPr>
          </a:p>
        </p:txBody>
      </p:sp>
      <p:pic>
        <p:nvPicPr>
          <p:cNvPr id="10" name="Google Shape;107;p21">
            <a:extLst>
              <a:ext uri="{FF2B5EF4-FFF2-40B4-BE49-F238E27FC236}">
                <a16:creationId xmlns:a16="http://schemas.microsoft.com/office/drawing/2014/main" id="{858A3CFF-F51F-6A4D-3D94-25820D2B68F9}"/>
              </a:ext>
            </a:extLst>
          </p:cNvPr>
          <p:cNvPicPr preferRelativeResize="0"/>
          <p:nvPr/>
        </p:nvPicPr>
        <p:blipFill>
          <a:blip r:embed="rId3">
            <a:alphaModFix/>
          </a:blip>
          <a:stretch>
            <a:fillRect/>
          </a:stretch>
        </p:blipFill>
        <p:spPr>
          <a:xfrm>
            <a:off x="2373485" y="878900"/>
            <a:ext cx="155800" cy="155800"/>
          </a:xfrm>
          <a:prstGeom prst="rect">
            <a:avLst/>
          </a:prstGeom>
          <a:noFill/>
          <a:ln>
            <a:noFill/>
          </a:ln>
        </p:spPr>
      </p:pic>
      <p:pic>
        <p:nvPicPr>
          <p:cNvPr id="4" name="Picture 3">
            <a:extLst>
              <a:ext uri="{FF2B5EF4-FFF2-40B4-BE49-F238E27FC236}">
                <a16:creationId xmlns:a16="http://schemas.microsoft.com/office/drawing/2014/main" id="{0CDF67ED-544C-30CF-D524-1313C48FDFA2}"/>
              </a:ext>
            </a:extLst>
          </p:cNvPr>
          <p:cNvPicPr>
            <a:picLocks noChangeAspect="1"/>
          </p:cNvPicPr>
          <p:nvPr/>
        </p:nvPicPr>
        <p:blipFill>
          <a:blip r:embed="rId4"/>
          <a:stretch>
            <a:fillRect/>
          </a:stretch>
        </p:blipFill>
        <p:spPr>
          <a:xfrm>
            <a:off x="311702" y="1684356"/>
            <a:ext cx="8620225" cy="2069282"/>
          </a:xfrm>
          <a:prstGeom prst="roundRect">
            <a:avLst>
              <a:gd name="adj" fmla="val 5178"/>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contourClr>
              <a:srgbClr val="969696"/>
            </a:contourClr>
          </a:sp3d>
        </p:spPr>
      </p:pic>
    </p:spTree>
    <p:extLst>
      <p:ext uri="{BB962C8B-B14F-4D97-AF65-F5344CB8AC3E}">
        <p14:creationId xmlns:p14="http://schemas.microsoft.com/office/powerpoint/2010/main" val="27091995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85218FF-C460-4923-4DAF-B71BEDE4A90D}"/>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E12C7EDB-9A50-2E47-5A05-B88FD3E06D83}"/>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sp>
        <p:nvSpPr>
          <p:cNvPr id="9" name="Google Shape;104;p21">
            <a:extLst>
              <a:ext uri="{FF2B5EF4-FFF2-40B4-BE49-F238E27FC236}">
                <a16:creationId xmlns:a16="http://schemas.microsoft.com/office/drawing/2014/main" id="{64EF2388-2DA1-3446-1CB9-461DE155E63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en-US" b="1" dirty="0">
                <a:solidFill>
                  <a:srgbClr val="292E60"/>
                </a:solidFill>
              </a:rPr>
              <a:t>Cracking Hashes</a:t>
            </a:r>
            <a:endParaRPr b="1" dirty="0">
              <a:solidFill>
                <a:srgbClr val="292E60"/>
              </a:solidFill>
            </a:endParaRPr>
          </a:p>
        </p:txBody>
      </p:sp>
      <p:pic>
        <p:nvPicPr>
          <p:cNvPr id="10" name="Google Shape;107;p21">
            <a:extLst>
              <a:ext uri="{FF2B5EF4-FFF2-40B4-BE49-F238E27FC236}">
                <a16:creationId xmlns:a16="http://schemas.microsoft.com/office/drawing/2014/main" id="{979F8C84-1078-3F2A-DA92-C31AB7CC9C6D}"/>
              </a:ext>
            </a:extLst>
          </p:cNvPr>
          <p:cNvPicPr preferRelativeResize="0"/>
          <p:nvPr/>
        </p:nvPicPr>
        <p:blipFill>
          <a:blip r:embed="rId3">
            <a:alphaModFix/>
          </a:blip>
          <a:stretch>
            <a:fillRect/>
          </a:stretch>
        </p:blipFill>
        <p:spPr>
          <a:xfrm>
            <a:off x="3244343" y="878900"/>
            <a:ext cx="155800" cy="155800"/>
          </a:xfrm>
          <a:prstGeom prst="rect">
            <a:avLst/>
          </a:prstGeom>
          <a:noFill/>
          <a:ln>
            <a:noFill/>
          </a:ln>
        </p:spPr>
      </p:pic>
      <p:pic>
        <p:nvPicPr>
          <p:cNvPr id="3" name="Picture 2">
            <a:extLst>
              <a:ext uri="{FF2B5EF4-FFF2-40B4-BE49-F238E27FC236}">
                <a16:creationId xmlns:a16="http://schemas.microsoft.com/office/drawing/2014/main" id="{F8E99797-984C-D6B7-DFC1-D28D5C505550}"/>
              </a:ext>
            </a:extLst>
          </p:cNvPr>
          <p:cNvPicPr>
            <a:picLocks noChangeAspect="1"/>
          </p:cNvPicPr>
          <p:nvPr/>
        </p:nvPicPr>
        <p:blipFill>
          <a:blip r:embed="rId4"/>
          <a:srcRect b="8729"/>
          <a:stretch>
            <a:fillRect/>
          </a:stretch>
        </p:blipFill>
        <p:spPr>
          <a:xfrm>
            <a:off x="685800" y="1263815"/>
            <a:ext cx="7772400" cy="2761624"/>
          </a:xfrm>
          <a:prstGeom prst="rect">
            <a:avLst/>
          </a:prstGeom>
        </p:spPr>
      </p:pic>
      <p:pic>
        <p:nvPicPr>
          <p:cNvPr id="5" name="Picture 4">
            <a:extLst>
              <a:ext uri="{FF2B5EF4-FFF2-40B4-BE49-F238E27FC236}">
                <a16:creationId xmlns:a16="http://schemas.microsoft.com/office/drawing/2014/main" id="{5571D3C9-9163-6D22-B5D9-C8853017BBB0}"/>
              </a:ext>
            </a:extLst>
          </p:cNvPr>
          <p:cNvPicPr>
            <a:picLocks noChangeAspect="1"/>
          </p:cNvPicPr>
          <p:nvPr/>
        </p:nvPicPr>
        <p:blipFill>
          <a:blip r:embed="rId4"/>
          <a:srcRect l="302" t="7592" r="99110" b="11896"/>
          <a:stretch>
            <a:fillRect/>
          </a:stretch>
        </p:blipFill>
        <p:spPr>
          <a:xfrm flipH="1">
            <a:off x="8455492" y="1491960"/>
            <a:ext cx="45719" cy="2436049"/>
          </a:xfrm>
          <a:prstGeom prst="rect">
            <a:avLst/>
          </a:prstGeom>
        </p:spPr>
      </p:pic>
      <p:sp>
        <p:nvSpPr>
          <p:cNvPr id="6" name="TextBox 5">
            <a:extLst>
              <a:ext uri="{FF2B5EF4-FFF2-40B4-BE49-F238E27FC236}">
                <a16:creationId xmlns:a16="http://schemas.microsoft.com/office/drawing/2014/main" id="{C46D8FDC-7933-458C-4F11-F8484A3884E0}"/>
              </a:ext>
            </a:extLst>
          </p:cNvPr>
          <p:cNvSpPr txBox="1"/>
          <p:nvPr/>
        </p:nvSpPr>
        <p:spPr>
          <a:xfrm>
            <a:off x="685800" y="3929563"/>
            <a:ext cx="4572000" cy="261610"/>
          </a:xfrm>
          <a:prstGeom prst="rect">
            <a:avLst/>
          </a:prstGeom>
          <a:noFill/>
        </p:spPr>
        <p:txBody>
          <a:bodyPr wrap="square">
            <a:spAutoFit/>
          </a:bodyPr>
          <a:lstStyle/>
          <a:p>
            <a:r>
              <a:rPr lang="en-US" sz="1100" dirty="0"/>
              <a:t>Source: </a:t>
            </a:r>
            <a:r>
              <a:rPr lang="en-US" sz="1100" dirty="0" err="1"/>
              <a:t>crackstation.net</a:t>
            </a:r>
            <a:endParaRPr lang="en-US" sz="1100" dirty="0"/>
          </a:p>
        </p:txBody>
      </p:sp>
      <p:sp>
        <p:nvSpPr>
          <p:cNvPr id="4" name="TextBox 3">
            <a:extLst>
              <a:ext uri="{FF2B5EF4-FFF2-40B4-BE49-F238E27FC236}">
                <a16:creationId xmlns:a16="http://schemas.microsoft.com/office/drawing/2014/main" id="{4A5ACFDF-B7EB-2376-B34F-1EB4FE7411BA}"/>
              </a:ext>
            </a:extLst>
          </p:cNvPr>
          <p:cNvSpPr txBox="1"/>
          <p:nvPr/>
        </p:nvSpPr>
        <p:spPr>
          <a:xfrm>
            <a:off x="5142273" y="4574184"/>
            <a:ext cx="4001729" cy="307777"/>
          </a:xfrm>
          <a:prstGeom prst="rect">
            <a:avLst/>
          </a:prstGeom>
          <a:noFill/>
        </p:spPr>
        <p:txBody>
          <a:bodyPr wrap="square">
            <a:spAutoFit/>
          </a:bodyPr>
          <a:lstStyle/>
          <a:p>
            <a:pPr algn="r"/>
            <a:r>
              <a:rPr lang="en-US" dirty="0">
                <a:solidFill>
                  <a:srgbClr val="1D1D1A"/>
                </a:solidFill>
                <a:latin typeface="Roboto-Light"/>
              </a:rPr>
              <a:t>Brute Force: Password Cracking (</a:t>
            </a:r>
            <a:r>
              <a:rPr lang="en-US" dirty="0">
                <a:solidFill>
                  <a:srgbClr val="1D1D1A"/>
                </a:solidFill>
              </a:rPr>
              <a:t>T1110.002</a:t>
            </a:r>
            <a:r>
              <a:rPr lang="en-US" dirty="0">
                <a:solidFill>
                  <a:srgbClr val="1D1D1A"/>
                </a:solidFill>
                <a:latin typeface="Roboto-Light"/>
              </a:rPr>
              <a:t>)</a:t>
            </a:r>
          </a:p>
        </p:txBody>
      </p:sp>
    </p:spTree>
    <p:extLst>
      <p:ext uri="{BB962C8B-B14F-4D97-AF65-F5344CB8AC3E}">
        <p14:creationId xmlns:p14="http://schemas.microsoft.com/office/powerpoint/2010/main" val="26159314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B831621A-3F03-949B-D9E0-D0D4CC5BCEC6}"/>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C70CEA9D-E32C-7967-E2B0-68484976D2E1}"/>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sp>
        <p:nvSpPr>
          <p:cNvPr id="9" name="Google Shape;104;p21">
            <a:extLst>
              <a:ext uri="{FF2B5EF4-FFF2-40B4-BE49-F238E27FC236}">
                <a16:creationId xmlns:a16="http://schemas.microsoft.com/office/drawing/2014/main" id="{BF073118-5DC4-62D0-1BC5-92D7BB1F2E10}"/>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en-US" b="1" dirty="0">
                <a:solidFill>
                  <a:srgbClr val="292E60"/>
                </a:solidFill>
              </a:rPr>
              <a:t>Creating Wordlists</a:t>
            </a:r>
            <a:endParaRPr b="1" dirty="0">
              <a:solidFill>
                <a:srgbClr val="292E60"/>
              </a:solidFill>
            </a:endParaRPr>
          </a:p>
        </p:txBody>
      </p:sp>
      <p:pic>
        <p:nvPicPr>
          <p:cNvPr id="10" name="Google Shape;107;p21">
            <a:extLst>
              <a:ext uri="{FF2B5EF4-FFF2-40B4-BE49-F238E27FC236}">
                <a16:creationId xmlns:a16="http://schemas.microsoft.com/office/drawing/2014/main" id="{AC9E9442-0D2C-1899-A86F-89C2E066CDE0}"/>
              </a:ext>
            </a:extLst>
          </p:cNvPr>
          <p:cNvPicPr preferRelativeResize="0"/>
          <p:nvPr/>
        </p:nvPicPr>
        <p:blipFill>
          <a:blip r:embed="rId3">
            <a:alphaModFix/>
          </a:blip>
          <a:stretch>
            <a:fillRect/>
          </a:stretch>
        </p:blipFill>
        <p:spPr>
          <a:xfrm>
            <a:off x="3505601" y="878900"/>
            <a:ext cx="155800" cy="155800"/>
          </a:xfrm>
          <a:prstGeom prst="rect">
            <a:avLst/>
          </a:prstGeom>
          <a:noFill/>
          <a:ln>
            <a:noFill/>
          </a:ln>
        </p:spPr>
      </p:pic>
      <p:pic>
        <p:nvPicPr>
          <p:cNvPr id="4" name="Picture 3">
            <a:extLst>
              <a:ext uri="{FF2B5EF4-FFF2-40B4-BE49-F238E27FC236}">
                <a16:creationId xmlns:a16="http://schemas.microsoft.com/office/drawing/2014/main" id="{B4925E34-1C02-81A7-2706-0EDFE5683993}"/>
              </a:ext>
            </a:extLst>
          </p:cNvPr>
          <p:cNvPicPr>
            <a:picLocks noChangeAspect="1"/>
          </p:cNvPicPr>
          <p:nvPr/>
        </p:nvPicPr>
        <p:blipFill>
          <a:blip r:embed="rId4"/>
          <a:stretch>
            <a:fillRect/>
          </a:stretch>
        </p:blipFill>
        <p:spPr>
          <a:xfrm>
            <a:off x="1025600" y="1210370"/>
            <a:ext cx="3113289" cy="1645494"/>
          </a:xfrm>
          <a:prstGeom prst="roundRect">
            <a:avLst>
              <a:gd name="adj" fmla="val 3592"/>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contourClr>
              <a:srgbClr val="969696"/>
            </a:contourClr>
          </a:sp3d>
        </p:spPr>
      </p:pic>
      <p:pic>
        <p:nvPicPr>
          <p:cNvPr id="5" name="Picture 4">
            <a:extLst>
              <a:ext uri="{FF2B5EF4-FFF2-40B4-BE49-F238E27FC236}">
                <a16:creationId xmlns:a16="http://schemas.microsoft.com/office/drawing/2014/main" id="{A8E44263-BB58-63C0-F696-3584E6A6E4CA}"/>
              </a:ext>
            </a:extLst>
          </p:cNvPr>
          <p:cNvPicPr>
            <a:picLocks noChangeAspect="1"/>
          </p:cNvPicPr>
          <p:nvPr/>
        </p:nvPicPr>
        <p:blipFill>
          <a:blip r:embed="rId5"/>
          <a:srcRect l="23202" t="45702" r="22222" b="3607"/>
          <a:stretch>
            <a:fillRect/>
          </a:stretch>
        </p:blipFill>
        <p:spPr>
          <a:xfrm>
            <a:off x="1059689" y="3294150"/>
            <a:ext cx="3045109" cy="1543827"/>
          </a:xfrm>
          <a:prstGeom prst="roundRect">
            <a:avLst>
              <a:gd name="adj" fmla="val 4218"/>
            </a:avLst>
          </a:prstGeom>
          <a:ln>
            <a:noFill/>
          </a:ln>
          <a:effectLst>
            <a:outerShdw blurRad="76200" dist="38100" dir="7800000" sx="98138" sy="98138" algn="tl" rotWithShape="0">
              <a:srgbClr val="000000">
                <a:alpha val="11428"/>
              </a:srgbClr>
            </a:outerShdw>
          </a:effectLst>
          <a:scene3d>
            <a:camera prst="orthographicFront"/>
            <a:lightRig rig="contrasting" dir="t">
              <a:rot lat="0" lon="0" rev="4200000"/>
            </a:lightRig>
          </a:scene3d>
          <a:sp3d prstMaterial="plastic">
            <a:contourClr>
              <a:srgbClr val="969696"/>
            </a:contourClr>
          </a:sp3d>
        </p:spPr>
      </p:pic>
      <p:sp>
        <p:nvSpPr>
          <p:cNvPr id="6" name="TextBox 5">
            <a:extLst>
              <a:ext uri="{FF2B5EF4-FFF2-40B4-BE49-F238E27FC236}">
                <a16:creationId xmlns:a16="http://schemas.microsoft.com/office/drawing/2014/main" id="{40665567-947A-201B-0CEA-323F241F0926}"/>
              </a:ext>
            </a:extLst>
          </p:cNvPr>
          <p:cNvSpPr txBox="1"/>
          <p:nvPr/>
        </p:nvSpPr>
        <p:spPr>
          <a:xfrm>
            <a:off x="942926" y="2855315"/>
            <a:ext cx="2908808" cy="246221"/>
          </a:xfrm>
          <a:prstGeom prst="rect">
            <a:avLst/>
          </a:prstGeom>
          <a:noFill/>
        </p:spPr>
        <p:txBody>
          <a:bodyPr wrap="square">
            <a:spAutoFit/>
          </a:bodyPr>
          <a:lstStyle/>
          <a:p>
            <a:r>
              <a:rPr lang="en-US" sz="1000" dirty="0"/>
              <a:t>Source: </a:t>
            </a:r>
            <a:r>
              <a:rPr lang="en-US" sz="1000" dirty="0" err="1"/>
              <a:t>x.com</a:t>
            </a:r>
            <a:r>
              <a:rPr lang="en-US" sz="1000" dirty="0"/>
              <a:t>/</a:t>
            </a:r>
            <a:r>
              <a:rPr lang="en-US" sz="1000" dirty="0" err="1"/>
              <a:t>MBuckerzerg</a:t>
            </a:r>
            <a:endParaRPr lang="en-US" sz="1000" dirty="0"/>
          </a:p>
        </p:txBody>
      </p:sp>
      <p:pic>
        <p:nvPicPr>
          <p:cNvPr id="8" name="Picture 7">
            <a:extLst>
              <a:ext uri="{FF2B5EF4-FFF2-40B4-BE49-F238E27FC236}">
                <a16:creationId xmlns:a16="http://schemas.microsoft.com/office/drawing/2014/main" id="{D22B47A6-F6B4-B0F6-7184-666770A7C831}"/>
              </a:ext>
            </a:extLst>
          </p:cNvPr>
          <p:cNvPicPr>
            <a:picLocks noChangeAspect="1"/>
          </p:cNvPicPr>
          <p:nvPr/>
        </p:nvPicPr>
        <p:blipFill>
          <a:blip r:embed="rId6"/>
          <a:srcRect b="1726"/>
          <a:stretch>
            <a:fillRect/>
          </a:stretch>
        </p:blipFill>
        <p:spPr>
          <a:xfrm>
            <a:off x="4387167" y="1210369"/>
            <a:ext cx="3973827" cy="1644928"/>
          </a:xfrm>
          <a:prstGeom prst="roundRect">
            <a:avLst>
              <a:gd name="adj" fmla="val 4346"/>
            </a:avLst>
          </a:prstGeom>
          <a:ln>
            <a:noFill/>
          </a:ln>
          <a:effectLst>
            <a:outerShdw blurRad="76200" dist="38100" dir="7800000" algn="tl" rotWithShape="0">
              <a:srgbClr val="000000">
                <a:alpha val="21799"/>
              </a:srgbClr>
            </a:outerShdw>
          </a:effectLst>
          <a:scene3d>
            <a:camera prst="orthographicFront"/>
            <a:lightRig rig="contrasting" dir="t">
              <a:rot lat="0" lon="0" rev="4200000"/>
            </a:lightRig>
          </a:scene3d>
          <a:sp3d prstMaterial="plastic">
            <a:contourClr>
              <a:srgbClr val="969696"/>
            </a:contourClr>
          </a:sp3d>
        </p:spPr>
      </p:pic>
      <p:sp>
        <p:nvSpPr>
          <p:cNvPr id="12" name="TextBox 11">
            <a:extLst>
              <a:ext uri="{FF2B5EF4-FFF2-40B4-BE49-F238E27FC236}">
                <a16:creationId xmlns:a16="http://schemas.microsoft.com/office/drawing/2014/main" id="{22C8328F-D400-1219-222F-0B474467AD1B}"/>
              </a:ext>
            </a:extLst>
          </p:cNvPr>
          <p:cNvSpPr txBox="1"/>
          <p:nvPr/>
        </p:nvSpPr>
        <p:spPr>
          <a:xfrm>
            <a:off x="4332283" y="2855315"/>
            <a:ext cx="3848657" cy="246221"/>
          </a:xfrm>
          <a:prstGeom prst="rect">
            <a:avLst/>
          </a:prstGeom>
          <a:noFill/>
        </p:spPr>
        <p:txBody>
          <a:bodyPr wrap="square">
            <a:spAutoFit/>
          </a:bodyPr>
          <a:lstStyle/>
          <a:p>
            <a:r>
              <a:rPr lang="en-US" sz="1000" dirty="0"/>
              <a:t>Source: </a:t>
            </a:r>
            <a:r>
              <a:rPr lang="en-US" sz="1000" dirty="0" err="1"/>
              <a:t>www.dirk-heuzeroth.de</a:t>
            </a:r>
            <a:endParaRPr lang="en-US" sz="1000" dirty="0"/>
          </a:p>
        </p:txBody>
      </p:sp>
      <p:pic>
        <p:nvPicPr>
          <p:cNvPr id="16" name="Picture 15">
            <a:extLst>
              <a:ext uri="{FF2B5EF4-FFF2-40B4-BE49-F238E27FC236}">
                <a16:creationId xmlns:a16="http://schemas.microsoft.com/office/drawing/2014/main" id="{3B6C8FFF-C4CD-FA6D-ADCA-15AA1C89679B}"/>
              </a:ext>
            </a:extLst>
          </p:cNvPr>
          <p:cNvPicPr>
            <a:picLocks noChangeAspect="1"/>
          </p:cNvPicPr>
          <p:nvPr/>
        </p:nvPicPr>
        <p:blipFill>
          <a:blip r:embed="rId7"/>
          <a:stretch>
            <a:fillRect/>
          </a:stretch>
        </p:blipFill>
        <p:spPr>
          <a:xfrm>
            <a:off x="4331321" y="3335065"/>
            <a:ext cx="4055534" cy="1309709"/>
          </a:xfrm>
          <a:prstGeom prst="roundRect">
            <a:avLst>
              <a:gd name="adj" fmla="val 4649"/>
            </a:avLst>
          </a:prstGeom>
          <a:ln>
            <a:noFill/>
          </a:ln>
          <a:effectLst>
            <a:outerShdw blurRad="76200" dist="38100" dir="7800000" algn="tl" rotWithShape="0">
              <a:srgbClr val="000000">
                <a:alpha val="22898"/>
              </a:srgbClr>
            </a:outerShdw>
          </a:effectLst>
          <a:scene3d>
            <a:camera prst="orthographicFront"/>
            <a:lightRig rig="contrasting" dir="t">
              <a:rot lat="0" lon="0" rev="4200000"/>
            </a:lightRig>
          </a:scene3d>
          <a:sp3d prstMaterial="plastic">
            <a:contourClr>
              <a:srgbClr val="969696"/>
            </a:contourClr>
          </a:sp3d>
        </p:spPr>
      </p:pic>
      <p:cxnSp>
        <p:nvCxnSpPr>
          <p:cNvPr id="18" name="Straight Connector 17">
            <a:extLst>
              <a:ext uri="{FF2B5EF4-FFF2-40B4-BE49-F238E27FC236}">
                <a16:creationId xmlns:a16="http://schemas.microsoft.com/office/drawing/2014/main" id="{440B22C2-1509-96D8-6BA5-D4ADAD59F944}"/>
              </a:ext>
            </a:extLst>
          </p:cNvPr>
          <p:cNvCxnSpPr>
            <a:cxnSpLocks/>
          </p:cNvCxnSpPr>
          <p:nvPr/>
        </p:nvCxnSpPr>
        <p:spPr>
          <a:xfrm>
            <a:off x="4223657" y="1210370"/>
            <a:ext cx="0" cy="3544510"/>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627E0DCD-63D5-98F9-58C0-57F16C342F63}"/>
              </a:ext>
            </a:extLst>
          </p:cNvPr>
          <p:cNvCxnSpPr>
            <a:cxnSpLocks/>
          </p:cNvCxnSpPr>
          <p:nvPr/>
        </p:nvCxnSpPr>
        <p:spPr>
          <a:xfrm>
            <a:off x="640082" y="3145804"/>
            <a:ext cx="7772639"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00929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5048D159-3441-B2F0-17AE-9F89E98CD11E}"/>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D2AD14DE-D6EB-484C-559C-6197DC76971B}"/>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sp>
        <p:nvSpPr>
          <p:cNvPr id="9" name="Google Shape;104;p21">
            <a:extLst>
              <a:ext uri="{FF2B5EF4-FFF2-40B4-BE49-F238E27FC236}">
                <a16:creationId xmlns:a16="http://schemas.microsoft.com/office/drawing/2014/main" id="{E48792BD-552D-08C9-4594-F6879EF80D35}"/>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en-US" b="1" dirty="0">
                <a:solidFill>
                  <a:srgbClr val="292E60"/>
                </a:solidFill>
              </a:rPr>
              <a:t>Brute Force</a:t>
            </a:r>
            <a:endParaRPr b="1" dirty="0">
              <a:solidFill>
                <a:srgbClr val="292E60"/>
              </a:solidFill>
            </a:endParaRPr>
          </a:p>
        </p:txBody>
      </p:sp>
      <p:pic>
        <p:nvPicPr>
          <p:cNvPr id="10" name="Google Shape;107;p21">
            <a:extLst>
              <a:ext uri="{FF2B5EF4-FFF2-40B4-BE49-F238E27FC236}">
                <a16:creationId xmlns:a16="http://schemas.microsoft.com/office/drawing/2014/main" id="{EF135769-728B-464C-50C4-F8AA9C710F32}"/>
              </a:ext>
            </a:extLst>
          </p:cNvPr>
          <p:cNvPicPr preferRelativeResize="0"/>
          <p:nvPr/>
        </p:nvPicPr>
        <p:blipFill>
          <a:blip r:embed="rId3">
            <a:alphaModFix/>
          </a:blip>
          <a:stretch>
            <a:fillRect/>
          </a:stretch>
        </p:blipFill>
        <p:spPr>
          <a:xfrm>
            <a:off x="2371067" y="878900"/>
            <a:ext cx="155800" cy="155800"/>
          </a:xfrm>
          <a:prstGeom prst="rect">
            <a:avLst/>
          </a:prstGeom>
          <a:noFill/>
          <a:ln>
            <a:noFill/>
          </a:ln>
        </p:spPr>
      </p:pic>
      <p:pic>
        <p:nvPicPr>
          <p:cNvPr id="4" name="Picture 3">
            <a:extLst>
              <a:ext uri="{FF2B5EF4-FFF2-40B4-BE49-F238E27FC236}">
                <a16:creationId xmlns:a16="http://schemas.microsoft.com/office/drawing/2014/main" id="{8C3CCB03-E5EE-18DA-B9FC-45ED25D702B8}"/>
              </a:ext>
            </a:extLst>
          </p:cNvPr>
          <p:cNvPicPr>
            <a:picLocks noChangeAspect="1"/>
          </p:cNvPicPr>
          <p:nvPr/>
        </p:nvPicPr>
        <p:blipFill>
          <a:blip r:embed="rId4"/>
          <a:srcRect l="20913" t="16845"/>
          <a:stretch>
            <a:fillRect/>
          </a:stretch>
        </p:blipFill>
        <p:spPr>
          <a:xfrm>
            <a:off x="2909703" y="1453042"/>
            <a:ext cx="3324594" cy="2450066"/>
          </a:xfrm>
          <a:prstGeom prst="rect">
            <a:avLst/>
          </a:prstGeom>
        </p:spPr>
      </p:pic>
      <p:sp>
        <p:nvSpPr>
          <p:cNvPr id="2" name="TextBox 1">
            <a:extLst>
              <a:ext uri="{FF2B5EF4-FFF2-40B4-BE49-F238E27FC236}">
                <a16:creationId xmlns:a16="http://schemas.microsoft.com/office/drawing/2014/main" id="{CFBEA600-B8D2-A4DD-29A2-A3210A11587C}"/>
              </a:ext>
            </a:extLst>
          </p:cNvPr>
          <p:cNvSpPr txBox="1"/>
          <p:nvPr/>
        </p:nvSpPr>
        <p:spPr>
          <a:xfrm>
            <a:off x="5132441" y="4667112"/>
            <a:ext cx="4011561" cy="307777"/>
          </a:xfrm>
          <a:prstGeom prst="rect">
            <a:avLst/>
          </a:prstGeom>
          <a:noFill/>
        </p:spPr>
        <p:txBody>
          <a:bodyPr wrap="square">
            <a:spAutoFit/>
          </a:bodyPr>
          <a:lstStyle/>
          <a:p>
            <a:pPr algn="ctr">
              <a:buNone/>
            </a:pPr>
            <a:r>
              <a:rPr lang="en-US" dirty="0">
                <a:latin typeface="Roboto-Light"/>
              </a:rPr>
              <a:t>Brute Force: Password Guessing (</a:t>
            </a:r>
            <a:r>
              <a:rPr lang="en-US" dirty="0"/>
              <a:t>T1110.001</a:t>
            </a:r>
            <a:r>
              <a:rPr lang="en-US" dirty="0">
                <a:latin typeface="Roboto-Light"/>
              </a:rPr>
              <a:t>)</a:t>
            </a:r>
            <a:endParaRPr lang="en-US" dirty="0"/>
          </a:p>
        </p:txBody>
      </p:sp>
    </p:spTree>
    <p:extLst>
      <p:ext uri="{BB962C8B-B14F-4D97-AF65-F5344CB8AC3E}">
        <p14:creationId xmlns:p14="http://schemas.microsoft.com/office/powerpoint/2010/main" val="35808795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B953EA42-138A-99EE-C057-FB2EF245E58C}"/>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35F288BF-0288-8E45-63C7-E08FD24DC7FC}"/>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sp>
        <p:nvSpPr>
          <p:cNvPr id="9" name="Google Shape;104;p21">
            <a:extLst>
              <a:ext uri="{FF2B5EF4-FFF2-40B4-BE49-F238E27FC236}">
                <a16:creationId xmlns:a16="http://schemas.microsoft.com/office/drawing/2014/main" id="{BBBC6881-F87F-A4FF-571F-33F0AF7DE304}"/>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en-US" b="1" dirty="0">
                <a:solidFill>
                  <a:srgbClr val="292E60"/>
                </a:solidFill>
              </a:rPr>
              <a:t>Brute Force</a:t>
            </a:r>
            <a:endParaRPr b="1" dirty="0">
              <a:solidFill>
                <a:srgbClr val="292E60"/>
              </a:solidFill>
            </a:endParaRPr>
          </a:p>
        </p:txBody>
      </p:sp>
      <p:pic>
        <p:nvPicPr>
          <p:cNvPr id="10" name="Google Shape;107;p21">
            <a:extLst>
              <a:ext uri="{FF2B5EF4-FFF2-40B4-BE49-F238E27FC236}">
                <a16:creationId xmlns:a16="http://schemas.microsoft.com/office/drawing/2014/main" id="{E12AB43C-496B-74A4-5010-A0CF167126B0}"/>
              </a:ext>
            </a:extLst>
          </p:cNvPr>
          <p:cNvPicPr preferRelativeResize="0"/>
          <p:nvPr/>
        </p:nvPicPr>
        <p:blipFill>
          <a:blip r:embed="rId3">
            <a:alphaModFix/>
          </a:blip>
          <a:stretch>
            <a:fillRect/>
          </a:stretch>
        </p:blipFill>
        <p:spPr>
          <a:xfrm>
            <a:off x="2371067" y="878900"/>
            <a:ext cx="155800" cy="155800"/>
          </a:xfrm>
          <a:prstGeom prst="rect">
            <a:avLst/>
          </a:prstGeom>
          <a:noFill/>
          <a:ln>
            <a:noFill/>
          </a:ln>
        </p:spPr>
      </p:pic>
      <p:pic>
        <p:nvPicPr>
          <p:cNvPr id="2" name="Picture 1">
            <a:extLst>
              <a:ext uri="{FF2B5EF4-FFF2-40B4-BE49-F238E27FC236}">
                <a16:creationId xmlns:a16="http://schemas.microsoft.com/office/drawing/2014/main" id="{55AED799-13E0-CBBD-B1CA-BA15A0C1143E}"/>
              </a:ext>
            </a:extLst>
          </p:cNvPr>
          <p:cNvPicPr>
            <a:picLocks noChangeAspect="1"/>
          </p:cNvPicPr>
          <p:nvPr/>
        </p:nvPicPr>
        <p:blipFill>
          <a:blip r:embed="rId4"/>
          <a:srcRect l="20913" t="16845"/>
          <a:stretch>
            <a:fillRect/>
          </a:stretch>
        </p:blipFill>
        <p:spPr>
          <a:xfrm>
            <a:off x="932045" y="1453042"/>
            <a:ext cx="3324594" cy="2450066"/>
          </a:xfrm>
          <a:prstGeom prst="rect">
            <a:avLst/>
          </a:prstGeom>
        </p:spPr>
      </p:pic>
      <p:sp>
        <p:nvSpPr>
          <p:cNvPr id="5" name="Rectangle 4">
            <a:extLst>
              <a:ext uri="{FF2B5EF4-FFF2-40B4-BE49-F238E27FC236}">
                <a16:creationId xmlns:a16="http://schemas.microsoft.com/office/drawing/2014/main" id="{0DAF28CE-D0FA-B888-09EA-DFBEFA4DD708}"/>
              </a:ext>
            </a:extLst>
          </p:cNvPr>
          <p:cNvSpPr/>
          <p:nvPr/>
        </p:nvSpPr>
        <p:spPr>
          <a:xfrm>
            <a:off x="1096502" y="2678749"/>
            <a:ext cx="1274567" cy="4189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1D1D1A"/>
                </a:solidFill>
                <a:latin typeface="Avenir Next" panose="020B0503020202020204" pitchFamily="34" charset="0"/>
              </a:rPr>
              <a:t> </a:t>
            </a:r>
            <a:endParaRPr lang="en-US" dirty="0">
              <a:solidFill>
                <a:srgbClr val="C00000"/>
              </a:solidFill>
              <a:latin typeface="Avenir Next" panose="020B0503020202020204" pitchFamily="34" charset="0"/>
            </a:endParaRPr>
          </a:p>
        </p:txBody>
      </p:sp>
      <p:sp>
        <p:nvSpPr>
          <p:cNvPr id="6" name="Rectangle 5">
            <a:extLst>
              <a:ext uri="{FF2B5EF4-FFF2-40B4-BE49-F238E27FC236}">
                <a16:creationId xmlns:a16="http://schemas.microsoft.com/office/drawing/2014/main" id="{C9E5948F-9FF4-D261-AC26-1134E7F33AF5}"/>
              </a:ext>
            </a:extLst>
          </p:cNvPr>
          <p:cNvSpPr/>
          <p:nvPr/>
        </p:nvSpPr>
        <p:spPr>
          <a:xfrm>
            <a:off x="1096502" y="2144808"/>
            <a:ext cx="1274567" cy="3496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1D1D1A"/>
                </a:solidFill>
                <a:latin typeface="Avenir Next" panose="020B0503020202020204" pitchFamily="34" charset="0"/>
              </a:rPr>
              <a:t> </a:t>
            </a:r>
            <a:endParaRPr lang="en-US" dirty="0">
              <a:solidFill>
                <a:srgbClr val="1D1D1A"/>
              </a:solidFill>
              <a:latin typeface="Avenir Next" panose="020B0503020202020204" pitchFamily="34" charset="0"/>
            </a:endParaRPr>
          </a:p>
        </p:txBody>
      </p:sp>
      <p:sp>
        <p:nvSpPr>
          <p:cNvPr id="7" name="Rounded Rectangle 6">
            <a:extLst>
              <a:ext uri="{FF2B5EF4-FFF2-40B4-BE49-F238E27FC236}">
                <a16:creationId xmlns:a16="http://schemas.microsoft.com/office/drawing/2014/main" id="{376F9C62-AEA1-D175-8966-A834F99ADE57}"/>
              </a:ext>
            </a:extLst>
          </p:cNvPr>
          <p:cNvSpPr/>
          <p:nvPr/>
        </p:nvSpPr>
        <p:spPr>
          <a:xfrm>
            <a:off x="4523399" y="4554009"/>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date</a:t>
            </a:r>
          </a:p>
        </p:txBody>
      </p:sp>
      <p:sp>
        <p:nvSpPr>
          <p:cNvPr id="8" name="Rounded Rectangle 7">
            <a:extLst>
              <a:ext uri="{FF2B5EF4-FFF2-40B4-BE49-F238E27FC236}">
                <a16:creationId xmlns:a16="http://schemas.microsoft.com/office/drawing/2014/main" id="{ECEA5120-2476-853C-95B7-FACF4CAA8E22}"/>
              </a:ext>
            </a:extLst>
          </p:cNvPr>
          <p:cNvSpPr/>
          <p:nvPr/>
        </p:nvSpPr>
        <p:spPr>
          <a:xfrm>
            <a:off x="4523397" y="5204449"/>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Avenir Next" panose="020B0503020202020204" pitchFamily="34" charset="0"/>
              </a:rPr>
              <a:t>tinkerbell</a:t>
            </a:r>
            <a:endParaRPr lang="en-US" dirty="0">
              <a:solidFill>
                <a:schemeClr val="tx1"/>
              </a:solidFill>
              <a:latin typeface="Avenir Next" panose="020B0503020202020204" pitchFamily="34" charset="0"/>
            </a:endParaRPr>
          </a:p>
        </p:txBody>
      </p:sp>
      <p:sp>
        <p:nvSpPr>
          <p:cNvPr id="11" name="Rounded Rectangle 10">
            <a:extLst>
              <a:ext uri="{FF2B5EF4-FFF2-40B4-BE49-F238E27FC236}">
                <a16:creationId xmlns:a16="http://schemas.microsoft.com/office/drawing/2014/main" id="{D147370E-BCF5-79C5-F4BA-553F75F684E1}"/>
              </a:ext>
            </a:extLst>
          </p:cNvPr>
          <p:cNvSpPr/>
          <p:nvPr/>
        </p:nvSpPr>
        <p:spPr>
          <a:xfrm>
            <a:off x="4523396" y="3905390"/>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friend</a:t>
            </a:r>
          </a:p>
        </p:txBody>
      </p:sp>
      <p:sp>
        <p:nvSpPr>
          <p:cNvPr id="12" name="Rounded Rectangle 11">
            <a:extLst>
              <a:ext uri="{FF2B5EF4-FFF2-40B4-BE49-F238E27FC236}">
                <a16:creationId xmlns:a16="http://schemas.microsoft.com/office/drawing/2014/main" id="{0E02F7EB-1254-8999-62CE-D005B808E76A}"/>
              </a:ext>
            </a:extLst>
          </p:cNvPr>
          <p:cNvSpPr/>
          <p:nvPr/>
        </p:nvSpPr>
        <p:spPr>
          <a:xfrm>
            <a:off x="4523395" y="3256771"/>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best</a:t>
            </a:r>
          </a:p>
        </p:txBody>
      </p:sp>
      <p:sp>
        <p:nvSpPr>
          <p:cNvPr id="13" name="Rounded Rectangle 12">
            <a:extLst>
              <a:ext uri="{FF2B5EF4-FFF2-40B4-BE49-F238E27FC236}">
                <a16:creationId xmlns:a16="http://schemas.microsoft.com/office/drawing/2014/main" id="{FE1E623E-1607-0FEC-D7A2-6C127A18C221}"/>
              </a:ext>
            </a:extLst>
          </p:cNvPr>
          <p:cNvSpPr/>
          <p:nvPr/>
        </p:nvSpPr>
        <p:spPr>
          <a:xfrm>
            <a:off x="4523394" y="2606331"/>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adopted</a:t>
            </a:r>
          </a:p>
        </p:txBody>
      </p:sp>
      <p:sp>
        <p:nvSpPr>
          <p:cNvPr id="14" name="Rectangle 13">
            <a:extLst>
              <a:ext uri="{FF2B5EF4-FFF2-40B4-BE49-F238E27FC236}">
                <a16:creationId xmlns:a16="http://schemas.microsoft.com/office/drawing/2014/main" id="{928386A2-05D1-5D47-EF5A-07D88A42506F}"/>
              </a:ext>
            </a:extLst>
          </p:cNvPr>
          <p:cNvSpPr/>
          <p:nvPr/>
        </p:nvSpPr>
        <p:spPr>
          <a:xfrm>
            <a:off x="1096500" y="2144807"/>
            <a:ext cx="778350" cy="3496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1D1D1A"/>
                </a:solidFill>
                <a:latin typeface="Avenir Next" panose="020B0503020202020204" pitchFamily="34" charset="0"/>
              </a:rPr>
              <a:t> </a:t>
            </a:r>
            <a:r>
              <a:rPr lang="en-US" sz="1800" dirty="0" err="1">
                <a:solidFill>
                  <a:srgbClr val="1D1D1A"/>
                </a:solidFill>
                <a:latin typeface="Avenir Next" panose="020B0503020202020204" pitchFamily="34" charset="0"/>
              </a:rPr>
              <a:t>marq</a:t>
            </a:r>
            <a:endParaRPr lang="en-US" dirty="0">
              <a:solidFill>
                <a:srgbClr val="1D1D1A"/>
              </a:solidFill>
              <a:latin typeface="Avenir Next" panose="020B0503020202020204" pitchFamily="34" charset="0"/>
            </a:endParaRPr>
          </a:p>
        </p:txBody>
      </p:sp>
    </p:spTree>
    <p:extLst>
      <p:ext uri="{BB962C8B-B14F-4D97-AF65-F5344CB8AC3E}">
        <p14:creationId xmlns:p14="http://schemas.microsoft.com/office/powerpoint/2010/main" val="295856074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2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200"/>
                                        <p:tgtEl>
                                          <p:spTgt spid="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left)">
                                      <p:cBhvr>
                                        <p:cTn id="13" dur="2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1AE007A7-33B5-685D-012D-C940EC4D07E8}"/>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9C37459C-B626-EE20-7CDE-023E57CC6CE8}"/>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sp>
        <p:nvSpPr>
          <p:cNvPr id="9" name="Google Shape;104;p21">
            <a:extLst>
              <a:ext uri="{FF2B5EF4-FFF2-40B4-BE49-F238E27FC236}">
                <a16:creationId xmlns:a16="http://schemas.microsoft.com/office/drawing/2014/main" id="{7299BBC4-F336-1D1C-259F-706E2197F047}"/>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en-US" b="1" dirty="0">
                <a:solidFill>
                  <a:srgbClr val="292E60"/>
                </a:solidFill>
              </a:rPr>
              <a:t>Brute Force</a:t>
            </a:r>
            <a:endParaRPr b="1" dirty="0">
              <a:solidFill>
                <a:srgbClr val="292E60"/>
              </a:solidFill>
            </a:endParaRPr>
          </a:p>
        </p:txBody>
      </p:sp>
      <p:pic>
        <p:nvPicPr>
          <p:cNvPr id="10" name="Google Shape;107;p21">
            <a:extLst>
              <a:ext uri="{FF2B5EF4-FFF2-40B4-BE49-F238E27FC236}">
                <a16:creationId xmlns:a16="http://schemas.microsoft.com/office/drawing/2014/main" id="{EB86D09F-BBB1-B4F4-DC8E-B93C0DBA65F1}"/>
              </a:ext>
            </a:extLst>
          </p:cNvPr>
          <p:cNvPicPr preferRelativeResize="0"/>
          <p:nvPr/>
        </p:nvPicPr>
        <p:blipFill>
          <a:blip r:embed="rId3">
            <a:alphaModFix/>
          </a:blip>
          <a:stretch>
            <a:fillRect/>
          </a:stretch>
        </p:blipFill>
        <p:spPr>
          <a:xfrm>
            <a:off x="2371067" y="878900"/>
            <a:ext cx="155800" cy="155800"/>
          </a:xfrm>
          <a:prstGeom prst="rect">
            <a:avLst/>
          </a:prstGeom>
          <a:noFill/>
          <a:ln>
            <a:noFill/>
          </a:ln>
        </p:spPr>
      </p:pic>
      <p:pic>
        <p:nvPicPr>
          <p:cNvPr id="4" name="Picture 3">
            <a:extLst>
              <a:ext uri="{FF2B5EF4-FFF2-40B4-BE49-F238E27FC236}">
                <a16:creationId xmlns:a16="http://schemas.microsoft.com/office/drawing/2014/main" id="{95F2C92B-5D3E-7041-1C90-53C14590ABBF}"/>
              </a:ext>
            </a:extLst>
          </p:cNvPr>
          <p:cNvPicPr>
            <a:picLocks noChangeAspect="1"/>
          </p:cNvPicPr>
          <p:nvPr/>
        </p:nvPicPr>
        <p:blipFill>
          <a:blip r:embed="rId4"/>
          <a:srcRect l="20913" t="16845"/>
          <a:stretch>
            <a:fillRect/>
          </a:stretch>
        </p:blipFill>
        <p:spPr>
          <a:xfrm>
            <a:off x="932045" y="1453042"/>
            <a:ext cx="3324594" cy="2450066"/>
          </a:xfrm>
          <a:prstGeom prst="rect">
            <a:avLst/>
          </a:prstGeom>
        </p:spPr>
      </p:pic>
      <p:sp>
        <p:nvSpPr>
          <p:cNvPr id="5" name="Rectangle 4">
            <a:extLst>
              <a:ext uri="{FF2B5EF4-FFF2-40B4-BE49-F238E27FC236}">
                <a16:creationId xmlns:a16="http://schemas.microsoft.com/office/drawing/2014/main" id="{5BA16E62-7645-C646-BA8F-130F554DA973}"/>
              </a:ext>
            </a:extLst>
          </p:cNvPr>
          <p:cNvSpPr/>
          <p:nvPr/>
        </p:nvSpPr>
        <p:spPr>
          <a:xfrm>
            <a:off x="1096502" y="2144808"/>
            <a:ext cx="1274567" cy="3496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1D1D1A"/>
                </a:solidFill>
                <a:latin typeface="Avenir Next" panose="020B0503020202020204" pitchFamily="34" charset="0"/>
              </a:rPr>
              <a:t> </a:t>
            </a:r>
            <a:r>
              <a:rPr lang="en-US" sz="1800" dirty="0" err="1">
                <a:solidFill>
                  <a:srgbClr val="1D1D1A"/>
                </a:solidFill>
                <a:latin typeface="Avenir Next" panose="020B0503020202020204" pitchFamily="34" charset="0"/>
              </a:rPr>
              <a:t>marq</a:t>
            </a:r>
            <a:endParaRPr lang="en-US" dirty="0">
              <a:solidFill>
                <a:srgbClr val="1D1D1A"/>
              </a:solidFill>
              <a:latin typeface="Avenir Next" panose="020B0503020202020204" pitchFamily="34" charset="0"/>
            </a:endParaRPr>
          </a:p>
        </p:txBody>
      </p:sp>
      <p:sp>
        <p:nvSpPr>
          <p:cNvPr id="8" name="Rounded Rectangle 7">
            <a:extLst>
              <a:ext uri="{FF2B5EF4-FFF2-40B4-BE49-F238E27FC236}">
                <a16:creationId xmlns:a16="http://schemas.microsoft.com/office/drawing/2014/main" id="{7DAB3BEE-CE71-9AA3-2E13-E45EBB307742}"/>
              </a:ext>
            </a:extLst>
          </p:cNvPr>
          <p:cNvSpPr/>
          <p:nvPr/>
        </p:nvSpPr>
        <p:spPr>
          <a:xfrm>
            <a:off x="4523399" y="4554009"/>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date</a:t>
            </a:r>
          </a:p>
        </p:txBody>
      </p:sp>
      <p:sp>
        <p:nvSpPr>
          <p:cNvPr id="11" name="Rounded Rectangle 10">
            <a:extLst>
              <a:ext uri="{FF2B5EF4-FFF2-40B4-BE49-F238E27FC236}">
                <a16:creationId xmlns:a16="http://schemas.microsoft.com/office/drawing/2014/main" id="{C3F85EC8-66A5-776B-4D92-E6F22053F7FB}"/>
              </a:ext>
            </a:extLst>
          </p:cNvPr>
          <p:cNvSpPr/>
          <p:nvPr/>
        </p:nvSpPr>
        <p:spPr>
          <a:xfrm>
            <a:off x="4523397" y="5204449"/>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Avenir Next" panose="020B0503020202020204" pitchFamily="34" charset="0"/>
              </a:rPr>
              <a:t>tinkerbell</a:t>
            </a:r>
            <a:endParaRPr lang="en-US" dirty="0">
              <a:solidFill>
                <a:schemeClr val="tx1"/>
              </a:solidFill>
              <a:latin typeface="Avenir Next" panose="020B0503020202020204" pitchFamily="34" charset="0"/>
            </a:endParaRPr>
          </a:p>
        </p:txBody>
      </p:sp>
      <p:sp>
        <p:nvSpPr>
          <p:cNvPr id="12" name="Rounded Rectangle 11">
            <a:extLst>
              <a:ext uri="{FF2B5EF4-FFF2-40B4-BE49-F238E27FC236}">
                <a16:creationId xmlns:a16="http://schemas.microsoft.com/office/drawing/2014/main" id="{96324F93-7CC6-D0FF-7E58-DEE30810427B}"/>
              </a:ext>
            </a:extLst>
          </p:cNvPr>
          <p:cNvSpPr/>
          <p:nvPr/>
        </p:nvSpPr>
        <p:spPr>
          <a:xfrm>
            <a:off x="4523396" y="5851247"/>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sunshine</a:t>
            </a:r>
          </a:p>
        </p:txBody>
      </p:sp>
      <p:sp>
        <p:nvSpPr>
          <p:cNvPr id="13" name="Rounded Rectangle 12">
            <a:extLst>
              <a:ext uri="{FF2B5EF4-FFF2-40B4-BE49-F238E27FC236}">
                <a16:creationId xmlns:a16="http://schemas.microsoft.com/office/drawing/2014/main" id="{5A24844C-040C-80AE-B5B0-385B478670F5}"/>
              </a:ext>
            </a:extLst>
          </p:cNvPr>
          <p:cNvSpPr/>
          <p:nvPr/>
        </p:nvSpPr>
        <p:spPr>
          <a:xfrm>
            <a:off x="4523395" y="6494242"/>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joined</a:t>
            </a:r>
          </a:p>
        </p:txBody>
      </p:sp>
      <p:sp>
        <p:nvSpPr>
          <p:cNvPr id="14" name="Rounded Rectangle 13">
            <a:extLst>
              <a:ext uri="{FF2B5EF4-FFF2-40B4-BE49-F238E27FC236}">
                <a16:creationId xmlns:a16="http://schemas.microsoft.com/office/drawing/2014/main" id="{2A8E43AC-A274-B697-E7F2-21F40E2ABE57}"/>
              </a:ext>
            </a:extLst>
          </p:cNvPr>
          <p:cNvSpPr/>
          <p:nvPr/>
        </p:nvSpPr>
        <p:spPr>
          <a:xfrm>
            <a:off x="4523396" y="3905390"/>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friend</a:t>
            </a:r>
          </a:p>
        </p:txBody>
      </p:sp>
      <p:sp>
        <p:nvSpPr>
          <p:cNvPr id="15" name="Rounded Rectangle 14">
            <a:extLst>
              <a:ext uri="{FF2B5EF4-FFF2-40B4-BE49-F238E27FC236}">
                <a16:creationId xmlns:a16="http://schemas.microsoft.com/office/drawing/2014/main" id="{41C61AFC-C4CA-6307-0D8C-9B6F47137A41}"/>
              </a:ext>
            </a:extLst>
          </p:cNvPr>
          <p:cNvSpPr/>
          <p:nvPr/>
        </p:nvSpPr>
        <p:spPr>
          <a:xfrm>
            <a:off x="4523395" y="3256771"/>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best</a:t>
            </a:r>
          </a:p>
        </p:txBody>
      </p:sp>
      <p:sp>
        <p:nvSpPr>
          <p:cNvPr id="16" name="Rounded Rectangle 15">
            <a:extLst>
              <a:ext uri="{FF2B5EF4-FFF2-40B4-BE49-F238E27FC236}">
                <a16:creationId xmlns:a16="http://schemas.microsoft.com/office/drawing/2014/main" id="{75CCD7AA-E409-CA7E-3959-D605FA6650AF}"/>
              </a:ext>
            </a:extLst>
          </p:cNvPr>
          <p:cNvSpPr/>
          <p:nvPr/>
        </p:nvSpPr>
        <p:spPr>
          <a:xfrm>
            <a:off x="4523394" y="2606331"/>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adopted</a:t>
            </a:r>
          </a:p>
        </p:txBody>
      </p:sp>
      <p:sp>
        <p:nvSpPr>
          <p:cNvPr id="17" name="Rounded Rectangle 16">
            <a:extLst>
              <a:ext uri="{FF2B5EF4-FFF2-40B4-BE49-F238E27FC236}">
                <a16:creationId xmlns:a16="http://schemas.microsoft.com/office/drawing/2014/main" id="{C3D10DF6-2978-4A86-3C1D-5F7D7583C7B0}"/>
              </a:ext>
            </a:extLst>
          </p:cNvPr>
          <p:cNvSpPr/>
          <p:nvPr/>
        </p:nvSpPr>
        <p:spPr>
          <a:xfrm>
            <a:off x="4523392" y="7148485"/>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family</a:t>
            </a:r>
          </a:p>
        </p:txBody>
      </p:sp>
      <p:sp>
        <p:nvSpPr>
          <p:cNvPr id="19" name="Rectangle 18">
            <a:extLst>
              <a:ext uri="{FF2B5EF4-FFF2-40B4-BE49-F238E27FC236}">
                <a16:creationId xmlns:a16="http://schemas.microsoft.com/office/drawing/2014/main" id="{47F0CF72-D27B-1DE0-F896-21EB05A630B3}"/>
              </a:ext>
            </a:extLst>
          </p:cNvPr>
          <p:cNvSpPr/>
          <p:nvPr/>
        </p:nvSpPr>
        <p:spPr>
          <a:xfrm>
            <a:off x="1096502" y="2678749"/>
            <a:ext cx="1274567" cy="4189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1D1D1A"/>
                </a:solidFill>
                <a:latin typeface="Avenir Next" panose="020B0503020202020204" pitchFamily="34" charset="0"/>
              </a:rPr>
              <a:t> </a:t>
            </a:r>
            <a:r>
              <a:rPr lang="en-US" sz="1800" dirty="0">
                <a:solidFill>
                  <a:srgbClr val="C00000"/>
                </a:solidFill>
                <a:latin typeface="Avenir Next" panose="020B0503020202020204" pitchFamily="34" charset="0"/>
              </a:rPr>
              <a:t>adopted</a:t>
            </a:r>
            <a:endParaRPr lang="en-US" dirty="0">
              <a:solidFill>
                <a:srgbClr val="C00000"/>
              </a:solidFill>
              <a:latin typeface="Avenir Next" panose="020B0503020202020204" pitchFamily="34" charset="0"/>
            </a:endParaRPr>
          </a:p>
        </p:txBody>
      </p:sp>
    </p:spTree>
    <p:extLst>
      <p:ext uri="{BB962C8B-B14F-4D97-AF65-F5344CB8AC3E}">
        <p14:creationId xmlns:p14="http://schemas.microsoft.com/office/powerpoint/2010/main" val="258558358"/>
      </p:ext>
    </p:extLst>
  </p:cSld>
  <p:clrMapOvr>
    <a:masterClrMapping/>
  </p:clrMapOvr>
  <mc:AlternateContent xmlns:mc="http://schemas.openxmlformats.org/markup-compatibility/2006" xmlns:p14="http://schemas.microsoft.com/office/powerpoint/2010/main">
    <mc:Choice Requires="p14">
      <p:transition p14:dur="300" advClick="0" advTm="500"/>
    </mc:Choice>
    <mc:Fallback xmlns="">
      <p:transition advClick="0" advTm="5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4C5B4DCF-06FA-E573-8B4F-EDB28F1052C7}"/>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B68C899F-14E5-A0C5-3BAC-F9B5B0691370}"/>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sp>
        <p:nvSpPr>
          <p:cNvPr id="9" name="Google Shape;104;p21">
            <a:extLst>
              <a:ext uri="{FF2B5EF4-FFF2-40B4-BE49-F238E27FC236}">
                <a16:creationId xmlns:a16="http://schemas.microsoft.com/office/drawing/2014/main" id="{DA80D6C5-174C-7804-FACE-4BEFEB19D3CF}"/>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en-US" b="1" dirty="0">
                <a:solidFill>
                  <a:srgbClr val="292E60"/>
                </a:solidFill>
              </a:rPr>
              <a:t>Brute Force</a:t>
            </a:r>
            <a:endParaRPr b="1" dirty="0">
              <a:solidFill>
                <a:srgbClr val="292E60"/>
              </a:solidFill>
            </a:endParaRPr>
          </a:p>
        </p:txBody>
      </p:sp>
      <p:pic>
        <p:nvPicPr>
          <p:cNvPr id="10" name="Google Shape;107;p21">
            <a:extLst>
              <a:ext uri="{FF2B5EF4-FFF2-40B4-BE49-F238E27FC236}">
                <a16:creationId xmlns:a16="http://schemas.microsoft.com/office/drawing/2014/main" id="{E2A137F0-D77D-8469-0E0E-AFAFC7BDD1BE}"/>
              </a:ext>
            </a:extLst>
          </p:cNvPr>
          <p:cNvPicPr preferRelativeResize="0"/>
          <p:nvPr/>
        </p:nvPicPr>
        <p:blipFill>
          <a:blip r:embed="rId3">
            <a:alphaModFix/>
          </a:blip>
          <a:stretch>
            <a:fillRect/>
          </a:stretch>
        </p:blipFill>
        <p:spPr>
          <a:xfrm>
            <a:off x="2371067" y="878900"/>
            <a:ext cx="155800" cy="155800"/>
          </a:xfrm>
          <a:prstGeom prst="rect">
            <a:avLst/>
          </a:prstGeom>
          <a:noFill/>
          <a:ln>
            <a:noFill/>
          </a:ln>
        </p:spPr>
      </p:pic>
      <p:pic>
        <p:nvPicPr>
          <p:cNvPr id="4" name="Picture 3">
            <a:extLst>
              <a:ext uri="{FF2B5EF4-FFF2-40B4-BE49-F238E27FC236}">
                <a16:creationId xmlns:a16="http://schemas.microsoft.com/office/drawing/2014/main" id="{BE2FF94D-4E0C-E429-F01D-B50FB3FABD4F}"/>
              </a:ext>
            </a:extLst>
          </p:cNvPr>
          <p:cNvPicPr>
            <a:picLocks noChangeAspect="1"/>
          </p:cNvPicPr>
          <p:nvPr/>
        </p:nvPicPr>
        <p:blipFill>
          <a:blip r:embed="rId4"/>
          <a:srcRect l="20913" t="16845"/>
          <a:stretch>
            <a:fillRect/>
          </a:stretch>
        </p:blipFill>
        <p:spPr>
          <a:xfrm>
            <a:off x="932045" y="1453042"/>
            <a:ext cx="3324594" cy="2450066"/>
          </a:xfrm>
          <a:prstGeom prst="rect">
            <a:avLst/>
          </a:prstGeom>
        </p:spPr>
      </p:pic>
      <p:sp>
        <p:nvSpPr>
          <p:cNvPr id="5" name="Rectangle 4">
            <a:extLst>
              <a:ext uri="{FF2B5EF4-FFF2-40B4-BE49-F238E27FC236}">
                <a16:creationId xmlns:a16="http://schemas.microsoft.com/office/drawing/2014/main" id="{38502286-43CA-F0EF-AA93-527482EBD4FB}"/>
              </a:ext>
            </a:extLst>
          </p:cNvPr>
          <p:cNvSpPr/>
          <p:nvPr/>
        </p:nvSpPr>
        <p:spPr>
          <a:xfrm>
            <a:off x="1096502" y="2144808"/>
            <a:ext cx="1274567" cy="3496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1D1D1A"/>
                </a:solidFill>
                <a:latin typeface="Avenir Next" panose="020B0503020202020204" pitchFamily="34" charset="0"/>
              </a:rPr>
              <a:t> </a:t>
            </a:r>
            <a:r>
              <a:rPr lang="en-US" sz="1800" dirty="0" err="1">
                <a:solidFill>
                  <a:srgbClr val="1D1D1A"/>
                </a:solidFill>
                <a:latin typeface="Avenir Next" panose="020B0503020202020204" pitchFamily="34" charset="0"/>
              </a:rPr>
              <a:t>marq</a:t>
            </a:r>
            <a:endParaRPr lang="en-US" dirty="0">
              <a:solidFill>
                <a:srgbClr val="1D1D1A"/>
              </a:solidFill>
              <a:latin typeface="Avenir Next" panose="020B0503020202020204" pitchFamily="34" charset="0"/>
            </a:endParaRPr>
          </a:p>
        </p:txBody>
      </p:sp>
      <p:sp>
        <p:nvSpPr>
          <p:cNvPr id="8" name="Rounded Rectangle 7">
            <a:extLst>
              <a:ext uri="{FF2B5EF4-FFF2-40B4-BE49-F238E27FC236}">
                <a16:creationId xmlns:a16="http://schemas.microsoft.com/office/drawing/2014/main" id="{1D7B362F-F8F6-49BC-6C9E-21DC8D2DB1FB}"/>
              </a:ext>
            </a:extLst>
          </p:cNvPr>
          <p:cNvSpPr/>
          <p:nvPr/>
        </p:nvSpPr>
        <p:spPr>
          <a:xfrm>
            <a:off x="4523399" y="3879639"/>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date</a:t>
            </a:r>
          </a:p>
        </p:txBody>
      </p:sp>
      <p:sp>
        <p:nvSpPr>
          <p:cNvPr id="11" name="Rounded Rectangle 10">
            <a:extLst>
              <a:ext uri="{FF2B5EF4-FFF2-40B4-BE49-F238E27FC236}">
                <a16:creationId xmlns:a16="http://schemas.microsoft.com/office/drawing/2014/main" id="{DA72A693-AF6C-BB81-3ED0-652D4E292474}"/>
              </a:ext>
            </a:extLst>
          </p:cNvPr>
          <p:cNvSpPr/>
          <p:nvPr/>
        </p:nvSpPr>
        <p:spPr>
          <a:xfrm>
            <a:off x="4523399" y="4530079"/>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Avenir Next" panose="020B0503020202020204" pitchFamily="34" charset="0"/>
              </a:rPr>
              <a:t>tinkerbell</a:t>
            </a:r>
            <a:endParaRPr lang="en-US" dirty="0">
              <a:solidFill>
                <a:schemeClr val="tx1"/>
              </a:solidFill>
              <a:latin typeface="Avenir Next" panose="020B0503020202020204" pitchFamily="34" charset="0"/>
            </a:endParaRPr>
          </a:p>
        </p:txBody>
      </p:sp>
      <p:sp>
        <p:nvSpPr>
          <p:cNvPr id="12" name="Rounded Rectangle 11">
            <a:extLst>
              <a:ext uri="{FF2B5EF4-FFF2-40B4-BE49-F238E27FC236}">
                <a16:creationId xmlns:a16="http://schemas.microsoft.com/office/drawing/2014/main" id="{8D29D2B1-C02F-DA7E-3664-8976C3C591E6}"/>
              </a:ext>
            </a:extLst>
          </p:cNvPr>
          <p:cNvSpPr/>
          <p:nvPr/>
        </p:nvSpPr>
        <p:spPr>
          <a:xfrm>
            <a:off x="4523396" y="5176877"/>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sunshine</a:t>
            </a:r>
          </a:p>
        </p:txBody>
      </p:sp>
      <p:sp>
        <p:nvSpPr>
          <p:cNvPr id="13" name="Rounded Rectangle 12">
            <a:extLst>
              <a:ext uri="{FF2B5EF4-FFF2-40B4-BE49-F238E27FC236}">
                <a16:creationId xmlns:a16="http://schemas.microsoft.com/office/drawing/2014/main" id="{23728640-872E-C745-1912-75D5B35B45B1}"/>
              </a:ext>
            </a:extLst>
          </p:cNvPr>
          <p:cNvSpPr/>
          <p:nvPr/>
        </p:nvSpPr>
        <p:spPr>
          <a:xfrm>
            <a:off x="4523395" y="5819872"/>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joined</a:t>
            </a:r>
          </a:p>
        </p:txBody>
      </p:sp>
      <p:sp>
        <p:nvSpPr>
          <p:cNvPr id="14" name="Rounded Rectangle 13">
            <a:extLst>
              <a:ext uri="{FF2B5EF4-FFF2-40B4-BE49-F238E27FC236}">
                <a16:creationId xmlns:a16="http://schemas.microsoft.com/office/drawing/2014/main" id="{89B2D97D-5AA7-CE01-650C-9595E1F77D31}"/>
              </a:ext>
            </a:extLst>
          </p:cNvPr>
          <p:cNvSpPr/>
          <p:nvPr/>
        </p:nvSpPr>
        <p:spPr>
          <a:xfrm>
            <a:off x="4523396" y="3231020"/>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friend</a:t>
            </a:r>
          </a:p>
        </p:txBody>
      </p:sp>
      <p:sp>
        <p:nvSpPr>
          <p:cNvPr id="15" name="Rounded Rectangle 14">
            <a:extLst>
              <a:ext uri="{FF2B5EF4-FFF2-40B4-BE49-F238E27FC236}">
                <a16:creationId xmlns:a16="http://schemas.microsoft.com/office/drawing/2014/main" id="{21D474D8-E20A-61B3-2583-C3227BE3F826}"/>
              </a:ext>
            </a:extLst>
          </p:cNvPr>
          <p:cNvSpPr/>
          <p:nvPr/>
        </p:nvSpPr>
        <p:spPr>
          <a:xfrm>
            <a:off x="4523395" y="2582401"/>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best</a:t>
            </a:r>
          </a:p>
        </p:txBody>
      </p:sp>
      <p:sp>
        <p:nvSpPr>
          <p:cNvPr id="16" name="Rounded Rectangle 15">
            <a:extLst>
              <a:ext uri="{FF2B5EF4-FFF2-40B4-BE49-F238E27FC236}">
                <a16:creationId xmlns:a16="http://schemas.microsoft.com/office/drawing/2014/main" id="{07FA0BC2-C540-A42E-B02F-CD89D1AA0D23}"/>
              </a:ext>
            </a:extLst>
          </p:cNvPr>
          <p:cNvSpPr/>
          <p:nvPr/>
        </p:nvSpPr>
        <p:spPr>
          <a:xfrm>
            <a:off x="4523394" y="1931961"/>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Avenir Next" panose="020B0503020202020204" pitchFamily="34" charset="0"/>
              </a:rPr>
              <a:t>adopted</a:t>
            </a:r>
          </a:p>
        </p:txBody>
      </p:sp>
      <p:sp>
        <p:nvSpPr>
          <p:cNvPr id="17" name="Rounded Rectangle 16">
            <a:extLst>
              <a:ext uri="{FF2B5EF4-FFF2-40B4-BE49-F238E27FC236}">
                <a16:creationId xmlns:a16="http://schemas.microsoft.com/office/drawing/2014/main" id="{49A08266-327F-20A4-6B36-1D97B537A599}"/>
              </a:ext>
            </a:extLst>
          </p:cNvPr>
          <p:cNvSpPr/>
          <p:nvPr/>
        </p:nvSpPr>
        <p:spPr>
          <a:xfrm>
            <a:off x="4523392" y="6474115"/>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family</a:t>
            </a:r>
          </a:p>
        </p:txBody>
      </p:sp>
      <p:sp>
        <p:nvSpPr>
          <p:cNvPr id="3" name="Rectangle 2">
            <a:extLst>
              <a:ext uri="{FF2B5EF4-FFF2-40B4-BE49-F238E27FC236}">
                <a16:creationId xmlns:a16="http://schemas.microsoft.com/office/drawing/2014/main" id="{6BF684F5-9C0D-07ED-AA0F-EBFF9E804DEC}"/>
              </a:ext>
            </a:extLst>
          </p:cNvPr>
          <p:cNvSpPr/>
          <p:nvPr/>
        </p:nvSpPr>
        <p:spPr>
          <a:xfrm>
            <a:off x="1096502" y="2678749"/>
            <a:ext cx="1274567" cy="4189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1D1D1A"/>
                </a:solidFill>
                <a:latin typeface="Avenir Next" panose="020B0503020202020204" pitchFamily="34" charset="0"/>
              </a:rPr>
              <a:t> </a:t>
            </a:r>
            <a:r>
              <a:rPr lang="en-US" sz="1800" dirty="0">
                <a:solidFill>
                  <a:srgbClr val="C00000"/>
                </a:solidFill>
                <a:latin typeface="Avenir Next" panose="020B0503020202020204" pitchFamily="34" charset="0"/>
              </a:rPr>
              <a:t>best</a:t>
            </a:r>
            <a:endParaRPr lang="en-US" dirty="0">
              <a:solidFill>
                <a:srgbClr val="C00000"/>
              </a:solidFill>
              <a:latin typeface="Avenir Next" panose="020B0503020202020204" pitchFamily="34" charset="0"/>
            </a:endParaRPr>
          </a:p>
        </p:txBody>
      </p:sp>
    </p:spTree>
    <p:extLst>
      <p:ext uri="{BB962C8B-B14F-4D97-AF65-F5344CB8AC3E}">
        <p14:creationId xmlns:p14="http://schemas.microsoft.com/office/powerpoint/2010/main" val="28413934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300" advClick="0" advTm="500">
        <p159:morph option="byObject"/>
      </p:transition>
    </mc:Choice>
    <mc:Fallback xmlns="">
      <p:transition advClick="0" advTm="500">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D49BF212-B65D-3C07-F673-C8EF471C8CD9}"/>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ECA288C2-A63A-EC82-E54E-339CF6747341}"/>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sp>
        <p:nvSpPr>
          <p:cNvPr id="9" name="Google Shape;104;p21">
            <a:extLst>
              <a:ext uri="{FF2B5EF4-FFF2-40B4-BE49-F238E27FC236}">
                <a16:creationId xmlns:a16="http://schemas.microsoft.com/office/drawing/2014/main" id="{8BB49653-17A6-2605-9DEC-B6B695850879}"/>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en-US" b="1" dirty="0">
                <a:solidFill>
                  <a:srgbClr val="292E60"/>
                </a:solidFill>
              </a:rPr>
              <a:t>Brute Force</a:t>
            </a:r>
            <a:endParaRPr b="1" dirty="0">
              <a:solidFill>
                <a:srgbClr val="292E60"/>
              </a:solidFill>
            </a:endParaRPr>
          </a:p>
        </p:txBody>
      </p:sp>
      <p:pic>
        <p:nvPicPr>
          <p:cNvPr id="10" name="Google Shape;107;p21">
            <a:extLst>
              <a:ext uri="{FF2B5EF4-FFF2-40B4-BE49-F238E27FC236}">
                <a16:creationId xmlns:a16="http://schemas.microsoft.com/office/drawing/2014/main" id="{4FFF3D24-D288-819C-F16F-05AB4F0D5A7D}"/>
              </a:ext>
            </a:extLst>
          </p:cNvPr>
          <p:cNvPicPr preferRelativeResize="0"/>
          <p:nvPr/>
        </p:nvPicPr>
        <p:blipFill>
          <a:blip r:embed="rId3">
            <a:alphaModFix/>
          </a:blip>
          <a:stretch>
            <a:fillRect/>
          </a:stretch>
        </p:blipFill>
        <p:spPr>
          <a:xfrm>
            <a:off x="2371067" y="878900"/>
            <a:ext cx="155800" cy="155800"/>
          </a:xfrm>
          <a:prstGeom prst="rect">
            <a:avLst/>
          </a:prstGeom>
          <a:noFill/>
          <a:ln>
            <a:noFill/>
          </a:ln>
        </p:spPr>
      </p:pic>
      <p:pic>
        <p:nvPicPr>
          <p:cNvPr id="4" name="Picture 3">
            <a:extLst>
              <a:ext uri="{FF2B5EF4-FFF2-40B4-BE49-F238E27FC236}">
                <a16:creationId xmlns:a16="http://schemas.microsoft.com/office/drawing/2014/main" id="{33E59DE8-B68B-5794-93B4-B29F099BB0E5}"/>
              </a:ext>
            </a:extLst>
          </p:cNvPr>
          <p:cNvPicPr>
            <a:picLocks noChangeAspect="1"/>
          </p:cNvPicPr>
          <p:nvPr/>
        </p:nvPicPr>
        <p:blipFill>
          <a:blip r:embed="rId4"/>
          <a:srcRect l="20913" t="16845"/>
          <a:stretch>
            <a:fillRect/>
          </a:stretch>
        </p:blipFill>
        <p:spPr>
          <a:xfrm>
            <a:off x="932045" y="1453042"/>
            <a:ext cx="3324594" cy="2450066"/>
          </a:xfrm>
          <a:prstGeom prst="rect">
            <a:avLst/>
          </a:prstGeom>
        </p:spPr>
      </p:pic>
      <p:sp>
        <p:nvSpPr>
          <p:cNvPr id="5" name="Rectangle 4">
            <a:extLst>
              <a:ext uri="{FF2B5EF4-FFF2-40B4-BE49-F238E27FC236}">
                <a16:creationId xmlns:a16="http://schemas.microsoft.com/office/drawing/2014/main" id="{DF689288-063C-E73E-7359-2014FDBEBC45}"/>
              </a:ext>
            </a:extLst>
          </p:cNvPr>
          <p:cNvSpPr/>
          <p:nvPr/>
        </p:nvSpPr>
        <p:spPr>
          <a:xfrm>
            <a:off x="1096502" y="2144808"/>
            <a:ext cx="1274567" cy="3496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1D1D1A"/>
                </a:solidFill>
                <a:latin typeface="Avenir Next" panose="020B0503020202020204" pitchFamily="34" charset="0"/>
              </a:rPr>
              <a:t> </a:t>
            </a:r>
            <a:r>
              <a:rPr lang="en-US" sz="1800" dirty="0" err="1">
                <a:solidFill>
                  <a:srgbClr val="1D1D1A"/>
                </a:solidFill>
                <a:latin typeface="Avenir Next" panose="020B0503020202020204" pitchFamily="34" charset="0"/>
              </a:rPr>
              <a:t>marq</a:t>
            </a:r>
            <a:endParaRPr lang="en-US" dirty="0">
              <a:solidFill>
                <a:srgbClr val="1D1D1A"/>
              </a:solidFill>
              <a:latin typeface="Avenir Next" panose="020B0503020202020204" pitchFamily="34" charset="0"/>
            </a:endParaRPr>
          </a:p>
        </p:txBody>
      </p:sp>
      <p:sp>
        <p:nvSpPr>
          <p:cNvPr id="8" name="Rounded Rectangle 7">
            <a:extLst>
              <a:ext uri="{FF2B5EF4-FFF2-40B4-BE49-F238E27FC236}">
                <a16:creationId xmlns:a16="http://schemas.microsoft.com/office/drawing/2014/main" id="{C8A537F1-5FDA-8491-F78C-E9CF0F4FABBE}"/>
              </a:ext>
            </a:extLst>
          </p:cNvPr>
          <p:cNvSpPr/>
          <p:nvPr/>
        </p:nvSpPr>
        <p:spPr>
          <a:xfrm>
            <a:off x="4523399" y="3239559"/>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date</a:t>
            </a:r>
          </a:p>
        </p:txBody>
      </p:sp>
      <p:sp>
        <p:nvSpPr>
          <p:cNvPr id="11" name="Rounded Rectangle 10">
            <a:extLst>
              <a:ext uri="{FF2B5EF4-FFF2-40B4-BE49-F238E27FC236}">
                <a16:creationId xmlns:a16="http://schemas.microsoft.com/office/drawing/2014/main" id="{DBCD8E14-9304-D128-73C0-1958C9233660}"/>
              </a:ext>
            </a:extLst>
          </p:cNvPr>
          <p:cNvSpPr/>
          <p:nvPr/>
        </p:nvSpPr>
        <p:spPr>
          <a:xfrm>
            <a:off x="4523399" y="3889999"/>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Avenir Next" panose="020B0503020202020204" pitchFamily="34" charset="0"/>
              </a:rPr>
              <a:t>tinkerbell</a:t>
            </a:r>
            <a:endParaRPr lang="en-US" dirty="0">
              <a:solidFill>
                <a:schemeClr val="tx1"/>
              </a:solidFill>
              <a:latin typeface="Avenir Next" panose="020B0503020202020204" pitchFamily="34" charset="0"/>
            </a:endParaRPr>
          </a:p>
        </p:txBody>
      </p:sp>
      <p:sp>
        <p:nvSpPr>
          <p:cNvPr id="12" name="Rounded Rectangle 11">
            <a:extLst>
              <a:ext uri="{FF2B5EF4-FFF2-40B4-BE49-F238E27FC236}">
                <a16:creationId xmlns:a16="http://schemas.microsoft.com/office/drawing/2014/main" id="{CC02BBC1-288B-2B03-8CC8-D7D2E5C72F2D}"/>
              </a:ext>
            </a:extLst>
          </p:cNvPr>
          <p:cNvSpPr/>
          <p:nvPr/>
        </p:nvSpPr>
        <p:spPr>
          <a:xfrm>
            <a:off x="4523398" y="4536797"/>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sunshine</a:t>
            </a:r>
          </a:p>
        </p:txBody>
      </p:sp>
      <p:sp>
        <p:nvSpPr>
          <p:cNvPr id="13" name="Rounded Rectangle 12">
            <a:extLst>
              <a:ext uri="{FF2B5EF4-FFF2-40B4-BE49-F238E27FC236}">
                <a16:creationId xmlns:a16="http://schemas.microsoft.com/office/drawing/2014/main" id="{C15F6CF0-FB33-93C0-7EB6-6DD6F62122D0}"/>
              </a:ext>
            </a:extLst>
          </p:cNvPr>
          <p:cNvSpPr/>
          <p:nvPr/>
        </p:nvSpPr>
        <p:spPr>
          <a:xfrm>
            <a:off x="4523395" y="5179792"/>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joined</a:t>
            </a:r>
          </a:p>
        </p:txBody>
      </p:sp>
      <p:sp>
        <p:nvSpPr>
          <p:cNvPr id="14" name="Rounded Rectangle 13">
            <a:extLst>
              <a:ext uri="{FF2B5EF4-FFF2-40B4-BE49-F238E27FC236}">
                <a16:creationId xmlns:a16="http://schemas.microsoft.com/office/drawing/2014/main" id="{6CA8213B-1A2E-74DE-E6E6-7AC4443A85A8}"/>
              </a:ext>
            </a:extLst>
          </p:cNvPr>
          <p:cNvSpPr/>
          <p:nvPr/>
        </p:nvSpPr>
        <p:spPr>
          <a:xfrm>
            <a:off x="4523396" y="2590940"/>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friend</a:t>
            </a:r>
          </a:p>
        </p:txBody>
      </p:sp>
      <p:sp>
        <p:nvSpPr>
          <p:cNvPr id="15" name="Rounded Rectangle 14">
            <a:extLst>
              <a:ext uri="{FF2B5EF4-FFF2-40B4-BE49-F238E27FC236}">
                <a16:creationId xmlns:a16="http://schemas.microsoft.com/office/drawing/2014/main" id="{74D2A07E-57F2-8D0C-4060-9066D3B6A228}"/>
              </a:ext>
            </a:extLst>
          </p:cNvPr>
          <p:cNvSpPr/>
          <p:nvPr/>
        </p:nvSpPr>
        <p:spPr>
          <a:xfrm>
            <a:off x="4523395" y="1942321"/>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Avenir Next" panose="020B0503020202020204" pitchFamily="34" charset="0"/>
              </a:rPr>
              <a:t>best</a:t>
            </a:r>
          </a:p>
        </p:txBody>
      </p:sp>
      <p:sp>
        <p:nvSpPr>
          <p:cNvPr id="16" name="Rounded Rectangle 15">
            <a:extLst>
              <a:ext uri="{FF2B5EF4-FFF2-40B4-BE49-F238E27FC236}">
                <a16:creationId xmlns:a16="http://schemas.microsoft.com/office/drawing/2014/main" id="{41F11C91-C290-47A4-CEA7-2D1BC2277753}"/>
              </a:ext>
            </a:extLst>
          </p:cNvPr>
          <p:cNvSpPr/>
          <p:nvPr/>
        </p:nvSpPr>
        <p:spPr>
          <a:xfrm>
            <a:off x="4523394" y="1291881"/>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Avenir Next" panose="020B0503020202020204" pitchFamily="34" charset="0"/>
              </a:rPr>
              <a:t>adopted</a:t>
            </a:r>
          </a:p>
        </p:txBody>
      </p:sp>
      <p:sp>
        <p:nvSpPr>
          <p:cNvPr id="17" name="Rounded Rectangle 16">
            <a:extLst>
              <a:ext uri="{FF2B5EF4-FFF2-40B4-BE49-F238E27FC236}">
                <a16:creationId xmlns:a16="http://schemas.microsoft.com/office/drawing/2014/main" id="{62AC6A9A-FC78-74E7-F7BD-D53B083087FB}"/>
              </a:ext>
            </a:extLst>
          </p:cNvPr>
          <p:cNvSpPr/>
          <p:nvPr/>
        </p:nvSpPr>
        <p:spPr>
          <a:xfrm>
            <a:off x="4523392" y="5834035"/>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family</a:t>
            </a:r>
          </a:p>
        </p:txBody>
      </p:sp>
      <p:sp>
        <p:nvSpPr>
          <p:cNvPr id="2" name="Rectangle 1">
            <a:extLst>
              <a:ext uri="{FF2B5EF4-FFF2-40B4-BE49-F238E27FC236}">
                <a16:creationId xmlns:a16="http://schemas.microsoft.com/office/drawing/2014/main" id="{9C3E3704-6A13-5B71-D699-989D33D42667}"/>
              </a:ext>
            </a:extLst>
          </p:cNvPr>
          <p:cNvSpPr/>
          <p:nvPr/>
        </p:nvSpPr>
        <p:spPr>
          <a:xfrm>
            <a:off x="1096502" y="2678749"/>
            <a:ext cx="1274567" cy="4189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1D1D1A"/>
                </a:solidFill>
                <a:latin typeface="Avenir Next" panose="020B0503020202020204" pitchFamily="34" charset="0"/>
              </a:rPr>
              <a:t> </a:t>
            </a:r>
            <a:r>
              <a:rPr lang="en-US" sz="1800" dirty="0">
                <a:solidFill>
                  <a:srgbClr val="C00000"/>
                </a:solidFill>
                <a:latin typeface="Avenir Next" panose="020B0503020202020204" pitchFamily="34" charset="0"/>
              </a:rPr>
              <a:t>friend</a:t>
            </a:r>
            <a:endParaRPr lang="en-US" dirty="0">
              <a:solidFill>
                <a:srgbClr val="C00000"/>
              </a:solidFill>
              <a:latin typeface="Avenir Next" panose="020B0503020202020204" pitchFamily="34" charset="0"/>
            </a:endParaRPr>
          </a:p>
        </p:txBody>
      </p:sp>
    </p:spTree>
    <p:extLst>
      <p:ext uri="{BB962C8B-B14F-4D97-AF65-F5344CB8AC3E}">
        <p14:creationId xmlns:p14="http://schemas.microsoft.com/office/powerpoint/2010/main" val="34570460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300" advClick="0" advTm="500">
        <p159:morph option="byObject"/>
      </p:transition>
    </mc:Choice>
    <mc:Fallback xmlns="">
      <p:transition advClick="0" advTm="500">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A1E7A83D-472E-8E91-EEF2-1791673600D1}"/>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3AEE4638-15D2-F086-1574-F41618F21CFF}"/>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sp>
        <p:nvSpPr>
          <p:cNvPr id="9" name="Google Shape;104;p21">
            <a:extLst>
              <a:ext uri="{FF2B5EF4-FFF2-40B4-BE49-F238E27FC236}">
                <a16:creationId xmlns:a16="http://schemas.microsoft.com/office/drawing/2014/main" id="{B71E1E64-EBC4-BEC7-C9B2-CB17625C800E}"/>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en-US" b="1" dirty="0">
                <a:solidFill>
                  <a:srgbClr val="292E60"/>
                </a:solidFill>
              </a:rPr>
              <a:t>Brute Force</a:t>
            </a:r>
            <a:endParaRPr b="1" dirty="0">
              <a:solidFill>
                <a:srgbClr val="292E60"/>
              </a:solidFill>
            </a:endParaRPr>
          </a:p>
        </p:txBody>
      </p:sp>
      <p:pic>
        <p:nvPicPr>
          <p:cNvPr id="10" name="Google Shape;107;p21">
            <a:extLst>
              <a:ext uri="{FF2B5EF4-FFF2-40B4-BE49-F238E27FC236}">
                <a16:creationId xmlns:a16="http://schemas.microsoft.com/office/drawing/2014/main" id="{DC8253CF-2121-941D-EA52-7C1CDE044D40}"/>
              </a:ext>
            </a:extLst>
          </p:cNvPr>
          <p:cNvPicPr preferRelativeResize="0"/>
          <p:nvPr/>
        </p:nvPicPr>
        <p:blipFill>
          <a:blip r:embed="rId3">
            <a:alphaModFix/>
          </a:blip>
          <a:stretch>
            <a:fillRect/>
          </a:stretch>
        </p:blipFill>
        <p:spPr>
          <a:xfrm>
            <a:off x="2371067" y="878900"/>
            <a:ext cx="155800" cy="155800"/>
          </a:xfrm>
          <a:prstGeom prst="rect">
            <a:avLst/>
          </a:prstGeom>
          <a:noFill/>
          <a:ln>
            <a:noFill/>
          </a:ln>
        </p:spPr>
      </p:pic>
      <p:pic>
        <p:nvPicPr>
          <p:cNvPr id="4" name="Picture 3">
            <a:extLst>
              <a:ext uri="{FF2B5EF4-FFF2-40B4-BE49-F238E27FC236}">
                <a16:creationId xmlns:a16="http://schemas.microsoft.com/office/drawing/2014/main" id="{51252D1E-3F04-D00B-3AD0-8A0D0345FC0E}"/>
              </a:ext>
            </a:extLst>
          </p:cNvPr>
          <p:cNvPicPr>
            <a:picLocks noChangeAspect="1"/>
          </p:cNvPicPr>
          <p:nvPr/>
        </p:nvPicPr>
        <p:blipFill>
          <a:blip r:embed="rId4"/>
          <a:srcRect l="20913" t="16845"/>
          <a:stretch>
            <a:fillRect/>
          </a:stretch>
        </p:blipFill>
        <p:spPr>
          <a:xfrm>
            <a:off x="932045" y="1453042"/>
            <a:ext cx="3324594" cy="2450066"/>
          </a:xfrm>
          <a:prstGeom prst="rect">
            <a:avLst/>
          </a:prstGeom>
        </p:spPr>
      </p:pic>
      <p:sp>
        <p:nvSpPr>
          <p:cNvPr id="5" name="Rectangle 4">
            <a:extLst>
              <a:ext uri="{FF2B5EF4-FFF2-40B4-BE49-F238E27FC236}">
                <a16:creationId xmlns:a16="http://schemas.microsoft.com/office/drawing/2014/main" id="{5A4EC352-0248-7CAE-924D-CB60B3CC4858}"/>
              </a:ext>
            </a:extLst>
          </p:cNvPr>
          <p:cNvSpPr/>
          <p:nvPr/>
        </p:nvSpPr>
        <p:spPr>
          <a:xfrm>
            <a:off x="1096502" y="2144808"/>
            <a:ext cx="1274567" cy="3496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1D1D1A"/>
                </a:solidFill>
                <a:latin typeface="Avenir Next" panose="020B0503020202020204" pitchFamily="34" charset="0"/>
              </a:rPr>
              <a:t> </a:t>
            </a:r>
            <a:r>
              <a:rPr lang="en-US" sz="1800" dirty="0" err="1">
                <a:solidFill>
                  <a:srgbClr val="1D1D1A"/>
                </a:solidFill>
                <a:latin typeface="Avenir Next" panose="020B0503020202020204" pitchFamily="34" charset="0"/>
              </a:rPr>
              <a:t>marq</a:t>
            </a:r>
            <a:endParaRPr lang="en-US" dirty="0">
              <a:solidFill>
                <a:srgbClr val="1D1D1A"/>
              </a:solidFill>
              <a:latin typeface="Avenir Next" panose="020B0503020202020204" pitchFamily="34" charset="0"/>
            </a:endParaRPr>
          </a:p>
        </p:txBody>
      </p:sp>
      <p:sp>
        <p:nvSpPr>
          <p:cNvPr id="8" name="Rounded Rectangle 7">
            <a:extLst>
              <a:ext uri="{FF2B5EF4-FFF2-40B4-BE49-F238E27FC236}">
                <a16:creationId xmlns:a16="http://schemas.microsoft.com/office/drawing/2014/main" id="{B9BA72FE-3C3B-D1AD-54FF-FC2C0D32F4F8}"/>
              </a:ext>
            </a:extLst>
          </p:cNvPr>
          <p:cNvSpPr/>
          <p:nvPr/>
        </p:nvSpPr>
        <p:spPr>
          <a:xfrm>
            <a:off x="4523399" y="2584461"/>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date</a:t>
            </a:r>
          </a:p>
        </p:txBody>
      </p:sp>
      <p:sp>
        <p:nvSpPr>
          <p:cNvPr id="11" name="Rounded Rectangle 10">
            <a:extLst>
              <a:ext uri="{FF2B5EF4-FFF2-40B4-BE49-F238E27FC236}">
                <a16:creationId xmlns:a16="http://schemas.microsoft.com/office/drawing/2014/main" id="{03CB260F-96C3-837E-CF35-6C1280A9331D}"/>
              </a:ext>
            </a:extLst>
          </p:cNvPr>
          <p:cNvSpPr/>
          <p:nvPr/>
        </p:nvSpPr>
        <p:spPr>
          <a:xfrm>
            <a:off x="4523399" y="3234901"/>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Avenir Next" panose="020B0503020202020204" pitchFamily="34" charset="0"/>
              </a:rPr>
              <a:t>tinkerbell</a:t>
            </a:r>
            <a:endParaRPr lang="en-US" dirty="0">
              <a:solidFill>
                <a:schemeClr val="tx1"/>
              </a:solidFill>
              <a:latin typeface="Avenir Next" panose="020B0503020202020204" pitchFamily="34" charset="0"/>
            </a:endParaRPr>
          </a:p>
        </p:txBody>
      </p:sp>
      <p:sp>
        <p:nvSpPr>
          <p:cNvPr id="12" name="Rounded Rectangle 11">
            <a:extLst>
              <a:ext uri="{FF2B5EF4-FFF2-40B4-BE49-F238E27FC236}">
                <a16:creationId xmlns:a16="http://schemas.microsoft.com/office/drawing/2014/main" id="{572BE532-EA03-7CC3-A9DB-E368C63D2B17}"/>
              </a:ext>
            </a:extLst>
          </p:cNvPr>
          <p:cNvSpPr/>
          <p:nvPr/>
        </p:nvSpPr>
        <p:spPr>
          <a:xfrm>
            <a:off x="4523398" y="3881699"/>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sunshine</a:t>
            </a:r>
          </a:p>
        </p:txBody>
      </p:sp>
      <p:sp>
        <p:nvSpPr>
          <p:cNvPr id="13" name="Rounded Rectangle 12">
            <a:extLst>
              <a:ext uri="{FF2B5EF4-FFF2-40B4-BE49-F238E27FC236}">
                <a16:creationId xmlns:a16="http://schemas.microsoft.com/office/drawing/2014/main" id="{83F1196A-2CEB-3CF9-B743-5F8BBD4C1512}"/>
              </a:ext>
            </a:extLst>
          </p:cNvPr>
          <p:cNvSpPr/>
          <p:nvPr/>
        </p:nvSpPr>
        <p:spPr>
          <a:xfrm>
            <a:off x="4523397" y="4524694"/>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joined</a:t>
            </a:r>
          </a:p>
        </p:txBody>
      </p:sp>
      <p:sp>
        <p:nvSpPr>
          <p:cNvPr id="14" name="Rounded Rectangle 13">
            <a:extLst>
              <a:ext uri="{FF2B5EF4-FFF2-40B4-BE49-F238E27FC236}">
                <a16:creationId xmlns:a16="http://schemas.microsoft.com/office/drawing/2014/main" id="{213F5305-D755-0126-AA99-F2C2161F8746}"/>
              </a:ext>
            </a:extLst>
          </p:cNvPr>
          <p:cNvSpPr/>
          <p:nvPr/>
        </p:nvSpPr>
        <p:spPr>
          <a:xfrm>
            <a:off x="4523396" y="1935842"/>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Avenir Next" panose="020B0503020202020204" pitchFamily="34" charset="0"/>
              </a:rPr>
              <a:t>friend</a:t>
            </a:r>
          </a:p>
        </p:txBody>
      </p:sp>
      <p:sp>
        <p:nvSpPr>
          <p:cNvPr id="15" name="Rounded Rectangle 14">
            <a:extLst>
              <a:ext uri="{FF2B5EF4-FFF2-40B4-BE49-F238E27FC236}">
                <a16:creationId xmlns:a16="http://schemas.microsoft.com/office/drawing/2014/main" id="{48FD6B1B-BD01-A052-9D43-B8CDC72159D6}"/>
              </a:ext>
            </a:extLst>
          </p:cNvPr>
          <p:cNvSpPr/>
          <p:nvPr/>
        </p:nvSpPr>
        <p:spPr>
          <a:xfrm>
            <a:off x="4523395" y="1287223"/>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Avenir Next" panose="020B0503020202020204" pitchFamily="34" charset="0"/>
              </a:rPr>
              <a:t>best</a:t>
            </a:r>
          </a:p>
        </p:txBody>
      </p:sp>
      <p:sp>
        <p:nvSpPr>
          <p:cNvPr id="16" name="Rounded Rectangle 15">
            <a:extLst>
              <a:ext uri="{FF2B5EF4-FFF2-40B4-BE49-F238E27FC236}">
                <a16:creationId xmlns:a16="http://schemas.microsoft.com/office/drawing/2014/main" id="{6AC7ECD4-E394-579D-6AD0-924E77588582}"/>
              </a:ext>
            </a:extLst>
          </p:cNvPr>
          <p:cNvSpPr/>
          <p:nvPr/>
        </p:nvSpPr>
        <p:spPr>
          <a:xfrm>
            <a:off x="4523394" y="636783"/>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Avenir Next" panose="020B0503020202020204" pitchFamily="34" charset="0"/>
              </a:rPr>
              <a:t>adopted</a:t>
            </a:r>
          </a:p>
        </p:txBody>
      </p:sp>
      <p:sp>
        <p:nvSpPr>
          <p:cNvPr id="17" name="Rounded Rectangle 16">
            <a:extLst>
              <a:ext uri="{FF2B5EF4-FFF2-40B4-BE49-F238E27FC236}">
                <a16:creationId xmlns:a16="http://schemas.microsoft.com/office/drawing/2014/main" id="{68951F66-E2A4-7CF0-2F4F-D49CAD4D5DF1}"/>
              </a:ext>
            </a:extLst>
          </p:cNvPr>
          <p:cNvSpPr/>
          <p:nvPr/>
        </p:nvSpPr>
        <p:spPr>
          <a:xfrm>
            <a:off x="4523392" y="5178937"/>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family</a:t>
            </a:r>
          </a:p>
        </p:txBody>
      </p:sp>
      <p:sp>
        <p:nvSpPr>
          <p:cNvPr id="2" name="Rectangle 1">
            <a:extLst>
              <a:ext uri="{FF2B5EF4-FFF2-40B4-BE49-F238E27FC236}">
                <a16:creationId xmlns:a16="http://schemas.microsoft.com/office/drawing/2014/main" id="{17FCB94F-9A68-9472-A0A0-02A152D7E295}"/>
              </a:ext>
            </a:extLst>
          </p:cNvPr>
          <p:cNvSpPr/>
          <p:nvPr/>
        </p:nvSpPr>
        <p:spPr>
          <a:xfrm>
            <a:off x="1096502" y="2678749"/>
            <a:ext cx="1274567" cy="4189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1D1D1A"/>
                </a:solidFill>
                <a:latin typeface="Avenir Next" panose="020B0503020202020204" pitchFamily="34" charset="0"/>
              </a:rPr>
              <a:t> </a:t>
            </a:r>
            <a:r>
              <a:rPr lang="en-US" sz="1800" dirty="0">
                <a:solidFill>
                  <a:srgbClr val="C00000"/>
                </a:solidFill>
                <a:latin typeface="Avenir Next" panose="020B0503020202020204" pitchFamily="34" charset="0"/>
              </a:rPr>
              <a:t>date</a:t>
            </a:r>
            <a:endParaRPr lang="en-US" dirty="0">
              <a:solidFill>
                <a:srgbClr val="C00000"/>
              </a:solidFill>
              <a:latin typeface="Avenir Next" panose="020B0503020202020204" pitchFamily="34" charset="0"/>
            </a:endParaRPr>
          </a:p>
        </p:txBody>
      </p:sp>
    </p:spTree>
    <p:extLst>
      <p:ext uri="{BB962C8B-B14F-4D97-AF65-F5344CB8AC3E}">
        <p14:creationId xmlns:p14="http://schemas.microsoft.com/office/powerpoint/2010/main" val="8931598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300" advClick="0" advTm="500">
        <p159:morph option="byObject"/>
      </p:transition>
    </mc:Choice>
    <mc:Fallback xmlns="">
      <p:transition advClick="0" advTm="500">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092A893-AD75-54EE-300D-06D50A8B41CE}"/>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822FAD24-29EC-5012-1E24-F638F6190BB5}"/>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sp>
        <p:nvSpPr>
          <p:cNvPr id="9" name="Google Shape;104;p21">
            <a:extLst>
              <a:ext uri="{FF2B5EF4-FFF2-40B4-BE49-F238E27FC236}">
                <a16:creationId xmlns:a16="http://schemas.microsoft.com/office/drawing/2014/main" id="{BE215AA1-9F0C-56A9-53A0-86550FBD2AD3}"/>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en-US" b="1" dirty="0">
                <a:solidFill>
                  <a:srgbClr val="292E60"/>
                </a:solidFill>
              </a:rPr>
              <a:t>Brute Force</a:t>
            </a:r>
            <a:endParaRPr b="1" dirty="0">
              <a:solidFill>
                <a:srgbClr val="292E60"/>
              </a:solidFill>
            </a:endParaRPr>
          </a:p>
        </p:txBody>
      </p:sp>
      <p:pic>
        <p:nvPicPr>
          <p:cNvPr id="10" name="Google Shape;107;p21">
            <a:extLst>
              <a:ext uri="{FF2B5EF4-FFF2-40B4-BE49-F238E27FC236}">
                <a16:creationId xmlns:a16="http://schemas.microsoft.com/office/drawing/2014/main" id="{75A14D4C-31D0-3EBF-4248-D4E2957C2038}"/>
              </a:ext>
            </a:extLst>
          </p:cNvPr>
          <p:cNvPicPr preferRelativeResize="0"/>
          <p:nvPr/>
        </p:nvPicPr>
        <p:blipFill>
          <a:blip r:embed="rId3">
            <a:alphaModFix/>
          </a:blip>
          <a:stretch>
            <a:fillRect/>
          </a:stretch>
        </p:blipFill>
        <p:spPr>
          <a:xfrm>
            <a:off x="2371067" y="878900"/>
            <a:ext cx="155800" cy="155800"/>
          </a:xfrm>
          <a:prstGeom prst="rect">
            <a:avLst/>
          </a:prstGeom>
          <a:noFill/>
          <a:ln>
            <a:noFill/>
          </a:ln>
        </p:spPr>
      </p:pic>
      <p:pic>
        <p:nvPicPr>
          <p:cNvPr id="4" name="Picture 3">
            <a:extLst>
              <a:ext uri="{FF2B5EF4-FFF2-40B4-BE49-F238E27FC236}">
                <a16:creationId xmlns:a16="http://schemas.microsoft.com/office/drawing/2014/main" id="{5EBD9A5C-8A5C-293C-172E-91CB8C799A73}"/>
              </a:ext>
            </a:extLst>
          </p:cNvPr>
          <p:cNvPicPr>
            <a:picLocks noChangeAspect="1"/>
          </p:cNvPicPr>
          <p:nvPr/>
        </p:nvPicPr>
        <p:blipFill>
          <a:blip r:embed="rId4"/>
          <a:srcRect l="20913" t="16845"/>
          <a:stretch>
            <a:fillRect/>
          </a:stretch>
        </p:blipFill>
        <p:spPr>
          <a:xfrm>
            <a:off x="932045" y="1453042"/>
            <a:ext cx="3324594" cy="2450066"/>
          </a:xfrm>
          <a:prstGeom prst="rect">
            <a:avLst/>
          </a:prstGeom>
        </p:spPr>
      </p:pic>
      <p:sp>
        <p:nvSpPr>
          <p:cNvPr id="5" name="Rectangle 4">
            <a:extLst>
              <a:ext uri="{FF2B5EF4-FFF2-40B4-BE49-F238E27FC236}">
                <a16:creationId xmlns:a16="http://schemas.microsoft.com/office/drawing/2014/main" id="{B02DA782-6409-7E94-314E-92F9202FABE5}"/>
              </a:ext>
            </a:extLst>
          </p:cNvPr>
          <p:cNvSpPr/>
          <p:nvPr/>
        </p:nvSpPr>
        <p:spPr>
          <a:xfrm>
            <a:off x="1096502" y="2144808"/>
            <a:ext cx="1274567" cy="3496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1D1D1A"/>
                </a:solidFill>
                <a:latin typeface="Avenir Next" panose="020B0503020202020204" pitchFamily="34" charset="0"/>
              </a:rPr>
              <a:t> </a:t>
            </a:r>
            <a:r>
              <a:rPr lang="en-US" sz="1800" dirty="0" err="1">
                <a:solidFill>
                  <a:srgbClr val="1D1D1A"/>
                </a:solidFill>
                <a:latin typeface="Avenir Next" panose="020B0503020202020204" pitchFamily="34" charset="0"/>
              </a:rPr>
              <a:t>marq</a:t>
            </a:r>
            <a:endParaRPr lang="en-US" dirty="0">
              <a:solidFill>
                <a:srgbClr val="1D1D1A"/>
              </a:solidFill>
              <a:latin typeface="Avenir Next" panose="020B0503020202020204" pitchFamily="34" charset="0"/>
            </a:endParaRPr>
          </a:p>
        </p:txBody>
      </p:sp>
      <p:sp>
        <p:nvSpPr>
          <p:cNvPr id="8" name="Rounded Rectangle 7">
            <a:extLst>
              <a:ext uri="{FF2B5EF4-FFF2-40B4-BE49-F238E27FC236}">
                <a16:creationId xmlns:a16="http://schemas.microsoft.com/office/drawing/2014/main" id="{FC8D2685-F340-3449-48AA-FBA770D7AD66}"/>
              </a:ext>
            </a:extLst>
          </p:cNvPr>
          <p:cNvSpPr/>
          <p:nvPr/>
        </p:nvSpPr>
        <p:spPr>
          <a:xfrm>
            <a:off x="4523399" y="1938628"/>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Avenir Next" panose="020B0503020202020204" pitchFamily="34" charset="0"/>
              </a:rPr>
              <a:t>date</a:t>
            </a:r>
          </a:p>
        </p:txBody>
      </p:sp>
      <p:sp>
        <p:nvSpPr>
          <p:cNvPr id="11" name="Rounded Rectangle 10">
            <a:extLst>
              <a:ext uri="{FF2B5EF4-FFF2-40B4-BE49-F238E27FC236}">
                <a16:creationId xmlns:a16="http://schemas.microsoft.com/office/drawing/2014/main" id="{0DCD066D-23E4-FCDF-BB90-6F9F5AA7A721}"/>
              </a:ext>
            </a:extLst>
          </p:cNvPr>
          <p:cNvSpPr/>
          <p:nvPr/>
        </p:nvSpPr>
        <p:spPr>
          <a:xfrm>
            <a:off x="4523399" y="2589068"/>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Avenir Next" panose="020B0503020202020204" pitchFamily="34" charset="0"/>
              </a:rPr>
              <a:t>tinkerbell</a:t>
            </a:r>
            <a:endParaRPr lang="en-US" dirty="0">
              <a:solidFill>
                <a:schemeClr val="tx1"/>
              </a:solidFill>
              <a:latin typeface="Avenir Next" panose="020B0503020202020204" pitchFamily="34" charset="0"/>
            </a:endParaRPr>
          </a:p>
        </p:txBody>
      </p:sp>
      <p:sp>
        <p:nvSpPr>
          <p:cNvPr id="12" name="Rounded Rectangle 11">
            <a:extLst>
              <a:ext uri="{FF2B5EF4-FFF2-40B4-BE49-F238E27FC236}">
                <a16:creationId xmlns:a16="http://schemas.microsoft.com/office/drawing/2014/main" id="{1456E6C5-6DDE-5BE7-7C54-9C9C9F8E7A3B}"/>
              </a:ext>
            </a:extLst>
          </p:cNvPr>
          <p:cNvSpPr/>
          <p:nvPr/>
        </p:nvSpPr>
        <p:spPr>
          <a:xfrm>
            <a:off x="4523398" y="3235866"/>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sunshine</a:t>
            </a:r>
          </a:p>
        </p:txBody>
      </p:sp>
      <p:sp>
        <p:nvSpPr>
          <p:cNvPr id="13" name="Rounded Rectangle 12">
            <a:extLst>
              <a:ext uri="{FF2B5EF4-FFF2-40B4-BE49-F238E27FC236}">
                <a16:creationId xmlns:a16="http://schemas.microsoft.com/office/drawing/2014/main" id="{B0BEAF8C-B4AC-D276-2ED1-393EDFA51858}"/>
              </a:ext>
            </a:extLst>
          </p:cNvPr>
          <p:cNvSpPr/>
          <p:nvPr/>
        </p:nvSpPr>
        <p:spPr>
          <a:xfrm>
            <a:off x="4523397" y="3878861"/>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joined</a:t>
            </a:r>
          </a:p>
        </p:txBody>
      </p:sp>
      <p:sp>
        <p:nvSpPr>
          <p:cNvPr id="14" name="Rounded Rectangle 13">
            <a:extLst>
              <a:ext uri="{FF2B5EF4-FFF2-40B4-BE49-F238E27FC236}">
                <a16:creationId xmlns:a16="http://schemas.microsoft.com/office/drawing/2014/main" id="{6881D751-6687-AE48-9369-A46A4A0F6EE3}"/>
              </a:ext>
            </a:extLst>
          </p:cNvPr>
          <p:cNvSpPr/>
          <p:nvPr/>
        </p:nvSpPr>
        <p:spPr>
          <a:xfrm>
            <a:off x="4523396" y="1290009"/>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Avenir Next" panose="020B0503020202020204" pitchFamily="34" charset="0"/>
              </a:rPr>
              <a:t>friend</a:t>
            </a:r>
          </a:p>
        </p:txBody>
      </p:sp>
      <p:sp>
        <p:nvSpPr>
          <p:cNvPr id="15" name="Rounded Rectangle 14">
            <a:extLst>
              <a:ext uri="{FF2B5EF4-FFF2-40B4-BE49-F238E27FC236}">
                <a16:creationId xmlns:a16="http://schemas.microsoft.com/office/drawing/2014/main" id="{A5680887-C5B7-EA73-2203-EA8AF2E3B1E6}"/>
              </a:ext>
            </a:extLst>
          </p:cNvPr>
          <p:cNvSpPr/>
          <p:nvPr/>
        </p:nvSpPr>
        <p:spPr>
          <a:xfrm>
            <a:off x="4523395" y="641390"/>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Avenir Next" panose="020B0503020202020204" pitchFamily="34" charset="0"/>
              </a:rPr>
              <a:t>best</a:t>
            </a:r>
          </a:p>
        </p:txBody>
      </p:sp>
      <p:sp>
        <p:nvSpPr>
          <p:cNvPr id="16" name="Rounded Rectangle 15">
            <a:extLst>
              <a:ext uri="{FF2B5EF4-FFF2-40B4-BE49-F238E27FC236}">
                <a16:creationId xmlns:a16="http://schemas.microsoft.com/office/drawing/2014/main" id="{0B54E2D4-13A3-5E71-C91A-AFD5F7D928C0}"/>
              </a:ext>
            </a:extLst>
          </p:cNvPr>
          <p:cNvSpPr/>
          <p:nvPr/>
        </p:nvSpPr>
        <p:spPr>
          <a:xfrm>
            <a:off x="4523394" y="-9050"/>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Avenir Next" panose="020B0503020202020204" pitchFamily="34" charset="0"/>
              </a:rPr>
              <a:t>adopted</a:t>
            </a:r>
          </a:p>
        </p:txBody>
      </p:sp>
      <p:sp>
        <p:nvSpPr>
          <p:cNvPr id="17" name="Rounded Rectangle 16">
            <a:extLst>
              <a:ext uri="{FF2B5EF4-FFF2-40B4-BE49-F238E27FC236}">
                <a16:creationId xmlns:a16="http://schemas.microsoft.com/office/drawing/2014/main" id="{8CC01781-BAE6-360E-C0E9-2DB9E6ACAF57}"/>
              </a:ext>
            </a:extLst>
          </p:cNvPr>
          <p:cNvSpPr/>
          <p:nvPr/>
        </p:nvSpPr>
        <p:spPr>
          <a:xfrm>
            <a:off x="4523394" y="4533104"/>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family</a:t>
            </a:r>
          </a:p>
        </p:txBody>
      </p:sp>
      <p:sp>
        <p:nvSpPr>
          <p:cNvPr id="2" name="Rectangle 1">
            <a:extLst>
              <a:ext uri="{FF2B5EF4-FFF2-40B4-BE49-F238E27FC236}">
                <a16:creationId xmlns:a16="http://schemas.microsoft.com/office/drawing/2014/main" id="{EFF1FE51-D73E-46A0-43B9-743244190B3C}"/>
              </a:ext>
            </a:extLst>
          </p:cNvPr>
          <p:cNvSpPr/>
          <p:nvPr/>
        </p:nvSpPr>
        <p:spPr>
          <a:xfrm>
            <a:off x="1096502" y="2678749"/>
            <a:ext cx="1274567" cy="4189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1D1D1A"/>
                </a:solidFill>
                <a:latin typeface="Avenir Next" panose="020B0503020202020204" pitchFamily="34" charset="0"/>
              </a:rPr>
              <a:t> </a:t>
            </a:r>
            <a:r>
              <a:rPr lang="en-US" sz="1800" dirty="0" err="1">
                <a:solidFill>
                  <a:srgbClr val="C00000"/>
                </a:solidFill>
                <a:latin typeface="Avenir Next" panose="020B0503020202020204" pitchFamily="34" charset="0"/>
              </a:rPr>
              <a:t>tinkerbell</a:t>
            </a:r>
            <a:endParaRPr lang="en-US" dirty="0">
              <a:solidFill>
                <a:srgbClr val="C00000"/>
              </a:solidFill>
              <a:latin typeface="Avenir Next" panose="020B0503020202020204" pitchFamily="34" charset="0"/>
            </a:endParaRPr>
          </a:p>
        </p:txBody>
      </p:sp>
      <p:sp>
        <p:nvSpPr>
          <p:cNvPr id="3" name="Rounded Rectangle 2">
            <a:extLst>
              <a:ext uri="{FF2B5EF4-FFF2-40B4-BE49-F238E27FC236}">
                <a16:creationId xmlns:a16="http://schemas.microsoft.com/office/drawing/2014/main" id="{CA66393B-7878-AA9B-F12C-550467F35026}"/>
              </a:ext>
            </a:extLst>
          </p:cNvPr>
          <p:cNvSpPr/>
          <p:nvPr/>
        </p:nvSpPr>
        <p:spPr>
          <a:xfrm>
            <a:off x="4523392" y="5183544"/>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anniversary</a:t>
            </a:r>
          </a:p>
        </p:txBody>
      </p:sp>
    </p:spTree>
    <p:extLst>
      <p:ext uri="{BB962C8B-B14F-4D97-AF65-F5344CB8AC3E}">
        <p14:creationId xmlns:p14="http://schemas.microsoft.com/office/powerpoint/2010/main" val="11365222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300" advClick="0" advTm="500">
        <p159:morph option="byObject"/>
      </p:transition>
    </mc:Choice>
    <mc:Fallback xmlns="">
      <p:transition advClick="0" advTm="500">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DBFFFEA7-7998-8499-2C48-F8FEFF8D41A1}"/>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BAD1DAB2-7C51-EBAD-2260-DB4A21726B38}"/>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sp>
        <p:nvSpPr>
          <p:cNvPr id="9" name="Google Shape;104;p21">
            <a:extLst>
              <a:ext uri="{FF2B5EF4-FFF2-40B4-BE49-F238E27FC236}">
                <a16:creationId xmlns:a16="http://schemas.microsoft.com/office/drawing/2014/main" id="{3DE25F13-C99A-330D-79BC-02C83FE59B51}"/>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en-US" b="1" dirty="0">
                <a:solidFill>
                  <a:srgbClr val="292E60"/>
                </a:solidFill>
              </a:rPr>
              <a:t>Brute Force</a:t>
            </a:r>
            <a:endParaRPr b="1" dirty="0">
              <a:solidFill>
                <a:srgbClr val="292E60"/>
              </a:solidFill>
            </a:endParaRPr>
          </a:p>
        </p:txBody>
      </p:sp>
      <p:pic>
        <p:nvPicPr>
          <p:cNvPr id="10" name="Google Shape;107;p21">
            <a:extLst>
              <a:ext uri="{FF2B5EF4-FFF2-40B4-BE49-F238E27FC236}">
                <a16:creationId xmlns:a16="http://schemas.microsoft.com/office/drawing/2014/main" id="{9A0493E4-71A1-61BA-34C8-6D3244BCB0B2}"/>
              </a:ext>
            </a:extLst>
          </p:cNvPr>
          <p:cNvPicPr preferRelativeResize="0"/>
          <p:nvPr/>
        </p:nvPicPr>
        <p:blipFill>
          <a:blip r:embed="rId3">
            <a:alphaModFix/>
          </a:blip>
          <a:stretch>
            <a:fillRect/>
          </a:stretch>
        </p:blipFill>
        <p:spPr>
          <a:xfrm>
            <a:off x="2371067" y="878900"/>
            <a:ext cx="155800" cy="155800"/>
          </a:xfrm>
          <a:prstGeom prst="rect">
            <a:avLst/>
          </a:prstGeom>
          <a:noFill/>
          <a:ln>
            <a:noFill/>
          </a:ln>
        </p:spPr>
      </p:pic>
      <p:pic>
        <p:nvPicPr>
          <p:cNvPr id="4" name="Picture 3">
            <a:extLst>
              <a:ext uri="{FF2B5EF4-FFF2-40B4-BE49-F238E27FC236}">
                <a16:creationId xmlns:a16="http://schemas.microsoft.com/office/drawing/2014/main" id="{9EAF9980-B933-6A68-AE7E-029224336D6D}"/>
              </a:ext>
            </a:extLst>
          </p:cNvPr>
          <p:cNvPicPr>
            <a:picLocks noChangeAspect="1"/>
          </p:cNvPicPr>
          <p:nvPr/>
        </p:nvPicPr>
        <p:blipFill>
          <a:blip r:embed="rId4"/>
          <a:srcRect l="20913" t="16845"/>
          <a:stretch>
            <a:fillRect/>
          </a:stretch>
        </p:blipFill>
        <p:spPr>
          <a:xfrm>
            <a:off x="932045" y="1453042"/>
            <a:ext cx="3324594" cy="2450066"/>
          </a:xfrm>
          <a:prstGeom prst="rect">
            <a:avLst/>
          </a:prstGeom>
        </p:spPr>
      </p:pic>
      <p:sp>
        <p:nvSpPr>
          <p:cNvPr id="5" name="Rectangle 4">
            <a:extLst>
              <a:ext uri="{FF2B5EF4-FFF2-40B4-BE49-F238E27FC236}">
                <a16:creationId xmlns:a16="http://schemas.microsoft.com/office/drawing/2014/main" id="{CEDA7DBF-705B-E7C7-9981-D4065FCB2D36}"/>
              </a:ext>
            </a:extLst>
          </p:cNvPr>
          <p:cNvSpPr/>
          <p:nvPr/>
        </p:nvSpPr>
        <p:spPr>
          <a:xfrm>
            <a:off x="1096502" y="2144808"/>
            <a:ext cx="1274567" cy="3496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1D1D1A"/>
                </a:solidFill>
                <a:latin typeface="Avenir Next" panose="020B0503020202020204" pitchFamily="34" charset="0"/>
              </a:rPr>
              <a:t> </a:t>
            </a:r>
            <a:r>
              <a:rPr lang="en-US" sz="1800" dirty="0" err="1">
                <a:solidFill>
                  <a:srgbClr val="1D1D1A"/>
                </a:solidFill>
                <a:latin typeface="Avenir Next" panose="020B0503020202020204" pitchFamily="34" charset="0"/>
              </a:rPr>
              <a:t>marq</a:t>
            </a:r>
            <a:endParaRPr lang="en-US" dirty="0">
              <a:solidFill>
                <a:srgbClr val="1D1D1A"/>
              </a:solidFill>
              <a:latin typeface="Avenir Next" panose="020B0503020202020204" pitchFamily="34" charset="0"/>
            </a:endParaRPr>
          </a:p>
        </p:txBody>
      </p:sp>
      <p:sp>
        <p:nvSpPr>
          <p:cNvPr id="8" name="Rounded Rectangle 7">
            <a:extLst>
              <a:ext uri="{FF2B5EF4-FFF2-40B4-BE49-F238E27FC236}">
                <a16:creationId xmlns:a16="http://schemas.microsoft.com/office/drawing/2014/main" id="{8E5EFA81-B089-429F-46DB-4A602EB37E69}"/>
              </a:ext>
            </a:extLst>
          </p:cNvPr>
          <p:cNvSpPr/>
          <p:nvPr/>
        </p:nvSpPr>
        <p:spPr>
          <a:xfrm>
            <a:off x="4523399" y="1287996"/>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Avenir Next" panose="020B0503020202020204" pitchFamily="34" charset="0"/>
              </a:rPr>
              <a:t>date</a:t>
            </a:r>
          </a:p>
        </p:txBody>
      </p:sp>
      <p:sp>
        <p:nvSpPr>
          <p:cNvPr id="11" name="Rounded Rectangle 10">
            <a:extLst>
              <a:ext uri="{FF2B5EF4-FFF2-40B4-BE49-F238E27FC236}">
                <a16:creationId xmlns:a16="http://schemas.microsoft.com/office/drawing/2014/main" id="{53DEE3EA-0E7E-25C3-96AA-F3638B63DD88}"/>
              </a:ext>
            </a:extLst>
          </p:cNvPr>
          <p:cNvSpPr/>
          <p:nvPr/>
        </p:nvSpPr>
        <p:spPr>
          <a:xfrm>
            <a:off x="4523399" y="1938436"/>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C00000"/>
                </a:solidFill>
                <a:latin typeface="Avenir Next" panose="020B0503020202020204" pitchFamily="34" charset="0"/>
              </a:rPr>
              <a:t>tinkerbell</a:t>
            </a:r>
            <a:endParaRPr lang="en-US" dirty="0">
              <a:solidFill>
                <a:srgbClr val="C00000"/>
              </a:solidFill>
              <a:latin typeface="Avenir Next" panose="020B0503020202020204" pitchFamily="34" charset="0"/>
            </a:endParaRPr>
          </a:p>
        </p:txBody>
      </p:sp>
      <p:sp>
        <p:nvSpPr>
          <p:cNvPr id="12" name="Rounded Rectangle 11">
            <a:extLst>
              <a:ext uri="{FF2B5EF4-FFF2-40B4-BE49-F238E27FC236}">
                <a16:creationId xmlns:a16="http://schemas.microsoft.com/office/drawing/2014/main" id="{DE070405-8E24-FD68-7832-2CE98D1CBE2B}"/>
              </a:ext>
            </a:extLst>
          </p:cNvPr>
          <p:cNvSpPr/>
          <p:nvPr/>
        </p:nvSpPr>
        <p:spPr>
          <a:xfrm>
            <a:off x="4523398" y="2585234"/>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sunshine</a:t>
            </a:r>
          </a:p>
        </p:txBody>
      </p:sp>
      <p:sp>
        <p:nvSpPr>
          <p:cNvPr id="13" name="Rounded Rectangle 12">
            <a:extLst>
              <a:ext uri="{FF2B5EF4-FFF2-40B4-BE49-F238E27FC236}">
                <a16:creationId xmlns:a16="http://schemas.microsoft.com/office/drawing/2014/main" id="{F20E1276-8D06-2AA6-B62A-2667EEA9B972}"/>
              </a:ext>
            </a:extLst>
          </p:cNvPr>
          <p:cNvSpPr/>
          <p:nvPr/>
        </p:nvSpPr>
        <p:spPr>
          <a:xfrm>
            <a:off x="4523397" y="3228229"/>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joined</a:t>
            </a:r>
          </a:p>
        </p:txBody>
      </p:sp>
      <p:sp>
        <p:nvSpPr>
          <p:cNvPr id="14" name="Rounded Rectangle 13">
            <a:extLst>
              <a:ext uri="{FF2B5EF4-FFF2-40B4-BE49-F238E27FC236}">
                <a16:creationId xmlns:a16="http://schemas.microsoft.com/office/drawing/2014/main" id="{16ECD739-BE7A-C832-076F-3FC1812F6681}"/>
              </a:ext>
            </a:extLst>
          </p:cNvPr>
          <p:cNvSpPr/>
          <p:nvPr/>
        </p:nvSpPr>
        <p:spPr>
          <a:xfrm>
            <a:off x="4523396" y="639377"/>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Avenir Next" panose="020B0503020202020204" pitchFamily="34" charset="0"/>
              </a:rPr>
              <a:t>friend</a:t>
            </a:r>
          </a:p>
        </p:txBody>
      </p:sp>
      <p:sp>
        <p:nvSpPr>
          <p:cNvPr id="15" name="Rounded Rectangle 14">
            <a:extLst>
              <a:ext uri="{FF2B5EF4-FFF2-40B4-BE49-F238E27FC236}">
                <a16:creationId xmlns:a16="http://schemas.microsoft.com/office/drawing/2014/main" id="{418691EE-D0A1-5931-995F-AC5E9BFECAEC}"/>
              </a:ext>
            </a:extLst>
          </p:cNvPr>
          <p:cNvSpPr/>
          <p:nvPr/>
        </p:nvSpPr>
        <p:spPr>
          <a:xfrm>
            <a:off x="4523395" y="-9242"/>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Avenir Next" panose="020B0503020202020204" pitchFamily="34" charset="0"/>
              </a:rPr>
              <a:t>best</a:t>
            </a:r>
          </a:p>
        </p:txBody>
      </p:sp>
      <p:sp>
        <p:nvSpPr>
          <p:cNvPr id="16" name="Rounded Rectangle 15">
            <a:extLst>
              <a:ext uri="{FF2B5EF4-FFF2-40B4-BE49-F238E27FC236}">
                <a16:creationId xmlns:a16="http://schemas.microsoft.com/office/drawing/2014/main" id="{FFC954A9-94F3-DD32-C36B-E8A4BD960EBB}"/>
              </a:ext>
            </a:extLst>
          </p:cNvPr>
          <p:cNvSpPr/>
          <p:nvPr/>
        </p:nvSpPr>
        <p:spPr>
          <a:xfrm>
            <a:off x="4523392" y="-659682"/>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Avenir Next" panose="020B0503020202020204" pitchFamily="34" charset="0"/>
              </a:rPr>
              <a:t>adopted</a:t>
            </a:r>
          </a:p>
        </p:txBody>
      </p:sp>
      <p:sp>
        <p:nvSpPr>
          <p:cNvPr id="17" name="Rounded Rectangle 16">
            <a:extLst>
              <a:ext uri="{FF2B5EF4-FFF2-40B4-BE49-F238E27FC236}">
                <a16:creationId xmlns:a16="http://schemas.microsoft.com/office/drawing/2014/main" id="{E3D6DCAE-53E1-6828-C36E-ABA2DAC8C86C}"/>
              </a:ext>
            </a:extLst>
          </p:cNvPr>
          <p:cNvSpPr/>
          <p:nvPr/>
        </p:nvSpPr>
        <p:spPr>
          <a:xfrm>
            <a:off x="4523394" y="3882472"/>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family</a:t>
            </a:r>
          </a:p>
        </p:txBody>
      </p:sp>
      <p:sp>
        <p:nvSpPr>
          <p:cNvPr id="2" name="Rectangle 1">
            <a:extLst>
              <a:ext uri="{FF2B5EF4-FFF2-40B4-BE49-F238E27FC236}">
                <a16:creationId xmlns:a16="http://schemas.microsoft.com/office/drawing/2014/main" id="{7BDF9FAD-E404-B348-6A79-F7D498C0F22E}"/>
              </a:ext>
            </a:extLst>
          </p:cNvPr>
          <p:cNvSpPr/>
          <p:nvPr/>
        </p:nvSpPr>
        <p:spPr>
          <a:xfrm>
            <a:off x="1096502" y="2678749"/>
            <a:ext cx="1274567" cy="4189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1D1D1A"/>
                </a:solidFill>
                <a:latin typeface="Avenir Next" panose="020B0503020202020204" pitchFamily="34" charset="0"/>
              </a:rPr>
              <a:t> </a:t>
            </a:r>
            <a:r>
              <a:rPr lang="en-US" sz="1800" dirty="0">
                <a:solidFill>
                  <a:srgbClr val="00B050"/>
                </a:solidFill>
                <a:latin typeface="Avenir Next" panose="020B0503020202020204" pitchFamily="34" charset="0"/>
              </a:rPr>
              <a:t>sunshine</a:t>
            </a:r>
            <a:endParaRPr lang="en-US" dirty="0">
              <a:solidFill>
                <a:srgbClr val="00B050"/>
              </a:solidFill>
              <a:latin typeface="Avenir Next" panose="020B0503020202020204" pitchFamily="34" charset="0"/>
            </a:endParaRPr>
          </a:p>
        </p:txBody>
      </p:sp>
      <p:sp>
        <p:nvSpPr>
          <p:cNvPr id="6" name="Rounded Rectangle 5">
            <a:extLst>
              <a:ext uri="{FF2B5EF4-FFF2-40B4-BE49-F238E27FC236}">
                <a16:creationId xmlns:a16="http://schemas.microsoft.com/office/drawing/2014/main" id="{C7B25C28-74A3-91D4-DCC9-06C32B37F396}"/>
              </a:ext>
            </a:extLst>
          </p:cNvPr>
          <p:cNvSpPr/>
          <p:nvPr/>
        </p:nvSpPr>
        <p:spPr>
          <a:xfrm>
            <a:off x="4523394" y="4532912"/>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Next" panose="020B0503020202020204" pitchFamily="34" charset="0"/>
              </a:rPr>
              <a:t>anniversary</a:t>
            </a:r>
          </a:p>
        </p:txBody>
      </p:sp>
    </p:spTree>
    <p:extLst>
      <p:ext uri="{BB962C8B-B14F-4D97-AF65-F5344CB8AC3E}">
        <p14:creationId xmlns:p14="http://schemas.microsoft.com/office/powerpoint/2010/main" val="11217008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300" advClick="0" advTm="500">
        <p159:morph option="byObject"/>
      </p:transition>
    </mc:Choice>
    <mc:Fallback xmlns="">
      <p:transition advClick="0" advTm="500">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995BE767-8F67-DC81-7D20-120531074F0E}"/>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9554A03E-06CB-3C70-614D-3F8521F036B8}"/>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sp>
        <p:nvSpPr>
          <p:cNvPr id="9" name="Google Shape;104;p21">
            <a:extLst>
              <a:ext uri="{FF2B5EF4-FFF2-40B4-BE49-F238E27FC236}">
                <a16:creationId xmlns:a16="http://schemas.microsoft.com/office/drawing/2014/main" id="{6FAD83C5-E86F-3895-2C92-35144561E841}"/>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en-US" b="1" dirty="0">
                <a:solidFill>
                  <a:srgbClr val="292E60"/>
                </a:solidFill>
              </a:rPr>
              <a:t>Brute Force</a:t>
            </a:r>
            <a:endParaRPr b="1" dirty="0">
              <a:solidFill>
                <a:srgbClr val="292E60"/>
              </a:solidFill>
            </a:endParaRPr>
          </a:p>
        </p:txBody>
      </p:sp>
      <p:pic>
        <p:nvPicPr>
          <p:cNvPr id="10" name="Google Shape;107;p21">
            <a:extLst>
              <a:ext uri="{FF2B5EF4-FFF2-40B4-BE49-F238E27FC236}">
                <a16:creationId xmlns:a16="http://schemas.microsoft.com/office/drawing/2014/main" id="{D713656F-7D1C-4859-D667-5A6D46084132}"/>
              </a:ext>
            </a:extLst>
          </p:cNvPr>
          <p:cNvPicPr preferRelativeResize="0"/>
          <p:nvPr/>
        </p:nvPicPr>
        <p:blipFill>
          <a:blip r:embed="rId3">
            <a:alphaModFix/>
          </a:blip>
          <a:stretch>
            <a:fillRect/>
          </a:stretch>
        </p:blipFill>
        <p:spPr>
          <a:xfrm>
            <a:off x="2371067" y="878900"/>
            <a:ext cx="155800" cy="155800"/>
          </a:xfrm>
          <a:prstGeom prst="rect">
            <a:avLst/>
          </a:prstGeom>
          <a:noFill/>
          <a:ln>
            <a:noFill/>
          </a:ln>
        </p:spPr>
      </p:pic>
      <p:pic>
        <p:nvPicPr>
          <p:cNvPr id="4" name="Picture 3">
            <a:extLst>
              <a:ext uri="{FF2B5EF4-FFF2-40B4-BE49-F238E27FC236}">
                <a16:creationId xmlns:a16="http://schemas.microsoft.com/office/drawing/2014/main" id="{CD1EA908-F0D6-07CE-860C-6C38222EBEFD}"/>
              </a:ext>
            </a:extLst>
          </p:cNvPr>
          <p:cNvPicPr>
            <a:picLocks noChangeAspect="1"/>
          </p:cNvPicPr>
          <p:nvPr/>
        </p:nvPicPr>
        <p:blipFill>
          <a:blip r:embed="rId4"/>
          <a:srcRect l="20913" t="16845"/>
          <a:stretch>
            <a:fillRect/>
          </a:stretch>
        </p:blipFill>
        <p:spPr>
          <a:xfrm>
            <a:off x="932045" y="1453042"/>
            <a:ext cx="3324594" cy="2450066"/>
          </a:xfrm>
          <a:prstGeom prst="rect">
            <a:avLst/>
          </a:prstGeom>
        </p:spPr>
      </p:pic>
      <p:sp>
        <p:nvSpPr>
          <p:cNvPr id="5" name="Rectangle 4">
            <a:extLst>
              <a:ext uri="{FF2B5EF4-FFF2-40B4-BE49-F238E27FC236}">
                <a16:creationId xmlns:a16="http://schemas.microsoft.com/office/drawing/2014/main" id="{F1E52022-7223-FD84-EA91-16E7F290869A}"/>
              </a:ext>
            </a:extLst>
          </p:cNvPr>
          <p:cNvSpPr/>
          <p:nvPr/>
        </p:nvSpPr>
        <p:spPr>
          <a:xfrm>
            <a:off x="1096502" y="2144808"/>
            <a:ext cx="1274567" cy="3496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1D1D1A"/>
                </a:solidFill>
                <a:latin typeface="Avenir Next" panose="020B0503020202020204" pitchFamily="34" charset="0"/>
              </a:rPr>
              <a:t> </a:t>
            </a:r>
            <a:r>
              <a:rPr lang="en-US" sz="1800" dirty="0" err="1">
                <a:solidFill>
                  <a:srgbClr val="1D1D1A"/>
                </a:solidFill>
                <a:latin typeface="Avenir Next" panose="020B0503020202020204" pitchFamily="34" charset="0"/>
              </a:rPr>
              <a:t>marq</a:t>
            </a:r>
            <a:endParaRPr lang="en-US" dirty="0">
              <a:solidFill>
                <a:srgbClr val="1D1D1A"/>
              </a:solidFill>
              <a:latin typeface="Avenir Next" panose="020B0503020202020204" pitchFamily="34" charset="0"/>
            </a:endParaRPr>
          </a:p>
        </p:txBody>
      </p:sp>
      <p:sp>
        <p:nvSpPr>
          <p:cNvPr id="8" name="Rounded Rectangle 7">
            <a:extLst>
              <a:ext uri="{FF2B5EF4-FFF2-40B4-BE49-F238E27FC236}">
                <a16:creationId xmlns:a16="http://schemas.microsoft.com/office/drawing/2014/main" id="{9849B19D-48B5-014E-93D0-D158A2897FCD}"/>
              </a:ext>
            </a:extLst>
          </p:cNvPr>
          <p:cNvSpPr/>
          <p:nvPr/>
        </p:nvSpPr>
        <p:spPr>
          <a:xfrm>
            <a:off x="4523399" y="1287996"/>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Avenir Next" panose="020B0503020202020204" pitchFamily="34" charset="0"/>
              </a:rPr>
              <a:t>date</a:t>
            </a:r>
          </a:p>
        </p:txBody>
      </p:sp>
      <p:sp>
        <p:nvSpPr>
          <p:cNvPr id="11" name="Rounded Rectangle 10">
            <a:extLst>
              <a:ext uri="{FF2B5EF4-FFF2-40B4-BE49-F238E27FC236}">
                <a16:creationId xmlns:a16="http://schemas.microsoft.com/office/drawing/2014/main" id="{78741520-5D6F-0841-7CA0-0D9ABE8DF70D}"/>
              </a:ext>
            </a:extLst>
          </p:cNvPr>
          <p:cNvSpPr/>
          <p:nvPr/>
        </p:nvSpPr>
        <p:spPr>
          <a:xfrm>
            <a:off x="4523399" y="1938436"/>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C00000"/>
                </a:solidFill>
                <a:latin typeface="Avenir Next" panose="020B0503020202020204" pitchFamily="34" charset="0"/>
              </a:rPr>
              <a:t>tinkerbell</a:t>
            </a:r>
            <a:endParaRPr lang="en-US" dirty="0">
              <a:solidFill>
                <a:srgbClr val="C00000"/>
              </a:solidFill>
              <a:latin typeface="Avenir Next" panose="020B0503020202020204" pitchFamily="34" charset="0"/>
            </a:endParaRPr>
          </a:p>
        </p:txBody>
      </p:sp>
      <p:sp>
        <p:nvSpPr>
          <p:cNvPr id="12" name="Rounded Rectangle 11">
            <a:extLst>
              <a:ext uri="{FF2B5EF4-FFF2-40B4-BE49-F238E27FC236}">
                <a16:creationId xmlns:a16="http://schemas.microsoft.com/office/drawing/2014/main" id="{CC34FDA1-D8AA-5D3A-EA0D-468335C8DDC8}"/>
              </a:ext>
            </a:extLst>
          </p:cNvPr>
          <p:cNvSpPr/>
          <p:nvPr/>
        </p:nvSpPr>
        <p:spPr>
          <a:xfrm>
            <a:off x="4523398" y="2585234"/>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latin typeface="Avenir Next" panose="020B0503020202020204" pitchFamily="34" charset="0"/>
              </a:rPr>
              <a:t>sunshine</a:t>
            </a:r>
          </a:p>
        </p:txBody>
      </p:sp>
      <p:sp>
        <p:nvSpPr>
          <p:cNvPr id="13" name="Rounded Rectangle 12">
            <a:extLst>
              <a:ext uri="{FF2B5EF4-FFF2-40B4-BE49-F238E27FC236}">
                <a16:creationId xmlns:a16="http://schemas.microsoft.com/office/drawing/2014/main" id="{C05886A9-8303-D729-5752-236CFF10D4D5}"/>
              </a:ext>
            </a:extLst>
          </p:cNvPr>
          <p:cNvSpPr/>
          <p:nvPr/>
        </p:nvSpPr>
        <p:spPr>
          <a:xfrm>
            <a:off x="4523397" y="3228229"/>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Avenir Next" panose="020B0503020202020204" pitchFamily="34" charset="0"/>
              </a:rPr>
              <a:t>joined</a:t>
            </a:r>
          </a:p>
        </p:txBody>
      </p:sp>
      <p:sp>
        <p:nvSpPr>
          <p:cNvPr id="14" name="Rounded Rectangle 13">
            <a:extLst>
              <a:ext uri="{FF2B5EF4-FFF2-40B4-BE49-F238E27FC236}">
                <a16:creationId xmlns:a16="http://schemas.microsoft.com/office/drawing/2014/main" id="{9B1F4085-FDD9-6932-D30A-05F6E9DE0B53}"/>
              </a:ext>
            </a:extLst>
          </p:cNvPr>
          <p:cNvSpPr/>
          <p:nvPr/>
        </p:nvSpPr>
        <p:spPr>
          <a:xfrm>
            <a:off x="4523396" y="639377"/>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Avenir Next" panose="020B0503020202020204" pitchFamily="34" charset="0"/>
              </a:rPr>
              <a:t>friend</a:t>
            </a:r>
          </a:p>
        </p:txBody>
      </p:sp>
      <p:sp>
        <p:nvSpPr>
          <p:cNvPr id="15" name="Rounded Rectangle 14">
            <a:extLst>
              <a:ext uri="{FF2B5EF4-FFF2-40B4-BE49-F238E27FC236}">
                <a16:creationId xmlns:a16="http://schemas.microsoft.com/office/drawing/2014/main" id="{E639D20E-6091-70BD-8C37-753E165773BA}"/>
              </a:ext>
            </a:extLst>
          </p:cNvPr>
          <p:cNvSpPr/>
          <p:nvPr/>
        </p:nvSpPr>
        <p:spPr>
          <a:xfrm>
            <a:off x="4523395" y="-9242"/>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Avenir Next" panose="020B0503020202020204" pitchFamily="34" charset="0"/>
              </a:rPr>
              <a:t>best</a:t>
            </a:r>
          </a:p>
        </p:txBody>
      </p:sp>
      <p:sp>
        <p:nvSpPr>
          <p:cNvPr id="16" name="Rounded Rectangle 15">
            <a:extLst>
              <a:ext uri="{FF2B5EF4-FFF2-40B4-BE49-F238E27FC236}">
                <a16:creationId xmlns:a16="http://schemas.microsoft.com/office/drawing/2014/main" id="{1A413976-763D-A18A-6114-7E7F8D45C98B}"/>
              </a:ext>
            </a:extLst>
          </p:cNvPr>
          <p:cNvSpPr/>
          <p:nvPr/>
        </p:nvSpPr>
        <p:spPr>
          <a:xfrm>
            <a:off x="4523392" y="-659682"/>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Avenir Next" panose="020B0503020202020204" pitchFamily="34" charset="0"/>
              </a:rPr>
              <a:t>adopted</a:t>
            </a:r>
          </a:p>
        </p:txBody>
      </p:sp>
      <p:sp>
        <p:nvSpPr>
          <p:cNvPr id="17" name="Rounded Rectangle 16">
            <a:extLst>
              <a:ext uri="{FF2B5EF4-FFF2-40B4-BE49-F238E27FC236}">
                <a16:creationId xmlns:a16="http://schemas.microsoft.com/office/drawing/2014/main" id="{01F40B25-DE49-347D-D778-4AF8CDFC18B8}"/>
              </a:ext>
            </a:extLst>
          </p:cNvPr>
          <p:cNvSpPr/>
          <p:nvPr/>
        </p:nvSpPr>
        <p:spPr>
          <a:xfrm>
            <a:off x="4523394" y="3882472"/>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Avenir Next" panose="020B0503020202020204" pitchFamily="34" charset="0"/>
              </a:rPr>
              <a:t>family</a:t>
            </a:r>
          </a:p>
        </p:txBody>
      </p:sp>
      <p:sp>
        <p:nvSpPr>
          <p:cNvPr id="2" name="Rectangle 1">
            <a:extLst>
              <a:ext uri="{FF2B5EF4-FFF2-40B4-BE49-F238E27FC236}">
                <a16:creationId xmlns:a16="http://schemas.microsoft.com/office/drawing/2014/main" id="{5B6BA356-098F-34CC-B6E9-6D4AA6E3FED8}"/>
              </a:ext>
            </a:extLst>
          </p:cNvPr>
          <p:cNvSpPr/>
          <p:nvPr/>
        </p:nvSpPr>
        <p:spPr>
          <a:xfrm>
            <a:off x="1096502" y="2678749"/>
            <a:ext cx="1274567" cy="4189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1D1D1A"/>
                </a:solidFill>
                <a:latin typeface="Avenir Next" panose="020B0503020202020204" pitchFamily="34" charset="0"/>
              </a:rPr>
              <a:t> </a:t>
            </a:r>
            <a:r>
              <a:rPr lang="en-US" sz="1800" dirty="0">
                <a:solidFill>
                  <a:srgbClr val="00B050"/>
                </a:solidFill>
                <a:latin typeface="Avenir Next" panose="020B0503020202020204" pitchFamily="34" charset="0"/>
              </a:rPr>
              <a:t>sunshine</a:t>
            </a:r>
            <a:endParaRPr lang="en-US" dirty="0">
              <a:solidFill>
                <a:srgbClr val="00B050"/>
              </a:solidFill>
              <a:latin typeface="Avenir Next" panose="020B0503020202020204" pitchFamily="34" charset="0"/>
            </a:endParaRPr>
          </a:p>
        </p:txBody>
      </p:sp>
      <p:sp>
        <p:nvSpPr>
          <p:cNvPr id="6" name="Rounded Rectangle 5">
            <a:extLst>
              <a:ext uri="{FF2B5EF4-FFF2-40B4-BE49-F238E27FC236}">
                <a16:creationId xmlns:a16="http://schemas.microsoft.com/office/drawing/2014/main" id="{87EE0744-2820-9809-6265-2F87952ED1A5}"/>
              </a:ext>
            </a:extLst>
          </p:cNvPr>
          <p:cNvSpPr/>
          <p:nvPr/>
        </p:nvSpPr>
        <p:spPr>
          <a:xfrm>
            <a:off x="4523394" y="4532912"/>
            <a:ext cx="1386779" cy="549794"/>
          </a:xfrm>
          <a:prstGeom prst="roundRect">
            <a:avLst/>
          </a:prstGeom>
          <a:solidFill>
            <a:schemeClr val="bg1"/>
          </a:solidFill>
          <a:ln w="12700">
            <a:solidFill>
              <a:srgbClr val="CBD2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Avenir Next" panose="020B0503020202020204" pitchFamily="34" charset="0"/>
              </a:rPr>
              <a:t>anniversary</a:t>
            </a:r>
          </a:p>
        </p:txBody>
      </p:sp>
    </p:spTree>
    <p:extLst>
      <p:ext uri="{BB962C8B-B14F-4D97-AF65-F5344CB8AC3E}">
        <p14:creationId xmlns:p14="http://schemas.microsoft.com/office/powerpoint/2010/main" val="217413913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A7AEF3-6B12-F6F5-27FF-EB9D947E7D14}"/>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EB620262-7661-19B1-FC1D-60101C1F830F}"/>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sp>
        <p:nvSpPr>
          <p:cNvPr id="9" name="Google Shape;104;p21">
            <a:extLst>
              <a:ext uri="{FF2B5EF4-FFF2-40B4-BE49-F238E27FC236}">
                <a16:creationId xmlns:a16="http://schemas.microsoft.com/office/drawing/2014/main" id="{5B7BBD4C-2E7D-408D-3274-13D31E8C2515}"/>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en-US" b="1" dirty="0">
                <a:solidFill>
                  <a:srgbClr val="292E60"/>
                </a:solidFill>
              </a:rPr>
              <a:t>Brute Force</a:t>
            </a:r>
            <a:endParaRPr b="1" dirty="0">
              <a:solidFill>
                <a:srgbClr val="292E60"/>
              </a:solidFill>
            </a:endParaRPr>
          </a:p>
        </p:txBody>
      </p:sp>
      <p:pic>
        <p:nvPicPr>
          <p:cNvPr id="10" name="Google Shape;107;p21">
            <a:extLst>
              <a:ext uri="{FF2B5EF4-FFF2-40B4-BE49-F238E27FC236}">
                <a16:creationId xmlns:a16="http://schemas.microsoft.com/office/drawing/2014/main" id="{212DAB3C-EFC6-5C3A-DE37-9EFECF0737C1}"/>
              </a:ext>
            </a:extLst>
          </p:cNvPr>
          <p:cNvPicPr preferRelativeResize="0"/>
          <p:nvPr/>
        </p:nvPicPr>
        <p:blipFill>
          <a:blip r:embed="rId3">
            <a:alphaModFix/>
          </a:blip>
          <a:stretch>
            <a:fillRect/>
          </a:stretch>
        </p:blipFill>
        <p:spPr>
          <a:xfrm>
            <a:off x="2371067" y="878900"/>
            <a:ext cx="155800" cy="155800"/>
          </a:xfrm>
          <a:prstGeom prst="rect">
            <a:avLst/>
          </a:prstGeom>
          <a:noFill/>
          <a:ln>
            <a:noFill/>
          </a:ln>
        </p:spPr>
      </p:pic>
      <p:sp>
        <p:nvSpPr>
          <p:cNvPr id="4" name="TextBox 3">
            <a:extLst>
              <a:ext uri="{FF2B5EF4-FFF2-40B4-BE49-F238E27FC236}">
                <a16:creationId xmlns:a16="http://schemas.microsoft.com/office/drawing/2014/main" id="{1D1965B1-0E5E-86F1-0D42-217C1926DF68}"/>
              </a:ext>
            </a:extLst>
          </p:cNvPr>
          <p:cNvSpPr txBox="1"/>
          <p:nvPr/>
        </p:nvSpPr>
        <p:spPr>
          <a:xfrm>
            <a:off x="5132441" y="4667112"/>
            <a:ext cx="4011561" cy="307777"/>
          </a:xfrm>
          <a:prstGeom prst="rect">
            <a:avLst/>
          </a:prstGeom>
          <a:noFill/>
        </p:spPr>
        <p:txBody>
          <a:bodyPr wrap="square">
            <a:spAutoFit/>
          </a:bodyPr>
          <a:lstStyle/>
          <a:p>
            <a:pPr algn="ctr">
              <a:buNone/>
            </a:pPr>
            <a:r>
              <a:rPr lang="en-US" dirty="0">
                <a:latin typeface="Roboto-Light"/>
              </a:rPr>
              <a:t>Brute Force: Password Guessing (</a:t>
            </a:r>
            <a:r>
              <a:rPr lang="en-US" dirty="0"/>
              <a:t>T1110.001</a:t>
            </a:r>
            <a:r>
              <a:rPr lang="en-US" dirty="0">
                <a:latin typeface="Roboto-Light"/>
              </a:rPr>
              <a:t>)</a:t>
            </a:r>
            <a:endParaRPr lang="en-US" dirty="0"/>
          </a:p>
        </p:txBody>
      </p:sp>
      <p:grpSp>
        <p:nvGrpSpPr>
          <p:cNvPr id="6" name="Group 5">
            <a:extLst>
              <a:ext uri="{FF2B5EF4-FFF2-40B4-BE49-F238E27FC236}">
                <a16:creationId xmlns:a16="http://schemas.microsoft.com/office/drawing/2014/main" id="{431EF5E0-F7D4-C16B-ADFA-31712FC9DD3D}"/>
              </a:ext>
            </a:extLst>
          </p:cNvPr>
          <p:cNvGrpSpPr/>
          <p:nvPr/>
        </p:nvGrpSpPr>
        <p:grpSpPr>
          <a:xfrm>
            <a:off x="311700" y="1451602"/>
            <a:ext cx="8520600" cy="2726595"/>
            <a:chOff x="311700" y="1451600"/>
            <a:chExt cx="8520600" cy="2726595"/>
          </a:xfrm>
        </p:grpSpPr>
        <p:pic>
          <p:nvPicPr>
            <p:cNvPr id="14" name="Picture 13">
              <a:extLst>
                <a:ext uri="{FF2B5EF4-FFF2-40B4-BE49-F238E27FC236}">
                  <a16:creationId xmlns:a16="http://schemas.microsoft.com/office/drawing/2014/main" id="{B16836AA-1404-42F8-AB79-179177F32456}"/>
                </a:ext>
              </a:extLst>
            </p:cNvPr>
            <p:cNvPicPr>
              <a:picLocks noChangeAspect="1"/>
            </p:cNvPicPr>
            <p:nvPr/>
          </p:nvPicPr>
          <p:blipFill>
            <a:blip r:embed="rId4"/>
            <a:srcRect l="57436" t="54939" r="35091" b="36403"/>
            <a:stretch>
              <a:fillRect/>
            </a:stretch>
          </p:blipFill>
          <p:spPr>
            <a:xfrm>
              <a:off x="311700" y="1451600"/>
              <a:ext cx="8520600" cy="2726595"/>
            </a:xfrm>
            <a:prstGeom prst="roundRect">
              <a:avLst>
                <a:gd name="adj" fmla="val 3492"/>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contourClr>
                <a:srgbClr val="969696"/>
              </a:contourClr>
            </a:sp3d>
          </p:spPr>
        </p:pic>
        <p:pic>
          <p:nvPicPr>
            <p:cNvPr id="3" name="Picture 2">
              <a:extLst>
                <a:ext uri="{FF2B5EF4-FFF2-40B4-BE49-F238E27FC236}">
                  <a16:creationId xmlns:a16="http://schemas.microsoft.com/office/drawing/2014/main" id="{F89AB647-5AF0-7DB2-66A0-96343F98D727}"/>
                </a:ext>
              </a:extLst>
            </p:cNvPr>
            <p:cNvPicPr>
              <a:picLocks noChangeAspect="1"/>
            </p:cNvPicPr>
            <p:nvPr/>
          </p:nvPicPr>
          <p:blipFill>
            <a:blip r:embed="rId4"/>
            <a:srcRect t="54939" r="42506" b="36918"/>
            <a:stretch>
              <a:fillRect/>
            </a:stretch>
          </p:blipFill>
          <p:spPr>
            <a:xfrm>
              <a:off x="483741" y="1713850"/>
              <a:ext cx="8170141" cy="635877"/>
            </a:xfrm>
            <a:prstGeom prst="rect">
              <a:avLst/>
            </a:prstGeom>
          </p:spPr>
        </p:pic>
        <p:pic>
          <p:nvPicPr>
            <p:cNvPr id="11" name="Picture 10">
              <a:extLst>
                <a:ext uri="{FF2B5EF4-FFF2-40B4-BE49-F238E27FC236}">
                  <a16:creationId xmlns:a16="http://schemas.microsoft.com/office/drawing/2014/main" id="{1ADB8D08-8FD5-EA09-0233-3BD0C54281A6}"/>
                </a:ext>
              </a:extLst>
            </p:cNvPr>
            <p:cNvPicPr>
              <a:picLocks noChangeAspect="1"/>
            </p:cNvPicPr>
            <p:nvPr/>
          </p:nvPicPr>
          <p:blipFill>
            <a:blip r:embed="rId5"/>
            <a:srcRect t="63911" r="39964" b="28725"/>
            <a:stretch>
              <a:fillRect/>
            </a:stretch>
          </p:blipFill>
          <p:spPr>
            <a:xfrm>
              <a:off x="483742" y="2611978"/>
              <a:ext cx="8310754" cy="297389"/>
            </a:xfrm>
            <a:prstGeom prst="rect">
              <a:avLst/>
            </a:prstGeom>
          </p:spPr>
        </p:pic>
        <p:pic>
          <p:nvPicPr>
            <p:cNvPr id="13" name="Picture 12">
              <a:extLst>
                <a:ext uri="{FF2B5EF4-FFF2-40B4-BE49-F238E27FC236}">
                  <a16:creationId xmlns:a16="http://schemas.microsoft.com/office/drawing/2014/main" id="{8DA8260C-841F-5776-292B-46B0E3C4FB72}"/>
                </a:ext>
              </a:extLst>
            </p:cNvPr>
            <p:cNvPicPr>
              <a:picLocks noChangeAspect="1"/>
            </p:cNvPicPr>
            <p:nvPr/>
          </p:nvPicPr>
          <p:blipFill>
            <a:blip r:embed="rId4"/>
            <a:srcRect t="88615" r="40902" b="3352"/>
            <a:stretch>
              <a:fillRect/>
            </a:stretch>
          </p:blipFill>
          <p:spPr>
            <a:xfrm>
              <a:off x="483742" y="3112474"/>
              <a:ext cx="8170140" cy="610327"/>
            </a:xfrm>
            <a:prstGeom prst="rect">
              <a:avLst/>
            </a:prstGeom>
          </p:spPr>
        </p:pic>
        <p:pic>
          <p:nvPicPr>
            <p:cNvPr id="15" name="Picture 14">
              <a:extLst>
                <a:ext uri="{FF2B5EF4-FFF2-40B4-BE49-F238E27FC236}">
                  <a16:creationId xmlns:a16="http://schemas.microsoft.com/office/drawing/2014/main" id="{AA244179-4B1E-D455-7CF4-B605FDC3D6F1}"/>
                </a:ext>
              </a:extLst>
            </p:cNvPr>
            <p:cNvPicPr>
              <a:picLocks noChangeAspect="1"/>
            </p:cNvPicPr>
            <p:nvPr/>
          </p:nvPicPr>
          <p:blipFill>
            <a:blip r:embed="rId4"/>
            <a:srcRect l="57436" t="54939" r="41199" b="36403"/>
            <a:stretch>
              <a:fillRect/>
            </a:stretch>
          </p:blipFill>
          <p:spPr>
            <a:xfrm>
              <a:off x="8589470" y="3722801"/>
              <a:ext cx="205026" cy="294958"/>
            </a:xfrm>
            <a:prstGeom prst="rect">
              <a:avLst/>
            </a:prstGeom>
          </p:spPr>
        </p:pic>
        <p:pic>
          <p:nvPicPr>
            <p:cNvPr id="5" name="Picture 4">
              <a:extLst>
                <a:ext uri="{FF2B5EF4-FFF2-40B4-BE49-F238E27FC236}">
                  <a16:creationId xmlns:a16="http://schemas.microsoft.com/office/drawing/2014/main" id="{25DAF0AB-355D-2BD4-88EE-6673DBFF64CC}"/>
                </a:ext>
              </a:extLst>
            </p:cNvPr>
            <p:cNvPicPr>
              <a:picLocks noChangeAspect="1"/>
            </p:cNvPicPr>
            <p:nvPr/>
          </p:nvPicPr>
          <p:blipFill>
            <a:blip r:embed="rId4"/>
            <a:srcRect l="57436" t="54939" r="41199" b="36403"/>
            <a:stretch>
              <a:fillRect/>
            </a:stretch>
          </p:blipFill>
          <p:spPr>
            <a:xfrm>
              <a:off x="3864943" y="3883237"/>
              <a:ext cx="735632" cy="294958"/>
            </a:xfrm>
            <a:prstGeom prst="rect">
              <a:avLst/>
            </a:prstGeom>
          </p:spPr>
        </p:pic>
      </p:grpSp>
    </p:spTree>
    <p:extLst>
      <p:ext uri="{BB962C8B-B14F-4D97-AF65-F5344CB8AC3E}">
        <p14:creationId xmlns:p14="http://schemas.microsoft.com/office/powerpoint/2010/main" val="21300344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2BFBC045-B93F-78CD-E22F-74E7A221A752}"/>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75DCEF82-C4E3-CF84-8D59-CDC822C0C164}"/>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sp>
        <p:nvSpPr>
          <p:cNvPr id="9" name="Google Shape;104;p21">
            <a:extLst>
              <a:ext uri="{FF2B5EF4-FFF2-40B4-BE49-F238E27FC236}">
                <a16:creationId xmlns:a16="http://schemas.microsoft.com/office/drawing/2014/main" id="{6FB23397-DA6D-9AEC-F047-690C12F61749}"/>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en-US" b="1" dirty="0">
                <a:solidFill>
                  <a:srgbClr val="292E60"/>
                </a:solidFill>
              </a:rPr>
              <a:t>SQL Injection</a:t>
            </a:r>
            <a:endParaRPr b="1" dirty="0">
              <a:solidFill>
                <a:srgbClr val="292E60"/>
              </a:solidFill>
            </a:endParaRPr>
          </a:p>
        </p:txBody>
      </p:sp>
      <p:pic>
        <p:nvPicPr>
          <p:cNvPr id="10" name="Google Shape;107;p21">
            <a:extLst>
              <a:ext uri="{FF2B5EF4-FFF2-40B4-BE49-F238E27FC236}">
                <a16:creationId xmlns:a16="http://schemas.microsoft.com/office/drawing/2014/main" id="{6B68D1D2-E77C-7668-FBB9-6A3C0A58BE22}"/>
              </a:ext>
            </a:extLst>
          </p:cNvPr>
          <p:cNvPicPr preferRelativeResize="0"/>
          <p:nvPr/>
        </p:nvPicPr>
        <p:blipFill>
          <a:blip r:embed="rId3">
            <a:alphaModFix/>
          </a:blip>
          <a:stretch>
            <a:fillRect/>
          </a:stretch>
        </p:blipFill>
        <p:spPr>
          <a:xfrm>
            <a:off x="2646371" y="878900"/>
            <a:ext cx="155800" cy="155800"/>
          </a:xfrm>
          <a:prstGeom prst="rect">
            <a:avLst/>
          </a:prstGeom>
          <a:noFill/>
          <a:ln>
            <a:noFill/>
          </a:ln>
        </p:spPr>
      </p:pic>
      <p:grpSp>
        <p:nvGrpSpPr>
          <p:cNvPr id="6" name="Group 5">
            <a:extLst>
              <a:ext uri="{FF2B5EF4-FFF2-40B4-BE49-F238E27FC236}">
                <a16:creationId xmlns:a16="http://schemas.microsoft.com/office/drawing/2014/main" id="{BEFF99F3-28E2-3946-016B-882A0F7AB235}"/>
              </a:ext>
            </a:extLst>
          </p:cNvPr>
          <p:cNvGrpSpPr/>
          <p:nvPr/>
        </p:nvGrpSpPr>
        <p:grpSpPr>
          <a:xfrm>
            <a:off x="311700" y="1484357"/>
            <a:ext cx="8520600" cy="2174789"/>
            <a:chOff x="344652" y="1484355"/>
            <a:chExt cx="8520600" cy="2174789"/>
          </a:xfrm>
        </p:grpSpPr>
        <p:sp>
          <p:nvSpPr>
            <p:cNvPr id="5" name="Rounded Rectangle 4">
              <a:extLst>
                <a:ext uri="{FF2B5EF4-FFF2-40B4-BE49-F238E27FC236}">
                  <a16:creationId xmlns:a16="http://schemas.microsoft.com/office/drawing/2014/main" id="{53175412-43BA-C219-AC2E-F8C21965A7D5}"/>
                </a:ext>
              </a:extLst>
            </p:cNvPr>
            <p:cNvSpPr/>
            <p:nvPr/>
          </p:nvSpPr>
          <p:spPr>
            <a:xfrm>
              <a:off x="344652" y="1484355"/>
              <a:ext cx="8520600" cy="2174789"/>
            </a:xfrm>
            <a:prstGeom prst="roundRect">
              <a:avLst>
                <a:gd name="adj" fmla="val 4546"/>
              </a:avLst>
            </a:prstGeom>
            <a:solidFill>
              <a:srgbClr val="272A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5812F40E-C49D-4DAC-AC79-642E032D8B08}"/>
                </a:ext>
              </a:extLst>
            </p:cNvPr>
            <p:cNvPicPr>
              <a:picLocks noChangeAspect="1"/>
            </p:cNvPicPr>
            <p:nvPr/>
          </p:nvPicPr>
          <p:blipFill>
            <a:blip r:embed="rId4"/>
            <a:stretch>
              <a:fillRect/>
            </a:stretch>
          </p:blipFill>
          <p:spPr>
            <a:xfrm>
              <a:off x="547066" y="1846437"/>
              <a:ext cx="8144999" cy="1450626"/>
            </a:xfrm>
            <a:prstGeom prst="rect">
              <a:avLst/>
            </a:prstGeom>
            <a:solidFill>
              <a:srgbClr val="FFFFFF">
                <a:shade val="85000"/>
              </a:srgbClr>
            </a:solidFill>
            <a:ln w="88900" cap="sq">
              <a:noFill/>
              <a:miter lim="800000"/>
            </a:ln>
            <a:effectLst/>
            <a:scene3d>
              <a:camera prst="orthographicFront"/>
              <a:lightRig rig="twoPt" dir="t">
                <a:rot lat="0" lon="0" rev="7200000"/>
              </a:lightRig>
            </a:scene3d>
            <a:sp3d>
              <a:contourClr>
                <a:srgbClr val="FFFFFF"/>
              </a:contourClr>
            </a:sp3d>
          </p:spPr>
        </p:pic>
      </p:grpSp>
      <p:sp>
        <p:nvSpPr>
          <p:cNvPr id="2" name="TextBox 1">
            <a:extLst>
              <a:ext uri="{FF2B5EF4-FFF2-40B4-BE49-F238E27FC236}">
                <a16:creationId xmlns:a16="http://schemas.microsoft.com/office/drawing/2014/main" id="{64CB53EE-C628-8D94-4EB6-A4251EFF7FC4}"/>
              </a:ext>
            </a:extLst>
          </p:cNvPr>
          <p:cNvSpPr txBox="1"/>
          <p:nvPr/>
        </p:nvSpPr>
        <p:spPr>
          <a:xfrm>
            <a:off x="5622324" y="4667112"/>
            <a:ext cx="3521676" cy="307777"/>
          </a:xfrm>
          <a:prstGeom prst="rect">
            <a:avLst/>
          </a:prstGeom>
          <a:noFill/>
        </p:spPr>
        <p:txBody>
          <a:bodyPr wrap="square">
            <a:spAutoFit/>
          </a:bodyPr>
          <a:lstStyle/>
          <a:p>
            <a:r>
              <a:rPr lang="en-US" dirty="0">
                <a:solidFill>
                  <a:srgbClr val="1D1D1A"/>
                </a:solidFill>
                <a:latin typeface="Arial" panose="020B0604020202020204" pitchFamily="34" charset="0"/>
                <a:cs typeface="Arial" panose="020B0604020202020204" pitchFamily="34" charset="0"/>
              </a:rPr>
              <a:t>Exploit Public-Facing Application (</a:t>
            </a:r>
            <a:r>
              <a:rPr lang="en-US" dirty="0"/>
              <a:t>T0819</a:t>
            </a:r>
            <a:r>
              <a:rPr lang="en-US" dirty="0">
                <a:solidFill>
                  <a:srgbClr val="1D1D1A"/>
                </a:solidFill>
                <a:latin typeface="Arial" panose="020B0604020202020204" pitchFamily="34" charset="0"/>
                <a:cs typeface="Arial" panose="020B0604020202020204" pitchFamily="34" charset="0"/>
              </a:rPr>
              <a:t>)</a:t>
            </a:r>
          </a:p>
        </p:txBody>
      </p:sp>
      <p:sp>
        <p:nvSpPr>
          <p:cNvPr id="4" name="Rounded Rectangle 3">
            <a:extLst>
              <a:ext uri="{FF2B5EF4-FFF2-40B4-BE49-F238E27FC236}">
                <a16:creationId xmlns:a16="http://schemas.microsoft.com/office/drawing/2014/main" id="{DE79F365-E742-ADFC-3084-72C83ECC735A}"/>
              </a:ext>
            </a:extLst>
          </p:cNvPr>
          <p:cNvSpPr/>
          <p:nvPr/>
        </p:nvSpPr>
        <p:spPr>
          <a:xfrm>
            <a:off x="5217461" y="2268071"/>
            <a:ext cx="2658723" cy="1028992"/>
          </a:xfrm>
          <a:prstGeom prst="roundRect">
            <a:avLst/>
          </a:prstGeom>
          <a:noFill/>
          <a:ln>
            <a:solidFill>
              <a:srgbClr val="E619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Elbow Connector 11">
            <a:extLst>
              <a:ext uri="{FF2B5EF4-FFF2-40B4-BE49-F238E27FC236}">
                <a16:creationId xmlns:a16="http://schemas.microsoft.com/office/drawing/2014/main" id="{5ED41EE7-1FEF-8E6F-A0DF-21B0E24941A6}"/>
              </a:ext>
            </a:extLst>
          </p:cNvPr>
          <p:cNvCxnSpPr>
            <a:cxnSpLocks/>
          </p:cNvCxnSpPr>
          <p:nvPr/>
        </p:nvCxnSpPr>
        <p:spPr>
          <a:xfrm rot="5400000">
            <a:off x="5589086" y="3338692"/>
            <a:ext cx="990976" cy="924499"/>
          </a:xfrm>
          <a:prstGeom prst="bentConnector3">
            <a:avLst>
              <a:gd name="adj1" fmla="val 99928"/>
            </a:avLst>
          </a:prstGeom>
          <a:ln w="25400" cap="rnd">
            <a:solidFill>
              <a:srgbClr val="E6196C"/>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28B6BD1-0AA5-526D-EDD6-0A200CE41E4E}"/>
              </a:ext>
            </a:extLst>
          </p:cNvPr>
          <p:cNvSpPr txBox="1"/>
          <p:nvPr/>
        </p:nvSpPr>
        <p:spPr>
          <a:xfrm>
            <a:off x="3106058" y="4111762"/>
            <a:ext cx="2516267" cy="369332"/>
          </a:xfrm>
          <a:prstGeom prst="rect">
            <a:avLst/>
          </a:prstGeom>
          <a:noFill/>
          <a:ln w="28575">
            <a:solidFill>
              <a:srgbClr val="E6196C"/>
            </a:solidFill>
          </a:ln>
        </p:spPr>
        <p:txBody>
          <a:bodyPr wrap="square" rtlCol="0">
            <a:spAutoFit/>
          </a:bodyPr>
          <a:lstStyle/>
          <a:p>
            <a:pPr algn="ctr"/>
            <a:r>
              <a:rPr lang="en-US" sz="1800" dirty="0"/>
              <a:t>Unescaped User Input</a:t>
            </a:r>
          </a:p>
        </p:txBody>
      </p:sp>
    </p:spTree>
    <p:extLst>
      <p:ext uri="{BB962C8B-B14F-4D97-AF65-F5344CB8AC3E}">
        <p14:creationId xmlns:p14="http://schemas.microsoft.com/office/powerpoint/2010/main" val="2012926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50"/>
                                        <p:tgtEl>
                                          <p:spTgt spid="4"/>
                                        </p:tgtEl>
                                      </p:cBhvr>
                                    </p:animEffect>
                                  </p:childTnLst>
                                </p:cTn>
                              </p:par>
                            </p:childTnLst>
                          </p:cTn>
                        </p:par>
                        <p:par>
                          <p:cTn id="8" fill="hold">
                            <p:stCondLst>
                              <p:cond delay="250"/>
                            </p:stCondLst>
                            <p:childTnLst>
                              <p:par>
                                <p:cTn id="9" presetID="21" presetClass="entr" presetSubtype="1"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50"/>
                                        <p:tgtEl>
                                          <p:spTgt spid="12"/>
                                        </p:tgtEl>
                                      </p:cBhvr>
                                    </p:animEffect>
                                  </p:childTnLst>
                                </p:cTn>
                              </p:par>
                            </p:childTnLst>
                          </p:cTn>
                        </p:par>
                        <p:par>
                          <p:cTn id="12" fill="hold">
                            <p:stCondLst>
                              <p:cond delay="500"/>
                            </p:stCondLst>
                            <p:childTnLst>
                              <p:par>
                                <p:cTn id="13" presetID="1" presetClass="entr" presetSubtype="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E7282014-84AC-29E5-5A87-A7636E35B8A8}"/>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B819E665-1CB9-4188-AB84-98A92A532DE9}"/>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sp>
        <p:nvSpPr>
          <p:cNvPr id="9" name="Google Shape;104;p21">
            <a:extLst>
              <a:ext uri="{FF2B5EF4-FFF2-40B4-BE49-F238E27FC236}">
                <a16:creationId xmlns:a16="http://schemas.microsoft.com/office/drawing/2014/main" id="{14108658-C872-EFB2-2802-996EC7F79C26}"/>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en-US" b="1" dirty="0">
                <a:solidFill>
                  <a:srgbClr val="292E60"/>
                </a:solidFill>
              </a:rPr>
              <a:t>SQL Injection</a:t>
            </a:r>
            <a:endParaRPr b="1" dirty="0">
              <a:solidFill>
                <a:srgbClr val="292E60"/>
              </a:solidFill>
            </a:endParaRPr>
          </a:p>
        </p:txBody>
      </p:sp>
      <p:pic>
        <p:nvPicPr>
          <p:cNvPr id="10" name="Google Shape;107;p21">
            <a:extLst>
              <a:ext uri="{FF2B5EF4-FFF2-40B4-BE49-F238E27FC236}">
                <a16:creationId xmlns:a16="http://schemas.microsoft.com/office/drawing/2014/main" id="{6F7EACA8-4FA5-3A5F-5570-53FC2B003397}"/>
              </a:ext>
            </a:extLst>
          </p:cNvPr>
          <p:cNvPicPr preferRelativeResize="0"/>
          <p:nvPr/>
        </p:nvPicPr>
        <p:blipFill>
          <a:blip r:embed="rId3">
            <a:alphaModFix/>
          </a:blip>
          <a:stretch>
            <a:fillRect/>
          </a:stretch>
        </p:blipFill>
        <p:spPr>
          <a:xfrm>
            <a:off x="2646371" y="878900"/>
            <a:ext cx="155800" cy="155800"/>
          </a:xfrm>
          <a:prstGeom prst="rect">
            <a:avLst/>
          </a:prstGeom>
          <a:noFill/>
          <a:ln>
            <a:noFill/>
          </a:ln>
        </p:spPr>
      </p:pic>
      <p:pic>
        <p:nvPicPr>
          <p:cNvPr id="4" name="Picture 3">
            <a:extLst>
              <a:ext uri="{FF2B5EF4-FFF2-40B4-BE49-F238E27FC236}">
                <a16:creationId xmlns:a16="http://schemas.microsoft.com/office/drawing/2014/main" id="{618A673A-96BB-2B28-45D4-D56D0C542FA9}"/>
              </a:ext>
            </a:extLst>
          </p:cNvPr>
          <p:cNvPicPr>
            <a:picLocks noChangeAspect="1"/>
          </p:cNvPicPr>
          <p:nvPr/>
        </p:nvPicPr>
        <p:blipFill>
          <a:blip r:embed="rId4"/>
          <a:stretch>
            <a:fillRect/>
          </a:stretch>
        </p:blipFill>
        <p:spPr>
          <a:xfrm>
            <a:off x="2193002" y="2474324"/>
            <a:ext cx="4463847" cy="799495"/>
          </a:xfrm>
          <a:prstGeom prst="roundRect">
            <a:avLst>
              <a:gd name="adj" fmla="val 20983"/>
            </a:avLst>
          </a:prstGeom>
          <a:ln>
            <a:noFill/>
          </a:ln>
          <a:effectLst>
            <a:outerShdw blurRad="76200" dist="38100" dir="7800000" algn="tl" rotWithShape="0">
              <a:srgbClr val="000000">
                <a:alpha val="9807"/>
              </a:srgbClr>
            </a:outerShdw>
          </a:effectLst>
          <a:scene3d>
            <a:camera prst="orthographicFront"/>
            <a:lightRig rig="contrasting" dir="t">
              <a:rot lat="0" lon="0" rev="4200000"/>
            </a:lightRig>
          </a:scene3d>
          <a:sp3d prstMaterial="plastic">
            <a:contourClr>
              <a:srgbClr val="969696"/>
            </a:contourClr>
          </a:sp3d>
        </p:spPr>
      </p:pic>
      <p:pic>
        <p:nvPicPr>
          <p:cNvPr id="6" name="Picture 5">
            <a:extLst>
              <a:ext uri="{FF2B5EF4-FFF2-40B4-BE49-F238E27FC236}">
                <a16:creationId xmlns:a16="http://schemas.microsoft.com/office/drawing/2014/main" id="{ADBE9A30-CD4D-2920-40A4-64928AD56A1E}"/>
              </a:ext>
            </a:extLst>
          </p:cNvPr>
          <p:cNvPicPr>
            <a:picLocks noChangeAspect="1"/>
          </p:cNvPicPr>
          <p:nvPr/>
        </p:nvPicPr>
        <p:blipFill>
          <a:blip r:embed="rId5"/>
          <a:stretch>
            <a:fillRect/>
          </a:stretch>
        </p:blipFill>
        <p:spPr>
          <a:xfrm>
            <a:off x="2193001" y="1431476"/>
            <a:ext cx="4463845" cy="799495"/>
          </a:xfrm>
          <a:prstGeom prst="roundRect">
            <a:avLst>
              <a:gd name="adj" fmla="val 23651"/>
            </a:avLst>
          </a:prstGeom>
          <a:ln>
            <a:noFill/>
          </a:ln>
          <a:effectLst>
            <a:outerShdw blurRad="76200" dist="38100" dir="7800000" algn="tl" rotWithShape="0">
              <a:srgbClr val="000000">
                <a:alpha val="9807"/>
              </a:srgbClr>
            </a:outerShdw>
          </a:effectLst>
          <a:scene3d>
            <a:camera prst="orthographicFront"/>
            <a:lightRig rig="contrasting" dir="t">
              <a:rot lat="0" lon="0" rev="4200000"/>
            </a:lightRig>
          </a:scene3d>
          <a:sp3d prstMaterial="plastic">
            <a:contourClr>
              <a:srgbClr val="969696"/>
            </a:contourClr>
          </a:sp3d>
        </p:spPr>
      </p:pic>
      <p:pic>
        <p:nvPicPr>
          <p:cNvPr id="8" name="Picture 7">
            <a:extLst>
              <a:ext uri="{FF2B5EF4-FFF2-40B4-BE49-F238E27FC236}">
                <a16:creationId xmlns:a16="http://schemas.microsoft.com/office/drawing/2014/main" id="{249869FF-0949-289D-CD35-3E2A06A83C08}"/>
              </a:ext>
            </a:extLst>
          </p:cNvPr>
          <p:cNvPicPr>
            <a:picLocks noChangeAspect="1"/>
          </p:cNvPicPr>
          <p:nvPr/>
        </p:nvPicPr>
        <p:blipFill>
          <a:blip r:embed="rId6"/>
          <a:stretch>
            <a:fillRect/>
          </a:stretch>
        </p:blipFill>
        <p:spPr>
          <a:xfrm>
            <a:off x="2193002" y="3517170"/>
            <a:ext cx="4463845" cy="798794"/>
          </a:xfrm>
          <a:prstGeom prst="roundRect">
            <a:avLst>
              <a:gd name="adj" fmla="val 16667"/>
            </a:avLst>
          </a:prstGeom>
          <a:ln>
            <a:noFill/>
          </a:ln>
          <a:effectLst>
            <a:outerShdw blurRad="76200" dist="38100" dir="7800000" algn="tl" rotWithShape="0">
              <a:srgbClr val="000000">
                <a:alpha val="9807"/>
              </a:srgbClr>
            </a:outerShdw>
          </a:effectLst>
          <a:scene3d>
            <a:camera prst="orthographicFront"/>
            <a:lightRig rig="contrasting" dir="t">
              <a:rot lat="0" lon="0" rev="4200000"/>
            </a:lightRig>
          </a:scene3d>
          <a:sp3d prstMaterial="plastic">
            <a:contourClr>
              <a:srgbClr val="969696"/>
            </a:contourClr>
          </a:sp3d>
        </p:spPr>
      </p:pic>
    </p:spTree>
    <p:extLst>
      <p:ext uri="{BB962C8B-B14F-4D97-AF65-F5344CB8AC3E}">
        <p14:creationId xmlns:p14="http://schemas.microsoft.com/office/powerpoint/2010/main" val="3269545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1E348C3C-D6E3-020F-A516-EDEC5FDF3388}"/>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C97E088E-6E1C-E1BE-D4B1-0A2D99F2DE32}"/>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sp>
        <p:nvSpPr>
          <p:cNvPr id="9" name="Google Shape;104;p21">
            <a:extLst>
              <a:ext uri="{FF2B5EF4-FFF2-40B4-BE49-F238E27FC236}">
                <a16:creationId xmlns:a16="http://schemas.microsoft.com/office/drawing/2014/main" id="{0A525529-FCAF-926B-8AFD-95ECBC337291}"/>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en-US" b="1" dirty="0">
                <a:solidFill>
                  <a:srgbClr val="292E60"/>
                </a:solidFill>
              </a:rPr>
              <a:t>SQL Injection</a:t>
            </a:r>
            <a:endParaRPr b="1" dirty="0">
              <a:solidFill>
                <a:srgbClr val="292E60"/>
              </a:solidFill>
            </a:endParaRPr>
          </a:p>
        </p:txBody>
      </p:sp>
      <p:pic>
        <p:nvPicPr>
          <p:cNvPr id="10" name="Google Shape;107;p21">
            <a:extLst>
              <a:ext uri="{FF2B5EF4-FFF2-40B4-BE49-F238E27FC236}">
                <a16:creationId xmlns:a16="http://schemas.microsoft.com/office/drawing/2014/main" id="{240B0C53-B921-F8A7-D489-DD369435826B}"/>
              </a:ext>
            </a:extLst>
          </p:cNvPr>
          <p:cNvPicPr preferRelativeResize="0"/>
          <p:nvPr/>
        </p:nvPicPr>
        <p:blipFill>
          <a:blip r:embed="rId3">
            <a:alphaModFix/>
          </a:blip>
          <a:stretch>
            <a:fillRect/>
          </a:stretch>
        </p:blipFill>
        <p:spPr>
          <a:xfrm>
            <a:off x="2646371" y="878900"/>
            <a:ext cx="155800" cy="155800"/>
          </a:xfrm>
          <a:prstGeom prst="rect">
            <a:avLst/>
          </a:prstGeom>
          <a:noFill/>
          <a:ln>
            <a:noFill/>
          </a:ln>
        </p:spPr>
      </p:pic>
      <p:pic>
        <p:nvPicPr>
          <p:cNvPr id="4" name="Picture 3">
            <a:extLst>
              <a:ext uri="{FF2B5EF4-FFF2-40B4-BE49-F238E27FC236}">
                <a16:creationId xmlns:a16="http://schemas.microsoft.com/office/drawing/2014/main" id="{518FF1BE-9B6E-DD2D-C7E2-E5A26021FA6D}"/>
              </a:ext>
            </a:extLst>
          </p:cNvPr>
          <p:cNvPicPr>
            <a:picLocks noChangeAspect="1"/>
          </p:cNvPicPr>
          <p:nvPr/>
        </p:nvPicPr>
        <p:blipFill>
          <a:blip r:embed="rId4"/>
          <a:stretch>
            <a:fillRect/>
          </a:stretch>
        </p:blipFill>
        <p:spPr>
          <a:xfrm>
            <a:off x="616814" y="2569472"/>
            <a:ext cx="3375698" cy="604603"/>
          </a:xfrm>
          <a:prstGeom prst="roundRect">
            <a:avLst>
              <a:gd name="adj" fmla="val 20983"/>
            </a:avLst>
          </a:prstGeom>
          <a:ln>
            <a:noFill/>
          </a:ln>
          <a:effectLst>
            <a:outerShdw blurRad="76200" dist="38100" dir="7800000" algn="tl" rotWithShape="0">
              <a:srgbClr val="000000">
                <a:alpha val="9807"/>
              </a:srgbClr>
            </a:outerShdw>
          </a:effectLst>
          <a:scene3d>
            <a:camera prst="orthographicFront"/>
            <a:lightRig rig="contrasting" dir="t">
              <a:rot lat="0" lon="0" rev="4200000"/>
            </a:lightRig>
          </a:scene3d>
          <a:sp3d prstMaterial="plastic">
            <a:contourClr>
              <a:srgbClr val="969696"/>
            </a:contourClr>
          </a:sp3d>
        </p:spPr>
      </p:pic>
      <p:pic>
        <p:nvPicPr>
          <p:cNvPr id="6" name="Picture 5">
            <a:extLst>
              <a:ext uri="{FF2B5EF4-FFF2-40B4-BE49-F238E27FC236}">
                <a16:creationId xmlns:a16="http://schemas.microsoft.com/office/drawing/2014/main" id="{48374D34-506B-836A-A527-3EBB9B6F0DFE}"/>
              </a:ext>
            </a:extLst>
          </p:cNvPr>
          <p:cNvPicPr>
            <a:picLocks noChangeAspect="1"/>
          </p:cNvPicPr>
          <p:nvPr/>
        </p:nvPicPr>
        <p:blipFill>
          <a:blip r:embed="rId5"/>
          <a:stretch>
            <a:fillRect/>
          </a:stretch>
        </p:blipFill>
        <p:spPr>
          <a:xfrm>
            <a:off x="616813" y="1526624"/>
            <a:ext cx="3375696" cy="604603"/>
          </a:xfrm>
          <a:prstGeom prst="roundRect">
            <a:avLst>
              <a:gd name="adj" fmla="val 23651"/>
            </a:avLst>
          </a:prstGeom>
          <a:ln>
            <a:noFill/>
          </a:ln>
          <a:effectLst>
            <a:outerShdw blurRad="76200" dist="38100" dir="7800000" algn="tl" rotWithShape="0">
              <a:srgbClr val="000000">
                <a:alpha val="9807"/>
              </a:srgbClr>
            </a:outerShdw>
          </a:effectLst>
          <a:scene3d>
            <a:camera prst="orthographicFront"/>
            <a:lightRig rig="contrasting" dir="t">
              <a:rot lat="0" lon="0" rev="4200000"/>
            </a:lightRig>
          </a:scene3d>
          <a:sp3d prstMaterial="plastic">
            <a:contourClr>
              <a:srgbClr val="969696"/>
            </a:contourClr>
          </a:sp3d>
        </p:spPr>
      </p:pic>
      <p:pic>
        <p:nvPicPr>
          <p:cNvPr id="8" name="Picture 7">
            <a:extLst>
              <a:ext uri="{FF2B5EF4-FFF2-40B4-BE49-F238E27FC236}">
                <a16:creationId xmlns:a16="http://schemas.microsoft.com/office/drawing/2014/main" id="{2A135C09-77FF-27D6-6C5D-2A67D02FD88D}"/>
              </a:ext>
            </a:extLst>
          </p:cNvPr>
          <p:cNvPicPr>
            <a:picLocks noChangeAspect="1"/>
          </p:cNvPicPr>
          <p:nvPr/>
        </p:nvPicPr>
        <p:blipFill>
          <a:blip r:embed="rId6"/>
          <a:stretch>
            <a:fillRect/>
          </a:stretch>
        </p:blipFill>
        <p:spPr>
          <a:xfrm>
            <a:off x="616814" y="3612318"/>
            <a:ext cx="3375696" cy="604072"/>
          </a:xfrm>
          <a:prstGeom prst="roundRect">
            <a:avLst>
              <a:gd name="adj" fmla="val 16667"/>
            </a:avLst>
          </a:prstGeom>
          <a:ln>
            <a:noFill/>
          </a:ln>
          <a:effectLst>
            <a:outerShdw blurRad="76200" dist="38100" dir="7800000" algn="tl" rotWithShape="0">
              <a:srgbClr val="000000">
                <a:alpha val="9807"/>
              </a:srgbClr>
            </a:outerShdw>
          </a:effectLst>
          <a:scene3d>
            <a:camera prst="orthographicFront"/>
            <a:lightRig rig="contrasting" dir="t">
              <a:rot lat="0" lon="0" rev="4200000"/>
            </a:lightRig>
          </a:scene3d>
          <a:sp3d prstMaterial="plastic">
            <a:contourClr>
              <a:srgbClr val="969696"/>
            </a:contourClr>
          </a:sp3d>
        </p:spPr>
      </p:pic>
      <p:sp>
        <p:nvSpPr>
          <p:cNvPr id="2" name="TextBox 1">
            <a:extLst>
              <a:ext uri="{FF2B5EF4-FFF2-40B4-BE49-F238E27FC236}">
                <a16:creationId xmlns:a16="http://schemas.microsoft.com/office/drawing/2014/main" id="{E4CD8E92-EFAC-B752-3CDB-96A8B2980077}"/>
              </a:ext>
            </a:extLst>
          </p:cNvPr>
          <p:cNvSpPr txBox="1"/>
          <p:nvPr/>
        </p:nvSpPr>
        <p:spPr>
          <a:xfrm>
            <a:off x="4572002" y="858633"/>
            <a:ext cx="3646983" cy="369332"/>
          </a:xfrm>
          <a:prstGeom prst="rect">
            <a:avLst/>
          </a:prstGeom>
          <a:noFill/>
        </p:spPr>
        <p:txBody>
          <a:bodyPr wrap="square" rtlCol="0">
            <a:spAutoFit/>
          </a:bodyPr>
          <a:lstStyle/>
          <a:p>
            <a:pPr algn="ctr"/>
            <a:r>
              <a:rPr lang="en-US" sz="1800" b="1" dirty="0">
                <a:solidFill>
                  <a:srgbClr val="00B050"/>
                </a:solidFill>
              </a:rPr>
              <a:t>SELECT</a:t>
            </a:r>
            <a:r>
              <a:rPr lang="en-US" sz="1800" b="1" dirty="0"/>
              <a:t> * </a:t>
            </a:r>
            <a:r>
              <a:rPr lang="en-US" sz="1800" b="1" dirty="0">
                <a:solidFill>
                  <a:srgbClr val="00B050"/>
                </a:solidFill>
              </a:rPr>
              <a:t>FROM</a:t>
            </a:r>
            <a:r>
              <a:rPr lang="en-US" sz="1800" b="1" dirty="0"/>
              <a:t> users </a:t>
            </a:r>
            <a:r>
              <a:rPr lang="en-US" sz="1800" b="1" dirty="0">
                <a:solidFill>
                  <a:srgbClr val="00B050"/>
                </a:solidFill>
              </a:rPr>
              <a:t>WHERE</a:t>
            </a:r>
          </a:p>
        </p:txBody>
      </p:sp>
      <p:sp>
        <p:nvSpPr>
          <p:cNvPr id="3" name="TextBox 2">
            <a:extLst>
              <a:ext uri="{FF2B5EF4-FFF2-40B4-BE49-F238E27FC236}">
                <a16:creationId xmlns:a16="http://schemas.microsoft.com/office/drawing/2014/main" id="{ED43605A-EFCB-6A2F-79A2-83DB5B321381}"/>
              </a:ext>
            </a:extLst>
          </p:cNvPr>
          <p:cNvSpPr txBox="1"/>
          <p:nvPr/>
        </p:nvSpPr>
        <p:spPr>
          <a:xfrm>
            <a:off x="4572000" y="1505759"/>
            <a:ext cx="3646983" cy="646331"/>
          </a:xfrm>
          <a:prstGeom prst="rect">
            <a:avLst/>
          </a:prstGeom>
          <a:noFill/>
        </p:spPr>
        <p:txBody>
          <a:bodyPr wrap="square" rtlCol="0">
            <a:spAutoFit/>
          </a:bodyPr>
          <a:lstStyle/>
          <a:p>
            <a:pPr algn="ctr"/>
            <a:r>
              <a:rPr lang="en-US" sz="1800" b="1" dirty="0">
                <a:solidFill>
                  <a:srgbClr val="00B050"/>
                </a:solidFill>
              </a:rPr>
              <a:t>username </a:t>
            </a:r>
            <a:r>
              <a:rPr lang="en-US" sz="1800" b="1" dirty="0">
                <a:solidFill>
                  <a:schemeClr val="tx1"/>
                </a:solidFill>
              </a:rPr>
              <a:t>= </a:t>
            </a:r>
            <a:r>
              <a:rPr lang="en-US" sz="1800" dirty="0"/>
              <a:t>'</a:t>
            </a:r>
            <a:r>
              <a:rPr lang="en-US" sz="1800" b="1" dirty="0" err="1">
                <a:solidFill>
                  <a:srgbClr val="FF0000"/>
                </a:solidFill>
              </a:rPr>
              <a:t>marq</a:t>
            </a:r>
            <a:r>
              <a:rPr lang="en-US" sz="1800" dirty="0"/>
              <a:t>'-- </a:t>
            </a:r>
          </a:p>
          <a:p>
            <a:pPr algn="ctr"/>
            <a:r>
              <a:rPr lang="en-US" sz="1800" b="1" dirty="0">
                <a:solidFill>
                  <a:srgbClr val="00B050"/>
                </a:solidFill>
              </a:rPr>
              <a:t> </a:t>
            </a:r>
            <a:r>
              <a:rPr lang="en-US" sz="1800" dirty="0">
                <a:solidFill>
                  <a:schemeClr val="accent3">
                    <a:lumMod val="60000"/>
                    <a:lumOff val="40000"/>
                  </a:schemeClr>
                </a:solidFill>
              </a:rPr>
              <a:t>' </a:t>
            </a:r>
            <a:r>
              <a:rPr lang="en-US" sz="1800" b="1" dirty="0">
                <a:solidFill>
                  <a:schemeClr val="accent3">
                    <a:lumMod val="60000"/>
                    <a:lumOff val="40000"/>
                  </a:schemeClr>
                </a:solidFill>
              </a:rPr>
              <a:t>AND password = HASH()</a:t>
            </a:r>
          </a:p>
        </p:txBody>
      </p:sp>
      <p:sp>
        <p:nvSpPr>
          <p:cNvPr id="5" name="TextBox 4">
            <a:extLst>
              <a:ext uri="{FF2B5EF4-FFF2-40B4-BE49-F238E27FC236}">
                <a16:creationId xmlns:a16="http://schemas.microsoft.com/office/drawing/2014/main" id="{60796E81-8832-86FD-A00B-AD611F8A60A5}"/>
              </a:ext>
            </a:extLst>
          </p:cNvPr>
          <p:cNvSpPr txBox="1"/>
          <p:nvPr/>
        </p:nvSpPr>
        <p:spPr>
          <a:xfrm>
            <a:off x="4572001" y="2547960"/>
            <a:ext cx="3646983" cy="646331"/>
          </a:xfrm>
          <a:prstGeom prst="rect">
            <a:avLst/>
          </a:prstGeom>
          <a:noFill/>
        </p:spPr>
        <p:txBody>
          <a:bodyPr wrap="square" rtlCol="0">
            <a:spAutoFit/>
          </a:bodyPr>
          <a:lstStyle/>
          <a:p>
            <a:pPr algn="ctr"/>
            <a:r>
              <a:rPr lang="en-US" sz="1800" b="1" dirty="0">
                <a:solidFill>
                  <a:srgbClr val="00B050"/>
                </a:solidFill>
              </a:rPr>
              <a:t>username </a:t>
            </a:r>
            <a:r>
              <a:rPr lang="en-US" sz="1800" b="1" dirty="0">
                <a:solidFill>
                  <a:schemeClr val="tx1"/>
                </a:solidFill>
              </a:rPr>
              <a:t>= </a:t>
            </a:r>
            <a:r>
              <a:rPr lang="en-US" sz="1800" dirty="0"/>
              <a:t>'</a:t>
            </a:r>
            <a:r>
              <a:rPr lang="en-US" sz="1800" b="1" dirty="0" err="1">
                <a:solidFill>
                  <a:srgbClr val="FF0000"/>
                </a:solidFill>
              </a:rPr>
              <a:t>marq</a:t>
            </a:r>
            <a:r>
              <a:rPr lang="en-US" sz="1800" dirty="0"/>
              <a:t>'</a:t>
            </a:r>
            <a:r>
              <a:rPr lang="en-US" sz="1800" b="1" dirty="0">
                <a:solidFill>
                  <a:schemeClr val="tx1"/>
                </a:solidFill>
              </a:rPr>
              <a:t>#</a:t>
            </a:r>
          </a:p>
          <a:p>
            <a:pPr algn="ctr"/>
            <a:r>
              <a:rPr lang="en-US" sz="1800" dirty="0">
                <a:solidFill>
                  <a:schemeClr val="accent3">
                    <a:lumMod val="60000"/>
                    <a:lumOff val="40000"/>
                  </a:schemeClr>
                </a:solidFill>
              </a:rPr>
              <a:t>' </a:t>
            </a:r>
            <a:r>
              <a:rPr lang="en-US" sz="1800" b="1" dirty="0">
                <a:solidFill>
                  <a:schemeClr val="accent3">
                    <a:lumMod val="60000"/>
                    <a:lumOff val="40000"/>
                  </a:schemeClr>
                </a:solidFill>
              </a:rPr>
              <a:t>AND password = HASH()</a:t>
            </a:r>
            <a:r>
              <a:rPr lang="en-US" sz="1800" b="1" dirty="0">
                <a:solidFill>
                  <a:srgbClr val="00B050"/>
                </a:solidFill>
              </a:rPr>
              <a:t> </a:t>
            </a:r>
          </a:p>
        </p:txBody>
      </p:sp>
      <p:sp>
        <p:nvSpPr>
          <p:cNvPr id="7" name="TextBox 6">
            <a:extLst>
              <a:ext uri="{FF2B5EF4-FFF2-40B4-BE49-F238E27FC236}">
                <a16:creationId xmlns:a16="http://schemas.microsoft.com/office/drawing/2014/main" id="{9CD20E3E-5AF4-1EB4-23C6-68D7EC196D13}"/>
              </a:ext>
            </a:extLst>
          </p:cNvPr>
          <p:cNvSpPr txBox="1"/>
          <p:nvPr/>
        </p:nvSpPr>
        <p:spPr>
          <a:xfrm>
            <a:off x="4572001" y="3595359"/>
            <a:ext cx="3646983" cy="646331"/>
          </a:xfrm>
          <a:prstGeom prst="rect">
            <a:avLst/>
          </a:prstGeom>
          <a:noFill/>
        </p:spPr>
        <p:txBody>
          <a:bodyPr wrap="square" rtlCol="0">
            <a:spAutoFit/>
          </a:bodyPr>
          <a:lstStyle/>
          <a:p>
            <a:pPr algn="ctr"/>
            <a:r>
              <a:rPr lang="en-US" sz="1800" b="1" dirty="0">
                <a:solidFill>
                  <a:srgbClr val="00B050"/>
                </a:solidFill>
              </a:rPr>
              <a:t>username </a:t>
            </a:r>
            <a:r>
              <a:rPr lang="en-US" sz="1800" b="1" dirty="0">
                <a:solidFill>
                  <a:schemeClr val="tx1"/>
                </a:solidFill>
              </a:rPr>
              <a:t>= </a:t>
            </a:r>
            <a:r>
              <a:rPr lang="en-US" sz="1800" dirty="0"/>
              <a:t>'</a:t>
            </a:r>
            <a:r>
              <a:rPr lang="en-US" sz="1800" b="1" dirty="0" err="1">
                <a:solidFill>
                  <a:srgbClr val="FF0000"/>
                </a:solidFill>
              </a:rPr>
              <a:t>marq</a:t>
            </a:r>
            <a:r>
              <a:rPr lang="en-US" sz="1800" dirty="0"/>
              <a:t>' </a:t>
            </a:r>
            <a:r>
              <a:rPr lang="en-US" sz="1800" b="1" dirty="0">
                <a:solidFill>
                  <a:schemeClr val="tx1"/>
                </a:solidFill>
              </a:rPr>
              <a:t>OR</a:t>
            </a:r>
            <a:r>
              <a:rPr lang="en-US" sz="1800" b="1" dirty="0">
                <a:solidFill>
                  <a:srgbClr val="00B050"/>
                </a:solidFill>
              </a:rPr>
              <a:t> </a:t>
            </a:r>
            <a:r>
              <a:rPr lang="en-US" sz="1800" dirty="0"/>
              <a:t>'</a:t>
            </a:r>
            <a:r>
              <a:rPr lang="en-US" sz="1800" b="1" dirty="0">
                <a:solidFill>
                  <a:srgbClr val="FF0000"/>
                </a:solidFill>
              </a:rPr>
              <a:t>1</a:t>
            </a:r>
            <a:r>
              <a:rPr lang="en-US" sz="1800" dirty="0"/>
              <a:t>' = '</a:t>
            </a:r>
            <a:r>
              <a:rPr lang="en-US" sz="1800" b="1" dirty="0">
                <a:solidFill>
                  <a:srgbClr val="FF0000"/>
                </a:solidFill>
              </a:rPr>
              <a:t>1</a:t>
            </a:r>
            <a:r>
              <a:rPr lang="en-US" sz="1800" dirty="0"/>
              <a:t>'</a:t>
            </a:r>
          </a:p>
          <a:p>
            <a:pPr algn="ctr"/>
            <a:r>
              <a:rPr lang="en-US" sz="1800" b="1" dirty="0">
                <a:solidFill>
                  <a:schemeClr val="tx1"/>
                </a:solidFill>
              </a:rPr>
              <a:t>AND</a:t>
            </a:r>
            <a:r>
              <a:rPr lang="en-US" sz="1800" b="1" dirty="0">
                <a:solidFill>
                  <a:srgbClr val="00B050"/>
                </a:solidFill>
              </a:rPr>
              <a:t> password </a:t>
            </a:r>
            <a:r>
              <a:rPr lang="en-US" sz="1800" b="1" dirty="0">
                <a:solidFill>
                  <a:schemeClr val="tx1"/>
                </a:solidFill>
              </a:rPr>
              <a:t>=</a:t>
            </a:r>
            <a:r>
              <a:rPr lang="en-US" sz="1800" b="1" dirty="0">
                <a:solidFill>
                  <a:srgbClr val="00B050"/>
                </a:solidFill>
              </a:rPr>
              <a:t> </a:t>
            </a:r>
            <a:r>
              <a:rPr lang="en-US" sz="1800" b="1" dirty="0">
                <a:solidFill>
                  <a:srgbClr val="FF0000"/>
                </a:solidFill>
              </a:rPr>
              <a:t>HASH()</a:t>
            </a:r>
            <a:r>
              <a:rPr lang="en-US" sz="1800" b="1" dirty="0">
                <a:solidFill>
                  <a:srgbClr val="00B050"/>
                </a:solidFill>
              </a:rPr>
              <a:t> </a:t>
            </a:r>
            <a:r>
              <a:rPr lang="en-US" sz="1800" b="1" dirty="0">
                <a:solidFill>
                  <a:schemeClr val="tx1"/>
                </a:solidFill>
              </a:rPr>
              <a:t> </a:t>
            </a:r>
            <a:r>
              <a:rPr lang="en-US" sz="1800" b="1" dirty="0">
                <a:solidFill>
                  <a:srgbClr val="00B050"/>
                </a:solidFill>
              </a:rPr>
              <a:t> </a:t>
            </a:r>
          </a:p>
        </p:txBody>
      </p:sp>
      <p:cxnSp>
        <p:nvCxnSpPr>
          <p:cNvPr id="12" name="Straight Connector 11">
            <a:extLst>
              <a:ext uri="{FF2B5EF4-FFF2-40B4-BE49-F238E27FC236}">
                <a16:creationId xmlns:a16="http://schemas.microsoft.com/office/drawing/2014/main" id="{5AA25FF9-4BFE-5EA9-5F91-CC7C8FEA2E8F}"/>
              </a:ext>
            </a:extLst>
          </p:cNvPr>
          <p:cNvCxnSpPr/>
          <p:nvPr/>
        </p:nvCxnSpPr>
        <p:spPr>
          <a:xfrm>
            <a:off x="223935" y="2316767"/>
            <a:ext cx="8509518" cy="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B5AD674A-FB71-5B50-CB8F-83CDF562D3D0}"/>
              </a:ext>
            </a:extLst>
          </p:cNvPr>
          <p:cNvCxnSpPr/>
          <p:nvPr/>
        </p:nvCxnSpPr>
        <p:spPr>
          <a:xfrm>
            <a:off x="223935" y="3439551"/>
            <a:ext cx="8509518" cy="0"/>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F519464F-09C9-1C1E-B111-33DC92F652AF}"/>
              </a:ext>
            </a:extLst>
          </p:cNvPr>
          <p:cNvCxnSpPr>
            <a:cxnSpLocks/>
          </p:cNvCxnSpPr>
          <p:nvPr/>
        </p:nvCxnSpPr>
        <p:spPr>
          <a:xfrm>
            <a:off x="4385389" y="1374375"/>
            <a:ext cx="0" cy="3023118"/>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32117922-82F0-EB55-1980-6D690A336F58}"/>
              </a:ext>
            </a:extLst>
          </p:cNvPr>
          <p:cNvCxnSpPr/>
          <p:nvPr/>
        </p:nvCxnSpPr>
        <p:spPr>
          <a:xfrm>
            <a:off x="223935" y="1374375"/>
            <a:ext cx="8509518" cy="0"/>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C0F0485-D14A-AEAA-6D4B-326B4EA7C183}"/>
              </a:ext>
            </a:extLst>
          </p:cNvPr>
          <p:cNvCxnSpPr/>
          <p:nvPr/>
        </p:nvCxnSpPr>
        <p:spPr>
          <a:xfrm>
            <a:off x="223935" y="4397493"/>
            <a:ext cx="8509518"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8476967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28116D96-1705-DDD8-F68D-346B888C043B}"/>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A2742927-59A8-5102-545D-8DC825AFDC00}"/>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sp>
        <p:nvSpPr>
          <p:cNvPr id="9" name="Google Shape;104;p21">
            <a:extLst>
              <a:ext uri="{FF2B5EF4-FFF2-40B4-BE49-F238E27FC236}">
                <a16:creationId xmlns:a16="http://schemas.microsoft.com/office/drawing/2014/main" id="{FCE1F0FE-73B7-0F42-859F-92D1B68FAC33}"/>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en-US" b="1" dirty="0">
                <a:solidFill>
                  <a:srgbClr val="292E60"/>
                </a:solidFill>
              </a:rPr>
              <a:t>Command Injection</a:t>
            </a:r>
            <a:endParaRPr b="1" dirty="0">
              <a:solidFill>
                <a:srgbClr val="292E60"/>
              </a:solidFill>
            </a:endParaRPr>
          </a:p>
        </p:txBody>
      </p:sp>
      <p:pic>
        <p:nvPicPr>
          <p:cNvPr id="10" name="Google Shape;107;p21">
            <a:extLst>
              <a:ext uri="{FF2B5EF4-FFF2-40B4-BE49-F238E27FC236}">
                <a16:creationId xmlns:a16="http://schemas.microsoft.com/office/drawing/2014/main" id="{6772A03F-968F-15AA-62DB-4B7B9332E0B4}"/>
              </a:ext>
            </a:extLst>
          </p:cNvPr>
          <p:cNvPicPr preferRelativeResize="0"/>
          <p:nvPr/>
        </p:nvPicPr>
        <p:blipFill>
          <a:blip r:embed="rId3">
            <a:alphaModFix/>
          </a:blip>
          <a:stretch>
            <a:fillRect/>
          </a:stretch>
        </p:blipFill>
        <p:spPr>
          <a:xfrm>
            <a:off x="3694585" y="878900"/>
            <a:ext cx="155800" cy="155800"/>
          </a:xfrm>
          <a:prstGeom prst="rect">
            <a:avLst/>
          </a:prstGeom>
          <a:noFill/>
          <a:ln>
            <a:noFill/>
          </a:ln>
        </p:spPr>
      </p:pic>
      <p:grpSp>
        <p:nvGrpSpPr>
          <p:cNvPr id="12" name="Group 11">
            <a:extLst>
              <a:ext uri="{FF2B5EF4-FFF2-40B4-BE49-F238E27FC236}">
                <a16:creationId xmlns:a16="http://schemas.microsoft.com/office/drawing/2014/main" id="{7147148B-A64B-3E75-0B78-F3057FD64226}"/>
              </a:ext>
            </a:extLst>
          </p:cNvPr>
          <p:cNvGrpSpPr/>
          <p:nvPr/>
        </p:nvGrpSpPr>
        <p:grpSpPr>
          <a:xfrm>
            <a:off x="311700" y="3386372"/>
            <a:ext cx="8598654" cy="935151"/>
            <a:chOff x="311700" y="3495699"/>
            <a:chExt cx="8598654" cy="935151"/>
          </a:xfrm>
        </p:grpSpPr>
        <p:sp>
          <p:nvSpPr>
            <p:cNvPr id="11" name="Rounded Rectangle 10">
              <a:extLst>
                <a:ext uri="{FF2B5EF4-FFF2-40B4-BE49-F238E27FC236}">
                  <a16:creationId xmlns:a16="http://schemas.microsoft.com/office/drawing/2014/main" id="{C4B69626-6E09-DFC3-86B5-2B103A306E43}"/>
                </a:ext>
              </a:extLst>
            </p:cNvPr>
            <p:cNvSpPr/>
            <p:nvPr/>
          </p:nvSpPr>
          <p:spPr>
            <a:xfrm>
              <a:off x="311700" y="3495699"/>
              <a:ext cx="8598654" cy="935151"/>
            </a:xfrm>
            <a:prstGeom prst="roundRect">
              <a:avLst>
                <a:gd name="adj" fmla="val 9094"/>
              </a:avLst>
            </a:prstGeom>
            <a:solidFill>
              <a:srgbClr val="2225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0DE3EE7C-C9BB-B217-56B1-71CD39B8B4B2}"/>
                </a:ext>
              </a:extLst>
            </p:cNvPr>
            <p:cNvPicPr>
              <a:picLocks noChangeAspect="1"/>
            </p:cNvPicPr>
            <p:nvPr/>
          </p:nvPicPr>
          <p:blipFill>
            <a:blip r:embed="rId4"/>
            <a:srcRect l="9061" t="33086" r="38782" b="45968"/>
            <a:stretch>
              <a:fillRect/>
            </a:stretch>
          </p:blipFill>
          <p:spPr>
            <a:xfrm>
              <a:off x="389754" y="3610185"/>
              <a:ext cx="8364491" cy="711784"/>
            </a:xfrm>
            <a:prstGeom prst="rect">
              <a:avLst/>
            </a:prstGeom>
            <a:noFill/>
            <a:ln w="88900" cap="sq">
              <a:noFill/>
              <a:miter lim="800000"/>
            </a:ln>
            <a:effectLst>
              <a:outerShdw blurRad="55000" dist="18000" dir="5400000" algn="tl" rotWithShape="0">
                <a:srgbClr val="000000">
                  <a:alpha val="0"/>
                </a:srgbClr>
              </a:outerShdw>
            </a:effectLst>
          </p:spPr>
        </p:pic>
      </p:grpSp>
      <p:pic>
        <p:nvPicPr>
          <p:cNvPr id="6" name="Picture 5">
            <a:extLst>
              <a:ext uri="{FF2B5EF4-FFF2-40B4-BE49-F238E27FC236}">
                <a16:creationId xmlns:a16="http://schemas.microsoft.com/office/drawing/2014/main" id="{40EDBB63-FE7F-D0EE-F7D6-DC9882CBF315}"/>
              </a:ext>
            </a:extLst>
          </p:cNvPr>
          <p:cNvPicPr>
            <a:picLocks noChangeAspect="1"/>
          </p:cNvPicPr>
          <p:nvPr/>
        </p:nvPicPr>
        <p:blipFill>
          <a:blip r:embed="rId5"/>
          <a:srcRect l="40176" t="80587" r="40130" b="1273"/>
          <a:stretch>
            <a:fillRect/>
          </a:stretch>
        </p:blipFill>
        <p:spPr>
          <a:xfrm>
            <a:off x="1281695" y="1262261"/>
            <a:ext cx="3772325" cy="1896551"/>
          </a:xfrm>
          <a:prstGeom prst="roundRect">
            <a:avLst>
              <a:gd name="adj" fmla="val 5297"/>
            </a:avLst>
          </a:prstGeom>
          <a:ln>
            <a:noFill/>
          </a:ln>
          <a:effectLst>
            <a:outerShdw blurRad="76200" dist="38100" dir="7800000" algn="tl" rotWithShape="0">
              <a:srgbClr val="000000">
                <a:alpha val="15000"/>
              </a:srgbClr>
            </a:outerShdw>
          </a:effectLst>
          <a:scene3d>
            <a:camera prst="orthographicFront"/>
            <a:lightRig rig="contrasting" dir="t">
              <a:rot lat="0" lon="0" rev="4200000"/>
            </a:lightRig>
          </a:scene3d>
          <a:sp3d prstMaterial="plastic">
            <a:contourClr>
              <a:srgbClr val="969696"/>
            </a:contourClr>
          </a:sp3d>
        </p:spPr>
      </p:pic>
      <p:sp>
        <p:nvSpPr>
          <p:cNvPr id="8" name="TextBox 7">
            <a:extLst>
              <a:ext uri="{FF2B5EF4-FFF2-40B4-BE49-F238E27FC236}">
                <a16:creationId xmlns:a16="http://schemas.microsoft.com/office/drawing/2014/main" id="{7E263FB3-9C69-4E42-C226-887DACA5B38C}"/>
              </a:ext>
            </a:extLst>
          </p:cNvPr>
          <p:cNvSpPr txBox="1"/>
          <p:nvPr/>
        </p:nvSpPr>
        <p:spPr>
          <a:xfrm>
            <a:off x="4081817" y="4497130"/>
            <a:ext cx="5029200" cy="523220"/>
          </a:xfrm>
          <a:prstGeom prst="rect">
            <a:avLst/>
          </a:prstGeom>
          <a:noFill/>
        </p:spPr>
        <p:txBody>
          <a:bodyPr wrap="square">
            <a:spAutoFit/>
          </a:bodyPr>
          <a:lstStyle/>
          <a:p>
            <a:pPr algn="r"/>
            <a:r>
              <a:rPr lang="en-US" dirty="0">
                <a:solidFill>
                  <a:srgbClr val="1D1D1A"/>
                </a:solidFill>
                <a:latin typeface="Arial" panose="020B0604020202020204" pitchFamily="34" charset="0"/>
                <a:cs typeface="Arial" panose="020B0604020202020204" pitchFamily="34" charset="0"/>
              </a:rPr>
              <a:t>Exploit Public-Facing Application (</a:t>
            </a:r>
            <a:r>
              <a:rPr lang="en-US" dirty="0"/>
              <a:t>T0819</a:t>
            </a:r>
            <a:r>
              <a:rPr lang="en-US" dirty="0">
                <a:solidFill>
                  <a:srgbClr val="1D1D1A"/>
                </a:solidFill>
                <a:latin typeface="Arial" panose="020B0604020202020204" pitchFamily="34" charset="0"/>
                <a:cs typeface="Arial" panose="020B0604020202020204" pitchFamily="34" charset="0"/>
              </a:rPr>
              <a:t>)</a:t>
            </a:r>
          </a:p>
          <a:p>
            <a:pPr algn="r"/>
            <a:r>
              <a:rPr lang="en-US" dirty="0"/>
              <a:t>Command and Scripting Interpreter: Unix Shell (T1059.004)</a:t>
            </a:r>
          </a:p>
        </p:txBody>
      </p:sp>
      <p:sp>
        <p:nvSpPr>
          <p:cNvPr id="16" name="TextBox 15">
            <a:extLst>
              <a:ext uri="{FF2B5EF4-FFF2-40B4-BE49-F238E27FC236}">
                <a16:creationId xmlns:a16="http://schemas.microsoft.com/office/drawing/2014/main" id="{306ECDDE-513B-2A0D-A524-B7D587974F33}"/>
              </a:ext>
            </a:extLst>
          </p:cNvPr>
          <p:cNvSpPr txBox="1"/>
          <p:nvPr/>
        </p:nvSpPr>
        <p:spPr>
          <a:xfrm>
            <a:off x="5853567" y="2025868"/>
            <a:ext cx="2516267" cy="369332"/>
          </a:xfrm>
          <a:prstGeom prst="rect">
            <a:avLst/>
          </a:prstGeom>
          <a:noFill/>
          <a:ln w="28575">
            <a:solidFill>
              <a:srgbClr val="E6196C"/>
            </a:solidFill>
          </a:ln>
        </p:spPr>
        <p:txBody>
          <a:bodyPr wrap="square" rtlCol="0">
            <a:spAutoFit/>
          </a:bodyPr>
          <a:lstStyle/>
          <a:p>
            <a:pPr algn="ctr"/>
            <a:r>
              <a:rPr lang="en-US" sz="1800" dirty="0"/>
              <a:t>Unfiltered User Input</a:t>
            </a:r>
          </a:p>
        </p:txBody>
      </p:sp>
      <p:grpSp>
        <p:nvGrpSpPr>
          <p:cNvPr id="22" name="Group 21">
            <a:extLst>
              <a:ext uri="{FF2B5EF4-FFF2-40B4-BE49-F238E27FC236}">
                <a16:creationId xmlns:a16="http://schemas.microsoft.com/office/drawing/2014/main" id="{040310D2-00C7-AE30-6F24-1ABE77E87D76}"/>
              </a:ext>
            </a:extLst>
          </p:cNvPr>
          <p:cNvGrpSpPr/>
          <p:nvPr/>
        </p:nvGrpSpPr>
        <p:grpSpPr>
          <a:xfrm>
            <a:off x="5853565" y="2395202"/>
            <a:ext cx="2541688" cy="1514191"/>
            <a:chOff x="5853565" y="2395200"/>
            <a:chExt cx="2541688" cy="1514191"/>
          </a:xfrm>
        </p:grpSpPr>
        <p:sp>
          <p:nvSpPr>
            <p:cNvPr id="2" name="Rounded Rectangle 1">
              <a:extLst>
                <a:ext uri="{FF2B5EF4-FFF2-40B4-BE49-F238E27FC236}">
                  <a16:creationId xmlns:a16="http://schemas.microsoft.com/office/drawing/2014/main" id="{055A4400-F5F9-2193-4095-99571B1DE38B}"/>
                </a:ext>
              </a:extLst>
            </p:cNvPr>
            <p:cNvSpPr/>
            <p:nvPr/>
          </p:nvSpPr>
          <p:spPr>
            <a:xfrm>
              <a:off x="5853565" y="3445565"/>
              <a:ext cx="2541688" cy="463826"/>
            </a:xfrm>
            <a:prstGeom prst="roundRect">
              <a:avLst/>
            </a:prstGeom>
            <a:noFill/>
            <a:ln>
              <a:solidFill>
                <a:srgbClr val="E619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2B5848C5-3611-7F2C-EFD4-A8FCC96ED0E7}"/>
                </a:ext>
              </a:extLst>
            </p:cNvPr>
            <p:cNvCxnSpPr>
              <a:stCxn id="2" idx="0"/>
              <a:endCxn id="16" idx="2"/>
            </p:cNvCxnSpPr>
            <p:nvPr/>
          </p:nvCxnSpPr>
          <p:spPr>
            <a:xfrm flipH="1" flipV="1">
              <a:off x="7111699" y="2395200"/>
              <a:ext cx="12710" cy="1050365"/>
            </a:xfrm>
            <a:prstGeom prst="line">
              <a:avLst/>
            </a:prstGeom>
            <a:ln w="28575">
              <a:solidFill>
                <a:srgbClr val="E6196C"/>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37053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down)">
                                      <p:cBhvr>
                                        <p:cTn id="7" dur="200"/>
                                        <p:tgtEl>
                                          <p:spTgt spid="22"/>
                                        </p:tgtEl>
                                      </p:cBhvr>
                                    </p:animEffect>
                                  </p:childTnLst>
                                </p:cTn>
                              </p:par>
                            </p:childTnLst>
                          </p:cTn>
                        </p:par>
                        <p:par>
                          <p:cTn id="8" fill="hold">
                            <p:stCondLst>
                              <p:cond delay="200"/>
                            </p:stCondLst>
                            <p:childTnLst>
                              <p:par>
                                <p:cTn id="9" presetID="1" presetClass="entr" presetSubtype="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D9B45FD-30A3-41DA-19D5-550E35829795}"/>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9593E139-1A4E-FFAA-B1D1-2D57454B09C3}"/>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sp>
        <p:nvSpPr>
          <p:cNvPr id="9" name="Google Shape;104;p21">
            <a:extLst>
              <a:ext uri="{FF2B5EF4-FFF2-40B4-BE49-F238E27FC236}">
                <a16:creationId xmlns:a16="http://schemas.microsoft.com/office/drawing/2014/main" id="{04D166BF-26F2-862A-631C-0EFA99D23B5F}"/>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en-US" b="1" dirty="0">
                <a:solidFill>
                  <a:srgbClr val="292E60"/>
                </a:solidFill>
              </a:rPr>
              <a:t>Command Injection</a:t>
            </a:r>
            <a:endParaRPr b="1" dirty="0">
              <a:solidFill>
                <a:srgbClr val="292E60"/>
              </a:solidFill>
            </a:endParaRPr>
          </a:p>
        </p:txBody>
      </p:sp>
      <p:pic>
        <p:nvPicPr>
          <p:cNvPr id="10" name="Google Shape;107;p21">
            <a:extLst>
              <a:ext uri="{FF2B5EF4-FFF2-40B4-BE49-F238E27FC236}">
                <a16:creationId xmlns:a16="http://schemas.microsoft.com/office/drawing/2014/main" id="{7E88A2D3-7DA0-92C9-0D8A-DD127876E291}"/>
              </a:ext>
            </a:extLst>
          </p:cNvPr>
          <p:cNvPicPr preferRelativeResize="0"/>
          <p:nvPr/>
        </p:nvPicPr>
        <p:blipFill>
          <a:blip r:embed="rId3">
            <a:alphaModFix/>
          </a:blip>
          <a:stretch>
            <a:fillRect/>
          </a:stretch>
        </p:blipFill>
        <p:spPr>
          <a:xfrm>
            <a:off x="3694585" y="878900"/>
            <a:ext cx="155800" cy="155800"/>
          </a:xfrm>
          <a:prstGeom prst="rect">
            <a:avLst/>
          </a:prstGeom>
          <a:noFill/>
          <a:ln>
            <a:noFill/>
          </a:ln>
        </p:spPr>
      </p:pic>
      <p:graphicFrame>
        <p:nvGraphicFramePr>
          <p:cNvPr id="5" name="Table 4">
            <a:extLst>
              <a:ext uri="{FF2B5EF4-FFF2-40B4-BE49-F238E27FC236}">
                <a16:creationId xmlns:a16="http://schemas.microsoft.com/office/drawing/2014/main" id="{664B1AA6-56C8-2700-7820-9D41611079E1}"/>
              </a:ext>
            </a:extLst>
          </p:cNvPr>
          <p:cNvGraphicFramePr>
            <a:graphicFrameLocks noGrp="1"/>
          </p:cNvGraphicFramePr>
          <p:nvPr>
            <p:extLst>
              <p:ext uri="{D42A27DB-BD31-4B8C-83A1-F6EECF244321}">
                <p14:modId xmlns:p14="http://schemas.microsoft.com/office/powerpoint/2010/main" val="2561598156"/>
              </p:ext>
            </p:extLst>
          </p:nvPr>
        </p:nvGraphicFramePr>
        <p:xfrm>
          <a:off x="449036" y="1436122"/>
          <a:ext cx="8383264" cy="2966480"/>
        </p:xfrm>
        <a:graphic>
          <a:graphicData uri="http://schemas.openxmlformats.org/drawingml/2006/table">
            <a:tbl>
              <a:tblPr bandRow="1">
                <a:tableStyleId>{5940675A-B579-460E-94D1-54222C63F5DA}</a:tableStyleId>
              </a:tblPr>
              <a:tblGrid>
                <a:gridCol w="4191632">
                  <a:extLst>
                    <a:ext uri="{9D8B030D-6E8A-4147-A177-3AD203B41FA5}">
                      <a16:colId xmlns:a16="http://schemas.microsoft.com/office/drawing/2014/main" val="3954222776"/>
                    </a:ext>
                  </a:extLst>
                </a:gridCol>
                <a:gridCol w="4191632">
                  <a:extLst>
                    <a:ext uri="{9D8B030D-6E8A-4147-A177-3AD203B41FA5}">
                      <a16:colId xmlns:a16="http://schemas.microsoft.com/office/drawing/2014/main" val="2375687988"/>
                    </a:ext>
                  </a:extLst>
                </a:gridCol>
              </a:tblGrid>
              <a:tr h="637952">
                <a:tc>
                  <a:txBody>
                    <a:bodyPr/>
                    <a:lstStyle/>
                    <a:p>
                      <a:pPr lvl="4" algn="l"/>
                      <a:r>
                        <a:rPr lang="en-US" sz="1800" b="1" dirty="0"/>
                        <a:t> URL</a:t>
                      </a:r>
                    </a:p>
                  </a:txBody>
                  <a:tcPr anchor="ctr"/>
                </a:tc>
                <a:tc>
                  <a:txBody>
                    <a:bodyPr/>
                    <a:lstStyle/>
                    <a:p>
                      <a:r>
                        <a:rPr lang="en-US" sz="1800" b="0" dirty="0">
                          <a:latin typeface="Avenir Next" panose="020B0503020202020204" pitchFamily="34" charset="0"/>
                        </a:rPr>
                        <a:t> http://mesa/</a:t>
                      </a:r>
                      <a:r>
                        <a:rPr lang="en-US" sz="1800" b="0" dirty="0" err="1">
                          <a:latin typeface="Avenir Next" panose="020B0503020202020204" pitchFamily="34" charset="0"/>
                        </a:rPr>
                        <a:t>management.php</a:t>
                      </a:r>
                      <a:endParaRPr lang="en-US" sz="1800" b="0" dirty="0">
                        <a:latin typeface="Avenir Next" panose="020B0503020202020204" pitchFamily="34" charset="0"/>
                      </a:endParaRPr>
                    </a:p>
                  </a:txBody>
                  <a:tcPr anchor="ctr"/>
                </a:tc>
                <a:extLst>
                  <a:ext uri="{0D108BD9-81ED-4DB2-BD59-A6C34878D82A}">
                    <a16:rowId xmlns:a16="http://schemas.microsoft.com/office/drawing/2014/main" val="2209453569"/>
                  </a:ext>
                </a:extLst>
              </a:tr>
              <a:tr h="776176">
                <a:tc>
                  <a:txBody>
                    <a:bodyPr/>
                    <a:lstStyle/>
                    <a:p>
                      <a:pPr lvl="1" algn="l"/>
                      <a:r>
                        <a:rPr lang="en-US" sz="1800" b="1" dirty="0"/>
                        <a:t> Read-Parameter</a:t>
                      </a:r>
                    </a:p>
                  </a:txBody>
                  <a:tcPr anchor="ctr"/>
                </a:tc>
                <a:tc>
                  <a:txBody>
                    <a:bodyPr/>
                    <a:lstStyle/>
                    <a:p>
                      <a:r>
                        <a:rPr lang="en-US" sz="1800" b="0" dirty="0">
                          <a:latin typeface="Avenir Next" panose="020B0503020202020204" pitchFamily="34" charset="0"/>
                        </a:rPr>
                        <a:t> ?read=</a:t>
                      </a:r>
                      <a:r>
                        <a:rPr lang="en-US" sz="1800" b="0" dirty="0" err="1">
                          <a:latin typeface="Avenir Next" panose="020B0503020202020204" pitchFamily="34" charset="0"/>
                        </a:rPr>
                        <a:t>sys.log</a:t>
                      </a:r>
                      <a:endParaRPr lang="en-US" sz="1800" b="0" dirty="0">
                        <a:latin typeface="Avenir Next" panose="020B0503020202020204" pitchFamily="34" charset="0"/>
                      </a:endParaRPr>
                    </a:p>
                  </a:txBody>
                  <a:tcPr anchor="ctr"/>
                </a:tc>
                <a:extLst>
                  <a:ext uri="{0D108BD9-81ED-4DB2-BD59-A6C34878D82A}">
                    <a16:rowId xmlns:a16="http://schemas.microsoft.com/office/drawing/2014/main" val="4046199110"/>
                  </a:ext>
                </a:extLst>
              </a:tr>
              <a:tr h="776176">
                <a:tc>
                  <a:txBody>
                    <a:bodyPr/>
                    <a:lstStyle/>
                    <a:p>
                      <a:pPr lvl="2" algn="l"/>
                      <a:r>
                        <a:rPr lang="en-US" sz="1800" b="1" dirty="0"/>
                        <a:t> Concatenation (AND) Operator </a:t>
                      </a:r>
                      <a:r>
                        <a:rPr lang="en-US" sz="1800" b="1" i="1" dirty="0"/>
                        <a:t>&amp;&amp;</a:t>
                      </a:r>
                    </a:p>
                  </a:txBody>
                  <a:tcPr anchor="ctr"/>
                </a:tc>
                <a:tc>
                  <a:txBody>
                    <a:bodyPr/>
                    <a:lstStyle/>
                    <a:p>
                      <a:r>
                        <a:rPr lang="en-US" sz="1800" b="0" dirty="0">
                          <a:latin typeface="Avenir Next" panose="020B0503020202020204" pitchFamily="34" charset="0"/>
                        </a:rPr>
                        <a:t> %20%26%26%20</a:t>
                      </a:r>
                    </a:p>
                  </a:txBody>
                  <a:tcPr anchor="ctr"/>
                </a:tc>
                <a:extLst>
                  <a:ext uri="{0D108BD9-81ED-4DB2-BD59-A6C34878D82A}">
                    <a16:rowId xmlns:a16="http://schemas.microsoft.com/office/drawing/2014/main" val="1827348078"/>
                  </a:ext>
                </a:extLst>
              </a:tr>
              <a:tr h="776176">
                <a:tc>
                  <a:txBody>
                    <a:bodyPr/>
                    <a:lstStyle/>
                    <a:p>
                      <a:pPr lvl="1" algn="l"/>
                      <a:r>
                        <a:rPr lang="en-US" sz="1800" b="1" dirty="0"/>
                        <a:t> Bash-Command to inject</a:t>
                      </a:r>
                    </a:p>
                  </a:txBody>
                  <a:tcPr anchor="ctr"/>
                </a:tc>
                <a:tc>
                  <a:txBody>
                    <a:bodyPr/>
                    <a:lstStyle/>
                    <a:p>
                      <a:r>
                        <a:rPr lang="en-US" sz="1800" b="0" dirty="0">
                          <a:latin typeface="Avenir Next" panose="020B0503020202020204" pitchFamily="34" charset="0"/>
                        </a:rPr>
                        <a:t> bash%20-c%20 …</a:t>
                      </a:r>
                    </a:p>
                  </a:txBody>
                  <a:tcPr anchor="ctr"/>
                </a:tc>
                <a:extLst>
                  <a:ext uri="{0D108BD9-81ED-4DB2-BD59-A6C34878D82A}">
                    <a16:rowId xmlns:a16="http://schemas.microsoft.com/office/drawing/2014/main" val="374939480"/>
                  </a:ext>
                </a:extLst>
              </a:tr>
            </a:tbl>
          </a:graphicData>
        </a:graphic>
      </p:graphicFrame>
    </p:spTree>
    <p:extLst>
      <p:ext uri="{BB962C8B-B14F-4D97-AF65-F5344CB8AC3E}">
        <p14:creationId xmlns:p14="http://schemas.microsoft.com/office/powerpoint/2010/main" val="28155428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7F75FC18-EA63-A5D9-F663-B09D40C32726}"/>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C729C195-5A32-3505-F942-7D23E40737B2}"/>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sp>
        <p:nvSpPr>
          <p:cNvPr id="9" name="Google Shape;104;p21">
            <a:extLst>
              <a:ext uri="{FF2B5EF4-FFF2-40B4-BE49-F238E27FC236}">
                <a16:creationId xmlns:a16="http://schemas.microsoft.com/office/drawing/2014/main" id="{FF360349-F9E6-4EC5-D804-C4981645D20A}"/>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en-US" b="1" dirty="0">
                <a:solidFill>
                  <a:srgbClr val="292E60"/>
                </a:solidFill>
              </a:rPr>
              <a:t>Command Injection</a:t>
            </a:r>
            <a:endParaRPr b="1" dirty="0">
              <a:solidFill>
                <a:srgbClr val="292E60"/>
              </a:solidFill>
            </a:endParaRPr>
          </a:p>
        </p:txBody>
      </p:sp>
      <p:pic>
        <p:nvPicPr>
          <p:cNvPr id="10" name="Google Shape;107;p21">
            <a:extLst>
              <a:ext uri="{FF2B5EF4-FFF2-40B4-BE49-F238E27FC236}">
                <a16:creationId xmlns:a16="http://schemas.microsoft.com/office/drawing/2014/main" id="{A183F860-6FBF-1FAA-CB6E-F916738FB0B6}"/>
              </a:ext>
            </a:extLst>
          </p:cNvPr>
          <p:cNvPicPr preferRelativeResize="0"/>
          <p:nvPr/>
        </p:nvPicPr>
        <p:blipFill>
          <a:blip r:embed="rId3">
            <a:alphaModFix/>
          </a:blip>
          <a:stretch>
            <a:fillRect/>
          </a:stretch>
        </p:blipFill>
        <p:spPr>
          <a:xfrm>
            <a:off x="3694585" y="878900"/>
            <a:ext cx="155800" cy="155800"/>
          </a:xfrm>
          <a:prstGeom prst="rect">
            <a:avLst/>
          </a:prstGeom>
          <a:noFill/>
          <a:ln>
            <a:noFill/>
          </a:ln>
        </p:spPr>
      </p:pic>
      <p:grpSp>
        <p:nvGrpSpPr>
          <p:cNvPr id="5" name="Group 4">
            <a:extLst>
              <a:ext uri="{FF2B5EF4-FFF2-40B4-BE49-F238E27FC236}">
                <a16:creationId xmlns:a16="http://schemas.microsoft.com/office/drawing/2014/main" id="{C60F3AB3-0657-4AF2-76E6-7F5D16451F84}"/>
              </a:ext>
            </a:extLst>
          </p:cNvPr>
          <p:cNvGrpSpPr>
            <a:grpSpLocks noChangeAspect="1"/>
          </p:cNvGrpSpPr>
          <p:nvPr/>
        </p:nvGrpSpPr>
        <p:grpSpPr>
          <a:xfrm>
            <a:off x="804673" y="1123626"/>
            <a:ext cx="7516369" cy="3611427"/>
            <a:chOff x="804671" y="1087048"/>
            <a:chExt cx="7516369" cy="3611427"/>
          </a:xfrm>
        </p:grpSpPr>
        <p:sp>
          <p:nvSpPr>
            <p:cNvPr id="2" name="Rounded Rectangle 1">
              <a:extLst>
                <a:ext uri="{FF2B5EF4-FFF2-40B4-BE49-F238E27FC236}">
                  <a16:creationId xmlns:a16="http://schemas.microsoft.com/office/drawing/2014/main" id="{C5ED5F93-0299-5FD7-E558-AB6681F9A762}"/>
                </a:ext>
              </a:extLst>
            </p:cNvPr>
            <p:cNvSpPr/>
            <p:nvPr/>
          </p:nvSpPr>
          <p:spPr>
            <a:xfrm>
              <a:off x="804671" y="1087048"/>
              <a:ext cx="7516369" cy="3611427"/>
            </a:xfrm>
            <a:prstGeom prst="roundRect">
              <a:avLst>
                <a:gd name="adj" fmla="val 5158"/>
              </a:avLst>
            </a:prstGeom>
            <a:solidFill>
              <a:srgbClr val="3136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5A7F2BF-5031-4E23-FD94-399756595AE6}"/>
                </a:ext>
              </a:extLst>
            </p:cNvPr>
            <p:cNvPicPr>
              <a:picLocks noChangeAspect="1"/>
            </p:cNvPicPr>
            <p:nvPr/>
          </p:nvPicPr>
          <p:blipFill>
            <a:blip r:embed="rId4"/>
            <a:srcRect l="378" r="233"/>
            <a:stretch>
              <a:fillRect/>
            </a:stretch>
          </p:blipFill>
          <p:spPr>
            <a:xfrm>
              <a:off x="925033" y="1246565"/>
              <a:ext cx="7304567" cy="3345595"/>
            </a:xfrm>
            <a:prstGeom prst="rect">
              <a:avLst/>
            </a:prstGeom>
          </p:spPr>
        </p:pic>
      </p:grpSp>
    </p:spTree>
    <p:extLst>
      <p:ext uri="{BB962C8B-B14F-4D97-AF65-F5344CB8AC3E}">
        <p14:creationId xmlns:p14="http://schemas.microsoft.com/office/powerpoint/2010/main" val="1519791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173F9B5C-9AB6-BA47-7487-058C62782FC0}"/>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9931B522-02C8-9C35-17F0-0A4BE0E16755}"/>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sp>
        <p:nvSpPr>
          <p:cNvPr id="9" name="Google Shape;104;p21">
            <a:extLst>
              <a:ext uri="{FF2B5EF4-FFF2-40B4-BE49-F238E27FC236}">
                <a16:creationId xmlns:a16="http://schemas.microsoft.com/office/drawing/2014/main" id="{BF56A070-9B7B-BF4A-B13A-71FA73FDF29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en-US" b="1" dirty="0">
                <a:solidFill>
                  <a:srgbClr val="292E60"/>
                </a:solidFill>
              </a:rPr>
              <a:t>Privilege Escalation</a:t>
            </a:r>
            <a:endParaRPr b="1" dirty="0">
              <a:solidFill>
                <a:srgbClr val="292E60"/>
              </a:solidFill>
            </a:endParaRPr>
          </a:p>
        </p:txBody>
      </p:sp>
      <p:pic>
        <p:nvPicPr>
          <p:cNvPr id="10" name="Google Shape;107;p21">
            <a:extLst>
              <a:ext uri="{FF2B5EF4-FFF2-40B4-BE49-F238E27FC236}">
                <a16:creationId xmlns:a16="http://schemas.microsoft.com/office/drawing/2014/main" id="{0802B734-F79F-F7B8-CF74-A7F0B0A525F0}"/>
              </a:ext>
            </a:extLst>
          </p:cNvPr>
          <p:cNvPicPr preferRelativeResize="0"/>
          <p:nvPr/>
        </p:nvPicPr>
        <p:blipFill>
          <a:blip r:embed="rId3">
            <a:alphaModFix/>
          </a:blip>
          <a:stretch>
            <a:fillRect/>
          </a:stretch>
        </p:blipFill>
        <p:spPr>
          <a:xfrm>
            <a:off x="3772642" y="878900"/>
            <a:ext cx="155800" cy="155800"/>
          </a:xfrm>
          <a:prstGeom prst="rect">
            <a:avLst/>
          </a:prstGeom>
          <a:noFill/>
          <a:ln>
            <a:noFill/>
          </a:ln>
        </p:spPr>
      </p:pic>
      <p:sp>
        <p:nvSpPr>
          <p:cNvPr id="3" name="TextBox 2">
            <a:extLst>
              <a:ext uri="{FF2B5EF4-FFF2-40B4-BE49-F238E27FC236}">
                <a16:creationId xmlns:a16="http://schemas.microsoft.com/office/drawing/2014/main" id="{2D9C34CE-A231-7FD8-1BAF-043BF392FDCF}"/>
              </a:ext>
            </a:extLst>
          </p:cNvPr>
          <p:cNvSpPr txBox="1"/>
          <p:nvPr/>
        </p:nvSpPr>
        <p:spPr>
          <a:xfrm>
            <a:off x="4965539" y="4712574"/>
            <a:ext cx="4178460" cy="307777"/>
          </a:xfrm>
          <a:prstGeom prst="rect">
            <a:avLst/>
          </a:prstGeom>
          <a:noFill/>
        </p:spPr>
        <p:txBody>
          <a:bodyPr wrap="square">
            <a:spAutoFit/>
          </a:bodyPr>
          <a:lstStyle/>
          <a:p>
            <a:pPr algn="ctr"/>
            <a:r>
              <a:rPr lang="en-US" dirty="0"/>
              <a:t>Unsecured Credentials: Shell History </a:t>
            </a:r>
            <a:r>
              <a:rPr lang="en-US" dirty="0">
                <a:solidFill>
                  <a:srgbClr val="1D1D1A"/>
                </a:solidFill>
                <a:latin typeface="Arial" panose="020B0604020202020204" pitchFamily="34" charset="0"/>
                <a:cs typeface="Arial" panose="020B0604020202020204" pitchFamily="34" charset="0"/>
              </a:rPr>
              <a:t>(</a:t>
            </a:r>
            <a:r>
              <a:rPr lang="en-US" dirty="0"/>
              <a:t>T1552.003</a:t>
            </a:r>
            <a:r>
              <a:rPr lang="en-US" dirty="0">
                <a:solidFill>
                  <a:srgbClr val="1D1D1A"/>
                </a:solidFill>
                <a:latin typeface="Arial" panose="020B0604020202020204" pitchFamily="34" charset="0"/>
                <a:cs typeface="Arial" panose="020B0604020202020204" pitchFamily="34" charset="0"/>
              </a:rPr>
              <a:t>)</a:t>
            </a:r>
          </a:p>
        </p:txBody>
      </p:sp>
      <p:sp>
        <p:nvSpPr>
          <p:cNvPr id="8" name="Rounded Rectangle 7">
            <a:extLst>
              <a:ext uri="{FF2B5EF4-FFF2-40B4-BE49-F238E27FC236}">
                <a16:creationId xmlns:a16="http://schemas.microsoft.com/office/drawing/2014/main" id="{52617575-2E98-25C9-9BBB-B709C832A102}"/>
              </a:ext>
            </a:extLst>
          </p:cNvPr>
          <p:cNvSpPr/>
          <p:nvPr/>
        </p:nvSpPr>
        <p:spPr>
          <a:xfrm>
            <a:off x="311700" y="1451602"/>
            <a:ext cx="8520600" cy="2631105"/>
          </a:xfrm>
          <a:prstGeom prst="roundRect">
            <a:avLst>
              <a:gd name="adj" fmla="val 5560"/>
            </a:avLst>
          </a:prstGeom>
          <a:solidFill>
            <a:srgbClr val="3136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BA9B1133-9213-3AF7-7240-F1D1468D8BCF}"/>
              </a:ext>
            </a:extLst>
          </p:cNvPr>
          <p:cNvPicPr>
            <a:picLocks noChangeAspect="1"/>
          </p:cNvPicPr>
          <p:nvPr/>
        </p:nvPicPr>
        <p:blipFill>
          <a:blip r:embed="rId4"/>
          <a:stretch>
            <a:fillRect/>
          </a:stretch>
        </p:blipFill>
        <p:spPr>
          <a:xfrm>
            <a:off x="629053" y="1549596"/>
            <a:ext cx="7885894" cy="2435112"/>
          </a:xfrm>
          <a:prstGeom prst="rect">
            <a:avLst/>
          </a:prstGeom>
        </p:spPr>
      </p:pic>
    </p:spTree>
    <p:extLst>
      <p:ext uri="{BB962C8B-B14F-4D97-AF65-F5344CB8AC3E}">
        <p14:creationId xmlns:p14="http://schemas.microsoft.com/office/powerpoint/2010/main" val="1606808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A0D51CC5-F0E8-5439-DA47-9D6E717B3F50}"/>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4C984A3F-9F1D-6AED-9ABB-73E94E205F46}"/>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sp>
        <p:nvSpPr>
          <p:cNvPr id="9" name="Google Shape;104;p21">
            <a:extLst>
              <a:ext uri="{FF2B5EF4-FFF2-40B4-BE49-F238E27FC236}">
                <a16:creationId xmlns:a16="http://schemas.microsoft.com/office/drawing/2014/main" id="{D1EFCA95-6179-534E-AD28-E97C1CC7E17C}"/>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en-US" b="1" dirty="0">
                <a:solidFill>
                  <a:srgbClr val="292E60"/>
                </a:solidFill>
              </a:rPr>
              <a:t>Privilege Escalation</a:t>
            </a:r>
            <a:endParaRPr b="1" dirty="0">
              <a:solidFill>
                <a:srgbClr val="292E60"/>
              </a:solidFill>
            </a:endParaRPr>
          </a:p>
        </p:txBody>
      </p:sp>
      <p:pic>
        <p:nvPicPr>
          <p:cNvPr id="10" name="Google Shape;107;p21">
            <a:extLst>
              <a:ext uri="{FF2B5EF4-FFF2-40B4-BE49-F238E27FC236}">
                <a16:creationId xmlns:a16="http://schemas.microsoft.com/office/drawing/2014/main" id="{6E1A0CE2-9CAB-108A-9F59-E31DDC6C08B4}"/>
              </a:ext>
            </a:extLst>
          </p:cNvPr>
          <p:cNvPicPr preferRelativeResize="0"/>
          <p:nvPr/>
        </p:nvPicPr>
        <p:blipFill>
          <a:blip r:embed="rId3">
            <a:alphaModFix/>
          </a:blip>
          <a:stretch>
            <a:fillRect/>
          </a:stretch>
        </p:blipFill>
        <p:spPr>
          <a:xfrm>
            <a:off x="3772642" y="878900"/>
            <a:ext cx="155800" cy="155800"/>
          </a:xfrm>
          <a:prstGeom prst="rect">
            <a:avLst/>
          </a:prstGeom>
          <a:noFill/>
          <a:ln>
            <a:noFill/>
          </a:ln>
        </p:spPr>
      </p:pic>
      <p:pic>
        <p:nvPicPr>
          <p:cNvPr id="4" name="Picture 3">
            <a:extLst>
              <a:ext uri="{FF2B5EF4-FFF2-40B4-BE49-F238E27FC236}">
                <a16:creationId xmlns:a16="http://schemas.microsoft.com/office/drawing/2014/main" id="{C26837E4-DF0A-5B66-4ED8-B93CD86C97C5}"/>
              </a:ext>
            </a:extLst>
          </p:cNvPr>
          <p:cNvPicPr>
            <a:picLocks noChangeAspect="1"/>
          </p:cNvPicPr>
          <p:nvPr/>
        </p:nvPicPr>
        <p:blipFill>
          <a:blip r:embed="rId4"/>
          <a:stretch>
            <a:fillRect/>
          </a:stretch>
        </p:blipFill>
        <p:spPr>
          <a:xfrm>
            <a:off x="391493" y="1334549"/>
            <a:ext cx="8382786" cy="2930053"/>
          </a:xfrm>
          <a:prstGeom prst="roundRect">
            <a:avLst>
              <a:gd name="adj" fmla="val 4414"/>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contourClr>
              <a:srgbClr val="969696"/>
            </a:contourClr>
          </a:sp3d>
        </p:spPr>
      </p:pic>
      <p:sp>
        <p:nvSpPr>
          <p:cNvPr id="3" name="TextBox 2">
            <a:extLst>
              <a:ext uri="{FF2B5EF4-FFF2-40B4-BE49-F238E27FC236}">
                <a16:creationId xmlns:a16="http://schemas.microsoft.com/office/drawing/2014/main" id="{A6968D91-0124-86C7-029E-CC3F988A5A3B}"/>
              </a:ext>
            </a:extLst>
          </p:cNvPr>
          <p:cNvSpPr txBox="1"/>
          <p:nvPr/>
        </p:nvSpPr>
        <p:spPr>
          <a:xfrm>
            <a:off x="4969566" y="4712574"/>
            <a:ext cx="4174435" cy="307777"/>
          </a:xfrm>
          <a:prstGeom prst="rect">
            <a:avLst/>
          </a:prstGeom>
          <a:noFill/>
        </p:spPr>
        <p:txBody>
          <a:bodyPr wrap="square">
            <a:spAutoFit/>
          </a:bodyPr>
          <a:lstStyle/>
          <a:p>
            <a:pPr algn="ctr"/>
            <a:r>
              <a:rPr lang="en-US" dirty="0">
                <a:solidFill>
                  <a:srgbClr val="1D1D1A"/>
                </a:solidFill>
                <a:latin typeface="Arial" panose="020B0604020202020204" pitchFamily="34" charset="0"/>
                <a:cs typeface="Arial" panose="020B0604020202020204" pitchFamily="34" charset="0"/>
              </a:rPr>
              <a:t>Abuse Elevation Control Mechanism (</a:t>
            </a:r>
            <a:r>
              <a:rPr lang="en-US" dirty="0"/>
              <a:t>T1548.004</a:t>
            </a:r>
            <a:r>
              <a:rPr lang="en-US" dirty="0">
                <a:solidFill>
                  <a:srgbClr val="1D1D1A"/>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4699742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FD4E1DC-1197-6915-66DC-C11302AAEAAB}"/>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2F92C851-B1CF-CAD8-3352-444DD65216C9}"/>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sp>
        <p:nvSpPr>
          <p:cNvPr id="9" name="Google Shape;104;p21">
            <a:extLst>
              <a:ext uri="{FF2B5EF4-FFF2-40B4-BE49-F238E27FC236}">
                <a16:creationId xmlns:a16="http://schemas.microsoft.com/office/drawing/2014/main" id="{0031D0FD-BF3C-DAFD-5B0F-F6ED566CE02B}"/>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en-US" b="1" dirty="0">
                <a:solidFill>
                  <a:srgbClr val="292E60"/>
                </a:solidFill>
              </a:rPr>
              <a:t>Privilege Escalation</a:t>
            </a:r>
            <a:endParaRPr b="1" dirty="0">
              <a:solidFill>
                <a:srgbClr val="292E60"/>
              </a:solidFill>
            </a:endParaRPr>
          </a:p>
        </p:txBody>
      </p:sp>
      <p:pic>
        <p:nvPicPr>
          <p:cNvPr id="10" name="Google Shape;107;p21">
            <a:extLst>
              <a:ext uri="{FF2B5EF4-FFF2-40B4-BE49-F238E27FC236}">
                <a16:creationId xmlns:a16="http://schemas.microsoft.com/office/drawing/2014/main" id="{484DE7C1-138F-431D-2A17-2B76C0D24861}"/>
              </a:ext>
            </a:extLst>
          </p:cNvPr>
          <p:cNvPicPr preferRelativeResize="0"/>
          <p:nvPr/>
        </p:nvPicPr>
        <p:blipFill>
          <a:blip r:embed="rId3">
            <a:alphaModFix/>
          </a:blip>
          <a:stretch>
            <a:fillRect/>
          </a:stretch>
        </p:blipFill>
        <p:spPr>
          <a:xfrm>
            <a:off x="3772642" y="878900"/>
            <a:ext cx="155800" cy="155800"/>
          </a:xfrm>
          <a:prstGeom prst="rect">
            <a:avLst/>
          </a:prstGeom>
          <a:noFill/>
          <a:ln>
            <a:noFill/>
          </a:ln>
        </p:spPr>
      </p:pic>
      <p:sp>
        <p:nvSpPr>
          <p:cNvPr id="12" name="TextBox 11">
            <a:extLst>
              <a:ext uri="{FF2B5EF4-FFF2-40B4-BE49-F238E27FC236}">
                <a16:creationId xmlns:a16="http://schemas.microsoft.com/office/drawing/2014/main" id="{63CD4C73-4674-1900-FB82-0FB1E8306022}"/>
              </a:ext>
            </a:extLst>
          </p:cNvPr>
          <p:cNvSpPr txBox="1"/>
          <p:nvPr/>
        </p:nvSpPr>
        <p:spPr>
          <a:xfrm>
            <a:off x="4081817" y="4497130"/>
            <a:ext cx="5029200" cy="523220"/>
          </a:xfrm>
          <a:prstGeom prst="rect">
            <a:avLst/>
          </a:prstGeom>
          <a:noFill/>
        </p:spPr>
        <p:txBody>
          <a:bodyPr wrap="square">
            <a:spAutoFit/>
          </a:bodyPr>
          <a:lstStyle/>
          <a:p>
            <a:pPr algn="r"/>
            <a:endParaRPr lang="en-US" dirty="0">
              <a:solidFill>
                <a:srgbClr val="1D1D1A"/>
              </a:solidFill>
              <a:latin typeface="Arial" panose="020B0604020202020204" pitchFamily="34" charset="0"/>
              <a:cs typeface="Arial" panose="020B0604020202020204" pitchFamily="34" charset="0"/>
            </a:endParaRPr>
          </a:p>
          <a:p>
            <a:pPr algn="r"/>
            <a:r>
              <a:rPr lang="en-US" dirty="0"/>
              <a:t>Command and Scripting Interpreter: Unix Shell (T1059.004)</a:t>
            </a:r>
          </a:p>
        </p:txBody>
      </p:sp>
      <p:grpSp>
        <p:nvGrpSpPr>
          <p:cNvPr id="13" name="Group 12">
            <a:extLst>
              <a:ext uri="{FF2B5EF4-FFF2-40B4-BE49-F238E27FC236}">
                <a16:creationId xmlns:a16="http://schemas.microsoft.com/office/drawing/2014/main" id="{CDC3733C-124F-1E45-A271-59F2C71D132E}"/>
              </a:ext>
            </a:extLst>
          </p:cNvPr>
          <p:cNvGrpSpPr/>
          <p:nvPr/>
        </p:nvGrpSpPr>
        <p:grpSpPr>
          <a:xfrm>
            <a:off x="685800" y="1244336"/>
            <a:ext cx="7772400" cy="3350057"/>
            <a:chOff x="685800" y="1244334"/>
            <a:chExt cx="7772400" cy="3350057"/>
          </a:xfrm>
        </p:grpSpPr>
        <p:pic>
          <p:nvPicPr>
            <p:cNvPr id="14" name="Picture 13">
              <a:extLst>
                <a:ext uri="{FF2B5EF4-FFF2-40B4-BE49-F238E27FC236}">
                  <a16:creationId xmlns:a16="http://schemas.microsoft.com/office/drawing/2014/main" id="{4508DF67-ECEE-75A6-3D69-FBCE1615B83B}"/>
                </a:ext>
              </a:extLst>
            </p:cNvPr>
            <p:cNvPicPr>
              <a:picLocks/>
            </p:cNvPicPr>
            <p:nvPr/>
          </p:nvPicPr>
          <p:blipFill>
            <a:blip r:embed="rId4"/>
            <a:srcRect l="66051" t="47652"/>
            <a:stretch>
              <a:fillRect/>
            </a:stretch>
          </p:blipFill>
          <p:spPr>
            <a:xfrm>
              <a:off x="685800" y="1244334"/>
              <a:ext cx="7772400" cy="3350057"/>
            </a:xfrm>
            <a:prstGeom prst="roundRect">
              <a:avLst>
                <a:gd name="adj" fmla="val 1622"/>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contourClr>
                <a:srgbClr val="969696"/>
              </a:contourClr>
            </a:sp3d>
          </p:spPr>
        </p:pic>
        <p:pic>
          <p:nvPicPr>
            <p:cNvPr id="15" name="Picture 14">
              <a:extLst>
                <a:ext uri="{FF2B5EF4-FFF2-40B4-BE49-F238E27FC236}">
                  <a16:creationId xmlns:a16="http://schemas.microsoft.com/office/drawing/2014/main" id="{3A68D222-7E23-E0F0-33D7-7001638D9AE8}"/>
                </a:ext>
              </a:extLst>
            </p:cNvPr>
            <p:cNvPicPr>
              <a:picLocks noChangeAspect="1"/>
            </p:cNvPicPr>
            <p:nvPr/>
          </p:nvPicPr>
          <p:blipFill>
            <a:blip r:embed="rId4"/>
            <a:stretch>
              <a:fillRect/>
            </a:stretch>
          </p:blipFill>
          <p:spPr>
            <a:xfrm>
              <a:off x="685800" y="1608211"/>
              <a:ext cx="7772400" cy="2656389"/>
            </a:xfrm>
            <a:prstGeom prst="rect">
              <a:avLst/>
            </a:prstGeom>
          </p:spPr>
        </p:pic>
        <p:pic>
          <p:nvPicPr>
            <p:cNvPr id="16" name="Picture 15">
              <a:extLst>
                <a:ext uri="{FF2B5EF4-FFF2-40B4-BE49-F238E27FC236}">
                  <a16:creationId xmlns:a16="http://schemas.microsoft.com/office/drawing/2014/main" id="{5D33A7EB-6D87-0C0F-19EA-AE41F7B85CFA}"/>
                </a:ext>
              </a:extLst>
            </p:cNvPr>
            <p:cNvPicPr>
              <a:picLocks noChangeAspect="1"/>
            </p:cNvPicPr>
            <p:nvPr/>
          </p:nvPicPr>
          <p:blipFill>
            <a:blip r:embed="rId4"/>
            <a:srcRect l="77661" t="60348" r="7948" b="19494"/>
            <a:stretch>
              <a:fillRect/>
            </a:stretch>
          </p:blipFill>
          <p:spPr>
            <a:xfrm>
              <a:off x="7876570" y="2090471"/>
              <a:ext cx="365121" cy="174800"/>
            </a:xfrm>
            <a:prstGeom prst="rect">
              <a:avLst/>
            </a:prstGeom>
          </p:spPr>
        </p:pic>
      </p:grpSp>
    </p:spTree>
    <p:extLst>
      <p:ext uri="{BB962C8B-B14F-4D97-AF65-F5344CB8AC3E}">
        <p14:creationId xmlns:p14="http://schemas.microsoft.com/office/powerpoint/2010/main" val="1046869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3D6BCF00-5984-CF7B-0F78-89C9C245BE88}"/>
            </a:ext>
          </a:extLst>
        </p:cNvPr>
        <p:cNvGrpSpPr/>
        <p:nvPr/>
      </p:nvGrpSpPr>
      <p:grpSpPr>
        <a:xfrm>
          <a:off x="0" y="0"/>
          <a:ext cx="0" cy="0"/>
          <a:chOff x="0" y="0"/>
          <a:chExt cx="0" cy="0"/>
        </a:xfrm>
      </p:grpSpPr>
      <p:sp>
        <p:nvSpPr>
          <p:cNvPr id="106" name="Google Shape;106;p21">
            <a:extLst>
              <a:ext uri="{FF2B5EF4-FFF2-40B4-BE49-F238E27FC236}">
                <a16:creationId xmlns:a16="http://schemas.microsoft.com/office/drawing/2014/main" id="{166DF105-A8C1-086D-50A2-43A392BE35F0}"/>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sp>
        <p:nvSpPr>
          <p:cNvPr id="9" name="Google Shape;104;p21">
            <a:extLst>
              <a:ext uri="{FF2B5EF4-FFF2-40B4-BE49-F238E27FC236}">
                <a16:creationId xmlns:a16="http://schemas.microsoft.com/office/drawing/2014/main" id="{EA51AACD-7C1E-D73A-A187-D6530159DCDD}"/>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en-US" b="1" dirty="0">
                <a:solidFill>
                  <a:srgbClr val="292E60"/>
                </a:solidFill>
              </a:rPr>
              <a:t>Public Exploit</a:t>
            </a:r>
            <a:endParaRPr b="1" dirty="0">
              <a:solidFill>
                <a:srgbClr val="292E60"/>
              </a:solidFill>
            </a:endParaRPr>
          </a:p>
        </p:txBody>
      </p:sp>
      <p:pic>
        <p:nvPicPr>
          <p:cNvPr id="10" name="Google Shape;107;p21">
            <a:extLst>
              <a:ext uri="{FF2B5EF4-FFF2-40B4-BE49-F238E27FC236}">
                <a16:creationId xmlns:a16="http://schemas.microsoft.com/office/drawing/2014/main" id="{C07BDB92-DEE8-E483-9154-4B4B91B362F5}"/>
              </a:ext>
            </a:extLst>
          </p:cNvPr>
          <p:cNvPicPr preferRelativeResize="0"/>
          <p:nvPr/>
        </p:nvPicPr>
        <p:blipFill>
          <a:blip r:embed="rId3">
            <a:alphaModFix/>
          </a:blip>
          <a:stretch>
            <a:fillRect/>
          </a:stretch>
        </p:blipFill>
        <p:spPr>
          <a:xfrm>
            <a:off x="2764462" y="878900"/>
            <a:ext cx="155800" cy="155800"/>
          </a:xfrm>
          <a:prstGeom prst="rect">
            <a:avLst/>
          </a:prstGeom>
          <a:noFill/>
          <a:ln>
            <a:noFill/>
          </a:ln>
        </p:spPr>
      </p:pic>
      <p:pic>
        <p:nvPicPr>
          <p:cNvPr id="3" name="Picture 2">
            <a:extLst>
              <a:ext uri="{FF2B5EF4-FFF2-40B4-BE49-F238E27FC236}">
                <a16:creationId xmlns:a16="http://schemas.microsoft.com/office/drawing/2014/main" id="{53E3EAA2-FB69-1A43-8B91-4D1FBFA8FC84}"/>
              </a:ext>
            </a:extLst>
          </p:cNvPr>
          <p:cNvPicPr>
            <a:picLocks noChangeAspect="1"/>
          </p:cNvPicPr>
          <p:nvPr/>
        </p:nvPicPr>
        <p:blipFill>
          <a:blip r:embed="rId4"/>
          <a:srcRect b="12799"/>
          <a:stretch>
            <a:fillRect/>
          </a:stretch>
        </p:blipFill>
        <p:spPr>
          <a:xfrm>
            <a:off x="445307" y="1406099"/>
            <a:ext cx="8296930" cy="2858503"/>
          </a:xfrm>
          <a:prstGeom prst="roundRect">
            <a:avLst>
              <a:gd name="adj" fmla="val 1824"/>
            </a:avLst>
          </a:prstGeom>
          <a:ln>
            <a:noFill/>
          </a:ln>
          <a:effectLst>
            <a:outerShdw blurRad="76200" dist="38100" dir="7800000" algn="tl" rotWithShape="0">
              <a:srgbClr val="000000">
                <a:alpha val="30000"/>
              </a:srgbClr>
            </a:outerShdw>
          </a:effectLst>
          <a:scene3d>
            <a:camera prst="orthographicFront"/>
            <a:lightRig rig="contrasting" dir="t">
              <a:rot lat="0" lon="0" rev="4200000"/>
            </a:lightRig>
          </a:scene3d>
          <a:sp3d prstMaterial="plastic">
            <a:contourClr>
              <a:srgbClr val="969696"/>
            </a:contourClr>
          </a:sp3d>
        </p:spPr>
      </p:pic>
      <p:sp>
        <p:nvSpPr>
          <p:cNvPr id="2" name="TextBox 1">
            <a:extLst>
              <a:ext uri="{FF2B5EF4-FFF2-40B4-BE49-F238E27FC236}">
                <a16:creationId xmlns:a16="http://schemas.microsoft.com/office/drawing/2014/main" id="{224189A2-AF7E-5458-5350-BCAEB711DA5B}"/>
              </a:ext>
            </a:extLst>
          </p:cNvPr>
          <p:cNvSpPr txBox="1"/>
          <p:nvPr/>
        </p:nvSpPr>
        <p:spPr>
          <a:xfrm>
            <a:off x="4081817" y="4497130"/>
            <a:ext cx="5029200" cy="523220"/>
          </a:xfrm>
          <a:prstGeom prst="rect">
            <a:avLst/>
          </a:prstGeom>
          <a:noFill/>
        </p:spPr>
        <p:txBody>
          <a:bodyPr wrap="square">
            <a:spAutoFit/>
          </a:bodyPr>
          <a:lstStyle/>
          <a:p>
            <a:pPr algn="r"/>
            <a:r>
              <a:rPr lang="en-US" dirty="0">
                <a:solidFill>
                  <a:srgbClr val="1D1D1A"/>
                </a:solidFill>
                <a:latin typeface="Arial" panose="020B0604020202020204" pitchFamily="34" charset="0"/>
                <a:cs typeface="Arial" panose="020B0604020202020204" pitchFamily="34" charset="0"/>
              </a:rPr>
              <a:t>Exploit Public-Facing Application (</a:t>
            </a:r>
            <a:r>
              <a:rPr lang="en-US" dirty="0"/>
              <a:t>T0819</a:t>
            </a:r>
            <a:r>
              <a:rPr lang="en-US" dirty="0">
                <a:solidFill>
                  <a:srgbClr val="1D1D1A"/>
                </a:solidFill>
                <a:latin typeface="Arial" panose="020B0604020202020204" pitchFamily="34" charset="0"/>
                <a:cs typeface="Arial" panose="020B0604020202020204" pitchFamily="34" charset="0"/>
              </a:rPr>
              <a:t>)</a:t>
            </a:r>
          </a:p>
          <a:p>
            <a:pPr algn="r"/>
            <a:r>
              <a:rPr lang="en-US" dirty="0"/>
              <a:t>Command and Scripting Interpreter: Unix Shell (T1059.004)</a:t>
            </a:r>
          </a:p>
        </p:txBody>
      </p:sp>
    </p:spTree>
    <p:extLst>
      <p:ext uri="{BB962C8B-B14F-4D97-AF65-F5344CB8AC3E}">
        <p14:creationId xmlns:p14="http://schemas.microsoft.com/office/powerpoint/2010/main" val="9396347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8A20002D-4F11-91A3-E0C2-A81001EAAF32}"/>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69444118-885C-A477-5283-C1B260DB00F0}"/>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a:solidFill>
                  <a:srgbClr val="292E60"/>
                </a:solidFill>
              </a:rPr>
              <a:t>Challenges</a:t>
            </a:r>
            <a:endParaRPr b="1" dirty="0">
              <a:solidFill>
                <a:srgbClr val="292E60"/>
              </a:solidFill>
            </a:endParaRPr>
          </a:p>
        </p:txBody>
      </p:sp>
      <p:sp>
        <p:nvSpPr>
          <p:cNvPr id="105" name="Google Shape;105;p21">
            <a:extLst>
              <a:ext uri="{FF2B5EF4-FFF2-40B4-BE49-F238E27FC236}">
                <a16:creationId xmlns:a16="http://schemas.microsoft.com/office/drawing/2014/main" id="{3B1500DD-CB20-3665-4C40-27FE9FB3AC54}"/>
              </a:ext>
            </a:extLst>
          </p:cNvPr>
          <p:cNvSpPr txBox="1">
            <a:spLocks noGrp="1"/>
          </p:cNvSpPr>
          <p:nvPr>
            <p:ph type="body" idx="1"/>
          </p:nvPr>
        </p:nvSpPr>
        <p:spPr>
          <a:xfrm>
            <a:off x="552475" y="1152475"/>
            <a:ext cx="8279700" cy="3416400"/>
          </a:xfrm>
          <a:prstGeom prst="rect">
            <a:avLst/>
          </a:prstGeom>
        </p:spPr>
        <p:txBody>
          <a:bodyPr spcFirstLastPara="1" wrap="square" lIns="91425" tIns="91425" rIns="91425" bIns="91425" anchor="t" anchorCtr="0">
            <a:noAutofit/>
          </a:bodyPr>
          <a:lstStyle/>
          <a:p>
            <a:pPr marL="285750" indent="-285750">
              <a:spcAft>
                <a:spcPts val="1600"/>
              </a:spcAft>
            </a:pPr>
            <a:r>
              <a:rPr lang="en-US" dirty="0">
                <a:solidFill>
                  <a:srgbClr val="1D1D1B"/>
                </a:solidFill>
              </a:rPr>
              <a:t>SQL Injection variants</a:t>
            </a:r>
          </a:p>
          <a:p>
            <a:pPr marL="285750" indent="-285750">
              <a:spcAft>
                <a:spcPts val="1600"/>
              </a:spcAft>
            </a:pPr>
            <a:r>
              <a:rPr lang="en-US" dirty="0" err="1">
                <a:solidFill>
                  <a:srgbClr val="1D1D1B"/>
                </a:solidFill>
              </a:rPr>
              <a:t>LinPEAS</a:t>
            </a:r>
            <a:r>
              <a:rPr lang="en-US" dirty="0">
                <a:solidFill>
                  <a:srgbClr val="1D1D1B"/>
                </a:solidFill>
              </a:rPr>
              <a:t> script analysis</a:t>
            </a:r>
          </a:p>
          <a:p>
            <a:pPr marL="285750" indent="-285750">
              <a:spcAft>
                <a:spcPts val="1600"/>
              </a:spcAft>
            </a:pPr>
            <a:r>
              <a:rPr lang="en-US" dirty="0">
                <a:solidFill>
                  <a:srgbClr val="1D1D1B"/>
                </a:solidFill>
              </a:rPr>
              <a:t>Report scope</a:t>
            </a:r>
          </a:p>
        </p:txBody>
      </p:sp>
      <p:sp>
        <p:nvSpPr>
          <p:cNvPr id="106" name="Google Shape;106;p21">
            <a:extLst>
              <a:ext uri="{FF2B5EF4-FFF2-40B4-BE49-F238E27FC236}">
                <a16:creationId xmlns:a16="http://schemas.microsoft.com/office/drawing/2014/main" id="{54B95D18-E2C5-971D-C5F4-BFA2D3DC4B80}"/>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pic>
        <p:nvPicPr>
          <p:cNvPr id="107" name="Google Shape;107;p21">
            <a:extLst>
              <a:ext uri="{FF2B5EF4-FFF2-40B4-BE49-F238E27FC236}">
                <a16:creationId xmlns:a16="http://schemas.microsoft.com/office/drawing/2014/main" id="{95ABB1EE-C5A4-6507-9354-EFAE439B5876}"/>
              </a:ext>
            </a:extLst>
          </p:cNvPr>
          <p:cNvPicPr preferRelativeResize="0"/>
          <p:nvPr/>
        </p:nvPicPr>
        <p:blipFill>
          <a:blip r:embed="rId3">
            <a:alphaModFix/>
          </a:blip>
          <a:stretch>
            <a:fillRect/>
          </a:stretch>
        </p:blipFill>
        <p:spPr>
          <a:xfrm>
            <a:off x="2264722" y="878900"/>
            <a:ext cx="155800" cy="155800"/>
          </a:xfrm>
          <a:prstGeom prst="rect">
            <a:avLst/>
          </a:prstGeom>
          <a:noFill/>
          <a:ln>
            <a:noFill/>
          </a:ln>
        </p:spPr>
      </p:pic>
    </p:spTree>
    <p:extLst>
      <p:ext uri="{BB962C8B-B14F-4D97-AF65-F5344CB8AC3E}">
        <p14:creationId xmlns:p14="http://schemas.microsoft.com/office/powerpoint/2010/main" val="12153738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bg>
      <p:bgPr>
        <a:solidFill>
          <a:srgbClr val="31363A"/>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2F65A6-1712-7AF3-57EE-70E3FEDF66A4}"/>
              </a:ext>
            </a:extLst>
          </p:cNvPr>
          <p:cNvPicPr>
            <a:picLocks noChangeAspect="1"/>
          </p:cNvPicPr>
          <p:nvPr/>
        </p:nvPicPr>
        <p:blipFill>
          <a:blip r:embed="rId2"/>
          <a:stretch>
            <a:fillRect/>
          </a:stretch>
        </p:blipFill>
        <p:spPr>
          <a:xfrm>
            <a:off x="685800" y="211461"/>
            <a:ext cx="7772400" cy="329677"/>
          </a:xfrm>
          <a:prstGeom prst="rect">
            <a:avLst/>
          </a:prstGeom>
        </p:spPr>
      </p:pic>
      <p:pic>
        <p:nvPicPr>
          <p:cNvPr id="6" name="Picture 5">
            <a:extLst>
              <a:ext uri="{FF2B5EF4-FFF2-40B4-BE49-F238E27FC236}">
                <a16:creationId xmlns:a16="http://schemas.microsoft.com/office/drawing/2014/main" id="{5CCF966D-2A45-69C1-5838-61DB1DAFA334}"/>
              </a:ext>
            </a:extLst>
          </p:cNvPr>
          <p:cNvPicPr>
            <a:picLocks noChangeAspect="1"/>
          </p:cNvPicPr>
          <p:nvPr/>
        </p:nvPicPr>
        <p:blipFill>
          <a:blip r:embed="rId2"/>
          <a:srcRect l="23109" t="-1906" r="54034" b="50394"/>
          <a:stretch>
            <a:fillRect/>
          </a:stretch>
        </p:blipFill>
        <p:spPr>
          <a:xfrm>
            <a:off x="4847226" y="1588209"/>
            <a:ext cx="1776549" cy="169817"/>
          </a:xfrm>
          <a:prstGeom prst="rect">
            <a:avLst/>
          </a:prstGeom>
        </p:spPr>
      </p:pic>
      <p:pic>
        <p:nvPicPr>
          <p:cNvPr id="7" name="Picture 6">
            <a:extLst>
              <a:ext uri="{FF2B5EF4-FFF2-40B4-BE49-F238E27FC236}">
                <a16:creationId xmlns:a16="http://schemas.microsoft.com/office/drawing/2014/main" id="{82CD2E56-0CBE-C5A2-82E6-149B5D2DEFF5}"/>
              </a:ext>
            </a:extLst>
          </p:cNvPr>
          <p:cNvPicPr>
            <a:picLocks noChangeAspect="1"/>
          </p:cNvPicPr>
          <p:nvPr/>
        </p:nvPicPr>
        <p:blipFill>
          <a:blip r:embed="rId2"/>
          <a:srcRect t="48490" r="74644"/>
          <a:stretch>
            <a:fillRect/>
          </a:stretch>
        </p:blipFill>
        <p:spPr>
          <a:xfrm>
            <a:off x="4847224" y="1832977"/>
            <a:ext cx="1970788" cy="169817"/>
          </a:xfrm>
          <a:prstGeom prst="rect">
            <a:avLst/>
          </a:prstGeom>
        </p:spPr>
      </p:pic>
      <p:pic>
        <p:nvPicPr>
          <p:cNvPr id="8" name="Picture 7">
            <a:extLst>
              <a:ext uri="{FF2B5EF4-FFF2-40B4-BE49-F238E27FC236}">
                <a16:creationId xmlns:a16="http://schemas.microsoft.com/office/drawing/2014/main" id="{BF79EF6A-DBB0-1118-AE6A-ED059F9CE23A}"/>
              </a:ext>
            </a:extLst>
          </p:cNvPr>
          <p:cNvPicPr>
            <a:picLocks noChangeAspect="1"/>
          </p:cNvPicPr>
          <p:nvPr/>
        </p:nvPicPr>
        <p:blipFill>
          <a:blip r:embed="rId2"/>
          <a:srcRect l="25993" t="48490" r="50358"/>
          <a:stretch>
            <a:fillRect/>
          </a:stretch>
        </p:blipFill>
        <p:spPr>
          <a:xfrm>
            <a:off x="4847224" y="2077745"/>
            <a:ext cx="1838104" cy="169817"/>
          </a:xfrm>
          <a:prstGeom prst="rect">
            <a:avLst/>
          </a:prstGeom>
        </p:spPr>
      </p:pic>
      <p:pic>
        <p:nvPicPr>
          <p:cNvPr id="9" name="Picture 8">
            <a:extLst>
              <a:ext uri="{FF2B5EF4-FFF2-40B4-BE49-F238E27FC236}">
                <a16:creationId xmlns:a16="http://schemas.microsoft.com/office/drawing/2014/main" id="{59C2CB58-EE46-E894-7801-D4E24B8229F6}"/>
              </a:ext>
            </a:extLst>
          </p:cNvPr>
          <p:cNvPicPr>
            <a:picLocks noChangeAspect="1"/>
          </p:cNvPicPr>
          <p:nvPr/>
        </p:nvPicPr>
        <p:blipFill>
          <a:blip r:embed="rId2"/>
          <a:srcRect r="77143" b="48490"/>
          <a:stretch>
            <a:fillRect/>
          </a:stretch>
        </p:blipFill>
        <p:spPr>
          <a:xfrm>
            <a:off x="2439357" y="1588208"/>
            <a:ext cx="1776549" cy="169817"/>
          </a:xfrm>
          <a:prstGeom prst="rect">
            <a:avLst/>
          </a:prstGeom>
        </p:spPr>
      </p:pic>
      <p:pic>
        <p:nvPicPr>
          <p:cNvPr id="10" name="Picture 9">
            <a:extLst>
              <a:ext uri="{FF2B5EF4-FFF2-40B4-BE49-F238E27FC236}">
                <a16:creationId xmlns:a16="http://schemas.microsoft.com/office/drawing/2014/main" id="{BFE6DCC0-8709-8988-C60E-8B507F524AF6}"/>
              </a:ext>
            </a:extLst>
          </p:cNvPr>
          <p:cNvPicPr>
            <a:picLocks noChangeAspect="1"/>
          </p:cNvPicPr>
          <p:nvPr/>
        </p:nvPicPr>
        <p:blipFill>
          <a:blip r:embed="rId2"/>
          <a:srcRect l="46155" r="25350" b="48490"/>
          <a:stretch>
            <a:fillRect/>
          </a:stretch>
        </p:blipFill>
        <p:spPr>
          <a:xfrm>
            <a:off x="2439355" y="1832976"/>
            <a:ext cx="2214748" cy="169817"/>
          </a:xfrm>
          <a:prstGeom prst="rect">
            <a:avLst/>
          </a:prstGeom>
        </p:spPr>
      </p:pic>
      <p:pic>
        <p:nvPicPr>
          <p:cNvPr id="11" name="Picture 10">
            <a:extLst>
              <a:ext uri="{FF2B5EF4-FFF2-40B4-BE49-F238E27FC236}">
                <a16:creationId xmlns:a16="http://schemas.microsoft.com/office/drawing/2014/main" id="{B26D6C27-FDD0-94E1-4D9E-454C04A6A0AE}"/>
              </a:ext>
            </a:extLst>
          </p:cNvPr>
          <p:cNvPicPr>
            <a:picLocks noChangeAspect="1"/>
          </p:cNvPicPr>
          <p:nvPr/>
        </p:nvPicPr>
        <p:blipFill>
          <a:blip r:embed="rId2"/>
          <a:srcRect l="75338" r="1013" b="48490"/>
          <a:stretch>
            <a:fillRect/>
          </a:stretch>
        </p:blipFill>
        <p:spPr>
          <a:xfrm>
            <a:off x="2439355" y="2077744"/>
            <a:ext cx="1838104" cy="169817"/>
          </a:xfrm>
          <a:prstGeom prst="rect">
            <a:avLst/>
          </a:prstGeom>
        </p:spPr>
      </p:pic>
      <p:cxnSp>
        <p:nvCxnSpPr>
          <p:cNvPr id="13" name="Straight Connector 12">
            <a:extLst>
              <a:ext uri="{FF2B5EF4-FFF2-40B4-BE49-F238E27FC236}">
                <a16:creationId xmlns:a16="http://schemas.microsoft.com/office/drawing/2014/main" id="{DEB6FCFA-EA13-5E02-C78A-D052DE14D130}"/>
              </a:ext>
            </a:extLst>
          </p:cNvPr>
          <p:cNvCxnSpPr/>
          <p:nvPr/>
        </p:nvCxnSpPr>
        <p:spPr>
          <a:xfrm>
            <a:off x="4720108" y="1322234"/>
            <a:ext cx="0" cy="119129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48A0F55-CDF3-6BF2-42F5-88BE0B8E2FED}"/>
              </a:ext>
            </a:extLst>
          </p:cNvPr>
          <p:cNvCxnSpPr>
            <a:cxnSpLocks/>
          </p:cNvCxnSpPr>
          <p:nvPr/>
        </p:nvCxnSpPr>
        <p:spPr>
          <a:xfrm>
            <a:off x="2356836" y="1500389"/>
            <a:ext cx="462995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CA0A1B8-911A-1952-9145-F00F54C087C5}"/>
              </a:ext>
            </a:extLst>
          </p:cNvPr>
          <p:cNvSpPr txBox="1"/>
          <p:nvPr/>
        </p:nvSpPr>
        <p:spPr>
          <a:xfrm>
            <a:off x="2356834" y="1229617"/>
            <a:ext cx="2363254" cy="261610"/>
          </a:xfrm>
          <a:prstGeom prst="rect">
            <a:avLst/>
          </a:prstGeom>
          <a:noFill/>
        </p:spPr>
        <p:txBody>
          <a:bodyPr wrap="square" rtlCol="0">
            <a:spAutoFit/>
          </a:bodyPr>
          <a:lstStyle/>
          <a:p>
            <a:pPr algn="ctr"/>
            <a:r>
              <a:rPr lang="en-US" sz="1100" b="1" dirty="0">
                <a:solidFill>
                  <a:schemeClr val="bg1"/>
                </a:solidFill>
              </a:rPr>
              <a:t>Same config as port 1337</a:t>
            </a:r>
          </a:p>
        </p:txBody>
      </p:sp>
      <p:sp>
        <p:nvSpPr>
          <p:cNvPr id="18" name="TextBox 17">
            <a:extLst>
              <a:ext uri="{FF2B5EF4-FFF2-40B4-BE49-F238E27FC236}">
                <a16:creationId xmlns:a16="http://schemas.microsoft.com/office/drawing/2014/main" id="{A9C56641-8070-5967-6209-5AE17E6C59CE}"/>
              </a:ext>
            </a:extLst>
          </p:cNvPr>
          <p:cNvSpPr txBox="1"/>
          <p:nvPr/>
        </p:nvSpPr>
        <p:spPr>
          <a:xfrm>
            <a:off x="4720088" y="1230603"/>
            <a:ext cx="2271514" cy="261610"/>
          </a:xfrm>
          <a:prstGeom prst="rect">
            <a:avLst/>
          </a:prstGeom>
          <a:noFill/>
        </p:spPr>
        <p:txBody>
          <a:bodyPr wrap="square" rtlCol="0">
            <a:spAutoFit/>
          </a:bodyPr>
          <a:lstStyle/>
          <a:p>
            <a:pPr algn="ctr"/>
            <a:r>
              <a:rPr lang="en-US" sz="1100" b="1" dirty="0">
                <a:solidFill>
                  <a:schemeClr val="bg1"/>
                </a:solidFill>
              </a:rPr>
              <a:t>Config differences to port 1337</a:t>
            </a:r>
          </a:p>
        </p:txBody>
      </p:sp>
      <p:pic>
        <p:nvPicPr>
          <p:cNvPr id="3" name="Picture 2">
            <a:extLst>
              <a:ext uri="{FF2B5EF4-FFF2-40B4-BE49-F238E27FC236}">
                <a16:creationId xmlns:a16="http://schemas.microsoft.com/office/drawing/2014/main" id="{0AFFDA6E-001F-059C-AA32-920D5E63E7D0}"/>
              </a:ext>
            </a:extLst>
          </p:cNvPr>
          <p:cNvPicPr>
            <a:picLocks noChangeAspect="1"/>
          </p:cNvPicPr>
          <p:nvPr/>
        </p:nvPicPr>
        <p:blipFill>
          <a:blip r:embed="rId3"/>
          <a:srcRect r="60448" b="-23002"/>
          <a:stretch>
            <a:fillRect/>
          </a:stretch>
        </p:blipFill>
        <p:spPr>
          <a:xfrm>
            <a:off x="1502118" y="2937550"/>
            <a:ext cx="2496463" cy="203075"/>
          </a:xfrm>
          <a:prstGeom prst="rect">
            <a:avLst/>
          </a:prstGeom>
        </p:spPr>
      </p:pic>
      <p:pic>
        <p:nvPicPr>
          <p:cNvPr id="4" name="Picture 3">
            <a:extLst>
              <a:ext uri="{FF2B5EF4-FFF2-40B4-BE49-F238E27FC236}">
                <a16:creationId xmlns:a16="http://schemas.microsoft.com/office/drawing/2014/main" id="{61414BCE-5F8D-1911-50B6-AC153240DB4A}"/>
              </a:ext>
            </a:extLst>
          </p:cNvPr>
          <p:cNvPicPr>
            <a:picLocks noChangeAspect="1"/>
          </p:cNvPicPr>
          <p:nvPr/>
        </p:nvPicPr>
        <p:blipFill>
          <a:blip r:embed="rId3"/>
          <a:srcRect l="39694"/>
          <a:stretch>
            <a:fillRect/>
          </a:stretch>
        </p:blipFill>
        <p:spPr>
          <a:xfrm>
            <a:off x="1517882" y="3203360"/>
            <a:ext cx="3806464" cy="165100"/>
          </a:xfrm>
          <a:prstGeom prst="rect">
            <a:avLst/>
          </a:prstGeom>
        </p:spPr>
      </p:pic>
    </p:spTree>
    <p:extLst>
      <p:ext uri="{BB962C8B-B14F-4D97-AF65-F5344CB8AC3E}">
        <p14:creationId xmlns:p14="http://schemas.microsoft.com/office/powerpoint/2010/main" val="5415944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7">
          <a:extLst>
            <a:ext uri="{FF2B5EF4-FFF2-40B4-BE49-F238E27FC236}">
              <a16:creationId xmlns:a16="http://schemas.microsoft.com/office/drawing/2014/main" id="{A0DA5AC8-C242-6B60-B626-A1A465823C0A}"/>
            </a:ext>
          </a:extLst>
        </p:cNvPr>
        <p:cNvGrpSpPr/>
        <p:nvPr/>
      </p:nvGrpSpPr>
      <p:grpSpPr>
        <a:xfrm>
          <a:off x="0" y="0"/>
          <a:ext cx="0" cy="0"/>
          <a:chOff x="0" y="0"/>
          <a:chExt cx="0" cy="0"/>
        </a:xfrm>
      </p:grpSpPr>
      <p:sp>
        <p:nvSpPr>
          <p:cNvPr id="98" name="Google Shape;98;p20">
            <a:extLst>
              <a:ext uri="{FF2B5EF4-FFF2-40B4-BE49-F238E27FC236}">
                <a16:creationId xmlns:a16="http://schemas.microsoft.com/office/drawing/2014/main" id="{5CFE25B1-9A94-969B-8F69-E3EF2AEECC04}"/>
              </a:ext>
            </a:extLst>
          </p:cNvPr>
          <p:cNvSpPr txBox="1">
            <a:spLocks noGrp="1"/>
          </p:cNvSpPr>
          <p:nvPr>
            <p:ph type="title"/>
          </p:nvPr>
        </p:nvSpPr>
        <p:spPr>
          <a:xfrm>
            <a:off x="3245475" y="2055225"/>
            <a:ext cx="1408800" cy="1189200"/>
          </a:xfrm>
          <a:prstGeom prst="rect">
            <a:avLst/>
          </a:prstGeom>
        </p:spPr>
        <p:txBody>
          <a:bodyPr spcFirstLastPara="1" wrap="square" lIns="91425" tIns="91425" rIns="91425" bIns="91425" anchor="t" anchorCtr="0">
            <a:noAutofit/>
          </a:bodyPr>
          <a:lstStyle/>
          <a:p>
            <a:r>
              <a:rPr lang="de" sz="8000" b="1" dirty="0">
                <a:solidFill>
                  <a:srgbClr val="1D1D1B"/>
                </a:solidFill>
              </a:rPr>
              <a:t>03</a:t>
            </a:r>
            <a:endParaRPr sz="8000" b="1" dirty="0">
              <a:solidFill>
                <a:srgbClr val="1D1D1B"/>
              </a:solidFill>
            </a:endParaRPr>
          </a:p>
        </p:txBody>
      </p:sp>
      <p:sp>
        <p:nvSpPr>
          <p:cNvPr id="99" name="Google Shape;99;p20">
            <a:extLst>
              <a:ext uri="{FF2B5EF4-FFF2-40B4-BE49-F238E27FC236}">
                <a16:creationId xmlns:a16="http://schemas.microsoft.com/office/drawing/2014/main" id="{2E61EA20-7DA6-FC6E-1551-44BCCFC4FDFA}"/>
              </a:ext>
            </a:extLst>
          </p:cNvPr>
          <p:cNvSpPr txBox="1"/>
          <p:nvPr/>
        </p:nvSpPr>
        <p:spPr>
          <a:xfrm>
            <a:off x="4580650" y="2670225"/>
            <a:ext cx="3515600" cy="726600"/>
          </a:xfrm>
          <a:prstGeom prst="rect">
            <a:avLst/>
          </a:prstGeom>
          <a:noFill/>
          <a:ln>
            <a:noFill/>
          </a:ln>
        </p:spPr>
        <p:txBody>
          <a:bodyPr spcFirstLastPara="1" wrap="square" lIns="91425" tIns="91425" rIns="91425" bIns="91425" anchor="t" anchorCtr="0">
            <a:noAutofit/>
          </a:bodyPr>
          <a:lstStyle/>
          <a:p>
            <a:r>
              <a:rPr lang="de" sz="3000" b="1" dirty="0">
                <a:solidFill>
                  <a:srgbClr val="1D1D1B"/>
                </a:solidFill>
              </a:rPr>
              <a:t>Digitale Forensik</a:t>
            </a:r>
            <a:endParaRPr sz="3000" b="1" dirty="0">
              <a:solidFill>
                <a:srgbClr val="1D1D1B"/>
              </a:solidFill>
            </a:endParaRPr>
          </a:p>
        </p:txBody>
      </p:sp>
    </p:spTree>
    <p:extLst>
      <p:ext uri="{BB962C8B-B14F-4D97-AF65-F5344CB8AC3E}">
        <p14:creationId xmlns:p14="http://schemas.microsoft.com/office/powerpoint/2010/main" val="34966597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38699E5F-1CA8-80E8-55B0-6ACC41278761}"/>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147EB354-5E79-CF4B-88A0-5CA9617945A2}"/>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Relevancy</a:t>
            </a:r>
            <a:endParaRPr b="1" dirty="0">
              <a:solidFill>
                <a:srgbClr val="292E60"/>
              </a:solidFill>
            </a:endParaRPr>
          </a:p>
        </p:txBody>
      </p:sp>
      <p:sp>
        <p:nvSpPr>
          <p:cNvPr id="106" name="Google Shape;106;p21">
            <a:extLst>
              <a:ext uri="{FF2B5EF4-FFF2-40B4-BE49-F238E27FC236}">
                <a16:creationId xmlns:a16="http://schemas.microsoft.com/office/drawing/2014/main" id="{A965561C-5BA9-0DC8-26E4-23E563C979DE}"/>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pic>
        <p:nvPicPr>
          <p:cNvPr id="107" name="Google Shape;107;p21">
            <a:extLst>
              <a:ext uri="{FF2B5EF4-FFF2-40B4-BE49-F238E27FC236}">
                <a16:creationId xmlns:a16="http://schemas.microsoft.com/office/drawing/2014/main" id="{D47EFEAF-9432-6D69-F861-B3A8454C8DCC}"/>
              </a:ext>
            </a:extLst>
          </p:cNvPr>
          <p:cNvPicPr preferRelativeResize="0"/>
          <p:nvPr/>
        </p:nvPicPr>
        <p:blipFill>
          <a:blip r:embed="rId3">
            <a:alphaModFix/>
          </a:blip>
          <a:stretch>
            <a:fillRect/>
          </a:stretch>
        </p:blipFill>
        <p:spPr>
          <a:xfrm>
            <a:off x="2111787" y="878900"/>
            <a:ext cx="155800" cy="155800"/>
          </a:xfrm>
          <a:prstGeom prst="rect">
            <a:avLst/>
          </a:prstGeom>
          <a:noFill/>
          <a:ln>
            <a:noFill/>
          </a:ln>
        </p:spPr>
      </p:pic>
      <p:pic>
        <p:nvPicPr>
          <p:cNvPr id="12" name="Picture 11">
            <a:extLst>
              <a:ext uri="{FF2B5EF4-FFF2-40B4-BE49-F238E27FC236}">
                <a16:creationId xmlns:a16="http://schemas.microsoft.com/office/drawing/2014/main" id="{4C9BA42D-C2B0-55B6-9F0C-582B056C32A3}"/>
              </a:ext>
            </a:extLst>
          </p:cNvPr>
          <p:cNvPicPr>
            <a:picLocks noChangeAspect="1"/>
          </p:cNvPicPr>
          <p:nvPr/>
        </p:nvPicPr>
        <p:blipFill>
          <a:blip r:embed="rId4"/>
          <a:stretch>
            <a:fillRect/>
          </a:stretch>
        </p:blipFill>
        <p:spPr>
          <a:xfrm>
            <a:off x="685800" y="1451600"/>
            <a:ext cx="7772400" cy="1084120"/>
          </a:xfrm>
          <a:prstGeom prst="roundRect">
            <a:avLst>
              <a:gd name="adj" fmla="val 7914"/>
            </a:avLst>
          </a:prstGeom>
        </p:spPr>
      </p:pic>
      <p:pic>
        <p:nvPicPr>
          <p:cNvPr id="13" name="Picture 12">
            <a:extLst>
              <a:ext uri="{FF2B5EF4-FFF2-40B4-BE49-F238E27FC236}">
                <a16:creationId xmlns:a16="http://schemas.microsoft.com/office/drawing/2014/main" id="{5137D712-7BFF-0028-154B-CDD493B4A387}"/>
              </a:ext>
            </a:extLst>
          </p:cNvPr>
          <p:cNvPicPr>
            <a:picLocks noChangeAspect="1"/>
          </p:cNvPicPr>
          <p:nvPr/>
        </p:nvPicPr>
        <p:blipFill>
          <a:blip r:embed="rId4"/>
          <a:srcRect l="1720" t="8535" r="2941" b="-1"/>
          <a:stretch>
            <a:fillRect/>
          </a:stretch>
        </p:blipFill>
        <p:spPr>
          <a:xfrm>
            <a:off x="857527" y="1497864"/>
            <a:ext cx="7410092" cy="991592"/>
          </a:xfrm>
          <a:prstGeom prst="rect">
            <a:avLst/>
          </a:prstGeom>
        </p:spPr>
      </p:pic>
      <p:sp>
        <p:nvSpPr>
          <p:cNvPr id="16" name="TextBox 15">
            <a:extLst>
              <a:ext uri="{FF2B5EF4-FFF2-40B4-BE49-F238E27FC236}">
                <a16:creationId xmlns:a16="http://schemas.microsoft.com/office/drawing/2014/main" id="{EB328BFA-D3CE-F380-BB44-8F6AF2209916}"/>
              </a:ext>
            </a:extLst>
          </p:cNvPr>
          <p:cNvSpPr txBox="1"/>
          <p:nvPr/>
        </p:nvSpPr>
        <p:spPr>
          <a:xfrm>
            <a:off x="685801" y="2544175"/>
            <a:ext cx="5182263" cy="246221"/>
          </a:xfrm>
          <a:prstGeom prst="rect">
            <a:avLst/>
          </a:prstGeom>
          <a:noFill/>
        </p:spPr>
        <p:txBody>
          <a:bodyPr wrap="square">
            <a:spAutoFit/>
          </a:bodyPr>
          <a:lstStyle/>
          <a:p>
            <a:r>
              <a:rPr lang="en-US" sz="1000" dirty="0"/>
              <a:t>Source: </a:t>
            </a:r>
            <a:r>
              <a:rPr lang="en-US" sz="1000" dirty="0" err="1"/>
              <a:t>fra.europa.eu</a:t>
            </a:r>
            <a:r>
              <a:rPr lang="en-US" sz="1000" dirty="0"/>
              <a:t>/</a:t>
            </a:r>
            <a:r>
              <a:rPr lang="en-US" sz="1000" dirty="0" err="1"/>
              <a:t>en</a:t>
            </a:r>
            <a:r>
              <a:rPr lang="en-US" sz="1000" dirty="0"/>
              <a:t>/</a:t>
            </a:r>
            <a:r>
              <a:rPr lang="en-US" sz="1000" dirty="0" err="1"/>
              <a:t>eu</a:t>
            </a:r>
            <a:r>
              <a:rPr lang="en-US" sz="1000" dirty="0"/>
              <a:t>-charter/article/48-presumption-innocence-and-right-defence</a:t>
            </a:r>
          </a:p>
        </p:txBody>
      </p:sp>
      <p:sp>
        <p:nvSpPr>
          <p:cNvPr id="17" name="Google Shape;105;p21">
            <a:extLst>
              <a:ext uri="{FF2B5EF4-FFF2-40B4-BE49-F238E27FC236}">
                <a16:creationId xmlns:a16="http://schemas.microsoft.com/office/drawing/2014/main" id="{C0A2725F-9B83-81BB-708E-15DC0AA3E966}"/>
              </a:ext>
            </a:extLst>
          </p:cNvPr>
          <p:cNvSpPr txBox="1">
            <a:spLocks noGrp="1"/>
          </p:cNvSpPr>
          <p:nvPr>
            <p:ph type="body" idx="1"/>
          </p:nvPr>
        </p:nvSpPr>
        <p:spPr>
          <a:xfrm>
            <a:off x="685799" y="2981767"/>
            <a:ext cx="8279700" cy="1138512"/>
          </a:xfrm>
          <a:prstGeom prst="rect">
            <a:avLst/>
          </a:prstGeom>
        </p:spPr>
        <p:txBody>
          <a:bodyPr spcFirstLastPara="1" wrap="square" lIns="91425" tIns="91425" rIns="91425" bIns="91425" anchor="t" anchorCtr="0">
            <a:noAutofit/>
          </a:bodyPr>
          <a:lstStyle/>
          <a:p>
            <a:pPr marL="0" indent="0">
              <a:spcAft>
                <a:spcPts val="1600"/>
              </a:spcAft>
              <a:buNone/>
            </a:pPr>
            <a:r>
              <a:rPr lang="en-US" dirty="0">
                <a:solidFill>
                  <a:srgbClr val="000000"/>
                </a:solidFill>
              </a:rPr>
              <a:t>"Digital evidence can be a part of investigating most crimes, since material relevant to the crime may be recorded in digital form. Methods for securely acquiring, storing and analyzing digital evidence quickly and efficiently are critical."</a:t>
            </a:r>
          </a:p>
        </p:txBody>
      </p:sp>
      <p:sp>
        <p:nvSpPr>
          <p:cNvPr id="18" name="TextBox 17">
            <a:extLst>
              <a:ext uri="{FF2B5EF4-FFF2-40B4-BE49-F238E27FC236}">
                <a16:creationId xmlns:a16="http://schemas.microsoft.com/office/drawing/2014/main" id="{A70BF958-8AD1-38E2-7E6D-F157597EF987}"/>
              </a:ext>
            </a:extLst>
          </p:cNvPr>
          <p:cNvSpPr txBox="1"/>
          <p:nvPr/>
        </p:nvSpPr>
        <p:spPr>
          <a:xfrm>
            <a:off x="685799" y="4347531"/>
            <a:ext cx="4572000" cy="246221"/>
          </a:xfrm>
          <a:prstGeom prst="rect">
            <a:avLst/>
          </a:prstGeom>
          <a:noFill/>
        </p:spPr>
        <p:txBody>
          <a:bodyPr wrap="square">
            <a:spAutoFit/>
          </a:bodyPr>
          <a:lstStyle/>
          <a:p>
            <a:r>
              <a:rPr lang="en-US" sz="1000" dirty="0"/>
              <a:t>Source: </a:t>
            </a:r>
            <a:r>
              <a:rPr lang="en-US" sz="1000" dirty="0" err="1"/>
              <a:t>nist.gov</a:t>
            </a:r>
            <a:r>
              <a:rPr lang="en-US" sz="1000" dirty="0"/>
              <a:t>/</a:t>
            </a:r>
            <a:r>
              <a:rPr lang="en-US" sz="1000" dirty="0" err="1"/>
              <a:t>itl</a:t>
            </a:r>
            <a:r>
              <a:rPr lang="en-US" sz="1000" dirty="0"/>
              <a:t>/ai/digital-forensics</a:t>
            </a:r>
          </a:p>
        </p:txBody>
      </p:sp>
    </p:spTree>
    <p:extLst>
      <p:ext uri="{BB962C8B-B14F-4D97-AF65-F5344CB8AC3E}">
        <p14:creationId xmlns:p14="http://schemas.microsoft.com/office/powerpoint/2010/main" val="17353796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18"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6F5EB52-2CD7-E44E-86C6-C0C9BE278B9B}"/>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9A637064-6988-BBE2-C1F4-2C2032F672D5}"/>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Methodology</a:t>
            </a:r>
            <a:endParaRPr b="1" dirty="0">
              <a:solidFill>
                <a:srgbClr val="292E60"/>
              </a:solidFill>
            </a:endParaRPr>
          </a:p>
        </p:txBody>
      </p:sp>
      <p:sp>
        <p:nvSpPr>
          <p:cNvPr id="106" name="Google Shape;106;p21">
            <a:extLst>
              <a:ext uri="{FF2B5EF4-FFF2-40B4-BE49-F238E27FC236}">
                <a16:creationId xmlns:a16="http://schemas.microsoft.com/office/drawing/2014/main" id="{E9FD5B59-C498-51D9-2A1A-4D11BD96D12C}"/>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pic>
        <p:nvPicPr>
          <p:cNvPr id="107" name="Google Shape;107;p21">
            <a:extLst>
              <a:ext uri="{FF2B5EF4-FFF2-40B4-BE49-F238E27FC236}">
                <a16:creationId xmlns:a16="http://schemas.microsoft.com/office/drawing/2014/main" id="{8FD2F92A-6778-1B3E-8425-028815B767AF}"/>
              </a:ext>
            </a:extLst>
          </p:cNvPr>
          <p:cNvPicPr preferRelativeResize="0"/>
          <p:nvPr/>
        </p:nvPicPr>
        <p:blipFill>
          <a:blip r:embed="rId3">
            <a:alphaModFix/>
          </a:blip>
          <a:stretch>
            <a:fillRect/>
          </a:stretch>
        </p:blipFill>
        <p:spPr>
          <a:xfrm>
            <a:off x="2686750" y="878900"/>
            <a:ext cx="155800" cy="155800"/>
          </a:xfrm>
          <a:prstGeom prst="rect">
            <a:avLst/>
          </a:prstGeom>
          <a:noFill/>
          <a:ln>
            <a:noFill/>
          </a:ln>
        </p:spPr>
      </p:pic>
      <p:pic>
        <p:nvPicPr>
          <p:cNvPr id="3" name="Picture 2">
            <a:extLst>
              <a:ext uri="{FF2B5EF4-FFF2-40B4-BE49-F238E27FC236}">
                <a16:creationId xmlns:a16="http://schemas.microsoft.com/office/drawing/2014/main" id="{A1871E0D-B1DD-0929-EE47-CB4F8346295B}"/>
              </a:ext>
            </a:extLst>
          </p:cNvPr>
          <p:cNvPicPr>
            <a:picLocks noChangeAspect="1"/>
          </p:cNvPicPr>
          <p:nvPr/>
        </p:nvPicPr>
        <p:blipFill>
          <a:blip r:embed="rId4"/>
          <a:stretch>
            <a:fillRect/>
          </a:stretch>
        </p:blipFill>
        <p:spPr>
          <a:xfrm>
            <a:off x="2193002" y="1160227"/>
            <a:ext cx="4550437" cy="3538251"/>
          </a:xfrm>
          <a:prstGeom prst="rect">
            <a:avLst/>
          </a:prstGeom>
        </p:spPr>
      </p:pic>
      <p:pic>
        <p:nvPicPr>
          <p:cNvPr id="4" name="Picture 3">
            <a:extLst>
              <a:ext uri="{FF2B5EF4-FFF2-40B4-BE49-F238E27FC236}">
                <a16:creationId xmlns:a16="http://schemas.microsoft.com/office/drawing/2014/main" id="{8D99A0A1-6738-6E55-0205-BC004BF48CAA}"/>
              </a:ext>
            </a:extLst>
          </p:cNvPr>
          <p:cNvPicPr>
            <a:picLocks noChangeAspect="1"/>
          </p:cNvPicPr>
          <p:nvPr/>
        </p:nvPicPr>
        <p:blipFill>
          <a:blip r:embed="rId5"/>
          <a:stretch>
            <a:fillRect/>
          </a:stretch>
        </p:blipFill>
        <p:spPr>
          <a:xfrm>
            <a:off x="2193002" y="1160225"/>
            <a:ext cx="4550435" cy="3538250"/>
          </a:xfrm>
          <a:prstGeom prst="rect">
            <a:avLst/>
          </a:prstGeom>
        </p:spPr>
      </p:pic>
    </p:spTree>
    <p:extLst>
      <p:ext uri="{BB962C8B-B14F-4D97-AF65-F5344CB8AC3E}">
        <p14:creationId xmlns:p14="http://schemas.microsoft.com/office/powerpoint/2010/main" val="2602810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A31D79F2-7465-91F2-2042-67A95D75BD49}"/>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D266D672-5386-D6E4-A182-3C982362C37E}"/>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Methodology</a:t>
            </a:r>
            <a:endParaRPr b="1" dirty="0">
              <a:solidFill>
                <a:srgbClr val="292E60"/>
              </a:solidFill>
            </a:endParaRPr>
          </a:p>
        </p:txBody>
      </p:sp>
      <p:sp>
        <p:nvSpPr>
          <p:cNvPr id="106" name="Google Shape;106;p21">
            <a:extLst>
              <a:ext uri="{FF2B5EF4-FFF2-40B4-BE49-F238E27FC236}">
                <a16:creationId xmlns:a16="http://schemas.microsoft.com/office/drawing/2014/main" id="{0E9A1EAC-D098-0583-4FD5-D983A6560597}"/>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pic>
        <p:nvPicPr>
          <p:cNvPr id="107" name="Google Shape;107;p21">
            <a:extLst>
              <a:ext uri="{FF2B5EF4-FFF2-40B4-BE49-F238E27FC236}">
                <a16:creationId xmlns:a16="http://schemas.microsoft.com/office/drawing/2014/main" id="{FE68B06F-C74B-6A36-F6D6-5E7C4202C9ED}"/>
              </a:ext>
            </a:extLst>
          </p:cNvPr>
          <p:cNvPicPr preferRelativeResize="0"/>
          <p:nvPr/>
        </p:nvPicPr>
        <p:blipFill>
          <a:blip r:embed="rId3">
            <a:alphaModFix/>
          </a:blip>
          <a:stretch>
            <a:fillRect/>
          </a:stretch>
        </p:blipFill>
        <p:spPr>
          <a:xfrm>
            <a:off x="2686750" y="878900"/>
            <a:ext cx="155800" cy="155800"/>
          </a:xfrm>
          <a:prstGeom prst="rect">
            <a:avLst/>
          </a:prstGeom>
          <a:noFill/>
          <a:ln>
            <a:noFill/>
          </a:ln>
        </p:spPr>
      </p:pic>
      <p:pic>
        <p:nvPicPr>
          <p:cNvPr id="12" name="Picture 11">
            <a:extLst>
              <a:ext uri="{FF2B5EF4-FFF2-40B4-BE49-F238E27FC236}">
                <a16:creationId xmlns:a16="http://schemas.microsoft.com/office/drawing/2014/main" id="{D5B8D565-4BCA-7101-8573-223436314732}"/>
              </a:ext>
            </a:extLst>
          </p:cNvPr>
          <p:cNvPicPr>
            <a:picLocks noChangeAspect="1"/>
          </p:cNvPicPr>
          <p:nvPr/>
        </p:nvPicPr>
        <p:blipFill>
          <a:blip r:embed="rId4"/>
          <a:srcRect l="25350" t="20214" r="41067" b="56768"/>
          <a:stretch>
            <a:fillRect/>
          </a:stretch>
        </p:blipFill>
        <p:spPr>
          <a:xfrm>
            <a:off x="1746069" y="1252570"/>
            <a:ext cx="5651862" cy="3012030"/>
          </a:xfrm>
          <a:prstGeom prst="rect">
            <a:avLst/>
          </a:prstGeom>
        </p:spPr>
      </p:pic>
    </p:spTree>
    <p:extLst>
      <p:ext uri="{BB962C8B-B14F-4D97-AF65-F5344CB8AC3E}">
        <p14:creationId xmlns:p14="http://schemas.microsoft.com/office/powerpoint/2010/main" val="24579284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16BC9E47-5EA7-6CA4-F88D-3C8A0CD17213}"/>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673A014C-F66D-73A2-D663-13F73AC0BE51}"/>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Methodology</a:t>
            </a:r>
            <a:endParaRPr b="1" dirty="0">
              <a:solidFill>
                <a:srgbClr val="292E60"/>
              </a:solidFill>
            </a:endParaRPr>
          </a:p>
        </p:txBody>
      </p:sp>
      <p:sp>
        <p:nvSpPr>
          <p:cNvPr id="106" name="Google Shape;106;p21">
            <a:extLst>
              <a:ext uri="{FF2B5EF4-FFF2-40B4-BE49-F238E27FC236}">
                <a16:creationId xmlns:a16="http://schemas.microsoft.com/office/drawing/2014/main" id="{18D37D89-1EAA-56D6-2518-3B9D0B28918D}"/>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pic>
        <p:nvPicPr>
          <p:cNvPr id="107" name="Google Shape;107;p21">
            <a:extLst>
              <a:ext uri="{FF2B5EF4-FFF2-40B4-BE49-F238E27FC236}">
                <a16:creationId xmlns:a16="http://schemas.microsoft.com/office/drawing/2014/main" id="{C20BA1B8-6BC2-24EA-72FC-C3527DF75EBD}"/>
              </a:ext>
            </a:extLst>
          </p:cNvPr>
          <p:cNvPicPr preferRelativeResize="0"/>
          <p:nvPr/>
        </p:nvPicPr>
        <p:blipFill>
          <a:blip r:embed="rId3">
            <a:alphaModFix/>
          </a:blip>
          <a:stretch>
            <a:fillRect/>
          </a:stretch>
        </p:blipFill>
        <p:spPr>
          <a:xfrm>
            <a:off x="2686750" y="878900"/>
            <a:ext cx="155800" cy="155800"/>
          </a:xfrm>
          <a:prstGeom prst="rect">
            <a:avLst/>
          </a:prstGeom>
          <a:noFill/>
          <a:ln>
            <a:noFill/>
          </a:ln>
        </p:spPr>
      </p:pic>
      <p:pic>
        <p:nvPicPr>
          <p:cNvPr id="4" name="Picture 3">
            <a:extLst>
              <a:ext uri="{FF2B5EF4-FFF2-40B4-BE49-F238E27FC236}">
                <a16:creationId xmlns:a16="http://schemas.microsoft.com/office/drawing/2014/main" id="{5374DFEA-9ED0-021C-AA67-77241823F5FC}"/>
              </a:ext>
            </a:extLst>
          </p:cNvPr>
          <p:cNvPicPr>
            <a:picLocks noChangeAspect="1"/>
          </p:cNvPicPr>
          <p:nvPr/>
        </p:nvPicPr>
        <p:blipFill>
          <a:blip r:embed="rId4"/>
          <a:srcRect t="25614" b="16441"/>
          <a:stretch>
            <a:fillRect/>
          </a:stretch>
        </p:blipFill>
        <p:spPr>
          <a:xfrm>
            <a:off x="1031497" y="1192307"/>
            <a:ext cx="7081006" cy="3190441"/>
          </a:xfrm>
          <a:prstGeom prst="roundRect">
            <a:avLst>
              <a:gd name="adj" fmla="val 3451"/>
            </a:avLst>
          </a:prstGeom>
          <a:ln>
            <a:noFill/>
          </a:ln>
          <a:effectLst>
            <a:outerShdw blurRad="76200" dist="38100" dir="7800000" algn="tl" rotWithShape="0">
              <a:srgbClr val="000000">
                <a:alpha val="14000"/>
              </a:srgbClr>
            </a:outerShdw>
          </a:effectLst>
          <a:scene3d>
            <a:camera prst="orthographicFront"/>
            <a:lightRig rig="contrasting" dir="t">
              <a:rot lat="0" lon="0" rev="4200000"/>
            </a:lightRig>
          </a:scene3d>
          <a:sp3d prstMaterial="plastic">
            <a:contourClr>
              <a:srgbClr val="969696"/>
            </a:contourClr>
          </a:sp3d>
        </p:spPr>
      </p:pic>
      <p:sp>
        <p:nvSpPr>
          <p:cNvPr id="2" name="TextBox 1">
            <a:extLst>
              <a:ext uri="{FF2B5EF4-FFF2-40B4-BE49-F238E27FC236}">
                <a16:creationId xmlns:a16="http://schemas.microsoft.com/office/drawing/2014/main" id="{0B6C64E7-1912-444E-7E15-FA8242D6C073}"/>
              </a:ext>
            </a:extLst>
          </p:cNvPr>
          <p:cNvSpPr txBox="1"/>
          <p:nvPr/>
        </p:nvSpPr>
        <p:spPr>
          <a:xfrm>
            <a:off x="4081817" y="4497130"/>
            <a:ext cx="5029200" cy="523220"/>
          </a:xfrm>
          <a:prstGeom prst="rect">
            <a:avLst/>
          </a:prstGeom>
          <a:noFill/>
        </p:spPr>
        <p:txBody>
          <a:bodyPr wrap="square">
            <a:spAutoFit/>
          </a:bodyPr>
          <a:lstStyle/>
          <a:p>
            <a:pPr algn="r"/>
            <a:endParaRPr lang="en-US" dirty="0">
              <a:solidFill>
                <a:srgbClr val="1D1D1A"/>
              </a:solidFill>
              <a:latin typeface="Arial" panose="020B0604020202020204" pitchFamily="34" charset="0"/>
              <a:cs typeface="Arial" panose="020B0604020202020204" pitchFamily="34" charset="0"/>
            </a:endParaRPr>
          </a:p>
          <a:p>
            <a:pPr algn="r"/>
            <a:r>
              <a:rPr lang="en-US" dirty="0"/>
              <a:t>Phishing:  Spearfishing Link (T1566.002)</a:t>
            </a:r>
          </a:p>
        </p:txBody>
      </p:sp>
      <p:sp>
        <p:nvSpPr>
          <p:cNvPr id="3" name="Rounded Rectangle 2">
            <a:extLst>
              <a:ext uri="{FF2B5EF4-FFF2-40B4-BE49-F238E27FC236}">
                <a16:creationId xmlns:a16="http://schemas.microsoft.com/office/drawing/2014/main" id="{19B66AF6-C6D6-A148-D6BA-E98A8B8D0FAF}"/>
              </a:ext>
            </a:extLst>
          </p:cNvPr>
          <p:cNvSpPr/>
          <p:nvPr/>
        </p:nvSpPr>
        <p:spPr>
          <a:xfrm>
            <a:off x="1357389" y="1192307"/>
            <a:ext cx="1485162" cy="340103"/>
          </a:xfrm>
          <a:prstGeom prst="roundRect">
            <a:avLst/>
          </a:prstGeom>
          <a:noFill/>
          <a:ln>
            <a:solidFill>
              <a:srgbClr val="E619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B66B145D-A9D6-8160-D47C-8805919EAD2D}"/>
              </a:ext>
            </a:extLst>
          </p:cNvPr>
          <p:cNvSpPr/>
          <p:nvPr/>
        </p:nvSpPr>
        <p:spPr>
          <a:xfrm>
            <a:off x="2985441" y="3343774"/>
            <a:ext cx="3005456" cy="340103"/>
          </a:xfrm>
          <a:prstGeom prst="roundRect">
            <a:avLst/>
          </a:prstGeom>
          <a:noFill/>
          <a:ln>
            <a:solidFill>
              <a:srgbClr val="E619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7346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heel(1)">
                                      <p:cBhvr>
                                        <p:cTn id="12" dur="2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70954E8-012E-D894-A993-841ACF62ED96}"/>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641AF43D-3CE4-4760-0D47-F17CBCCF848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Methodology</a:t>
            </a:r>
            <a:endParaRPr b="1" dirty="0">
              <a:solidFill>
                <a:srgbClr val="292E60"/>
              </a:solidFill>
            </a:endParaRPr>
          </a:p>
        </p:txBody>
      </p:sp>
      <p:sp>
        <p:nvSpPr>
          <p:cNvPr id="106" name="Google Shape;106;p21">
            <a:extLst>
              <a:ext uri="{FF2B5EF4-FFF2-40B4-BE49-F238E27FC236}">
                <a16:creationId xmlns:a16="http://schemas.microsoft.com/office/drawing/2014/main" id="{A4C56AC1-B600-BC15-BFAD-C09C41D4931E}"/>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pic>
        <p:nvPicPr>
          <p:cNvPr id="107" name="Google Shape;107;p21">
            <a:extLst>
              <a:ext uri="{FF2B5EF4-FFF2-40B4-BE49-F238E27FC236}">
                <a16:creationId xmlns:a16="http://schemas.microsoft.com/office/drawing/2014/main" id="{9AE5FC09-CB64-00D3-3D58-F6D698E5E831}"/>
              </a:ext>
            </a:extLst>
          </p:cNvPr>
          <p:cNvPicPr preferRelativeResize="0"/>
          <p:nvPr/>
        </p:nvPicPr>
        <p:blipFill>
          <a:blip r:embed="rId3">
            <a:alphaModFix/>
          </a:blip>
          <a:stretch>
            <a:fillRect/>
          </a:stretch>
        </p:blipFill>
        <p:spPr>
          <a:xfrm>
            <a:off x="2686750" y="878900"/>
            <a:ext cx="155800" cy="155800"/>
          </a:xfrm>
          <a:prstGeom prst="rect">
            <a:avLst/>
          </a:prstGeom>
          <a:noFill/>
          <a:ln>
            <a:noFill/>
          </a:ln>
        </p:spPr>
      </p:pic>
      <p:pic>
        <p:nvPicPr>
          <p:cNvPr id="4" name="Picture 3">
            <a:extLst>
              <a:ext uri="{FF2B5EF4-FFF2-40B4-BE49-F238E27FC236}">
                <a16:creationId xmlns:a16="http://schemas.microsoft.com/office/drawing/2014/main" id="{450D2CDE-BD43-1583-8695-B6C2D3B903CA}"/>
              </a:ext>
            </a:extLst>
          </p:cNvPr>
          <p:cNvPicPr>
            <a:picLocks noChangeAspect="1"/>
          </p:cNvPicPr>
          <p:nvPr/>
        </p:nvPicPr>
        <p:blipFill>
          <a:blip r:embed="rId4"/>
          <a:srcRect l="1704" t="22867" r="1704" b="15250"/>
          <a:stretch>
            <a:fillRect/>
          </a:stretch>
        </p:blipFill>
        <p:spPr>
          <a:xfrm>
            <a:off x="1527662" y="1451602"/>
            <a:ext cx="6088679" cy="3033087"/>
          </a:xfrm>
          <a:prstGeom prst="roundRect">
            <a:avLst>
              <a:gd name="adj" fmla="val 7616"/>
            </a:avLst>
          </a:prstGeom>
          <a:ln>
            <a:noFill/>
          </a:ln>
          <a:effectLst>
            <a:outerShdw blurRad="76200" dist="38100" dir="7800000" algn="tl" rotWithShape="0">
              <a:srgbClr val="000000">
                <a:alpha val="12000"/>
              </a:srgbClr>
            </a:outerShdw>
          </a:effectLst>
          <a:scene3d>
            <a:camera prst="orthographicFront"/>
            <a:lightRig rig="contrasting" dir="t">
              <a:rot lat="0" lon="0" rev="4200000"/>
            </a:lightRig>
          </a:scene3d>
          <a:sp3d prstMaterial="plastic">
            <a:contourClr>
              <a:srgbClr val="969696"/>
            </a:contourClr>
          </a:sp3d>
        </p:spPr>
      </p:pic>
    </p:spTree>
    <p:extLst>
      <p:ext uri="{BB962C8B-B14F-4D97-AF65-F5344CB8AC3E}">
        <p14:creationId xmlns:p14="http://schemas.microsoft.com/office/powerpoint/2010/main" val="30413649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4CED6A0A-BE8E-32D8-BDD0-BE5B9964B6EE}"/>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C3813973-CB61-2FA3-3FC0-307C072FF92A}"/>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Methodology</a:t>
            </a:r>
            <a:endParaRPr b="1" dirty="0">
              <a:solidFill>
                <a:srgbClr val="292E60"/>
              </a:solidFill>
            </a:endParaRPr>
          </a:p>
        </p:txBody>
      </p:sp>
      <p:sp>
        <p:nvSpPr>
          <p:cNvPr id="106" name="Google Shape;106;p21">
            <a:extLst>
              <a:ext uri="{FF2B5EF4-FFF2-40B4-BE49-F238E27FC236}">
                <a16:creationId xmlns:a16="http://schemas.microsoft.com/office/drawing/2014/main" id="{E49F42D4-B4F3-B5E5-1C41-58A1A7D75691}"/>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pic>
        <p:nvPicPr>
          <p:cNvPr id="107" name="Google Shape;107;p21">
            <a:extLst>
              <a:ext uri="{FF2B5EF4-FFF2-40B4-BE49-F238E27FC236}">
                <a16:creationId xmlns:a16="http://schemas.microsoft.com/office/drawing/2014/main" id="{852B2D2E-F23C-D1DE-139D-B083B13C3923}"/>
              </a:ext>
            </a:extLst>
          </p:cNvPr>
          <p:cNvPicPr preferRelativeResize="0"/>
          <p:nvPr/>
        </p:nvPicPr>
        <p:blipFill>
          <a:blip r:embed="rId3">
            <a:alphaModFix/>
          </a:blip>
          <a:stretch>
            <a:fillRect/>
          </a:stretch>
        </p:blipFill>
        <p:spPr>
          <a:xfrm>
            <a:off x="2686750" y="878900"/>
            <a:ext cx="155800" cy="155800"/>
          </a:xfrm>
          <a:prstGeom prst="rect">
            <a:avLst/>
          </a:prstGeom>
          <a:noFill/>
          <a:ln>
            <a:noFill/>
          </a:ln>
        </p:spPr>
      </p:pic>
      <p:pic>
        <p:nvPicPr>
          <p:cNvPr id="6" name="Picture 5">
            <a:extLst>
              <a:ext uri="{FF2B5EF4-FFF2-40B4-BE49-F238E27FC236}">
                <a16:creationId xmlns:a16="http://schemas.microsoft.com/office/drawing/2014/main" id="{00CBDF53-DD0E-B8ED-4EA5-83B2DF18DC4A}"/>
              </a:ext>
            </a:extLst>
          </p:cNvPr>
          <p:cNvPicPr>
            <a:picLocks noChangeAspect="1"/>
          </p:cNvPicPr>
          <p:nvPr/>
        </p:nvPicPr>
        <p:blipFill>
          <a:blip r:embed="rId4"/>
          <a:srcRect l="67535" t="60640" r="17730" b="6697"/>
          <a:stretch>
            <a:fillRect/>
          </a:stretch>
        </p:blipFill>
        <p:spPr>
          <a:xfrm>
            <a:off x="1309709" y="1635685"/>
            <a:ext cx="2121877" cy="2567354"/>
          </a:xfrm>
          <a:prstGeom prst="roundRect">
            <a:avLst>
              <a:gd name="adj" fmla="val 9267"/>
            </a:avLst>
          </a:prstGeom>
          <a:ln>
            <a:noFill/>
          </a:ln>
          <a:effectLst>
            <a:outerShdw blurRad="76200" dist="38100" dir="7800000" algn="tl" rotWithShape="0">
              <a:srgbClr val="000000">
                <a:alpha val="17000"/>
              </a:srgbClr>
            </a:outerShdw>
          </a:effectLst>
          <a:scene3d>
            <a:camera prst="orthographicFront"/>
            <a:lightRig rig="contrasting" dir="t">
              <a:rot lat="0" lon="0" rev="4200000"/>
            </a:lightRig>
          </a:scene3d>
          <a:sp3d prstMaterial="plastic">
            <a:contourClr>
              <a:srgbClr val="969696"/>
            </a:contourClr>
          </a:sp3d>
        </p:spPr>
      </p:pic>
      <p:grpSp>
        <p:nvGrpSpPr>
          <p:cNvPr id="12" name="Group 11">
            <a:extLst>
              <a:ext uri="{FF2B5EF4-FFF2-40B4-BE49-F238E27FC236}">
                <a16:creationId xmlns:a16="http://schemas.microsoft.com/office/drawing/2014/main" id="{455D184E-0549-5FE1-4903-40C631947033}"/>
              </a:ext>
            </a:extLst>
          </p:cNvPr>
          <p:cNvGrpSpPr/>
          <p:nvPr/>
        </p:nvGrpSpPr>
        <p:grpSpPr>
          <a:xfrm>
            <a:off x="3836681" y="2088573"/>
            <a:ext cx="3982278" cy="1661578"/>
            <a:chOff x="3385577" y="1912261"/>
            <a:chExt cx="3982278" cy="1661578"/>
          </a:xfrm>
          <a:effectLst>
            <a:outerShdw blurRad="50800" dist="38100" dir="8100000" algn="tr" rotWithShape="0">
              <a:prstClr val="black">
                <a:alpha val="5000"/>
              </a:prstClr>
            </a:outerShdw>
          </a:effectLst>
        </p:grpSpPr>
        <p:pic>
          <p:nvPicPr>
            <p:cNvPr id="10" name="Picture 9">
              <a:extLst>
                <a:ext uri="{FF2B5EF4-FFF2-40B4-BE49-F238E27FC236}">
                  <a16:creationId xmlns:a16="http://schemas.microsoft.com/office/drawing/2014/main" id="{239AD01D-BAEC-1437-839A-500FD9D33553}"/>
                </a:ext>
              </a:extLst>
            </p:cNvPr>
            <p:cNvPicPr>
              <a:picLocks noChangeAspect="1"/>
            </p:cNvPicPr>
            <p:nvPr/>
          </p:nvPicPr>
          <p:blipFill>
            <a:blip r:embed="rId4"/>
            <a:srcRect l="84967" t="62466" b="26042"/>
            <a:stretch>
              <a:fillRect/>
            </a:stretch>
          </p:blipFill>
          <p:spPr>
            <a:xfrm>
              <a:off x="3385577" y="1912261"/>
              <a:ext cx="3982278" cy="1661578"/>
            </a:xfrm>
            <a:prstGeom prst="roundRect">
              <a:avLst>
                <a:gd name="adj" fmla="val 5325"/>
              </a:avLst>
            </a:prstGeom>
          </p:spPr>
        </p:pic>
        <p:pic>
          <p:nvPicPr>
            <p:cNvPr id="11" name="Picture 10">
              <a:extLst>
                <a:ext uri="{FF2B5EF4-FFF2-40B4-BE49-F238E27FC236}">
                  <a16:creationId xmlns:a16="http://schemas.microsoft.com/office/drawing/2014/main" id="{3FB996EF-942C-1ADC-CB96-D7FD8BB69912}"/>
                </a:ext>
              </a:extLst>
            </p:cNvPr>
            <p:cNvPicPr>
              <a:picLocks noChangeAspect="1"/>
            </p:cNvPicPr>
            <p:nvPr/>
          </p:nvPicPr>
          <p:blipFill>
            <a:blip r:embed="rId4"/>
            <a:srcRect l="85361" t="65751" r="541" b="26863"/>
            <a:stretch>
              <a:fillRect/>
            </a:stretch>
          </p:blipFill>
          <p:spPr>
            <a:xfrm>
              <a:off x="3490075" y="2387212"/>
              <a:ext cx="3734383" cy="1067964"/>
            </a:xfrm>
            <a:prstGeom prst="rect">
              <a:avLst/>
            </a:prstGeom>
          </p:spPr>
        </p:pic>
      </p:grpSp>
    </p:spTree>
    <p:extLst>
      <p:ext uri="{BB962C8B-B14F-4D97-AF65-F5344CB8AC3E}">
        <p14:creationId xmlns:p14="http://schemas.microsoft.com/office/powerpoint/2010/main" val="22441473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8B2330DB-A58D-1EA5-724F-B8604465D3BB}"/>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36A94AAB-66A0-4207-5930-621029517C7D}"/>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Methodology</a:t>
            </a:r>
            <a:endParaRPr b="1" dirty="0">
              <a:solidFill>
                <a:srgbClr val="292E60"/>
              </a:solidFill>
            </a:endParaRPr>
          </a:p>
        </p:txBody>
      </p:sp>
      <p:sp>
        <p:nvSpPr>
          <p:cNvPr id="106" name="Google Shape;106;p21">
            <a:extLst>
              <a:ext uri="{FF2B5EF4-FFF2-40B4-BE49-F238E27FC236}">
                <a16:creationId xmlns:a16="http://schemas.microsoft.com/office/drawing/2014/main" id="{DC16DF72-6342-70A9-AD60-FA3FEAB506F7}"/>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pic>
        <p:nvPicPr>
          <p:cNvPr id="107" name="Google Shape;107;p21">
            <a:extLst>
              <a:ext uri="{FF2B5EF4-FFF2-40B4-BE49-F238E27FC236}">
                <a16:creationId xmlns:a16="http://schemas.microsoft.com/office/drawing/2014/main" id="{BBBDD4E3-D10C-3A5B-3272-54BD2E74F965}"/>
              </a:ext>
            </a:extLst>
          </p:cNvPr>
          <p:cNvPicPr preferRelativeResize="0"/>
          <p:nvPr/>
        </p:nvPicPr>
        <p:blipFill>
          <a:blip r:embed="rId3">
            <a:alphaModFix/>
          </a:blip>
          <a:stretch>
            <a:fillRect/>
          </a:stretch>
        </p:blipFill>
        <p:spPr>
          <a:xfrm>
            <a:off x="2686750" y="878900"/>
            <a:ext cx="155800" cy="155800"/>
          </a:xfrm>
          <a:prstGeom prst="rect">
            <a:avLst/>
          </a:prstGeom>
          <a:noFill/>
          <a:ln>
            <a:noFill/>
          </a:ln>
        </p:spPr>
      </p:pic>
      <p:pic>
        <p:nvPicPr>
          <p:cNvPr id="5" name="Picture 4">
            <a:extLst>
              <a:ext uri="{FF2B5EF4-FFF2-40B4-BE49-F238E27FC236}">
                <a16:creationId xmlns:a16="http://schemas.microsoft.com/office/drawing/2014/main" id="{EFA201D0-0680-A3CA-750D-A2577D166D10}"/>
              </a:ext>
            </a:extLst>
          </p:cNvPr>
          <p:cNvPicPr>
            <a:picLocks noChangeAspect="1"/>
          </p:cNvPicPr>
          <p:nvPr/>
        </p:nvPicPr>
        <p:blipFill>
          <a:blip r:embed="rId4"/>
          <a:srcRect l="12034" t="74104" r="56313" b="23050"/>
          <a:stretch>
            <a:fillRect/>
          </a:stretch>
        </p:blipFill>
        <p:spPr>
          <a:xfrm>
            <a:off x="364165" y="1241014"/>
            <a:ext cx="8389848" cy="411772"/>
          </a:xfrm>
          <a:prstGeom prst="rect">
            <a:avLst/>
          </a:prstGeom>
        </p:spPr>
      </p:pic>
      <p:pic>
        <p:nvPicPr>
          <p:cNvPr id="6" name="Picture 5">
            <a:extLst>
              <a:ext uri="{FF2B5EF4-FFF2-40B4-BE49-F238E27FC236}">
                <a16:creationId xmlns:a16="http://schemas.microsoft.com/office/drawing/2014/main" id="{FD5A5C0D-0013-B6D1-26BA-1CC5DA732D20}"/>
              </a:ext>
            </a:extLst>
          </p:cNvPr>
          <p:cNvPicPr>
            <a:picLocks noChangeAspect="1"/>
          </p:cNvPicPr>
          <p:nvPr/>
        </p:nvPicPr>
        <p:blipFill>
          <a:blip r:embed="rId4"/>
          <a:srcRect l="43327" t="74127" r="25280" b="23305"/>
          <a:stretch>
            <a:fillRect/>
          </a:stretch>
        </p:blipFill>
        <p:spPr>
          <a:xfrm>
            <a:off x="311700" y="1573509"/>
            <a:ext cx="8389848" cy="374632"/>
          </a:xfrm>
          <a:prstGeom prst="rect">
            <a:avLst/>
          </a:prstGeom>
        </p:spPr>
      </p:pic>
      <p:pic>
        <p:nvPicPr>
          <p:cNvPr id="7" name="Picture 6">
            <a:extLst>
              <a:ext uri="{FF2B5EF4-FFF2-40B4-BE49-F238E27FC236}">
                <a16:creationId xmlns:a16="http://schemas.microsoft.com/office/drawing/2014/main" id="{60E13BE5-B4F8-2306-49F1-34596937FDDE}"/>
              </a:ext>
            </a:extLst>
          </p:cNvPr>
          <p:cNvPicPr>
            <a:picLocks noChangeAspect="1"/>
          </p:cNvPicPr>
          <p:nvPr/>
        </p:nvPicPr>
        <p:blipFill>
          <a:blip r:embed="rId4"/>
          <a:srcRect l="74499" t="74204" r="19287" b="23068"/>
          <a:stretch>
            <a:fillRect/>
          </a:stretch>
        </p:blipFill>
        <p:spPr>
          <a:xfrm>
            <a:off x="364167" y="1948143"/>
            <a:ext cx="1629501" cy="390207"/>
          </a:xfrm>
          <a:prstGeom prst="rect">
            <a:avLst/>
          </a:prstGeom>
        </p:spPr>
      </p:pic>
      <p:pic>
        <p:nvPicPr>
          <p:cNvPr id="8" name="Picture 7">
            <a:extLst>
              <a:ext uri="{FF2B5EF4-FFF2-40B4-BE49-F238E27FC236}">
                <a16:creationId xmlns:a16="http://schemas.microsoft.com/office/drawing/2014/main" id="{7A49C969-734B-5C69-94E9-1223D626B2FC}"/>
              </a:ext>
            </a:extLst>
          </p:cNvPr>
          <p:cNvPicPr>
            <a:picLocks noChangeAspect="1"/>
          </p:cNvPicPr>
          <p:nvPr/>
        </p:nvPicPr>
        <p:blipFill>
          <a:blip r:embed="rId4"/>
          <a:srcRect l="12009" t="76455" r="68755" b="21136"/>
          <a:stretch>
            <a:fillRect/>
          </a:stretch>
        </p:blipFill>
        <p:spPr>
          <a:xfrm>
            <a:off x="1927214" y="1957976"/>
            <a:ext cx="4840144" cy="330787"/>
          </a:xfrm>
          <a:prstGeom prst="rect">
            <a:avLst/>
          </a:prstGeom>
        </p:spPr>
      </p:pic>
    </p:spTree>
    <p:extLst>
      <p:ext uri="{BB962C8B-B14F-4D97-AF65-F5344CB8AC3E}">
        <p14:creationId xmlns:p14="http://schemas.microsoft.com/office/powerpoint/2010/main" val="9838750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3082779-BE84-0E77-C2EA-BC5FAB1EA6A0}"/>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D7AA6DBA-A77C-E753-F7D4-96CCA5527083}"/>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Methodology</a:t>
            </a:r>
            <a:endParaRPr b="1" dirty="0">
              <a:solidFill>
                <a:srgbClr val="292E60"/>
              </a:solidFill>
            </a:endParaRPr>
          </a:p>
        </p:txBody>
      </p:sp>
      <p:sp>
        <p:nvSpPr>
          <p:cNvPr id="106" name="Google Shape;106;p21">
            <a:extLst>
              <a:ext uri="{FF2B5EF4-FFF2-40B4-BE49-F238E27FC236}">
                <a16:creationId xmlns:a16="http://schemas.microsoft.com/office/drawing/2014/main" id="{DAA54745-F747-D806-339F-FA001BE396E9}"/>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pic>
        <p:nvPicPr>
          <p:cNvPr id="107" name="Google Shape;107;p21">
            <a:extLst>
              <a:ext uri="{FF2B5EF4-FFF2-40B4-BE49-F238E27FC236}">
                <a16:creationId xmlns:a16="http://schemas.microsoft.com/office/drawing/2014/main" id="{1EED8DC1-A819-D7EA-2A59-7381EA943DBC}"/>
              </a:ext>
            </a:extLst>
          </p:cNvPr>
          <p:cNvPicPr preferRelativeResize="0"/>
          <p:nvPr/>
        </p:nvPicPr>
        <p:blipFill>
          <a:blip r:embed="rId3">
            <a:alphaModFix/>
          </a:blip>
          <a:stretch>
            <a:fillRect/>
          </a:stretch>
        </p:blipFill>
        <p:spPr>
          <a:xfrm>
            <a:off x="2686750" y="878900"/>
            <a:ext cx="155800" cy="155800"/>
          </a:xfrm>
          <a:prstGeom prst="rect">
            <a:avLst/>
          </a:prstGeom>
          <a:noFill/>
          <a:ln>
            <a:noFill/>
          </a:ln>
        </p:spPr>
      </p:pic>
      <p:pic>
        <p:nvPicPr>
          <p:cNvPr id="5" name="Picture 4">
            <a:extLst>
              <a:ext uri="{FF2B5EF4-FFF2-40B4-BE49-F238E27FC236}">
                <a16:creationId xmlns:a16="http://schemas.microsoft.com/office/drawing/2014/main" id="{E87FD170-06F5-5DDA-92AC-53B89260E6C0}"/>
              </a:ext>
            </a:extLst>
          </p:cNvPr>
          <p:cNvPicPr>
            <a:picLocks noChangeAspect="1"/>
          </p:cNvPicPr>
          <p:nvPr/>
        </p:nvPicPr>
        <p:blipFill>
          <a:blip r:embed="rId4"/>
          <a:srcRect l="12034" t="74104" r="56313" b="23050"/>
          <a:stretch>
            <a:fillRect/>
          </a:stretch>
        </p:blipFill>
        <p:spPr>
          <a:xfrm>
            <a:off x="364165" y="1241014"/>
            <a:ext cx="8389848" cy="411772"/>
          </a:xfrm>
          <a:prstGeom prst="rect">
            <a:avLst/>
          </a:prstGeom>
        </p:spPr>
      </p:pic>
      <p:pic>
        <p:nvPicPr>
          <p:cNvPr id="6" name="Picture 5">
            <a:extLst>
              <a:ext uri="{FF2B5EF4-FFF2-40B4-BE49-F238E27FC236}">
                <a16:creationId xmlns:a16="http://schemas.microsoft.com/office/drawing/2014/main" id="{F01CF226-AA37-A218-51D2-01964D36A499}"/>
              </a:ext>
            </a:extLst>
          </p:cNvPr>
          <p:cNvPicPr>
            <a:picLocks noChangeAspect="1"/>
          </p:cNvPicPr>
          <p:nvPr/>
        </p:nvPicPr>
        <p:blipFill>
          <a:blip r:embed="rId4"/>
          <a:srcRect l="43327" t="74127" r="25280" b="23305"/>
          <a:stretch>
            <a:fillRect/>
          </a:stretch>
        </p:blipFill>
        <p:spPr>
          <a:xfrm>
            <a:off x="311700" y="1573509"/>
            <a:ext cx="8389848" cy="374632"/>
          </a:xfrm>
          <a:prstGeom prst="rect">
            <a:avLst/>
          </a:prstGeom>
        </p:spPr>
      </p:pic>
      <p:pic>
        <p:nvPicPr>
          <p:cNvPr id="7" name="Picture 6">
            <a:extLst>
              <a:ext uri="{FF2B5EF4-FFF2-40B4-BE49-F238E27FC236}">
                <a16:creationId xmlns:a16="http://schemas.microsoft.com/office/drawing/2014/main" id="{1997EDD1-7764-2EDC-ED70-E7231F91A459}"/>
              </a:ext>
            </a:extLst>
          </p:cNvPr>
          <p:cNvPicPr>
            <a:picLocks noChangeAspect="1"/>
          </p:cNvPicPr>
          <p:nvPr/>
        </p:nvPicPr>
        <p:blipFill>
          <a:blip r:embed="rId4"/>
          <a:srcRect l="74499" t="74204" r="19287" b="23068"/>
          <a:stretch>
            <a:fillRect/>
          </a:stretch>
        </p:blipFill>
        <p:spPr>
          <a:xfrm>
            <a:off x="364167" y="1948143"/>
            <a:ext cx="1629501" cy="390207"/>
          </a:xfrm>
          <a:prstGeom prst="rect">
            <a:avLst/>
          </a:prstGeom>
        </p:spPr>
      </p:pic>
      <p:pic>
        <p:nvPicPr>
          <p:cNvPr id="8" name="Picture 7">
            <a:extLst>
              <a:ext uri="{FF2B5EF4-FFF2-40B4-BE49-F238E27FC236}">
                <a16:creationId xmlns:a16="http://schemas.microsoft.com/office/drawing/2014/main" id="{2FF41795-DB9D-A0D6-C342-D6262B937641}"/>
              </a:ext>
            </a:extLst>
          </p:cNvPr>
          <p:cNvPicPr>
            <a:picLocks noChangeAspect="1"/>
          </p:cNvPicPr>
          <p:nvPr/>
        </p:nvPicPr>
        <p:blipFill>
          <a:blip r:embed="rId4"/>
          <a:srcRect l="12009" t="76455" r="68755" b="21136"/>
          <a:stretch>
            <a:fillRect/>
          </a:stretch>
        </p:blipFill>
        <p:spPr>
          <a:xfrm>
            <a:off x="1927214" y="1957976"/>
            <a:ext cx="4840144" cy="330787"/>
          </a:xfrm>
          <a:prstGeom prst="rect">
            <a:avLst/>
          </a:prstGeom>
        </p:spPr>
      </p:pic>
      <p:sp>
        <p:nvSpPr>
          <p:cNvPr id="9" name="TextBox 8">
            <a:extLst>
              <a:ext uri="{FF2B5EF4-FFF2-40B4-BE49-F238E27FC236}">
                <a16:creationId xmlns:a16="http://schemas.microsoft.com/office/drawing/2014/main" id="{52006022-608E-A5FA-807B-64D4A06823AA}"/>
              </a:ext>
            </a:extLst>
          </p:cNvPr>
          <p:cNvSpPr txBox="1"/>
          <p:nvPr/>
        </p:nvSpPr>
        <p:spPr>
          <a:xfrm>
            <a:off x="364165" y="2672801"/>
            <a:ext cx="8389848" cy="369332"/>
          </a:xfrm>
          <a:prstGeom prst="rect">
            <a:avLst/>
          </a:prstGeom>
          <a:noFill/>
        </p:spPr>
        <p:txBody>
          <a:bodyPr wrap="square" rtlCol="0">
            <a:spAutoFit/>
          </a:bodyPr>
          <a:lstStyle/>
          <a:p>
            <a:pPr marL="342900" indent="-342900">
              <a:buAutoNum type="arabicPeriod"/>
            </a:pPr>
            <a:r>
              <a:rPr lang="en-US" sz="1800" dirty="0"/>
              <a:t>Create </a:t>
            </a:r>
            <a:r>
              <a:rPr lang="en-US" sz="1800" dirty="0" err="1"/>
              <a:t>Powershell</a:t>
            </a:r>
            <a:r>
              <a:rPr lang="en-US" sz="1800" dirty="0"/>
              <a:t> Process</a:t>
            </a:r>
          </a:p>
        </p:txBody>
      </p:sp>
      <p:sp>
        <p:nvSpPr>
          <p:cNvPr id="10" name="Rectangle 9">
            <a:extLst>
              <a:ext uri="{FF2B5EF4-FFF2-40B4-BE49-F238E27FC236}">
                <a16:creationId xmlns:a16="http://schemas.microsoft.com/office/drawing/2014/main" id="{38A3C2C4-B8F9-2159-FF34-807196C8288E}"/>
              </a:ext>
            </a:extLst>
          </p:cNvPr>
          <p:cNvSpPr/>
          <p:nvPr/>
        </p:nvSpPr>
        <p:spPr>
          <a:xfrm>
            <a:off x="311700" y="1223596"/>
            <a:ext cx="8389848" cy="411772"/>
          </a:xfrm>
          <a:prstGeom prst="rect">
            <a:avLst/>
          </a:prstGeom>
          <a:noFill/>
          <a:ln>
            <a:solidFill>
              <a:srgbClr val="E619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E6196C"/>
              </a:solidFill>
            </a:endParaRPr>
          </a:p>
        </p:txBody>
      </p:sp>
    </p:spTree>
    <p:extLst>
      <p:ext uri="{BB962C8B-B14F-4D97-AF65-F5344CB8AC3E}">
        <p14:creationId xmlns:p14="http://schemas.microsoft.com/office/powerpoint/2010/main" val="15673979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3AB13AE0-2C9F-622D-C988-7F6D3B196465}"/>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46652B98-CE51-2791-2623-586E639E74D0}"/>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Methodology</a:t>
            </a:r>
            <a:endParaRPr b="1" dirty="0">
              <a:solidFill>
                <a:srgbClr val="292E60"/>
              </a:solidFill>
            </a:endParaRPr>
          </a:p>
        </p:txBody>
      </p:sp>
      <p:sp>
        <p:nvSpPr>
          <p:cNvPr id="106" name="Google Shape;106;p21">
            <a:extLst>
              <a:ext uri="{FF2B5EF4-FFF2-40B4-BE49-F238E27FC236}">
                <a16:creationId xmlns:a16="http://schemas.microsoft.com/office/drawing/2014/main" id="{4511E6CF-58D1-6737-346F-BC7FF6F6AD11}"/>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pic>
        <p:nvPicPr>
          <p:cNvPr id="107" name="Google Shape;107;p21">
            <a:extLst>
              <a:ext uri="{FF2B5EF4-FFF2-40B4-BE49-F238E27FC236}">
                <a16:creationId xmlns:a16="http://schemas.microsoft.com/office/drawing/2014/main" id="{D1EF4602-472C-C6F1-08A6-1F690BD77B3E}"/>
              </a:ext>
            </a:extLst>
          </p:cNvPr>
          <p:cNvPicPr preferRelativeResize="0"/>
          <p:nvPr/>
        </p:nvPicPr>
        <p:blipFill>
          <a:blip r:embed="rId3">
            <a:alphaModFix/>
          </a:blip>
          <a:stretch>
            <a:fillRect/>
          </a:stretch>
        </p:blipFill>
        <p:spPr>
          <a:xfrm>
            <a:off x="2686750" y="878900"/>
            <a:ext cx="155800" cy="155800"/>
          </a:xfrm>
          <a:prstGeom prst="rect">
            <a:avLst/>
          </a:prstGeom>
          <a:noFill/>
          <a:ln>
            <a:noFill/>
          </a:ln>
        </p:spPr>
      </p:pic>
      <p:pic>
        <p:nvPicPr>
          <p:cNvPr id="5" name="Picture 4">
            <a:extLst>
              <a:ext uri="{FF2B5EF4-FFF2-40B4-BE49-F238E27FC236}">
                <a16:creationId xmlns:a16="http://schemas.microsoft.com/office/drawing/2014/main" id="{347E9882-9430-D6EA-7E65-E32E6516595B}"/>
              </a:ext>
            </a:extLst>
          </p:cNvPr>
          <p:cNvPicPr>
            <a:picLocks noChangeAspect="1"/>
          </p:cNvPicPr>
          <p:nvPr/>
        </p:nvPicPr>
        <p:blipFill>
          <a:blip r:embed="rId4"/>
          <a:srcRect l="12034" t="74104" r="56313" b="23050"/>
          <a:stretch>
            <a:fillRect/>
          </a:stretch>
        </p:blipFill>
        <p:spPr>
          <a:xfrm>
            <a:off x="364165" y="1241014"/>
            <a:ext cx="8389848" cy="411772"/>
          </a:xfrm>
          <a:prstGeom prst="rect">
            <a:avLst/>
          </a:prstGeom>
        </p:spPr>
      </p:pic>
      <p:pic>
        <p:nvPicPr>
          <p:cNvPr id="6" name="Picture 5">
            <a:extLst>
              <a:ext uri="{FF2B5EF4-FFF2-40B4-BE49-F238E27FC236}">
                <a16:creationId xmlns:a16="http://schemas.microsoft.com/office/drawing/2014/main" id="{458FEDD0-7EA8-7EA4-C7D3-CB2F3CE705FB}"/>
              </a:ext>
            </a:extLst>
          </p:cNvPr>
          <p:cNvPicPr>
            <a:picLocks noChangeAspect="1"/>
          </p:cNvPicPr>
          <p:nvPr/>
        </p:nvPicPr>
        <p:blipFill>
          <a:blip r:embed="rId4"/>
          <a:srcRect l="43327" t="74127" r="25280" b="23305"/>
          <a:stretch>
            <a:fillRect/>
          </a:stretch>
        </p:blipFill>
        <p:spPr>
          <a:xfrm>
            <a:off x="311700" y="1573509"/>
            <a:ext cx="8389848" cy="374632"/>
          </a:xfrm>
          <a:prstGeom prst="rect">
            <a:avLst/>
          </a:prstGeom>
        </p:spPr>
      </p:pic>
      <p:pic>
        <p:nvPicPr>
          <p:cNvPr id="7" name="Picture 6">
            <a:extLst>
              <a:ext uri="{FF2B5EF4-FFF2-40B4-BE49-F238E27FC236}">
                <a16:creationId xmlns:a16="http://schemas.microsoft.com/office/drawing/2014/main" id="{F24FF6E7-E426-3547-8396-BF7DF06E7D2E}"/>
              </a:ext>
            </a:extLst>
          </p:cNvPr>
          <p:cNvPicPr>
            <a:picLocks noChangeAspect="1"/>
          </p:cNvPicPr>
          <p:nvPr/>
        </p:nvPicPr>
        <p:blipFill>
          <a:blip r:embed="rId4"/>
          <a:srcRect l="74499" t="74204" r="19287" b="23068"/>
          <a:stretch>
            <a:fillRect/>
          </a:stretch>
        </p:blipFill>
        <p:spPr>
          <a:xfrm>
            <a:off x="364167" y="1948143"/>
            <a:ext cx="1629501" cy="390207"/>
          </a:xfrm>
          <a:prstGeom prst="rect">
            <a:avLst/>
          </a:prstGeom>
        </p:spPr>
      </p:pic>
      <p:pic>
        <p:nvPicPr>
          <p:cNvPr id="8" name="Picture 7">
            <a:extLst>
              <a:ext uri="{FF2B5EF4-FFF2-40B4-BE49-F238E27FC236}">
                <a16:creationId xmlns:a16="http://schemas.microsoft.com/office/drawing/2014/main" id="{54BCC6CB-0DA7-C7FB-30EB-BA62951B0A69}"/>
              </a:ext>
            </a:extLst>
          </p:cNvPr>
          <p:cNvPicPr>
            <a:picLocks noChangeAspect="1"/>
          </p:cNvPicPr>
          <p:nvPr/>
        </p:nvPicPr>
        <p:blipFill>
          <a:blip r:embed="rId4"/>
          <a:srcRect l="12009" t="76455" r="68755" b="21136"/>
          <a:stretch>
            <a:fillRect/>
          </a:stretch>
        </p:blipFill>
        <p:spPr>
          <a:xfrm>
            <a:off x="1927214" y="1957976"/>
            <a:ext cx="4840144" cy="330787"/>
          </a:xfrm>
          <a:prstGeom prst="rect">
            <a:avLst/>
          </a:prstGeom>
        </p:spPr>
      </p:pic>
      <p:sp>
        <p:nvSpPr>
          <p:cNvPr id="9" name="TextBox 8">
            <a:extLst>
              <a:ext uri="{FF2B5EF4-FFF2-40B4-BE49-F238E27FC236}">
                <a16:creationId xmlns:a16="http://schemas.microsoft.com/office/drawing/2014/main" id="{B5E55300-E4FE-6366-A530-2E96632072A6}"/>
              </a:ext>
            </a:extLst>
          </p:cNvPr>
          <p:cNvSpPr txBox="1"/>
          <p:nvPr/>
        </p:nvSpPr>
        <p:spPr>
          <a:xfrm>
            <a:off x="364165" y="2672801"/>
            <a:ext cx="8389848" cy="923330"/>
          </a:xfrm>
          <a:prstGeom prst="rect">
            <a:avLst/>
          </a:prstGeom>
          <a:noFill/>
        </p:spPr>
        <p:txBody>
          <a:bodyPr wrap="square" rtlCol="0">
            <a:spAutoFit/>
          </a:bodyPr>
          <a:lstStyle/>
          <a:p>
            <a:pPr marL="342900" indent="-342900">
              <a:buAutoNum type="arabicPeriod"/>
            </a:pPr>
            <a:r>
              <a:rPr lang="en-US" sz="1800" dirty="0"/>
              <a:t>Create </a:t>
            </a:r>
            <a:r>
              <a:rPr lang="en-US" sz="1800" dirty="0" err="1"/>
              <a:t>Powershell</a:t>
            </a:r>
            <a:r>
              <a:rPr lang="en-US" sz="1800" dirty="0"/>
              <a:t> Process</a:t>
            </a:r>
          </a:p>
          <a:p>
            <a:pPr marL="342900" indent="-342900">
              <a:buAutoNum type="arabicPeriod"/>
            </a:pPr>
            <a:endParaRPr lang="en-US" sz="1800" dirty="0"/>
          </a:p>
          <a:p>
            <a:pPr marL="342900" indent="-342900">
              <a:buAutoNum type="arabicPeriod"/>
            </a:pPr>
            <a:r>
              <a:rPr lang="en-US" sz="1800" dirty="0"/>
              <a:t>Download the payload</a:t>
            </a:r>
          </a:p>
        </p:txBody>
      </p:sp>
      <p:sp>
        <p:nvSpPr>
          <p:cNvPr id="2" name="Rectangle 1">
            <a:extLst>
              <a:ext uri="{FF2B5EF4-FFF2-40B4-BE49-F238E27FC236}">
                <a16:creationId xmlns:a16="http://schemas.microsoft.com/office/drawing/2014/main" id="{434DB233-BB90-0AD6-92AF-4F9D32D070F6}"/>
              </a:ext>
            </a:extLst>
          </p:cNvPr>
          <p:cNvSpPr/>
          <p:nvPr/>
        </p:nvSpPr>
        <p:spPr>
          <a:xfrm>
            <a:off x="2193000" y="1590484"/>
            <a:ext cx="5332356" cy="357658"/>
          </a:xfrm>
          <a:prstGeom prst="rect">
            <a:avLst/>
          </a:prstGeom>
          <a:noFill/>
          <a:ln>
            <a:solidFill>
              <a:srgbClr val="E619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51763"/>
              </a:solidFill>
            </a:endParaRPr>
          </a:p>
        </p:txBody>
      </p:sp>
    </p:spTree>
    <p:extLst>
      <p:ext uri="{BB962C8B-B14F-4D97-AF65-F5344CB8AC3E}">
        <p14:creationId xmlns:p14="http://schemas.microsoft.com/office/powerpoint/2010/main" val="40410982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76009641-34B8-2FF4-A315-2B0083F06F94}"/>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D2F14532-FC6D-139A-14AC-7FA15D8E98F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Methodology</a:t>
            </a:r>
            <a:endParaRPr b="1" dirty="0">
              <a:solidFill>
                <a:srgbClr val="292E60"/>
              </a:solidFill>
            </a:endParaRPr>
          </a:p>
        </p:txBody>
      </p:sp>
      <p:sp>
        <p:nvSpPr>
          <p:cNvPr id="106" name="Google Shape;106;p21">
            <a:extLst>
              <a:ext uri="{FF2B5EF4-FFF2-40B4-BE49-F238E27FC236}">
                <a16:creationId xmlns:a16="http://schemas.microsoft.com/office/drawing/2014/main" id="{05F73A19-93A8-571C-FA1B-E3C8AEE5CC25}"/>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pic>
        <p:nvPicPr>
          <p:cNvPr id="107" name="Google Shape;107;p21">
            <a:extLst>
              <a:ext uri="{FF2B5EF4-FFF2-40B4-BE49-F238E27FC236}">
                <a16:creationId xmlns:a16="http://schemas.microsoft.com/office/drawing/2014/main" id="{79110B59-2420-3E95-95E2-B44E4FAEB6DA}"/>
              </a:ext>
            </a:extLst>
          </p:cNvPr>
          <p:cNvPicPr preferRelativeResize="0"/>
          <p:nvPr/>
        </p:nvPicPr>
        <p:blipFill>
          <a:blip r:embed="rId3">
            <a:alphaModFix/>
          </a:blip>
          <a:stretch>
            <a:fillRect/>
          </a:stretch>
        </p:blipFill>
        <p:spPr>
          <a:xfrm>
            <a:off x="2686750" y="878900"/>
            <a:ext cx="155800" cy="155800"/>
          </a:xfrm>
          <a:prstGeom prst="rect">
            <a:avLst/>
          </a:prstGeom>
          <a:noFill/>
          <a:ln>
            <a:noFill/>
          </a:ln>
        </p:spPr>
      </p:pic>
      <p:pic>
        <p:nvPicPr>
          <p:cNvPr id="5" name="Picture 4">
            <a:extLst>
              <a:ext uri="{FF2B5EF4-FFF2-40B4-BE49-F238E27FC236}">
                <a16:creationId xmlns:a16="http://schemas.microsoft.com/office/drawing/2014/main" id="{CD61EC00-E02B-9C20-AC2F-F23BB3899748}"/>
              </a:ext>
            </a:extLst>
          </p:cNvPr>
          <p:cNvPicPr>
            <a:picLocks noChangeAspect="1"/>
          </p:cNvPicPr>
          <p:nvPr/>
        </p:nvPicPr>
        <p:blipFill>
          <a:blip r:embed="rId4"/>
          <a:srcRect l="12034" t="74104" r="56313" b="23050"/>
          <a:stretch>
            <a:fillRect/>
          </a:stretch>
        </p:blipFill>
        <p:spPr>
          <a:xfrm>
            <a:off x="364165" y="1241014"/>
            <a:ext cx="8389848" cy="411772"/>
          </a:xfrm>
          <a:prstGeom prst="rect">
            <a:avLst/>
          </a:prstGeom>
        </p:spPr>
      </p:pic>
      <p:pic>
        <p:nvPicPr>
          <p:cNvPr id="6" name="Picture 5">
            <a:extLst>
              <a:ext uri="{FF2B5EF4-FFF2-40B4-BE49-F238E27FC236}">
                <a16:creationId xmlns:a16="http://schemas.microsoft.com/office/drawing/2014/main" id="{9A1D2F4B-3607-C45B-4868-122CE5BC563A}"/>
              </a:ext>
            </a:extLst>
          </p:cNvPr>
          <p:cNvPicPr>
            <a:picLocks noChangeAspect="1"/>
          </p:cNvPicPr>
          <p:nvPr/>
        </p:nvPicPr>
        <p:blipFill>
          <a:blip r:embed="rId4"/>
          <a:srcRect l="43327" t="74127" r="25280" b="23305"/>
          <a:stretch>
            <a:fillRect/>
          </a:stretch>
        </p:blipFill>
        <p:spPr>
          <a:xfrm>
            <a:off x="311700" y="1573509"/>
            <a:ext cx="8389848" cy="374632"/>
          </a:xfrm>
          <a:prstGeom prst="rect">
            <a:avLst/>
          </a:prstGeom>
        </p:spPr>
      </p:pic>
      <p:pic>
        <p:nvPicPr>
          <p:cNvPr id="7" name="Picture 6">
            <a:extLst>
              <a:ext uri="{FF2B5EF4-FFF2-40B4-BE49-F238E27FC236}">
                <a16:creationId xmlns:a16="http://schemas.microsoft.com/office/drawing/2014/main" id="{99862EA8-F315-5205-A0A1-E9D4D5E354A9}"/>
              </a:ext>
            </a:extLst>
          </p:cNvPr>
          <p:cNvPicPr>
            <a:picLocks noChangeAspect="1"/>
          </p:cNvPicPr>
          <p:nvPr/>
        </p:nvPicPr>
        <p:blipFill>
          <a:blip r:embed="rId4"/>
          <a:srcRect l="74499" t="74204" r="19287" b="23068"/>
          <a:stretch>
            <a:fillRect/>
          </a:stretch>
        </p:blipFill>
        <p:spPr>
          <a:xfrm>
            <a:off x="364167" y="1948143"/>
            <a:ext cx="1629501" cy="390207"/>
          </a:xfrm>
          <a:prstGeom prst="rect">
            <a:avLst/>
          </a:prstGeom>
        </p:spPr>
      </p:pic>
      <p:pic>
        <p:nvPicPr>
          <p:cNvPr id="8" name="Picture 7">
            <a:extLst>
              <a:ext uri="{FF2B5EF4-FFF2-40B4-BE49-F238E27FC236}">
                <a16:creationId xmlns:a16="http://schemas.microsoft.com/office/drawing/2014/main" id="{BB709C39-60EE-DC59-A87A-97FE163F62EE}"/>
              </a:ext>
            </a:extLst>
          </p:cNvPr>
          <p:cNvPicPr>
            <a:picLocks noChangeAspect="1"/>
          </p:cNvPicPr>
          <p:nvPr/>
        </p:nvPicPr>
        <p:blipFill>
          <a:blip r:embed="rId4"/>
          <a:srcRect l="12009" t="76455" r="68755" b="21136"/>
          <a:stretch>
            <a:fillRect/>
          </a:stretch>
        </p:blipFill>
        <p:spPr>
          <a:xfrm>
            <a:off x="1927214" y="1957976"/>
            <a:ext cx="4840144" cy="330787"/>
          </a:xfrm>
          <a:prstGeom prst="rect">
            <a:avLst/>
          </a:prstGeom>
        </p:spPr>
      </p:pic>
      <p:sp>
        <p:nvSpPr>
          <p:cNvPr id="9" name="TextBox 8">
            <a:extLst>
              <a:ext uri="{FF2B5EF4-FFF2-40B4-BE49-F238E27FC236}">
                <a16:creationId xmlns:a16="http://schemas.microsoft.com/office/drawing/2014/main" id="{F64D6BD6-D6E4-C94D-CDDA-0BF2373F614D}"/>
              </a:ext>
            </a:extLst>
          </p:cNvPr>
          <p:cNvSpPr txBox="1"/>
          <p:nvPr/>
        </p:nvSpPr>
        <p:spPr>
          <a:xfrm>
            <a:off x="364165" y="2672801"/>
            <a:ext cx="8389848" cy="1754326"/>
          </a:xfrm>
          <a:prstGeom prst="rect">
            <a:avLst/>
          </a:prstGeom>
          <a:noFill/>
        </p:spPr>
        <p:txBody>
          <a:bodyPr wrap="square" rtlCol="0">
            <a:spAutoFit/>
          </a:bodyPr>
          <a:lstStyle/>
          <a:p>
            <a:pPr marL="342900" indent="-342900">
              <a:buAutoNum type="arabicPeriod"/>
            </a:pPr>
            <a:r>
              <a:rPr lang="en-US" sz="1800" dirty="0"/>
              <a:t>Create </a:t>
            </a:r>
            <a:r>
              <a:rPr lang="en-US" sz="1800" dirty="0" err="1"/>
              <a:t>Powershell</a:t>
            </a:r>
            <a:r>
              <a:rPr lang="en-US" sz="1800" dirty="0"/>
              <a:t> Process</a:t>
            </a:r>
          </a:p>
          <a:p>
            <a:pPr marL="342900" indent="-342900">
              <a:buAutoNum type="arabicPeriod"/>
            </a:pPr>
            <a:endParaRPr lang="en-US" sz="1800" dirty="0"/>
          </a:p>
          <a:p>
            <a:pPr marL="342900" indent="-342900">
              <a:buAutoNum type="arabicPeriod"/>
            </a:pPr>
            <a:r>
              <a:rPr lang="en-US" sz="1800" dirty="0"/>
              <a:t>Download the payload</a:t>
            </a:r>
          </a:p>
          <a:p>
            <a:pPr marL="342900" indent="-342900">
              <a:buAutoNum type="arabicPeriod"/>
            </a:pPr>
            <a:endParaRPr lang="en-US" sz="1800" dirty="0"/>
          </a:p>
          <a:p>
            <a:pPr marL="342900" indent="-342900">
              <a:buAutoNum type="arabicPeriod"/>
            </a:pPr>
            <a:r>
              <a:rPr lang="en-US" sz="1800" dirty="0"/>
              <a:t>Execute the payload (encrypt files)</a:t>
            </a:r>
          </a:p>
          <a:p>
            <a:pPr marL="342900" indent="-342900">
              <a:buAutoNum type="arabicPeriod"/>
            </a:pPr>
            <a:endParaRPr lang="en-US" sz="1800" dirty="0"/>
          </a:p>
        </p:txBody>
      </p:sp>
      <p:sp>
        <p:nvSpPr>
          <p:cNvPr id="3" name="Rectangle 2">
            <a:extLst>
              <a:ext uri="{FF2B5EF4-FFF2-40B4-BE49-F238E27FC236}">
                <a16:creationId xmlns:a16="http://schemas.microsoft.com/office/drawing/2014/main" id="{DF054DEB-975F-3CEE-9A9D-2016A70304F4}"/>
              </a:ext>
            </a:extLst>
          </p:cNvPr>
          <p:cNvSpPr/>
          <p:nvPr/>
        </p:nvSpPr>
        <p:spPr>
          <a:xfrm>
            <a:off x="311700" y="1590484"/>
            <a:ext cx="8389848" cy="357658"/>
          </a:xfrm>
          <a:prstGeom prst="rect">
            <a:avLst/>
          </a:prstGeom>
          <a:noFill/>
          <a:ln>
            <a:solidFill>
              <a:srgbClr val="E619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51763"/>
              </a:solidFill>
            </a:endParaRPr>
          </a:p>
        </p:txBody>
      </p:sp>
    </p:spTree>
    <p:extLst>
      <p:ext uri="{BB962C8B-B14F-4D97-AF65-F5344CB8AC3E}">
        <p14:creationId xmlns:p14="http://schemas.microsoft.com/office/powerpoint/2010/main" val="14867691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32E6EC05-426E-E0F6-C86A-D28B6235B10C}"/>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1845E8FE-AD15-FF3F-42CB-3EC4BA6DE7C9}"/>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Methodology</a:t>
            </a:r>
            <a:endParaRPr b="1" dirty="0">
              <a:solidFill>
                <a:srgbClr val="292E60"/>
              </a:solidFill>
            </a:endParaRPr>
          </a:p>
        </p:txBody>
      </p:sp>
      <p:sp>
        <p:nvSpPr>
          <p:cNvPr id="106" name="Google Shape;106;p21">
            <a:extLst>
              <a:ext uri="{FF2B5EF4-FFF2-40B4-BE49-F238E27FC236}">
                <a16:creationId xmlns:a16="http://schemas.microsoft.com/office/drawing/2014/main" id="{3D26AA1C-C495-2037-30AB-E384F6AAD377}"/>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pic>
        <p:nvPicPr>
          <p:cNvPr id="107" name="Google Shape;107;p21">
            <a:extLst>
              <a:ext uri="{FF2B5EF4-FFF2-40B4-BE49-F238E27FC236}">
                <a16:creationId xmlns:a16="http://schemas.microsoft.com/office/drawing/2014/main" id="{9CB11064-0BE2-7C1D-EF7D-4C9137181011}"/>
              </a:ext>
            </a:extLst>
          </p:cNvPr>
          <p:cNvPicPr preferRelativeResize="0"/>
          <p:nvPr/>
        </p:nvPicPr>
        <p:blipFill>
          <a:blip r:embed="rId3">
            <a:alphaModFix/>
          </a:blip>
          <a:stretch>
            <a:fillRect/>
          </a:stretch>
        </p:blipFill>
        <p:spPr>
          <a:xfrm>
            <a:off x="2686750" y="878900"/>
            <a:ext cx="155800" cy="155800"/>
          </a:xfrm>
          <a:prstGeom prst="rect">
            <a:avLst/>
          </a:prstGeom>
          <a:noFill/>
          <a:ln>
            <a:noFill/>
          </a:ln>
        </p:spPr>
      </p:pic>
      <p:grpSp>
        <p:nvGrpSpPr>
          <p:cNvPr id="13" name="Group 12">
            <a:extLst>
              <a:ext uri="{FF2B5EF4-FFF2-40B4-BE49-F238E27FC236}">
                <a16:creationId xmlns:a16="http://schemas.microsoft.com/office/drawing/2014/main" id="{A1F013BA-ECFC-CA05-620F-C18D01943DD2}"/>
              </a:ext>
            </a:extLst>
          </p:cNvPr>
          <p:cNvGrpSpPr/>
          <p:nvPr/>
        </p:nvGrpSpPr>
        <p:grpSpPr>
          <a:xfrm>
            <a:off x="411061" y="1451602"/>
            <a:ext cx="8338656" cy="2281501"/>
            <a:chOff x="411061" y="1451600"/>
            <a:chExt cx="8338656" cy="2281501"/>
          </a:xfrm>
        </p:grpSpPr>
        <p:pic>
          <p:nvPicPr>
            <p:cNvPr id="12" name="Picture 11">
              <a:extLst>
                <a:ext uri="{FF2B5EF4-FFF2-40B4-BE49-F238E27FC236}">
                  <a16:creationId xmlns:a16="http://schemas.microsoft.com/office/drawing/2014/main" id="{FD986000-E374-66DA-F810-1532C7294703}"/>
                </a:ext>
              </a:extLst>
            </p:cNvPr>
            <p:cNvPicPr>
              <a:picLocks noChangeAspect="1"/>
            </p:cNvPicPr>
            <p:nvPr/>
          </p:nvPicPr>
          <p:blipFill>
            <a:blip r:embed="rId4"/>
            <a:srcRect l="61262" t="66764"/>
            <a:stretch>
              <a:fillRect/>
            </a:stretch>
          </p:blipFill>
          <p:spPr>
            <a:xfrm>
              <a:off x="411061" y="1451600"/>
              <a:ext cx="8338656" cy="2281501"/>
            </a:xfrm>
            <a:prstGeom prst="roundRect">
              <a:avLst>
                <a:gd name="adj" fmla="val 3497"/>
              </a:avLst>
            </a:prstGeom>
          </p:spPr>
        </p:pic>
        <p:pic>
          <p:nvPicPr>
            <p:cNvPr id="11" name="Picture 10">
              <a:extLst>
                <a:ext uri="{FF2B5EF4-FFF2-40B4-BE49-F238E27FC236}">
                  <a16:creationId xmlns:a16="http://schemas.microsoft.com/office/drawing/2014/main" id="{2AB1E6E0-6B70-6B57-DF1F-6A6929721354}"/>
                </a:ext>
              </a:extLst>
            </p:cNvPr>
            <p:cNvPicPr>
              <a:picLocks noChangeAspect="1"/>
            </p:cNvPicPr>
            <p:nvPr/>
          </p:nvPicPr>
          <p:blipFill>
            <a:blip r:embed="rId4"/>
            <a:srcRect l="387"/>
            <a:stretch>
              <a:fillRect/>
            </a:stretch>
          </p:blipFill>
          <p:spPr>
            <a:xfrm>
              <a:off x="517244" y="1551160"/>
              <a:ext cx="8126290" cy="2082380"/>
            </a:xfrm>
            <a:prstGeom prst="rect">
              <a:avLst/>
            </a:prstGeom>
          </p:spPr>
        </p:pic>
      </p:grpSp>
      <p:sp>
        <p:nvSpPr>
          <p:cNvPr id="14" name="Rounded Rectangle 13">
            <a:extLst>
              <a:ext uri="{FF2B5EF4-FFF2-40B4-BE49-F238E27FC236}">
                <a16:creationId xmlns:a16="http://schemas.microsoft.com/office/drawing/2014/main" id="{F903FFE7-FAA1-C1DD-3130-0185ED9CFB38}"/>
              </a:ext>
            </a:extLst>
          </p:cNvPr>
          <p:cNvSpPr/>
          <p:nvPr/>
        </p:nvSpPr>
        <p:spPr>
          <a:xfrm>
            <a:off x="596632" y="2243849"/>
            <a:ext cx="2665379" cy="348503"/>
          </a:xfrm>
          <a:prstGeom prst="roundRect">
            <a:avLst/>
          </a:prstGeom>
          <a:noFill/>
          <a:ln>
            <a:solidFill>
              <a:srgbClr val="E619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7895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31236C31-FDC5-36E7-AD04-555C58AE3CB8}"/>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3900618D-8E1B-5F0E-93BD-C783408FE5B7}"/>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Methodology</a:t>
            </a:r>
            <a:endParaRPr b="1" dirty="0">
              <a:solidFill>
                <a:srgbClr val="292E60"/>
              </a:solidFill>
            </a:endParaRPr>
          </a:p>
        </p:txBody>
      </p:sp>
      <p:sp>
        <p:nvSpPr>
          <p:cNvPr id="106" name="Google Shape;106;p21">
            <a:extLst>
              <a:ext uri="{FF2B5EF4-FFF2-40B4-BE49-F238E27FC236}">
                <a16:creationId xmlns:a16="http://schemas.microsoft.com/office/drawing/2014/main" id="{A6B13596-2F02-22FB-DB5A-C542CE1F8EB7}"/>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pic>
        <p:nvPicPr>
          <p:cNvPr id="107" name="Google Shape;107;p21">
            <a:extLst>
              <a:ext uri="{FF2B5EF4-FFF2-40B4-BE49-F238E27FC236}">
                <a16:creationId xmlns:a16="http://schemas.microsoft.com/office/drawing/2014/main" id="{05F3D44D-4D3E-9DD4-20B7-FE676EFE5CB4}"/>
              </a:ext>
            </a:extLst>
          </p:cNvPr>
          <p:cNvPicPr preferRelativeResize="0"/>
          <p:nvPr/>
        </p:nvPicPr>
        <p:blipFill>
          <a:blip r:embed="rId3">
            <a:alphaModFix/>
          </a:blip>
          <a:stretch>
            <a:fillRect/>
          </a:stretch>
        </p:blipFill>
        <p:spPr>
          <a:xfrm>
            <a:off x="2686750" y="878900"/>
            <a:ext cx="155800" cy="155800"/>
          </a:xfrm>
          <a:prstGeom prst="rect">
            <a:avLst/>
          </a:prstGeom>
          <a:noFill/>
          <a:ln>
            <a:noFill/>
          </a:ln>
        </p:spPr>
      </p:pic>
      <p:pic>
        <p:nvPicPr>
          <p:cNvPr id="6" name="Picture 5">
            <a:extLst>
              <a:ext uri="{FF2B5EF4-FFF2-40B4-BE49-F238E27FC236}">
                <a16:creationId xmlns:a16="http://schemas.microsoft.com/office/drawing/2014/main" id="{9E296807-DF4E-92D2-1927-70F52956F5DC}"/>
              </a:ext>
            </a:extLst>
          </p:cNvPr>
          <p:cNvPicPr>
            <a:picLocks noChangeAspect="1"/>
          </p:cNvPicPr>
          <p:nvPr/>
        </p:nvPicPr>
        <p:blipFill>
          <a:blip r:embed="rId4"/>
          <a:srcRect t="18198" r="19499" b="9512"/>
          <a:stretch>
            <a:fillRect/>
          </a:stretch>
        </p:blipFill>
        <p:spPr>
          <a:xfrm>
            <a:off x="785091" y="1125577"/>
            <a:ext cx="7573818" cy="3712398"/>
          </a:xfrm>
          <a:prstGeom prst="roundRect">
            <a:avLst>
              <a:gd name="adj" fmla="val 2734"/>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contourClr>
              <a:srgbClr val="969696"/>
            </a:contourClr>
          </a:sp3d>
        </p:spPr>
      </p:pic>
    </p:spTree>
    <p:extLst>
      <p:ext uri="{BB962C8B-B14F-4D97-AF65-F5344CB8AC3E}">
        <p14:creationId xmlns:p14="http://schemas.microsoft.com/office/powerpoint/2010/main" val="22699938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A43101F7-E18A-C533-1462-D0954AE075F0}"/>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138D9EED-11A3-59DD-ADDB-CAC13BF0F03A}"/>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Methodology</a:t>
            </a:r>
            <a:endParaRPr b="1" dirty="0">
              <a:solidFill>
                <a:srgbClr val="292E60"/>
              </a:solidFill>
            </a:endParaRPr>
          </a:p>
        </p:txBody>
      </p:sp>
      <p:sp>
        <p:nvSpPr>
          <p:cNvPr id="106" name="Google Shape;106;p21">
            <a:extLst>
              <a:ext uri="{FF2B5EF4-FFF2-40B4-BE49-F238E27FC236}">
                <a16:creationId xmlns:a16="http://schemas.microsoft.com/office/drawing/2014/main" id="{CC00083B-74DB-F3C2-611E-7E2165B8478D}"/>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pic>
        <p:nvPicPr>
          <p:cNvPr id="107" name="Google Shape;107;p21">
            <a:extLst>
              <a:ext uri="{FF2B5EF4-FFF2-40B4-BE49-F238E27FC236}">
                <a16:creationId xmlns:a16="http://schemas.microsoft.com/office/drawing/2014/main" id="{96A3AFB6-7C0F-10EC-F8D1-5A015372DF99}"/>
              </a:ext>
            </a:extLst>
          </p:cNvPr>
          <p:cNvPicPr preferRelativeResize="0"/>
          <p:nvPr/>
        </p:nvPicPr>
        <p:blipFill>
          <a:blip r:embed="rId3">
            <a:alphaModFix/>
          </a:blip>
          <a:stretch>
            <a:fillRect/>
          </a:stretch>
        </p:blipFill>
        <p:spPr>
          <a:xfrm>
            <a:off x="2686750" y="878900"/>
            <a:ext cx="155800" cy="155800"/>
          </a:xfrm>
          <a:prstGeom prst="rect">
            <a:avLst/>
          </a:prstGeom>
          <a:noFill/>
          <a:ln>
            <a:noFill/>
          </a:ln>
        </p:spPr>
      </p:pic>
      <p:pic>
        <p:nvPicPr>
          <p:cNvPr id="7" name="Picture 6">
            <a:extLst>
              <a:ext uri="{FF2B5EF4-FFF2-40B4-BE49-F238E27FC236}">
                <a16:creationId xmlns:a16="http://schemas.microsoft.com/office/drawing/2014/main" id="{6A92FF18-78E3-D4B1-14FB-9DB0280132B1}"/>
              </a:ext>
            </a:extLst>
          </p:cNvPr>
          <p:cNvPicPr>
            <a:picLocks noChangeAspect="1"/>
          </p:cNvPicPr>
          <p:nvPr/>
        </p:nvPicPr>
        <p:blipFill>
          <a:blip r:embed="rId4"/>
          <a:srcRect l="1487" t="18087" r="24408" b="34619"/>
          <a:stretch>
            <a:fillRect/>
          </a:stretch>
        </p:blipFill>
        <p:spPr>
          <a:xfrm>
            <a:off x="439126" y="1297249"/>
            <a:ext cx="8265751" cy="2967353"/>
          </a:xfrm>
          <a:prstGeom prst="roundRect">
            <a:avLst>
              <a:gd name="adj" fmla="val 4228"/>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contourClr>
              <a:srgbClr val="969696"/>
            </a:contourClr>
          </a:sp3d>
        </p:spPr>
      </p:pic>
    </p:spTree>
    <p:extLst>
      <p:ext uri="{BB962C8B-B14F-4D97-AF65-F5344CB8AC3E}">
        <p14:creationId xmlns:p14="http://schemas.microsoft.com/office/powerpoint/2010/main" val="39783190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3D66AE9C-BC9D-B380-332E-70E01348F099}"/>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94D2B319-1988-85CD-81A9-5C94D9AE566F}"/>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Methodology</a:t>
            </a:r>
            <a:endParaRPr b="1" dirty="0">
              <a:solidFill>
                <a:srgbClr val="292E60"/>
              </a:solidFill>
            </a:endParaRPr>
          </a:p>
        </p:txBody>
      </p:sp>
      <p:sp>
        <p:nvSpPr>
          <p:cNvPr id="106" name="Google Shape;106;p21">
            <a:extLst>
              <a:ext uri="{FF2B5EF4-FFF2-40B4-BE49-F238E27FC236}">
                <a16:creationId xmlns:a16="http://schemas.microsoft.com/office/drawing/2014/main" id="{606A01AC-6F5D-8626-A215-B28D4FC282F0}"/>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pic>
        <p:nvPicPr>
          <p:cNvPr id="107" name="Google Shape;107;p21">
            <a:extLst>
              <a:ext uri="{FF2B5EF4-FFF2-40B4-BE49-F238E27FC236}">
                <a16:creationId xmlns:a16="http://schemas.microsoft.com/office/drawing/2014/main" id="{3258E54A-60B2-BC87-03EF-F5A88FDEFEDC}"/>
              </a:ext>
            </a:extLst>
          </p:cNvPr>
          <p:cNvPicPr preferRelativeResize="0"/>
          <p:nvPr/>
        </p:nvPicPr>
        <p:blipFill>
          <a:blip r:embed="rId3">
            <a:alphaModFix/>
          </a:blip>
          <a:stretch>
            <a:fillRect/>
          </a:stretch>
        </p:blipFill>
        <p:spPr>
          <a:xfrm>
            <a:off x="2686750" y="878900"/>
            <a:ext cx="155800" cy="155800"/>
          </a:xfrm>
          <a:prstGeom prst="rect">
            <a:avLst/>
          </a:prstGeom>
          <a:noFill/>
          <a:ln>
            <a:noFill/>
          </a:ln>
        </p:spPr>
      </p:pic>
      <p:pic>
        <p:nvPicPr>
          <p:cNvPr id="4" name="Picture 3">
            <a:extLst>
              <a:ext uri="{FF2B5EF4-FFF2-40B4-BE49-F238E27FC236}">
                <a16:creationId xmlns:a16="http://schemas.microsoft.com/office/drawing/2014/main" id="{592E0E87-5FA3-945A-1241-9C457577E5F6}"/>
              </a:ext>
            </a:extLst>
          </p:cNvPr>
          <p:cNvPicPr>
            <a:picLocks noChangeAspect="1"/>
          </p:cNvPicPr>
          <p:nvPr/>
        </p:nvPicPr>
        <p:blipFill>
          <a:blip r:embed="rId4"/>
          <a:srcRect l="2569" t="30163" r="17647" b="8645"/>
          <a:stretch>
            <a:fillRect/>
          </a:stretch>
        </p:blipFill>
        <p:spPr>
          <a:xfrm>
            <a:off x="562303" y="1200036"/>
            <a:ext cx="8019394" cy="3357273"/>
          </a:xfrm>
          <a:prstGeom prst="rect">
            <a:avLst/>
          </a:prstGeom>
        </p:spPr>
      </p:pic>
    </p:spTree>
    <p:extLst>
      <p:ext uri="{BB962C8B-B14F-4D97-AF65-F5344CB8AC3E}">
        <p14:creationId xmlns:p14="http://schemas.microsoft.com/office/powerpoint/2010/main" val="12952824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701D0F52-80A1-7C40-E773-A20E0F7B5AD6}"/>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C35163BE-E342-F6E4-86D2-CCEBF3C8F7AA}"/>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Methodology</a:t>
            </a:r>
            <a:endParaRPr b="1" dirty="0">
              <a:solidFill>
                <a:srgbClr val="292E60"/>
              </a:solidFill>
            </a:endParaRPr>
          </a:p>
        </p:txBody>
      </p:sp>
      <p:sp>
        <p:nvSpPr>
          <p:cNvPr id="106" name="Google Shape;106;p21">
            <a:extLst>
              <a:ext uri="{FF2B5EF4-FFF2-40B4-BE49-F238E27FC236}">
                <a16:creationId xmlns:a16="http://schemas.microsoft.com/office/drawing/2014/main" id="{2F71D795-2AD0-7391-CB64-6D17E5549A3C}"/>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pic>
        <p:nvPicPr>
          <p:cNvPr id="107" name="Google Shape;107;p21">
            <a:extLst>
              <a:ext uri="{FF2B5EF4-FFF2-40B4-BE49-F238E27FC236}">
                <a16:creationId xmlns:a16="http://schemas.microsoft.com/office/drawing/2014/main" id="{26595DC8-E26A-D039-106D-25F8949C6BF7}"/>
              </a:ext>
            </a:extLst>
          </p:cNvPr>
          <p:cNvPicPr preferRelativeResize="0"/>
          <p:nvPr/>
        </p:nvPicPr>
        <p:blipFill>
          <a:blip r:embed="rId3">
            <a:alphaModFix/>
          </a:blip>
          <a:stretch>
            <a:fillRect/>
          </a:stretch>
        </p:blipFill>
        <p:spPr>
          <a:xfrm>
            <a:off x="2686750" y="878900"/>
            <a:ext cx="155800" cy="155800"/>
          </a:xfrm>
          <a:prstGeom prst="rect">
            <a:avLst/>
          </a:prstGeom>
          <a:noFill/>
          <a:ln>
            <a:noFill/>
          </a:ln>
        </p:spPr>
      </p:pic>
      <p:pic>
        <p:nvPicPr>
          <p:cNvPr id="4" name="Picture 3">
            <a:extLst>
              <a:ext uri="{FF2B5EF4-FFF2-40B4-BE49-F238E27FC236}">
                <a16:creationId xmlns:a16="http://schemas.microsoft.com/office/drawing/2014/main" id="{D1E6C248-69E8-90CC-CDD2-6CCD5A5C80F3}"/>
              </a:ext>
            </a:extLst>
          </p:cNvPr>
          <p:cNvPicPr>
            <a:picLocks noChangeAspect="1"/>
          </p:cNvPicPr>
          <p:nvPr/>
        </p:nvPicPr>
        <p:blipFill>
          <a:blip r:embed="rId4"/>
          <a:srcRect l="34567" t="44103" r="17647" b="17055"/>
          <a:stretch>
            <a:fillRect/>
          </a:stretch>
        </p:blipFill>
        <p:spPr>
          <a:xfrm>
            <a:off x="1408503" y="1468575"/>
            <a:ext cx="6501174" cy="2884446"/>
          </a:xfrm>
          <a:prstGeom prst="rect">
            <a:avLst/>
          </a:prstGeom>
        </p:spPr>
      </p:pic>
    </p:spTree>
    <p:extLst>
      <p:ext uri="{BB962C8B-B14F-4D97-AF65-F5344CB8AC3E}">
        <p14:creationId xmlns:p14="http://schemas.microsoft.com/office/powerpoint/2010/main" val="342695932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5734A623-4238-E39D-2D82-8D69511EC5DA}"/>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CBF72577-4B47-E4F8-45AC-3856CED2749B}"/>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err="1">
                <a:solidFill>
                  <a:srgbClr val="292E60"/>
                </a:solidFill>
              </a:rPr>
              <a:t>Methodology</a:t>
            </a:r>
            <a:endParaRPr b="1" dirty="0">
              <a:solidFill>
                <a:srgbClr val="292E60"/>
              </a:solidFill>
            </a:endParaRPr>
          </a:p>
        </p:txBody>
      </p:sp>
      <p:sp>
        <p:nvSpPr>
          <p:cNvPr id="106" name="Google Shape;106;p21">
            <a:extLst>
              <a:ext uri="{FF2B5EF4-FFF2-40B4-BE49-F238E27FC236}">
                <a16:creationId xmlns:a16="http://schemas.microsoft.com/office/drawing/2014/main" id="{BF0D33BE-74D3-45AE-DA83-5ACDF44E57AE}"/>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pic>
        <p:nvPicPr>
          <p:cNvPr id="107" name="Google Shape;107;p21">
            <a:extLst>
              <a:ext uri="{FF2B5EF4-FFF2-40B4-BE49-F238E27FC236}">
                <a16:creationId xmlns:a16="http://schemas.microsoft.com/office/drawing/2014/main" id="{D68EE84A-7283-C849-01DB-AD8EE1BE04DF}"/>
              </a:ext>
            </a:extLst>
          </p:cNvPr>
          <p:cNvPicPr preferRelativeResize="0"/>
          <p:nvPr/>
        </p:nvPicPr>
        <p:blipFill>
          <a:blip r:embed="rId3">
            <a:alphaModFix/>
          </a:blip>
          <a:stretch>
            <a:fillRect/>
          </a:stretch>
        </p:blipFill>
        <p:spPr>
          <a:xfrm>
            <a:off x="2686750" y="878900"/>
            <a:ext cx="155800" cy="155800"/>
          </a:xfrm>
          <a:prstGeom prst="rect">
            <a:avLst/>
          </a:prstGeom>
          <a:noFill/>
          <a:ln>
            <a:noFill/>
          </a:ln>
        </p:spPr>
      </p:pic>
      <p:pic>
        <p:nvPicPr>
          <p:cNvPr id="4" name="Picture 3">
            <a:extLst>
              <a:ext uri="{FF2B5EF4-FFF2-40B4-BE49-F238E27FC236}">
                <a16:creationId xmlns:a16="http://schemas.microsoft.com/office/drawing/2014/main" id="{1A70B8B2-FABE-1B9A-5D01-2C1E61FDBE34}"/>
              </a:ext>
            </a:extLst>
          </p:cNvPr>
          <p:cNvPicPr>
            <a:picLocks noChangeAspect="1"/>
          </p:cNvPicPr>
          <p:nvPr/>
        </p:nvPicPr>
        <p:blipFill>
          <a:blip r:embed="rId4"/>
          <a:srcRect l="3670" t="82433" r="78964" b="8645"/>
          <a:stretch>
            <a:fillRect/>
          </a:stretch>
        </p:blipFill>
        <p:spPr>
          <a:xfrm>
            <a:off x="2085175" y="1897168"/>
            <a:ext cx="5310573" cy="1489367"/>
          </a:xfrm>
          <a:prstGeom prst="rect">
            <a:avLst/>
          </a:prstGeom>
        </p:spPr>
      </p:pic>
    </p:spTree>
    <p:extLst>
      <p:ext uri="{BB962C8B-B14F-4D97-AF65-F5344CB8AC3E}">
        <p14:creationId xmlns:p14="http://schemas.microsoft.com/office/powerpoint/2010/main" val="1487795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4317449F-8664-765C-3770-19162F8BE069}"/>
            </a:ext>
          </a:extLst>
        </p:cNvPr>
        <p:cNvGrpSpPr/>
        <p:nvPr/>
      </p:nvGrpSpPr>
      <p:grpSpPr>
        <a:xfrm>
          <a:off x="0" y="0"/>
          <a:ext cx="0" cy="0"/>
          <a:chOff x="0" y="0"/>
          <a:chExt cx="0" cy="0"/>
        </a:xfrm>
      </p:grpSpPr>
      <p:sp>
        <p:nvSpPr>
          <p:cNvPr id="104" name="Google Shape;104;p21">
            <a:extLst>
              <a:ext uri="{FF2B5EF4-FFF2-40B4-BE49-F238E27FC236}">
                <a16:creationId xmlns:a16="http://schemas.microsoft.com/office/drawing/2014/main" id="{8F9C0D01-BEA8-79F7-73D6-F3E07FBAEFB0}"/>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de" b="1" dirty="0">
                <a:solidFill>
                  <a:srgbClr val="292E60"/>
                </a:solidFill>
              </a:rPr>
              <a:t>Challenges</a:t>
            </a:r>
            <a:endParaRPr b="1" dirty="0">
              <a:solidFill>
                <a:srgbClr val="292E60"/>
              </a:solidFill>
            </a:endParaRPr>
          </a:p>
        </p:txBody>
      </p:sp>
      <p:sp>
        <p:nvSpPr>
          <p:cNvPr id="105" name="Google Shape;105;p21">
            <a:extLst>
              <a:ext uri="{FF2B5EF4-FFF2-40B4-BE49-F238E27FC236}">
                <a16:creationId xmlns:a16="http://schemas.microsoft.com/office/drawing/2014/main" id="{632ED679-EDE3-DF7E-521D-73B3E3CA3861}"/>
              </a:ext>
            </a:extLst>
          </p:cNvPr>
          <p:cNvSpPr txBox="1">
            <a:spLocks noGrp="1"/>
          </p:cNvSpPr>
          <p:nvPr>
            <p:ph type="body" idx="1"/>
          </p:nvPr>
        </p:nvSpPr>
        <p:spPr>
          <a:xfrm>
            <a:off x="552475" y="1152475"/>
            <a:ext cx="8279700" cy="3416400"/>
          </a:xfrm>
          <a:prstGeom prst="rect">
            <a:avLst/>
          </a:prstGeom>
        </p:spPr>
        <p:txBody>
          <a:bodyPr spcFirstLastPara="1" wrap="square" lIns="91425" tIns="91425" rIns="91425" bIns="91425" anchor="t" anchorCtr="0">
            <a:noAutofit/>
          </a:bodyPr>
          <a:lstStyle/>
          <a:p>
            <a:pPr marL="285750" indent="-285750">
              <a:spcAft>
                <a:spcPts val="1600"/>
              </a:spcAft>
            </a:pPr>
            <a:r>
              <a:rPr lang="de" dirty="0">
                <a:solidFill>
                  <a:srgbClr val="1D1D1B"/>
                </a:solidFill>
              </a:rPr>
              <a:t>Initial reverse </a:t>
            </a:r>
            <a:r>
              <a:rPr lang="de" dirty="0" err="1">
                <a:solidFill>
                  <a:srgbClr val="1D1D1B"/>
                </a:solidFill>
              </a:rPr>
              <a:t>shell</a:t>
            </a:r>
            <a:r>
              <a:rPr lang="de" dirty="0">
                <a:solidFill>
                  <a:srgbClr val="1D1D1B"/>
                </a:solidFill>
              </a:rPr>
              <a:t> not </a:t>
            </a:r>
            <a:r>
              <a:rPr lang="de" dirty="0" err="1">
                <a:solidFill>
                  <a:srgbClr val="1D1D1B"/>
                </a:solidFill>
              </a:rPr>
              <a:t>caught</a:t>
            </a:r>
            <a:r>
              <a:rPr lang="de" dirty="0">
                <a:solidFill>
                  <a:srgbClr val="1D1D1B"/>
                </a:solidFill>
              </a:rPr>
              <a:t> </a:t>
            </a:r>
            <a:r>
              <a:rPr lang="de" dirty="0" err="1">
                <a:solidFill>
                  <a:srgbClr val="1D1D1B"/>
                </a:solidFill>
              </a:rPr>
              <a:t>by</a:t>
            </a:r>
            <a:r>
              <a:rPr lang="de" dirty="0">
                <a:solidFill>
                  <a:srgbClr val="1D1D1B"/>
                </a:solidFill>
              </a:rPr>
              <a:t> </a:t>
            </a:r>
            <a:r>
              <a:rPr lang="de" i="1" dirty="0" err="1">
                <a:solidFill>
                  <a:srgbClr val="1D1D1B"/>
                </a:solidFill>
              </a:rPr>
              <a:t>elastic</a:t>
            </a:r>
            <a:r>
              <a:rPr lang="de" dirty="0">
                <a:solidFill>
                  <a:srgbClr val="1D1D1B"/>
                </a:solidFill>
              </a:rPr>
              <a:t> </a:t>
            </a:r>
            <a:r>
              <a:rPr lang="de" dirty="0" err="1">
                <a:solidFill>
                  <a:srgbClr val="1D1D1B"/>
                </a:solidFill>
              </a:rPr>
              <a:t>rule</a:t>
            </a:r>
            <a:endParaRPr lang="de" dirty="0">
              <a:solidFill>
                <a:srgbClr val="1D1D1B"/>
              </a:solidFill>
            </a:endParaRPr>
          </a:p>
          <a:p>
            <a:pPr marL="285750" indent="-285750">
              <a:spcAft>
                <a:spcPts val="1600"/>
              </a:spcAft>
            </a:pPr>
            <a:r>
              <a:rPr lang="de" dirty="0">
                <a:solidFill>
                  <a:srgbClr val="1D1D1B"/>
                </a:solidFill>
              </a:rPr>
              <a:t>Technical </a:t>
            </a:r>
            <a:r>
              <a:rPr lang="de" dirty="0" err="1">
                <a:solidFill>
                  <a:srgbClr val="1D1D1B"/>
                </a:solidFill>
              </a:rPr>
              <a:t>problems</a:t>
            </a:r>
            <a:endParaRPr dirty="0">
              <a:solidFill>
                <a:srgbClr val="1D1D1B"/>
              </a:solidFill>
            </a:endParaRPr>
          </a:p>
        </p:txBody>
      </p:sp>
      <p:sp>
        <p:nvSpPr>
          <p:cNvPr id="106" name="Google Shape;106;p21">
            <a:extLst>
              <a:ext uri="{FF2B5EF4-FFF2-40B4-BE49-F238E27FC236}">
                <a16:creationId xmlns:a16="http://schemas.microsoft.com/office/drawing/2014/main" id="{3A508559-346D-C736-7BA3-8D4C22541548}"/>
              </a:ext>
            </a:extLst>
          </p:cNvPr>
          <p:cNvSpPr txBox="1"/>
          <p:nvPr/>
        </p:nvSpPr>
        <p:spPr>
          <a:xfrm>
            <a:off x="0" y="4821000"/>
            <a:ext cx="2193000" cy="398700"/>
          </a:xfrm>
          <a:prstGeom prst="rect">
            <a:avLst/>
          </a:prstGeom>
          <a:noFill/>
          <a:ln>
            <a:noFill/>
          </a:ln>
        </p:spPr>
        <p:txBody>
          <a:bodyPr spcFirstLastPara="1" wrap="square" lIns="91425" tIns="91425" rIns="91425" bIns="91425" anchor="t" anchorCtr="0">
            <a:noAutofit/>
          </a:bodyPr>
          <a:lstStyle/>
          <a:p>
            <a:r>
              <a:rPr lang="de" sz="1000" dirty="0"/>
              <a:t>17</a:t>
            </a:r>
            <a:endParaRPr sz="1000" dirty="0"/>
          </a:p>
        </p:txBody>
      </p:sp>
      <p:pic>
        <p:nvPicPr>
          <p:cNvPr id="107" name="Google Shape;107;p21">
            <a:extLst>
              <a:ext uri="{FF2B5EF4-FFF2-40B4-BE49-F238E27FC236}">
                <a16:creationId xmlns:a16="http://schemas.microsoft.com/office/drawing/2014/main" id="{4EA7EBB8-5A7A-0DBD-4369-DEF01BEDAAB9}"/>
              </a:ext>
            </a:extLst>
          </p:cNvPr>
          <p:cNvPicPr preferRelativeResize="0"/>
          <p:nvPr/>
        </p:nvPicPr>
        <p:blipFill>
          <a:blip r:embed="rId3">
            <a:alphaModFix/>
          </a:blip>
          <a:stretch>
            <a:fillRect/>
          </a:stretch>
        </p:blipFill>
        <p:spPr>
          <a:xfrm>
            <a:off x="2264722" y="878900"/>
            <a:ext cx="155800" cy="155800"/>
          </a:xfrm>
          <a:prstGeom prst="rect">
            <a:avLst/>
          </a:prstGeom>
          <a:noFill/>
          <a:ln>
            <a:noFill/>
          </a:ln>
        </p:spPr>
      </p:pic>
    </p:spTree>
    <p:extLst>
      <p:ext uri="{BB962C8B-B14F-4D97-AF65-F5344CB8AC3E}">
        <p14:creationId xmlns:p14="http://schemas.microsoft.com/office/powerpoint/2010/main" val="185006572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14687</TotalTime>
  <Words>2486</Words>
  <Application>Microsoft Macintosh PowerPoint</Application>
  <PresentationFormat>On-screen Show (16:9)</PresentationFormat>
  <Paragraphs>566</Paragraphs>
  <Slides>74</Slides>
  <Notes>73</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74</vt:i4>
      </vt:variant>
    </vt:vector>
  </HeadingPairs>
  <TitlesOfParts>
    <vt:vector size="79" baseType="lpstr">
      <vt:lpstr>Arial</vt:lpstr>
      <vt:lpstr>Avenir Next</vt:lpstr>
      <vt:lpstr>Roboto-Light</vt:lpstr>
      <vt:lpstr>Wingdings</vt:lpstr>
      <vt:lpstr>Simple Light</vt:lpstr>
      <vt:lpstr>PowerPoint Presentation</vt:lpstr>
      <vt:lpstr>Table of Contents</vt:lpstr>
      <vt:lpstr>01</vt:lpstr>
      <vt:lpstr>Relevancy of Buffer Overflows</vt:lpstr>
      <vt:lpstr>Relevancy of Buffer Overflows</vt:lpstr>
      <vt:lpstr>Relevancy of Buffer Overflows</vt:lpstr>
      <vt:lpstr>Relevancy of Buffer Overflows</vt:lpstr>
      <vt:lpstr>Relevancy of Buffer Overflows</vt:lpstr>
      <vt:lpstr>Relevancy of Buffer Overflows</vt:lpstr>
      <vt:lpstr>Preparation</vt:lpstr>
      <vt:lpstr>Methodology</vt:lpstr>
      <vt:lpstr>Methodology</vt:lpstr>
      <vt:lpstr>Methodology</vt:lpstr>
      <vt:lpstr>Methodology</vt:lpstr>
      <vt:lpstr>Methodology</vt:lpstr>
      <vt:lpstr>Methodology</vt:lpstr>
      <vt:lpstr>Methodology</vt:lpstr>
      <vt:lpstr>Methodology</vt:lpstr>
      <vt:lpstr>Methodology</vt:lpstr>
      <vt:lpstr>Challenges</vt:lpstr>
      <vt:lpstr>02</vt:lpstr>
      <vt:lpstr>Relevancy of Penetration Testing</vt:lpstr>
      <vt:lpstr>Prevention</vt:lpstr>
      <vt:lpstr>Prioritization</vt:lpstr>
      <vt:lpstr>PowerPoint Presentation</vt:lpstr>
      <vt:lpstr>Methodology</vt:lpstr>
      <vt:lpstr>OSINT</vt:lpstr>
      <vt:lpstr>PowerPoint Presentation</vt:lpstr>
      <vt:lpstr>Active Scan</vt:lpstr>
      <vt:lpstr>Active Scan</vt:lpstr>
      <vt:lpstr>Active Scan</vt:lpstr>
      <vt:lpstr>Cracking Hashes</vt:lpstr>
      <vt:lpstr>Creating Wordlists</vt:lpstr>
      <vt:lpstr>Brute Force</vt:lpstr>
      <vt:lpstr>Brute Force</vt:lpstr>
      <vt:lpstr>Brute Force</vt:lpstr>
      <vt:lpstr>Brute Force</vt:lpstr>
      <vt:lpstr>Brute Force</vt:lpstr>
      <vt:lpstr>Brute Force</vt:lpstr>
      <vt:lpstr>Brute Force</vt:lpstr>
      <vt:lpstr>Brute Force</vt:lpstr>
      <vt:lpstr>Brute Force</vt:lpstr>
      <vt:lpstr>Brute Force</vt:lpstr>
      <vt:lpstr>SQL Injection</vt:lpstr>
      <vt:lpstr>SQL Injection</vt:lpstr>
      <vt:lpstr>SQL Injection</vt:lpstr>
      <vt:lpstr>Command Injection</vt:lpstr>
      <vt:lpstr>Command Injection</vt:lpstr>
      <vt:lpstr>Command Injection</vt:lpstr>
      <vt:lpstr>Privilege Escalation</vt:lpstr>
      <vt:lpstr>Privilege Escalation</vt:lpstr>
      <vt:lpstr>Privilege Escalation</vt:lpstr>
      <vt:lpstr>Public Exploit</vt:lpstr>
      <vt:lpstr>Challenges</vt:lpstr>
      <vt:lpstr>PowerPoint Presentation</vt:lpstr>
      <vt:lpstr>03</vt:lpstr>
      <vt:lpstr>Relevancy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Challenges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Simon Neubert</cp:lastModifiedBy>
  <cp:revision>981</cp:revision>
  <dcterms:modified xsi:type="dcterms:W3CDTF">2026-06-12T10:35:58Z</dcterms:modified>
</cp:coreProperties>
</file>