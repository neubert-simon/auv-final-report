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4"/>
  </p:notesMasterIdLst>
  <p:sldIdLst>
    <p:sldId id="261" r:id="rId2"/>
    <p:sldId id="262" r:id="rId3"/>
    <p:sldId id="263" r:id="rId4"/>
    <p:sldId id="264" r:id="rId5"/>
    <p:sldId id="274" r:id="rId6"/>
    <p:sldId id="275" r:id="rId7"/>
    <p:sldId id="297" r:id="rId8"/>
    <p:sldId id="298" r:id="rId9"/>
    <p:sldId id="278" r:id="rId10"/>
    <p:sldId id="303" r:id="rId11"/>
    <p:sldId id="272" r:id="rId12"/>
    <p:sldId id="289" r:id="rId13"/>
    <p:sldId id="279" r:id="rId14"/>
    <p:sldId id="354" r:id="rId15"/>
    <p:sldId id="353" r:id="rId16"/>
    <p:sldId id="288" r:id="rId17"/>
    <p:sldId id="284" r:id="rId18"/>
    <p:sldId id="328" r:id="rId19"/>
    <p:sldId id="277" r:id="rId20"/>
    <p:sldId id="271" r:id="rId21"/>
    <p:sldId id="300" r:id="rId22"/>
    <p:sldId id="301" r:id="rId23"/>
    <p:sldId id="302" r:id="rId24"/>
    <p:sldId id="330" r:id="rId25"/>
    <p:sldId id="304" r:id="rId26"/>
    <p:sldId id="291" r:id="rId27"/>
    <p:sldId id="306" r:id="rId28"/>
    <p:sldId id="305" r:id="rId29"/>
    <p:sldId id="307" r:id="rId30"/>
    <p:sldId id="308" r:id="rId31"/>
    <p:sldId id="309" r:id="rId32"/>
    <p:sldId id="310" r:id="rId33"/>
    <p:sldId id="318" r:id="rId34"/>
    <p:sldId id="326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11" r:id="rId43"/>
    <p:sldId id="312" r:id="rId44"/>
    <p:sldId id="327" r:id="rId45"/>
    <p:sldId id="331" r:id="rId46"/>
    <p:sldId id="329" r:id="rId47"/>
    <p:sldId id="332" r:id="rId48"/>
    <p:sldId id="333" r:id="rId49"/>
    <p:sldId id="314" r:id="rId50"/>
    <p:sldId id="335" r:id="rId51"/>
    <p:sldId id="334" r:id="rId52"/>
    <p:sldId id="315" r:id="rId53"/>
    <p:sldId id="295" r:id="rId54"/>
    <p:sldId id="270" r:id="rId55"/>
    <p:sldId id="352" r:id="rId56"/>
    <p:sldId id="337" r:id="rId57"/>
    <p:sldId id="294" r:id="rId58"/>
    <p:sldId id="338" r:id="rId59"/>
    <p:sldId id="340" r:id="rId60"/>
    <p:sldId id="341" r:id="rId61"/>
    <p:sldId id="345" r:id="rId62"/>
    <p:sldId id="346" r:id="rId63"/>
    <p:sldId id="347" r:id="rId64"/>
    <p:sldId id="348" r:id="rId65"/>
    <p:sldId id="349" r:id="rId66"/>
    <p:sldId id="342" r:id="rId67"/>
    <p:sldId id="343" r:id="rId68"/>
    <p:sldId id="344" r:id="rId69"/>
    <p:sldId id="350" r:id="rId70"/>
    <p:sldId id="351" r:id="rId71"/>
    <p:sldId id="317" r:id="rId72"/>
    <p:sldId id="265" r:id="rId7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E60"/>
    <a:srgbClr val="D51763"/>
    <a:srgbClr val="000000"/>
    <a:srgbClr val="E6196C"/>
    <a:srgbClr val="31363A"/>
    <a:srgbClr val="FF0000"/>
    <a:srgbClr val="22252D"/>
    <a:srgbClr val="272A32"/>
    <a:srgbClr val="1D1D1A"/>
    <a:srgbClr val="CBD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21"/>
    <p:restoredTop sz="66799"/>
  </p:normalViewPr>
  <p:slideViewPr>
    <p:cSldViewPr snapToGrid="0">
      <p:cViewPr>
        <p:scale>
          <a:sx n="64" d="100"/>
          <a:sy n="64" d="100"/>
        </p:scale>
        <p:origin x="3200" y="976"/>
      </p:cViewPr>
      <p:guideLst>
        <p:guide orient="horz" pos="1620"/>
        <p:guide pos="2880"/>
      </p:guideLst>
    </p:cSldViewPr>
  </p:slideViewPr>
  <p:notesTextViewPr>
    <p:cViewPr>
      <p:scale>
        <a:sx n="250" d="100"/>
        <a:sy n="2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b0add0b1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b0add0b1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b0add0b17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b0add0b17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Ich </a:t>
            </a:r>
            <a:r>
              <a:rPr lang="en-US" dirty="0" err="1"/>
              <a:t>werde</a:t>
            </a:r>
            <a:r>
              <a:rPr lang="en-US" dirty="0"/>
              <a:t> die 3 </a:t>
            </a:r>
            <a:r>
              <a:rPr lang="en-US" dirty="0" err="1"/>
              <a:t>durchgeführten</a:t>
            </a:r>
            <a:r>
              <a:rPr lang="en-US" dirty="0"/>
              <a:t> </a:t>
            </a:r>
            <a:r>
              <a:rPr lang="en-US" dirty="0" err="1"/>
              <a:t>Versuche</a:t>
            </a:r>
            <a:r>
              <a:rPr lang="en-US" dirty="0"/>
              <a:t> </a:t>
            </a:r>
            <a:r>
              <a:rPr lang="en-US" dirty="0" err="1"/>
              <a:t>vorführen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Gleiche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Relevanz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Angewandte</a:t>
            </a:r>
            <a:r>
              <a:rPr lang="en-US" dirty="0"/>
              <a:t> </a:t>
            </a:r>
            <a:r>
              <a:rPr lang="en-US" dirty="0" err="1"/>
              <a:t>Methodik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</a:t>
            </a:r>
            <a:r>
              <a:rPr lang="en-US" dirty="0" err="1"/>
              <a:t>Persönliche</a:t>
            </a:r>
            <a:r>
              <a:rPr lang="en-US" dirty="0"/>
              <a:t> </a:t>
            </a:r>
            <a:r>
              <a:rPr lang="en-US" dirty="0" err="1"/>
              <a:t>Herausforderungen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-- Klick 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Mitre</a:t>
            </a:r>
            <a:r>
              <a:rPr lang="en-US" dirty="0"/>
              <a:t> ATTACK </a:t>
            </a:r>
            <a:r>
              <a:rPr lang="en-US" dirty="0" err="1"/>
              <a:t>Techniken</a:t>
            </a:r>
            <a:r>
              <a:rPr lang="en-US" dirty="0"/>
              <a:t> </a:t>
            </a:r>
            <a:r>
              <a:rPr lang="en-US" dirty="0" err="1"/>
              <a:t>unten</a:t>
            </a:r>
            <a:r>
              <a:rPr lang="en-US" dirty="0"/>
              <a:t> </a:t>
            </a:r>
            <a:r>
              <a:rPr lang="en-US" dirty="0" err="1"/>
              <a:t>rechts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b0add0b17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b0add0b17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Warum ist es relevant?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Über 20.000 CVE Einträge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3FC5A1D-2D81-7624-6034-204F3C94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19B519D2-DBAF-F496-44CD-70D9302800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CDDE1C93-75E1-5C08-5A1A-8123B5D6B8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e-DE" dirty="0"/>
              <a:t>Mitre Top 25 CWEs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954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0EDA54-B5D9-A28C-F74C-3839C8BE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2F0FE05B-F6AC-8CD6-CE4B-931C4C8A5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DF773D1D-2AF8-1689-F1F8-301215FBC6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e-DE" dirty="0"/>
              <a:t>3x Buffer Overflow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e-DE" dirty="0"/>
              <a:t>Unser Stack </a:t>
            </a:r>
            <a:r>
              <a:rPr lang="de-DE" dirty="0" err="1"/>
              <a:t>Based</a:t>
            </a:r>
            <a:r>
              <a:rPr lang="de-DE" dirty="0"/>
              <a:t> Angriff ist vertreten</a:t>
            </a:r>
          </a:p>
        </p:txBody>
      </p:sp>
    </p:spTree>
    <p:extLst>
      <p:ext uri="{BB962C8B-B14F-4D97-AF65-F5344CB8AC3E}">
        <p14:creationId xmlns:p14="http://schemas.microsoft.com/office/powerpoint/2010/main" val="2542941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5E6526A-C05C-7036-B636-FD3CB429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B7E36DA9-8CA2-A6ED-AE92-619920426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94CE2F6C-FBF9-45A2-A281-A41494F470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Oberkategorie</a:t>
            </a:r>
            <a:r>
              <a:rPr lang="en-US" dirty="0"/>
              <a:t> auf Platz 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9190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595F81B-69B4-C279-407C-5612798C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D6C944BE-D49A-4404-0C90-617EFC33C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774BF574-E31B-4526-0423-077774845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2430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1095348-52F8-DE27-495A-24912772A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38C2046B-CA11-93FE-31A6-D2EBA8D84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65CA8408-73D6-C5CA-60E6-21F3D7938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Aktiver</a:t>
            </a:r>
            <a:r>
              <a:rPr lang="en-US" dirty="0"/>
              <a:t> Scan </a:t>
            </a:r>
            <a:r>
              <a:rPr lang="en-US" dirty="0" err="1"/>
              <a:t>mit</a:t>
            </a:r>
            <a:r>
              <a:rPr lang="en-US" dirty="0"/>
              <a:t> Nmap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Wichtige</a:t>
            </a:r>
            <a:r>
              <a:rPr lang="en-US" dirty="0"/>
              <a:t> </a:t>
            </a:r>
            <a:r>
              <a:rPr lang="en-US" dirty="0" err="1"/>
              <a:t>Informationen</a:t>
            </a:r>
            <a:r>
              <a:rPr lang="en-US" dirty="0"/>
              <a:t> </a:t>
            </a:r>
            <a:r>
              <a:rPr lang="en-US" dirty="0" err="1"/>
              <a:t>z.B.</a:t>
            </a:r>
            <a:r>
              <a:rPr lang="en-US" dirty="0"/>
              <a:t> Windows 7 System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Server der Input </a:t>
            </a:r>
            <a:r>
              <a:rPr lang="en-US" dirty="0" err="1"/>
              <a:t>annimmt</a:t>
            </a:r>
            <a:r>
              <a:rPr lang="en-US" dirty="0"/>
              <a:t> auf Port 5555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8757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CA78C35-1A25-7BB3-FE95-BE6327C9B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5937EF59-92E6-2B12-FF33-A917F99E48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406119F1-1F9E-9AD2-57C9-B43A8390D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Durchführung des Angriffs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System proben und Absturz herbeiführen</a:t>
            </a:r>
          </a:p>
        </p:txBody>
      </p:sp>
    </p:spTree>
    <p:extLst>
      <p:ext uri="{BB962C8B-B14F-4D97-AF65-F5344CB8AC3E}">
        <p14:creationId xmlns:p14="http://schemas.microsoft.com/office/powerpoint/2010/main" val="1737555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D98F7E4-B479-FF9C-012B-71E735E0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7CF4DD98-0533-C2BF-310D-DB575A02D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0C65B339-A754-FAE1-8CE1-F5CC13E6BD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Normaler</a:t>
            </a:r>
            <a:r>
              <a:rPr lang="en-US" dirty="0"/>
              <a:t> Input </a:t>
            </a:r>
            <a:r>
              <a:rPr lang="en-US" dirty="0" err="1"/>
              <a:t>bleibt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allokierten</a:t>
            </a:r>
            <a:r>
              <a:rPr lang="en-US" dirty="0"/>
              <a:t> Buffer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Zu </a:t>
            </a:r>
            <a:r>
              <a:rPr lang="en-US" dirty="0" err="1"/>
              <a:t>langer</a:t>
            </a:r>
            <a:r>
              <a:rPr lang="en-US" dirty="0"/>
              <a:t> Input </a:t>
            </a:r>
            <a:r>
              <a:rPr lang="en-US" dirty="0" err="1"/>
              <a:t>überschreibt</a:t>
            </a:r>
            <a:r>
              <a:rPr lang="en-US" dirty="0"/>
              <a:t> </a:t>
            </a:r>
            <a:r>
              <a:rPr lang="en-US" dirty="0" err="1"/>
              <a:t>Rücksprungadresse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Keine </a:t>
            </a:r>
            <a:r>
              <a:rPr lang="en-US" dirty="0" err="1"/>
              <a:t>Valide</a:t>
            </a:r>
            <a:r>
              <a:rPr lang="en-US" dirty="0"/>
              <a:t> </a:t>
            </a:r>
            <a:r>
              <a:rPr lang="en-US" dirty="0" err="1"/>
              <a:t>Instruktion</a:t>
            </a:r>
            <a:r>
              <a:rPr lang="en-US" dirty="0"/>
              <a:t> an </a:t>
            </a:r>
            <a:r>
              <a:rPr lang="en-US" dirty="0" err="1"/>
              <a:t>dieser</a:t>
            </a:r>
            <a:r>
              <a:rPr lang="en-US" dirty="0"/>
              <a:t> </a:t>
            </a:r>
            <a:r>
              <a:rPr lang="en-US" dirty="0" err="1"/>
              <a:t>Adresse</a:t>
            </a:r>
            <a:r>
              <a:rPr lang="en-US" dirty="0"/>
              <a:t> ==&gt; </a:t>
            </a:r>
            <a:r>
              <a:rPr lang="en-US" dirty="0" err="1"/>
              <a:t>Absturz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247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2057DF5-DE34-3E6C-5615-3B0FE275D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F0CFC877-AAAE-2D2A-E2CB-3708595517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1B208317-2DAF-0FE4-C741-0EEA5E5F91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Buffer Overflow </a:t>
            </a:r>
            <a:r>
              <a:rPr lang="en-US" dirty="0" err="1"/>
              <a:t>möglich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Nun </a:t>
            </a:r>
            <a:r>
              <a:rPr lang="en-US" dirty="0" err="1"/>
              <a:t>Informationen</a:t>
            </a:r>
            <a:r>
              <a:rPr lang="en-US" dirty="0"/>
              <a:t> für Payload-</a:t>
            </a:r>
            <a:r>
              <a:rPr lang="en-US" dirty="0" err="1"/>
              <a:t>Generierung</a:t>
            </a:r>
            <a:r>
              <a:rPr lang="en-US" dirty="0"/>
              <a:t> </a:t>
            </a:r>
            <a:r>
              <a:rPr lang="en-US" dirty="0" err="1"/>
              <a:t>sammeln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421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18311B1-17A0-8CE3-6243-227025B27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3402A54D-C4B8-1257-D74F-84B95928E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1961289A-66BD-1793-6739-2C0B33AFE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Offset zum EIP berechnen, um die Rücksprungadresse zu überschreiben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Nicht wiederholende Zeichenkette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==&gt; Aus dem Debugger EIP ablesen und Versatz damit berechnen</a:t>
            </a:r>
          </a:p>
        </p:txBody>
      </p:sp>
    </p:spTree>
    <p:extLst>
      <p:ext uri="{BB962C8B-B14F-4D97-AF65-F5344CB8AC3E}">
        <p14:creationId xmlns:p14="http://schemas.microsoft.com/office/powerpoint/2010/main" val="830799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9EB5F07-0A14-92A7-216C-F365CE77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ACE03D30-B393-2F62-DD1B-EFD08CE89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53885AC9-88C7-A697-EF67-392BA3D62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Alle Maschinen Instruktionen abschicken und den Buffer untersuchen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Schauen, ob und wo die Verarbeitung abbricht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847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102712D-307D-412F-98A4-14DA5C3B1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95011CDF-AD37-DEE4-4A4F-5F0CC730C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811884FB-7359-FD57-FE77-89E5FA57BE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Payload muss ausgeführt werden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Dazu einen ausführbaren permanenten JMP ESP Befehl suchen,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Der uns in die Nähe unseres injizierten Codes bringt</a:t>
            </a:r>
          </a:p>
        </p:txBody>
      </p:sp>
    </p:spTree>
    <p:extLst>
      <p:ext uri="{BB962C8B-B14F-4D97-AF65-F5344CB8AC3E}">
        <p14:creationId xmlns:p14="http://schemas.microsoft.com/office/powerpoint/2010/main" val="1430864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5B3FE8B-0022-32C5-4CD9-F47DD653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1C2D0B15-53C4-906A-BD60-58671A120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120CC7FD-5E14-BCE6-FEFB-94AB4BC4D3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Reverse Shell Payload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gesammelten</a:t>
            </a:r>
            <a:r>
              <a:rPr lang="en-US" dirty="0"/>
              <a:t> </a:t>
            </a:r>
            <a:r>
              <a:rPr lang="en-US" dirty="0" err="1"/>
              <a:t>Informationen</a:t>
            </a:r>
            <a:r>
              <a:rPr lang="en-US" dirty="0"/>
              <a:t> </a:t>
            </a:r>
            <a:r>
              <a:rPr lang="en-US" dirty="0" err="1"/>
              <a:t>generieren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Ziel: Windows 7 – 32 bit</a:t>
            </a:r>
          </a:p>
        </p:txBody>
      </p:sp>
    </p:spTree>
    <p:extLst>
      <p:ext uri="{BB962C8B-B14F-4D97-AF65-F5344CB8AC3E}">
        <p14:creationId xmlns:p14="http://schemas.microsoft.com/office/powerpoint/2010/main" val="1994009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F995E28-EA26-D678-1494-236502EF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6AE4AA1C-BA22-6516-BAEE-17CBF9495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272DDD3A-3387-687D-4EBB-2326D18DC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Angriff </a:t>
            </a:r>
            <a:r>
              <a:rPr lang="en-US" dirty="0" err="1"/>
              <a:t>ausführen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 err="1"/>
              <a:t>Schadcode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ausgeführt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--KLICK--</a:t>
            </a:r>
          </a:p>
        </p:txBody>
      </p:sp>
    </p:spTree>
    <p:extLst>
      <p:ext uri="{BB962C8B-B14F-4D97-AF65-F5344CB8AC3E}">
        <p14:creationId xmlns:p14="http://schemas.microsoft.com/office/powerpoint/2010/main" val="257179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29F8697-99F9-0A5E-3D28-CD667DD77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6C6704F9-9EE9-7D1A-51DE-BE905FD5F6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9691261E-083A-2633-C561-6795D4CDE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Reverse Shell </a:t>
            </a:r>
            <a:r>
              <a:rPr lang="en-US" dirty="0" err="1"/>
              <a:t>erhalten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3215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EB0A999-68B5-240F-FA53-DF647EE0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79A8A81F-DDD5-A8BF-1F49-F91504678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42A40B12-A118-8BE2-68C4-E322F98059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Der Debugger war gewöhnungsbedürftig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Ich hatte oft kleine Fehler wie </a:t>
            </a:r>
            <a:r>
              <a:rPr lang="de-DE" dirty="0" err="1"/>
              <a:t>z.b.</a:t>
            </a:r>
            <a:r>
              <a:rPr lang="de-DE" dirty="0"/>
              <a:t> ein fehlendes Leerzeichen, die mir initial nicht aufgefallen sind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Ich </a:t>
            </a:r>
            <a:r>
              <a:rPr lang="en-US" dirty="0" err="1"/>
              <a:t>habe</a:t>
            </a:r>
            <a:r>
              <a:rPr lang="en-US" dirty="0"/>
              <a:t> erst </a:t>
            </a:r>
            <a:r>
              <a:rPr lang="en-US" dirty="0" err="1"/>
              <a:t>nach</a:t>
            </a:r>
            <a:r>
              <a:rPr lang="en-US" dirty="0"/>
              <a:t> der </a:t>
            </a:r>
            <a:r>
              <a:rPr lang="en-US" dirty="0" err="1"/>
              <a:t>ersten</a:t>
            </a:r>
            <a:r>
              <a:rPr lang="en-US" dirty="0"/>
              <a:t> </a:t>
            </a:r>
            <a:r>
              <a:rPr lang="en-US" dirty="0" err="1"/>
              <a:t>Stunde</a:t>
            </a:r>
            <a:r>
              <a:rPr lang="en-US" dirty="0"/>
              <a:t> </a:t>
            </a:r>
            <a:r>
              <a:rPr lang="en-US" dirty="0" err="1"/>
              <a:t>wirklich</a:t>
            </a:r>
            <a:r>
              <a:rPr lang="en-US" dirty="0"/>
              <a:t> </a:t>
            </a:r>
            <a:r>
              <a:rPr lang="en-US" dirty="0" err="1"/>
              <a:t>verstanden</a:t>
            </a:r>
            <a:r>
              <a:rPr lang="en-US" dirty="0"/>
              <a:t>, </a:t>
            </a:r>
            <a:r>
              <a:rPr lang="en-US" dirty="0" err="1"/>
              <a:t>wie</a:t>
            </a:r>
            <a:r>
              <a:rPr lang="en-US" dirty="0"/>
              <a:t> die </a:t>
            </a:r>
            <a:r>
              <a:rPr lang="en-US" dirty="0" err="1"/>
              <a:t>Stackframes</a:t>
            </a:r>
            <a:r>
              <a:rPr lang="en-US" dirty="0"/>
              <a:t> </a:t>
            </a:r>
            <a:r>
              <a:rPr lang="en-US" dirty="0" err="1"/>
              <a:t>funktionieren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9323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A01E40F-783C-67A5-1E45-259C7FE6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b0add0b17_0_59:notes">
            <a:extLst>
              <a:ext uri="{FF2B5EF4-FFF2-40B4-BE49-F238E27FC236}">
                <a16:creationId xmlns:a16="http://schemas.microsoft.com/office/drawing/2014/main" id="{FD34EC6F-69BC-DB09-5641-606ABDCF3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b0add0b17_0_59:notes">
            <a:extLst>
              <a:ext uri="{FF2B5EF4-FFF2-40B4-BE49-F238E27FC236}">
                <a16:creationId xmlns:a16="http://schemas.microsoft.com/office/drawing/2014/main" id="{68917FF5-E45D-944D-66D4-E9DB90DB1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Der nächste Versuch war ein vollständiger Penetration </a:t>
            </a:r>
            <a:r>
              <a:rPr lang="de-DE" dirty="0" err="1"/>
              <a:t>test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0050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der </a:t>
            </a:r>
            <a:r>
              <a:rPr lang="en-US" dirty="0" err="1"/>
              <a:t>kommerziellen</a:t>
            </a:r>
            <a:r>
              <a:rPr lang="en-US" dirty="0"/>
              <a:t> Welt </a:t>
            </a:r>
            <a:r>
              <a:rPr lang="en-US" dirty="0" err="1"/>
              <a:t>geht</a:t>
            </a:r>
            <a:r>
              <a:rPr lang="en-US" dirty="0"/>
              <a:t> es um Geld</a:t>
            </a:r>
          </a:p>
          <a:p>
            <a:endParaRPr lang="en-US" dirty="0"/>
          </a:p>
          <a:p>
            <a:r>
              <a:rPr lang="en-US" dirty="0" err="1"/>
              <a:t>Prävention</a:t>
            </a:r>
            <a:r>
              <a:rPr lang="en-US" dirty="0"/>
              <a:t> von </a:t>
            </a:r>
            <a:r>
              <a:rPr lang="en-US" dirty="0" err="1"/>
              <a:t>Schäden</a:t>
            </a:r>
            <a:r>
              <a:rPr lang="en-US" dirty="0"/>
              <a:t>, die </a:t>
            </a:r>
            <a:r>
              <a:rPr lang="en-US" dirty="0" err="1"/>
              <a:t>industrieweit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200 </a:t>
            </a:r>
            <a:r>
              <a:rPr lang="en-US" dirty="0" err="1"/>
              <a:t>Milliarden</a:t>
            </a:r>
            <a:r>
              <a:rPr lang="en-US" dirty="0"/>
              <a:t> und 9 </a:t>
            </a:r>
            <a:r>
              <a:rPr lang="en-US" dirty="0" err="1"/>
              <a:t>Billionen</a:t>
            </a:r>
            <a:r>
              <a:rPr lang="en-US" dirty="0"/>
              <a:t> $ </a:t>
            </a:r>
            <a:r>
              <a:rPr lang="en-US" dirty="0" err="1"/>
              <a:t>jährlich</a:t>
            </a:r>
            <a:r>
              <a:rPr lang="en-US" dirty="0"/>
              <a:t> </a:t>
            </a:r>
            <a:r>
              <a:rPr lang="en-US" dirty="0" err="1"/>
              <a:t>liegen</a:t>
            </a:r>
            <a:r>
              <a:rPr lang="en-US" dirty="0"/>
              <a:t> </a:t>
            </a:r>
            <a:r>
              <a:rPr lang="en-US" dirty="0" err="1"/>
              <a:t>können</a:t>
            </a:r>
            <a:endParaRPr lang="en-US" dirty="0"/>
          </a:p>
          <a:p>
            <a:r>
              <a:rPr lang="en-US" dirty="0"/>
              <a:t>REPUTATION</a:t>
            </a:r>
          </a:p>
          <a:p>
            <a:endParaRPr lang="en-US" dirty="0"/>
          </a:p>
          <a:p>
            <a:r>
              <a:rPr lang="en-US" dirty="0" err="1"/>
              <a:t>Priorisierung</a:t>
            </a:r>
            <a:r>
              <a:rPr lang="en-US" dirty="0"/>
              <a:t> </a:t>
            </a:r>
            <a:r>
              <a:rPr lang="en-US" dirty="0" err="1"/>
              <a:t>gefundener</a:t>
            </a:r>
            <a:r>
              <a:rPr lang="en-US" dirty="0"/>
              <a:t> </a:t>
            </a:r>
            <a:r>
              <a:rPr lang="en-US" dirty="0" err="1"/>
              <a:t>Schwachstellen</a:t>
            </a:r>
            <a:r>
              <a:rPr lang="en-US" dirty="0"/>
              <a:t> um </a:t>
            </a:r>
            <a:r>
              <a:rPr lang="en-US" dirty="0" err="1"/>
              <a:t>teuerste</a:t>
            </a:r>
            <a:r>
              <a:rPr lang="en-US" dirty="0"/>
              <a:t> u. </a:t>
            </a:r>
            <a:r>
              <a:rPr lang="en-US" dirty="0" err="1"/>
              <a:t>gefährlichte</a:t>
            </a:r>
            <a:r>
              <a:rPr lang="en-US" dirty="0"/>
              <a:t> </a:t>
            </a:r>
            <a:r>
              <a:rPr lang="en-US" dirty="0" err="1"/>
              <a:t>Vektoren</a:t>
            </a:r>
            <a:r>
              <a:rPr lang="en-US" dirty="0"/>
              <a:t> </a:t>
            </a:r>
            <a:r>
              <a:rPr lang="en-US" dirty="0" err="1"/>
              <a:t>zuerst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schließen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Compliance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z.b.</a:t>
            </a:r>
            <a:r>
              <a:rPr lang="en-US" dirty="0"/>
              <a:t> </a:t>
            </a:r>
            <a:r>
              <a:rPr lang="en-US" dirty="0" err="1"/>
              <a:t>angemessener</a:t>
            </a:r>
            <a:r>
              <a:rPr lang="en-US" dirty="0"/>
              <a:t> Schutz DSGVO </a:t>
            </a:r>
            <a:r>
              <a:rPr lang="en-US" dirty="0" err="1"/>
              <a:t>oder</a:t>
            </a:r>
            <a:r>
              <a:rPr lang="en-US" dirty="0"/>
              <a:t> HIPPA in den </a:t>
            </a:r>
            <a:r>
              <a:rPr lang="en-US" dirty="0" err="1"/>
              <a:t>Staaten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540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60C27-F0FB-AD63-0B47-BA770D7BD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AAC8F-AA28-AE81-63AB-EA7D700C4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53C2C-BC78-4DE8-E8A4-F72149797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Prevention &gt; Incident Response</a:t>
            </a:r>
          </a:p>
          <a:p>
            <a:endParaRPr lang="en-US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IS events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teuer</a:t>
            </a:r>
            <a:r>
              <a:rPr lang="en-US" dirty="0"/>
              <a:t> (see quote)</a:t>
            </a:r>
          </a:p>
          <a:p>
            <a:endParaRPr lang="en-US" dirty="0"/>
          </a:p>
          <a:p>
            <a:r>
              <a:rPr lang="en-US" dirty="0"/>
              <a:t>Reputation!</a:t>
            </a:r>
          </a:p>
        </p:txBody>
      </p:sp>
    </p:spTree>
    <p:extLst>
      <p:ext uri="{BB962C8B-B14F-4D97-AF65-F5344CB8AC3E}">
        <p14:creationId xmlns:p14="http://schemas.microsoft.com/office/powerpoint/2010/main" val="15573556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5D4BC-A90F-5346-FAC6-8CA83FE9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E09AF-7CB7-990F-DE1B-6204AA8E0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67D75-106B-5921-9F34-8A61BA07A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Pentests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CVSS scores </a:t>
            </a:r>
            <a:r>
              <a:rPr lang="en-US" dirty="0" err="1"/>
              <a:t>bei</a:t>
            </a:r>
            <a:r>
              <a:rPr lang="en-US" dirty="0"/>
              <a:t> der </a:t>
            </a:r>
            <a:r>
              <a:rPr lang="en-US" dirty="0" err="1"/>
              <a:t>Entscheidung</a:t>
            </a:r>
            <a:r>
              <a:rPr lang="en-US" dirty="0"/>
              <a:t> </a:t>
            </a:r>
            <a:r>
              <a:rPr lang="en-US" dirty="0" err="1"/>
              <a:t>helfen</a:t>
            </a:r>
            <a:r>
              <a:rPr lang="en-US" dirty="0"/>
              <a:t>, was </a:t>
            </a:r>
            <a:r>
              <a:rPr lang="en-US" dirty="0" err="1"/>
              <a:t>zuerst</a:t>
            </a:r>
            <a:r>
              <a:rPr lang="en-US" dirty="0"/>
              <a:t> </a:t>
            </a:r>
            <a:r>
              <a:rPr lang="en-US" dirty="0" err="1"/>
              <a:t>behoben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muss</a:t>
            </a:r>
          </a:p>
        </p:txBody>
      </p:sp>
    </p:spTree>
    <p:extLst>
      <p:ext uri="{BB962C8B-B14F-4D97-AF65-F5344CB8AC3E}">
        <p14:creationId xmlns:p14="http://schemas.microsoft.com/office/powerpoint/2010/main" val="33639431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124D18C-CF6E-E0F4-E0BD-FD481CE7B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7918D296-2522-5033-F115-5FC760A13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CF600795-A3C2-BC3E-DABC-D7A33FF6E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Zertifikate sind gut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Pentests</a:t>
            </a:r>
            <a:r>
              <a:rPr lang="de-DE" dirty="0"/>
              <a:t> können notwendig sein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GDPR: DSGVO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HIIPA: Medizin USA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92705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ED61A79-579C-BE0C-4E8B-5216C30D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90E8345C-E839-E9FB-2F06-2B32EE1367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5312E0BD-5C3F-7BC5-14D3-DC1E06779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Gute </a:t>
            </a:r>
            <a:r>
              <a:rPr lang="en-US" dirty="0" err="1"/>
              <a:t>Gründe</a:t>
            </a:r>
            <a:r>
              <a:rPr lang="en-US" dirty="0"/>
              <a:t>,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es </a:t>
            </a:r>
            <a:r>
              <a:rPr lang="en-US" dirty="0" err="1"/>
              <a:t>gemacht</a:t>
            </a:r>
            <a:r>
              <a:rPr lang="en-US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Mit </a:t>
            </a:r>
            <a:r>
              <a:rPr lang="en-US" dirty="0" err="1"/>
              <a:t>diesen</a:t>
            </a:r>
            <a:r>
              <a:rPr lang="en-US" dirty="0"/>
              <a:t> 6 </a:t>
            </a:r>
            <a:r>
              <a:rPr lang="en-US" dirty="0" err="1"/>
              <a:t>Schritten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86561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D0FD638-6E03-FB6D-D081-B2F622FAD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A9743FB1-6221-C83B-A0CE-06BBB06DE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F7FB505F-1483-A1E0-CBFC-092FF40AD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Open Source </a:t>
            </a:r>
            <a:r>
              <a:rPr lang="de-DE" dirty="0" err="1"/>
              <a:t>Intelligence</a:t>
            </a: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Auf der Homepage der Auftraggeber Interessen, Namen etc. finden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2255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379E4D1-009F-0AD5-7042-690C0A515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856384A9-9BF0-4CEC-826D-F70CC5A63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30FC7B69-D65C-9998-14FF-34C3BBCB04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Social</a:t>
            </a:r>
            <a:r>
              <a:rPr lang="de-DE" dirty="0"/>
              <a:t> Medie Post mit Klartextpasswörtern, wie wir später sehen werden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13108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A3334D8-6362-E9B8-A7C1-385E7852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B8480544-3A0C-37CC-F9D5-455C6744A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70FFC3EA-443A-AA2A-4D0B-C2F74C48A3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Einige</a:t>
            </a:r>
            <a:r>
              <a:rPr lang="en-US" dirty="0"/>
              <a:t> </a:t>
            </a:r>
            <a:r>
              <a:rPr lang="en-US" dirty="0" err="1"/>
              <a:t>Aktive</a:t>
            </a:r>
            <a:r>
              <a:rPr lang="en-US" dirty="0"/>
              <a:t> Scans </a:t>
            </a:r>
            <a:r>
              <a:rPr lang="en-US" dirty="0" err="1"/>
              <a:t>durchgeführt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Wichtigstes Ergebnis: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Management System und Backup Directory gefunden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68104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50A58F2-141E-A43A-4F79-5D42C431E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414D469E-0329-3532-41CD-2FF670E7F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8BC6C8B8-0CE5-E69F-F472-3ED788E83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Backup </a:t>
            </a:r>
            <a:r>
              <a:rPr lang="de-DE" dirty="0" err="1"/>
              <a:t>autoinedxiert</a:t>
            </a:r>
            <a:r>
              <a:rPr lang="de-DE" dirty="0"/>
              <a:t> öffentlich zugänglich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43217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C3D62EC-B145-BDC3-1EC1-73B3DA1F7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2B0EACEE-F170-B65C-4AEE-7548C2850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0936B9B2-9EA1-45A1-AEF8-22D85416D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Mit Zustimmung Backup heruntergeladen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Usernames für Webapp, Linux Maschine + Passwort Hashes gefunden</a:t>
            </a:r>
          </a:p>
        </p:txBody>
      </p:sp>
    </p:spTree>
    <p:extLst>
      <p:ext uri="{BB962C8B-B14F-4D97-AF65-F5344CB8AC3E}">
        <p14:creationId xmlns:p14="http://schemas.microsoft.com/office/powerpoint/2010/main" val="13209110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C0E9C27-BC95-B4A7-48F4-B4BB294D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90EE6116-3F7C-4650-8BA8-0EF7C1872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492821CE-851D-98B5-473B-4AFC50E77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Hashes </a:t>
            </a:r>
            <a:r>
              <a:rPr lang="en-US" dirty="0" err="1"/>
              <a:t>ließen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einfach</a:t>
            </a:r>
            <a:r>
              <a:rPr lang="en-US" dirty="0"/>
              <a:t> online </a:t>
            </a:r>
            <a:r>
              <a:rPr lang="en-US" dirty="0" err="1"/>
              <a:t>cracken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Wurde</a:t>
            </a:r>
            <a:r>
              <a:rPr lang="en-US" dirty="0"/>
              <a:t> </a:t>
            </a: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Linux tools </a:t>
            </a:r>
            <a:r>
              <a:rPr lang="en-US" dirty="0" err="1"/>
              <a:t>getan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99543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682D73E-2B31-B93D-DBA0-9AFDEE602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11FAEAD2-3DD2-E360-84BA-6FB5055C6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F8F9631A-8CCE-3470-C7FF-E6B173FFC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Um das zu tun: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Wortlisten aus Opfer-Webseiten erstellt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+ Allgemeine </a:t>
            </a:r>
            <a:r>
              <a:rPr lang="de-DE" dirty="0" err="1"/>
              <a:t>rockyou.txt</a:t>
            </a:r>
            <a:r>
              <a:rPr lang="de-DE" dirty="0"/>
              <a:t> angefügt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60670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8BA1F35-3670-C95A-8CA0-4C64AF85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C852CCE2-6506-2865-E110-149174FB5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AAAC1D82-F721-DDD0-5579-E049D82F8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61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5C43EF1-F578-5353-3554-DC1635F6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26487D69-71C5-EA2E-3EEA-17FF8DA4B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CBEED617-A83E-9558-6C17-B7036BED2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302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BC4A1E6-1E2C-6FB8-4D95-FE61CC9C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BD7B1E27-4DEC-64CE-8ADC-BEFC0C36E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EF829906-BD3F-0D07-6D74-66553E3B40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4807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D2B22C8-7AE9-2A3F-9B82-6E592F77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83DE0851-CC51-B7D4-BA83-D622EF1D9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76E27EE3-5145-C865-A8E9-010FFAE73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91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65DFF03-046F-26B6-AD34-EA0517FB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F8F445B9-C4A5-8EDB-B3B8-716F9E56B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0713F823-B840-52F0-CDE0-5338E4A446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0820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16958CF-DA04-6581-E91B-3F9F7FE9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B0AF7D5B-8EDC-90A1-642D-204D2D1D6B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C3A7184C-BE1E-DCF3-46DC-DADF770E3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3001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A4EB30C-6D10-EBAB-DD9D-D7366A2E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4F8DF0DA-BE7F-493F-A38C-93CB8F0E9E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2BAEB64D-E5BC-CE56-889A-69DEA2F165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5972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241EB4A-8223-0A6B-49BD-C79B2A90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FF645811-8812-AA22-AA37-4D2CA164B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AB02D695-D6B3-4D52-7705-82BD2D52C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421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04CB4AE-F097-A2B1-6C75-FB0CA2D3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180BF462-875A-1018-1E73-3C1F28ACA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CE61C7B3-F400-84B6-AF99-ED51A8673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Kandidaten</a:t>
            </a:r>
            <a:r>
              <a:rPr lang="en-US" dirty="0"/>
              <a:t> </a:t>
            </a:r>
            <a:r>
              <a:rPr lang="en-US" dirty="0" err="1"/>
              <a:t>konnten</a:t>
            </a:r>
            <a:r>
              <a:rPr lang="en-US" dirty="0"/>
              <a:t>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Skript</a:t>
            </a:r>
            <a:r>
              <a:rPr lang="en-US" dirty="0"/>
              <a:t> </a:t>
            </a:r>
            <a:r>
              <a:rPr lang="en-US" dirty="0" err="1"/>
              <a:t>mutiert</a:t>
            </a:r>
            <a:r>
              <a:rPr lang="en-US" dirty="0"/>
              <a:t> und </a:t>
            </a:r>
            <a:r>
              <a:rPr lang="en-US" dirty="0" err="1"/>
              <a:t>gegen</a:t>
            </a:r>
            <a:r>
              <a:rPr lang="en-US" dirty="0"/>
              <a:t> das Management System </a:t>
            </a:r>
            <a:r>
              <a:rPr lang="en-US" dirty="0" err="1"/>
              <a:t>probiert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 </a:t>
            </a:r>
            <a:r>
              <a:rPr lang="en-US" dirty="0" err="1"/>
              <a:t>ging</a:t>
            </a:r>
            <a:r>
              <a:rPr lang="en-US" dirty="0"/>
              <a:t>, da </a:t>
            </a:r>
            <a:r>
              <a:rPr lang="en-US" dirty="0" err="1"/>
              <a:t>wiederholte</a:t>
            </a:r>
            <a:r>
              <a:rPr lang="en-US" dirty="0"/>
              <a:t> Login </a:t>
            </a:r>
            <a:r>
              <a:rPr lang="en-US" dirty="0" err="1"/>
              <a:t>Versuche</a:t>
            </a:r>
            <a:r>
              <a:rPr lang="en-US" dirty="0"/>
              <a:t> nicht </a:t>
            </a:r>
            <a:r>
              <a:rPr lang="en-US" dirty="0" err="1"/>
              <a:t>geblocked</a:t>
            </a:r>
            <a:r>
              <a:rPr lang="en-US" dirty="0"/>
              <a:t> </a:t>
            </a:r>
            <a:r>
              <a:rPr lang="en-US" dirty="0" err="1"/>
              <a:t>wurden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1511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3F59AC7-6D7E-444D-D9B8-B8F02582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469F62D2-EADB-74E5-41B3-FF9CA85B0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228ED521-44DF-E1C5-DE1D-3DDBC8289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Dies wurde mit Hydra ebenfalls erfolgreich für SSH Logins ausgeführt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Dadurch wurden alle Nutzerkonten und Passwörter kompromittiert</a:t>
            </a:r>
          </a:p>
        </p:txBody>
      </p:sp>
    </p:spTree>
    <p:extLst>
      <p:ext uri="{BB962C8B-B14F-4D97-AF65-F5344CB8AC3E}">
        <p14:creationId xmlns:p14="http://schemas.microsoft.com/office/powerpoint/2010/main" val="19806810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B23202E-92FD-7EAE-6DB1-F2480D0B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6982FFC8-659A-25F7-736E-995F738A6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184EADC6-A551-2E5A-C4D7-B0F570AAF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Login ohne Passwort war in der Webapp ebenfalls möglich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Aus dem Backup wussten wir, dass eine relationale SQL DB verwendet wird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SQL </a:t>
            </a:r>
            <a:r>
              <a:rPr lang="de-DE" dirty="0" err="1"/>
              <a:t>injection</a:t>
            </a:r>
            <a:r>
              <a:rPr lang="de-DE" dirty="0"/>
              <a:t> war möglich, da User Input nicht </a:t>
            </a:r>
            <a:r>
              <a:rPr lang="de-DE" dirty="0" err="1"/>
              <a:t>escaped</a:t>
            </a:r>
            <a:r>
              <a:rPr lang="de-DE" dirty="0"/>
              <a:t> wird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Man konnte die Passwortabfrage also komplett umgehen, indem man die Evaluationslogik ändert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02281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C30A1C3-C872-3FE1-BC59-DD13F32B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30628F0D-E987-3FB2-E321-8A3666758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8587BF9A-4587-05C5-83C6-BBF4C8225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28555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7AC3BB0-5D74-846C-D868-BB9DFCE4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DECFECC9-B5CE-B926-A10E-78ACFF739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D227E0B0-12AE-ED1E-2930-CABFB412DA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Man kann also </a:t>
            </a:r>
            <a:r>
              <a:rPr lang="de-DE" dirty="0" err="1"/>
              <a:t>statements</a:t>
            </a:r>
            <a:r>
              <a:rPr lang="de-DE" dirty="0"/>
              <a:t> erzeugen, die unabhängig von der PW Eingabe als TRUE evaluieren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Auskommentieren oder Operator </a:t>
            </a:r>
            <a:r>
              <a:rPr lang="de-DE" dirty="0" err="1"/>
              <a:t>Precedence</a:t>
            </a:r>
            <a:r>
              <a:rPr lang="de-DE" dirty="0"/>
              <a:t> ausnutzen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61390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F4A9FC-00D0-E36F-5896-088DE432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7DFAFAEF-6842-B7EB-51C7-5192CB7E4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9C2D18DC-CF6C-96CE-8881-0151FA4E9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Ist man </a:t>
            </a:r>
            <a:r>
              <a:rPr lang="de-DE" dirty="0" err="1"/>
              <a:t>eingelogged</a:t>
            </a:r>
            <a:r>
              <a:rPr lang="de-DE" dirty="0"/>
              <a:t>, kann man Command </a:t>
            </a:r>
            <a:r>
              <a:rPr lang="de-DE" dirty="0" err="1"/>
              <a:t>Injection</a:t>
            </a:r>
            <a:r>
              <a:rPr lang="de-DE" dirty="0"/>
              <a:t> ausführen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Man konnte Systemdateien über Angabe eines URL- Parameters auslesen KLICK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Dieser wurde als </a:t>
            </a:r>
            <a:r>
              <a:rPr lang="de-DE" dirty="0" err="1"/>
              <a:t>Kommand</a:t>
            </a:r>
            <a:r>
              <a:rPr lang="de-DE" dirty="0"/>
              <a:t> ohne Validierung ausgeführt, was </a:t>
            </a:r>
            <a:r>
              <a:rPr lang="de-DE" dirty="0" err="1"/>
              <a:t>Arbitrary</a:t>
            </a:r>
            <a:r>
              <a:rPr lang="de-DE" dirty="0"/>
              <a:t> Code </a:t>
            </a:r>
            <a:r>
              <a:rPr lang="de-DE" dirty="0" err="1"/>
              <a:t>Injection</a:t>
            </a:r>
            <a:r>
              <a:rPr lang="de-DE" dirty="0"/>
              <a:t> ermöglichte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In unserem Fall konnten wir eine Reverse Shell erstellen</a:t>
            </a:r>
          </a:p>
        </p:txBody>
      </p:sp>
    </p:spTree>
    <p:extLst>
      <p:ext uri="{BB962C8B-B14F-4D97-AF65-F5344CB8AC3E}">
        <p14:creationId xmlns:p14="http://schemas.microsoft.com/office/powerpoint/2010/main" val="29854628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B052938-BB1F-17A2-6711-2729D3B2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EAFEB162-D798-B63B-2B37-C1022907C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144363BF-9773-D87F-D986-B042B2101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Man kann also eine URL bauen, die den </a:t>
            </a:r>
            <a:r>
              <a:rPr lang="de-DE" dirty="0" err="1"/>
              <a:t>cat</a:t>
            </a:r>
            <a:r>
              <a:rPr lang="de-DE" dirty="0"/>
              <a:t> Befehl mit einem Reverse </a:t>
            </a:r>
            <a:r>
              <a:rPr lang="de-DE" dirty="0" err="1"/>
              <a:t>shell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verknüpft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65638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F751C2A-4333-DEC2-A86A-382466EA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C3E93E07-58A7-C07E-5923-D3BB0E2522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EBC0D64D-EC75-9B7F-15B2-BA6406850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Das funktioniert, man muss wenn nur eine valide Session haben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29194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88FE725-1FB5-305B-7AD0-5AD39976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2F6878AB-64ED-EE0A-DC99-D358AA2D8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E93B4F03-2897-3AB7-DD79-498BD0D32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Privilege </a:t>
            </a:r>
            <a:r>
              <a:rPr lang="de-DE" dirty="0" err="1"/>
              <a:t>Escalation</a:t>
            </a:r>
            <a:r>
              <a:rPr lang="de-DE" dirty="0"/>
              <a:t> ging mit den Accounts auf der Linux </a:t>
            </a:r>
            <a:r>
              <a:rPr lang="de-DE" dirty="0" err="1"/>
              <a:t>maschine</a:t>
            </a:r>
            <a:r>
              <a:rPr lang="de-DE" dirty="0"/>
              <a:t>, deren Passwort wir haben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Credentials</a:t>
            </a:r>
            <a:r>
              <a:rPr lang="de-DE" dirty="0"/>
              <a:t> für einen Root User aus einem fehlgeschlagenen </a:t>
            </a:r>
            <a:r>
              <a:rPr lang="de-DE" dirty="0" err="1"/>
              <a:t>su</a:t>
            </a:r>
            <a:r>
              <a:rPr lang="de-DE" dirty="0"/>
              <a:t> Versuch konnten aus der Bash </a:t>
            </a:r>
            <a:r>
              <a:rPr lang="de-DE" dirty="0" err="1"/>
              <a:t>History</a:t>
            </a:r>
            <a:r>
              <a:rPr lang="de-DE" dirty="0"/>
              <a:t> ausgelesen werden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0943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5259D0A-7921-44CD-265A-C26C60AD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ACD48DB8-1396-9725-3A15-A4CAF4632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A4CF7C9D-ECDE-8B52-11C4-069C4CA14A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Ein weiterer Vektor war die </a:t>
            </a:r>
            <a:r>
              <a:rPr lang="de-DE" dirty="0" err="1"/>
              <a:t>Miskonfiguration</a:t>
            </a:r>
            <a:r>
              <a:rPr lang="de-DE" dirty="0"/>
              <a:t> von Composer für den User </a:t>
            </a:r>
            <a:r>
              <a:rPr lang="de-DE" dirty="0" err="1"/>
              <a:t>freeman</a:t>
            </a: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Composer erforderte kein Passwort um einen Prozess mit root rechten auszuführen, mit dem man sich Root Zugang verschaffen konnte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Bei PE habe ich das SUID </a:t>
            </a:r>
            <a:r>
              <a:rPr lang="de-DE" dirty="0" err="1"/>
              <a:t>bit</a:t>
            </a:r>
            <a:r>
              <a:rPr lang="de-DE" dirty="0"/>
              <a:t> bei CP übersehen, das wäre auch möglich gewesen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06114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06E2252-22EE-B994-BB8E-30B2489B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5D6F4487-F2A6-699D-6668-D67900103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789DF285-A28C-C976-29DF-7CB5F7E7AB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 </a:t>
            </a:r>
            <a:r>
              <a:rPr lang="en-US" dirty="0" err="1"/>
              <a:t>konnte</a:t>
            </a:r>
            <a:r>
              <a:rPr lang="en-US" dirty="0"/>
              <a:t> also </a:t>
            </a:r>
            <a:r>
              <a:rPr lang="en-US" dirty="0" err="1"/>
              <a:t>einfach</a:t>
            </a:r>
            <a:r>
              <a:rPr lang="en-US" dirty="0"/>
              <a:t> </a:t>
            </a:r>
            <a:r>
              <a:rPr lang="en-US" dirty="0" err="1"/>
              <a:t>Skripte</a:t>
            </a:r>
            <a:r>
              <a:rPr lang="en-US" dirty="0"/>
              <a:t> </a:t>
            </a:r>
            <a:r>
              <a:rPr lang="en-US" dirty="0" err="1"/>
              <a:t>ausführen</a:t>
            </a:r>
            <a:r>
              <a:rPr lang="en-US" dirty="0"/>
              <a:t>, um </a:t>
            </a:r>
            <a:r>
              <a:rPr lang="en-US" dirty="0" err="1"/>
              <a:t>eine</a:t>
            </a:r>
            <a:r>
              <a:rPr lang="en-US" dirty="0"/>
              <a:t> reverse shell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neuen</a:t>
            </a:r>
            <a:r>
              <a:rPr lang="en-US" dirty="0"/>
              <a:t> root user </a:t>
            </a:r>
            <a:r>
              <a:rPr lang="en-US" dirty="0" err="1"/>
              <a:t>anzulegen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May be used for Persistence, damage, whatever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30729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621EF3E-D35B-EE95-4529-086335B1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267F96E2-3A94-2FE2-BFD6-666226CEDB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89DB4F8B-2A06-D6BF-0FB8-F6372B1919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Zuletzt</a:t>
            </a:r>
            <a:r>
              <a:rPr lang="en-US" dirty="0"/>
              <a:t> gab es für phpMyAdmin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öffentlichen</a:t>
            </a:r>
            <a:r>
              <a:rPr lang="en-US" dirty="0"/>
              <a:t> exploit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Dieser </a:t>
            </a:r>
            <a:r>
              <a:rPr lang="en-US" dirty="0" err="1"/>
              <a:t>nutzt</a:t>
            </a:r>
            <a:r>
              <a:rPr lang="en-US" dirty="0"/>
              <a:t> Local File Inclusion + PHP Session Poisoning um Commands </a:t>
            </a:r>
            <a:r>
              <a:rPr lang="en-US" dirty="0" err="1"/>
              <a:t>auszuführen</a:t>
            </a:r>
            <a:r>
              <a:rPr lang="en-US" dirty="0"/>
              <a:t>, </a:t>
            </a:r>
            <a:r>
              <a:rPr lang="en-US" dirty="0" err="1"/>
              <a:t>ähnlich</a:t>
            </a:r>
            <a:r>
              <a:rPr lang="en-US" dirty="0"/>
              <a:t> der Command Injection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Das hat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weiteren</a:t>
            </a:r>
            <a:r>
              <a:rPr lang="en-US" dirty="0"/>
              <a:t> reverse shell </a:t>
            </a:r>
            <a:r>
              <a:rPr lang="en-US" dirty="0" err="1"/>
              <a:t>geführt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96284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DE51F42-2522-5409-C9FB-7BE42387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C8C07D00-AA72-1E67-B8A7-198BFC85E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B4BCCE42-E599-2470-EB0F-3E521FA5F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50301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47D6891-9C93-05F8-6DE1-0177193E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b0add0b17_0_59:notes">
            <a:extLst>
              <a:ext uri="{FF2B5EF4-FFF2-40B4-BE49-F238E27FC236}">
                <a16:creationId xmlns:a16="http://schemas.microsoft.com/office/drawing/2014/main" id="{DA98CA3B-A5EF-C549-F035-DC9DC8E00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b0add0b17_0_59:notes">
            <a:extLst>
              <a:ext uri="{FF2B5EF4-FFF2-40B4-BE49-F238E27FC236}">
                <a16:creationId xmlns:a16="http://schemas.microsoft.com/office/drawing/2014/main" id="{F7502966-5E67-9A8B-0EA1-4B3E55E65A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182157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0170E99-A906-70E0-4B12-1EF0DCFF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B186E4BD-54C6-387A-7DFD-D72D7F876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D04BDADC-422E-F253-477D-F8B4DB641C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Möglicher</a:t>
            </a:r>
            <a:r>
              <a:rPr lang="en-US" dirty="0"/>
              <a:t> Schaden </a:t>
            </a:r>
            <a:r>
              <a:rPr lang="en-US" dirty="0" err="1"/>
              <a:t>vorher</a:t>
            </a:r>
            <a:r>
              <a:rPr lang="en-US" dirty="0"/>
              <a:t> </a:t>
            </a:r>
            <a:r>
              <a:rPr lang="en-US" dirty="0" err="1"/>
              <a:t>angesprochen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Nutzt</a:t>
            </a:r>
            <a:r>
              <a:rPr lang="en-US" dirty="0"/>
              <a:t> das </a:t>
            </a:r>
            <a:r>
              <a:rPr lang="en-US" dirty="0" err="1"/>
              <a:t>jemand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, </a:t>
            </a:r>
            <a:r>
              <a:rPr lang="en-US" dirty="0" err="1"/>
              <a:t>ist</a:t>
            </a:r>
            <a:r>
              <a:rPr lang="en-US" dirty="0"/>
              <a:t> er </a:t>
            </a:r>
            <a:r>
              <a:rPr lang="en-US" dirty="0" err="1"/>
              <a:t>im</a:t>
            </a:r>
            <a:r>
              <a:rPr lang="en-US" dirty="0"/>
              <a:t> Auge des Gesetzes </a:t>
            </a:r>
            <a:r>
              <a:rPr lang="en-US" dirty="0" err="1"/>
              <a:t>unschludig</a:t>
            </a:r>
            <a:r>
              <a:rPr lang="en-US" dirty="0"/>
              <a:t> bis </a:t>
            </a:r>
            <a:r>
              <a:rPr lang="en-US" dirty="0" err="1"/>
              <a:t>diese</a:t>
            </a:r>
            <a:r>
              <a:rPr lang="en-US" dirty="0"/>
              <a:t> Schuld </a:t>
            </a:r>
            <a:r>
              <a:rPr lang="en-US" dirty="0" err="1"/>
              <a:t>bewiesen</a:t>
            </a:r>
            <a:r>
              <a:rPr lang="en-US" dirty="0"/>
              <a:t> </a:t>
            </a:r>
            <a:r>
              <a:rPr lang="en-US" dirty="0" err="1"/>
              <a:t>wurde</a:t>
            </a:r>
            <a:r>
              <a:rPr lang="en-US" dirty="0"/>
              <a:t> KLICK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endParaRPr lang="en-US" dirty="0">
              <a:sym typeface="Wingdings" pitchFamily="2" charset="2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è"/>
            </a:pPr>
            <a:r>
              <a:rPr lang="en-US" dirty="0" err="1">
                <a:sym typeface="Wingdings" pitchFamily="2" charset="2"/>
              </a:rPr>
              <a:t>Genau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dafür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braucht</a:t>
            </a:r>
            <a:r>
              <a:rPr lang="en-US" dirty="0">
                <a:sym typeface="Wingdings" pitchFamily="2" charset="2"/>
              </a:rPr>
              <a:t> man </a:t>
            </a:r>
            <a:r>
              <a:rPr lang="en-US" dirty="0" err="1">
                <a:sym typeface="Wingdings" pitchFamily="2" charset="2"/>
              </a:rPr>
              <a:t>digitale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Forensik</a:t>
            </a:r>
            <a:r>
              <a:rPr lang="en-US" dirty="0">
                <a:sym typeface="Wingdings" pitchFamily="2" charset="2"/>
              </a:rPr>
              <a:t>, da </a:t>
            </a:r>
            <a:r>
              <a:rPr lang="en-US" dirty="0" err="1">
                <a:sym typeface="Wingdings" pitchFamily="2" charset="2"/>
              </a:rPr>
              <a:t>sie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digitale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Beweissicherung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ermöglicht</a:t>
            </a:r>
            <a:r>
              <a:rPr lang="en-US" dirty="0">
                <a:sym typeface="Wingdings" pitchFamily="2" charset="2"/>
              </a:rPr>
              <a:t> (see Quote)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49431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BE61C61-0613-5DE1-D793-5AF6178C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FF88E044-3822-BC6C-2799-A1C469DC4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41D09F5D-DD0C-0DA6-E0D9-717B6E6F2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Wir haben ein System untersucht, das Opfer eines klassischen </a:t>
            </a:r>
            <a:r>
              <a:rPr lang="de-DE" dirty="0" err="1"/>
              <a:t>Ransomeware</a:t>
            </a:r>
            <a:r>
              <a:rPr lang="de-DE" dirty="0"/>
              <a:t>-Angriffes war (</a:t>
            </a:r>
            <a:r>
              <a:rPr lang="de-DE" dirty="0" err="1"/>
              <a:t>see</a:t>
            </a:r>
            <a:r>
              <a:rPr lang="de-DE" dirty="0"/>
              <a:t> Pic) KLICK, bei dem die Angreifer Lösegeld für verschlüsselte Dateien fordern</a:t>
            </a:r>
          </a:p>
        </p:txBody>
      </p:sp>
    </p:spTree>
    <p:extLst>
      <p:ext uri="{BB962C8B-B14F-4D97-AF65-F5344CB8AC3E}">
        <p14:creationId xmlns:p14="http://schemas.microsoft.com/office/powerpoint/2010/main" val="224425003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FA28E05-6B49-3EB3-2D7A-48EF391D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B5D045F4-C886-0DA4-1EA2-C6FF7A96C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DCE722F4-C08C-74F1-C36D-7A1C071A6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Die </a:t>
            </a:r>
            <a:r>
              <a:rPr lang="en-US" dirty="0" err="1"/>
              <a:t>Dateien</a:t>
            </a:r>
            <a:r>
              <a:rPr lang="en-US" dirty="0"/>
              <a:t> </a:t>
            </a:r>
            <a:r>
              <a:rPr lang="en-US" dirty="0" err="1"/>
              <a:t>wurden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symmetrischen</a:t>
            </a:r>
            <a:r>
              <a:rPr lang="en-US" dirty="0"/>
              <a:t> </a:t>
            </a:r>
            <a:r>
              <a:rPr lang="en-US" dirty="0" err="1"/>
              <a:t>Verfahren</a:t>
            </a:r>
            <a:r>
              <a:rPr lang="en-US" dirty="0"/>
              <a:t> </a:t>
            </a:r>
            <a:r>
              <a:rPr lang="en-US" dirty="0" err="1"/>
              <a:t>verschlüsselt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704478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E559055-5CFB-9BB8-CE91-EA01422C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7D68D66F-5011-C87E-CA51-D3EAD9041E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71C55BC6-E340-7A1F-0639-A48CDA1C8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Untersuchung zeigte, dies ist durch eine </a:t>
            </a:r>
            <a:r>
              <a:rPr lang="de-DE" dirty="0" err="1"/>
              <a:t>Spearfishing</a:t>
            </a:r>
            <a:r>
              <a:rPr lang="de-DE" dirty="0"/>
              <a:t>-Email geschehen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--KLICK--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Link zum C2 Server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--KLICK--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Vermeintlich vertrauenswürdig, da als Microsoft Support ausgegeben</a:t>
            </a:r>
          </a:p>
        </p:txBody>
      </p:sp>
    </p:spTree>
    <p:extLst>
      <p:ext uri="{BB962C8B-B14F-4D97-AF65-F5344CB8AC3E}">
        <p14:creationId xmlns:p14="http://schemas.microsoft.com/office/powerpoint/2010/main" val="282989501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8C86067-9304-210F-CFA9-5C238E4F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F8EDDFE7-7CDC-087A-1654-80975753F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210B14FE-5CA9-EDC1-FF05-17B8A7DDD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Die Webseite der Angreifer hatte ein simuliertes "Captcha" </a:t>
            </a:r>
            <a:r>
              <a:rPr lang="de-DE" dirty="0" err="1"/>
              <a:t>feld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506887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2EFC090-8A87-B9FF-3FFC-D139234E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561D31CB-4BE5-247D-0089-37F01BE08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BA2220E7-5C1D-A47F-817F-ABC1A7AA1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Bei einem Click </a:t>
            </a:r>
            <a:r>
              <a:rPr lang="de-DE" dirty="0" err="1"/>
              <a:t>wirdSchadcode</a:t>
            </a:r>
            <a:r>
              <a:rPr lang="de-DE" dirty="0"/>
              <a:t> in die Zwischenablage gelegt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Und der User wird dazu aufgefordert, diesen über den Windows Ausführen Dialog auszuführen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725243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B721764-C418-1085-3CE1-7B3FC737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F95719A4-71D9-42B7-29E7-0A24F0ABC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8CB6685C-E7C9-A199-FE22-793D32C08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e-DE" dirty="0"/>
              <a:t>Dies lies sich im SIEM verfolgen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de-DE" dirty="0"/>
              <a:t>-- Klick --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900988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3F9E28A-A016-D659-1425-C74703D20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4A427154-BDBC-DE63-5330-383E51920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577FA0DF-2BCF-5085-5FB5-66B56A5A0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Der </a:t>
            </a:r>
            <a:r>
              <a:rPr lang="de-DE" dirty="0" err="1"/>
              <a:t>Powershell</a:t>
            </a:r>
            <a:r>
              <a:rPr lang="de-DE" dirty="0"/>
              <a:t> Prozess wird erstellt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80757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D78D7AB-B09C-9CD5-3E05-B49ABFCE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81976898-B88C-9D89-E5B9-B84300AE7B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64359698-C409-E522-C14F-0E5B0E450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Das </a:t>
            </a:r>
            <a:r>
              <a:rPr lang="de-DE" dirty="0" err="1"/>
              <a:t>Script</a:t>
            </a:r>
            <a:r>
              <a:rPr lang="de-DE" dirty="0"/>
              <a:t> wird heruntergeladen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656206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19FC66E-3DDB-5A5F-5B93-DD166FF0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CD319207-ED35-EF49-D9D6-98058B8F2D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0A572215-A377-3BB0-7150-16AC4E30F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Schadcode wird ausgeführt und die Dateien werden verschlüsselt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49744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F8BE2A9-871F-ACAD-5F1E-242CCCC90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4C58D79D-6570-58B6-F20C-3AB57030F8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61F40BEC-119B-CA0A-1C95-A083F5F66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Der Schadcode ließ sich einem Wireshark trace entnehmen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Dadurch konnte der Schaden mit einem eigenen Skript rückgängig gemacht werden,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da die Verschlüsselung symmetrisch und der Schlüssel noch vorhanden waren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695290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0BDB1ED-79EB-7E7D-E032-8946E5B3D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401EB853-FC9B-CD44-2750-301EFCDD69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D744CC9B-4111-D963-811A-A32BA264D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Das Skript lies sich umkehren, wodurch der </a:t>
            </a:r>
            <a:r>
              <a:rPr lang="de-DE" dirty="0" err="1"/>
              <a:t>urpsrpüngliche</a:t>
            </a:r>
            <a:r>
              <a:rPr lang="de-DE" dirty="0"/>
              <a:t> Zustand wieder hergestellt werden konnte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Dies ging, da der Schlüssel noch vorhanden war, und das Verfahren symmetrisch ist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76836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2D0E8DA-D76C-0DC4-1B85-990EBB146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D3A7E44C-672A-BA52-7B83-C3A2FA367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9F48BD67-114B-5F75-E04E-A3F7A7C3C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Der letzte Teil der Forensik Aufgabe war die Verfolgung einer Reverse Shell über Command </a:t>
            </a:r>
            <a:r>
              <a:rPr lang="de-DE" dirty="0" err="1"/>
              <a:t>Injection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883960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12A00F5-58CC-83F3-38F7-2E822C97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372C2656-AB77-4D11-C2F9-8E187FA77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BD1667B5-8BCA-B01F-B3C6-153F304F4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Diese lies sich im SIEM </a:t>
            </a:r>
            <a:r>
              <a:rPr lang="de-DE" dirty="0" err="1"/>
              <a:t>system</a:t>
            </a:r>
            <a:r>
              <a:rPr lang="de-DE" dirty="0"/>
              <a:t> verfolgen, da eine Regel dafür eingerichtet war, die Alarm schlug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58977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F7FAC48-8FEB-68E2-ADB5-FB332485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AFD84CBB-4272-25E1-9E48-79FF849903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D5CD501B-7A6C-90E9-0152-96342996F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Verdächtig war dass ein Webserver eine Bash </a:t>
            </a:r>
            <a:r>
              <a:rPr lang="de-DE" dirty="0" err="1"/>
              <a:t>spawned</a:t>
            </a:r>
            <a:r>
              <a:rPr lang="de-DE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Das könnte passieren, jedoch sollte ein Server keine verdächtigen Befehle wie </a:t>
            </a:r>
            <a:r>
              <a:rPr lang="de-DE" dirty="0" err="1"/>
              <a:t>whoami</a:t>
            </a:r>
            <a:r>
              <a:rPr lang="de-DE" dirty="0"/>
              <a:t> verwenden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627601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4740F23-C567-2E16-278F-9E9EB7124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30561510-EEC4-5DBD-CFA9-9855EE156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51D1D505-24E3-E13D-B058-BB4F0ACC6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Außerdem wurde der Befehl </a:t>
            </a:r>
            <a:r>
              <a:rPr lang="de-DE" dirty="0" err="1"/>
              <a:t>gelogged</a:t>
            </a:r>
            <a:r>
              <a:rPr lang="de-DE" dirty="0"/>
              <a:t>, der die Reverse </a:t>
            </a:r>
            <a:r>
              <a:rPr lang="de-DE" dirty="0" err="1"/>
              <a:t>shell</a:t>
            </a:r>
            <a:r>
              <a:rPr lang="de-DE" dirty="0"/>
              <a:t> erstellt hat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Dieser sollte nie von einem Webserver genutzt werden</a:t>
            </a:r>
          </a:p>
        </p:txBody>
      </p:sp>
    </p:spTree>
    <p:extLst>
      <p:ext uri="{BB962C8B-B14F-4D97-AF65-F5344CB8AC3E}">
        <p14:creationId xmlns:p14="http://schemas.microsoft.com/office/powerpoint/2010/main" val="100351289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DE3FD1-5E9E-A86D-0F91-AF975798F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b0add0b17_0_80:notes">
            <a:extLst>
              <a:ext uri="{FF2B5EF4-FFF2-40B4-BE49-F238E27FC236}">
                <a16:creationId xmlns:a16="http://schemas.microsoft.com/office/drawing/2014/main" id="{2E295830-9FC1-AB89-D06D-1F25E9D44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b0add0b17_0_80:notes">
            <a:extLst>
              <a:ext uri="{FF2B5EF4-FFF2-40B4-BE49-F238E27FC236}">
                <a16:creationId xmlns:a16="http://schemas.microsoft.com/office/drawing/2014/main" id="{CCD2B740-3177-3A1A-3342-6301EE36F1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Ich hätte gerne mein </a:t>
            </a:r>
            <a:r>
              <a:rPr lang="de-DE" dirty="0" err="1"/>
              <a:t>Reversal</a:t>
            </a:r>
            <a:r>
              <a:rPr lang="de-DE" dirty="0"/>
              <a:t> Skript selbst geschrieben, aber aufgrund mangelnder PowerShell Kenntnisse musste ich mich auf KI stützen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Ich habe versucht, mit Living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Land </a:t>
            </a:r>
            <a:r>
              <a:rPr lang="de-DE" dirty="0" err="1"/>
              <a:t>tools</a:t>
            </a:r>
            <a:r>
              <a:rPr lang="de-DE" dirty="0"/>
              <a:t> eine PowerShell zu erstellen, diese Wurde von der </a:t>
            </a:r>
            <a:r>
              <a:rPr lang="de-DE" dirty="0" err="1"/>
              <a:t>elastic</a:t>
            </a:r>
            <a:r>
              <a:rPr lang="de-DE" dirty="0"/>
              <a:t> Regel jedoch nicht erkannt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Technische Probleme haben mich Zeit gekostet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98661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ab0add0b1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ab0add0b1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Am meisten Spaß hatte ich an Teil 2, da dort am meisten Kollaboration möglich war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Am schwierigsten war die Buffer Overflow Aufgabe, da ich nicht das nötige Vorwissen über den Stack hatte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43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de" smtClean="0"/>
              <a:pPr/>
              <a:t>‹#›</a:t>
            </a:fld>
            <a:endParaRPr lang="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40812-025-00370-3#ref-CR113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hyperlink" Target="https://link.springer.com/article/10.1007/s40812-025-00370-3#ref-CR162" TargetMode="External"/><Relationship Id="rId4" Type="http://schemas.openxmlformats.org/officeDocument/2006/relationships/hyperlink" Target="https://link.springer.com/article/10.1007/s40812-025-00370-3#ref-CR74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3369325" y="3297300"/>
            <a:ext cx="4682854" cy="5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3200" b="1" dirty="0">
                <a:solidFill>
                  <a:srgbClr val="292E60"/>
                </a:solidFill>
              </a:rPr>
              <a:t>Final </a:t>
            </a:r>
            <a:r>
              <a:rPr lang="de" sz="3200" b="1" dirty="0" err="1">
                <a:solidFill>
                  <a:srgbClr val="292E60"/>
                </a:solidFill>
              </a:rPr>
              <a:t>Presentation</a:t>
            </a:r>
            <a:endParaRPr sz="3200" b="1" dirty="0">
              <a:solidFill>
                <a:srgbClr val="292E60"/>
              </a:solidFill>
            </a:endParaRPr>
          </a:p>
        </p:txBody>
      </p:sp>
      <p:sp>
        <p:nvSpPr>
          <p:cNvPr id="2" name="Google Shape;85;p18">
            <a:extLst>
              <a:ext uri="{FF2B5EF4-FFF2-40B4-BE49-F238E27FC236}">
                <a16:creationId xmlns:a16="http://schemas.microsoft.com/office/drawing/2014/main" id="{4F945E9B-2BB6-3194-45DE-7322A48154BF}"/>
              </a:ext>
            </a:extLst>
          </p:cNvPr>
          <p:cNvSpPr txBox="1"/>
          <p:nvPr/>
        </p:nvSpPr>
        <p:spPr>
          <a:xfrm>
            <a:off x="3369325" y="3914213"/>
            <a:ext cx="4682854" cy="5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2800" dirty="0">
                <a:solidFill>
                  <a:srgbClr val="292E60"/>
                </a:solidFill>
              </a:rPr>
              <a:t>Neubert, Simon</a:t>
            </a:r>
            <a:endParaRPr sz="2800" dirty="0">
              <a:solidFill>
                <a:srgbClr val="292E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>
                <a:solidFill>
                  <a:srgbClr val="292E60"/>
                </a:solidFill>
              </a:rPr>
              <a:t>Table </a:t>
            </a:r>
            <a:r>
              <a:rPr lang="de" b="1" dirty="0" err="1">
                <a:solidFill>
                  <a:srgbClr val="292E60"/>
                </a:solidFill>
              </a:rPr>
              <a:t>of</a:t>
            </a:r>
            <a:r>
              <a:rPr lang="de" b="1" dirty="0">
                <a:solidFill>
                  <a:srgbClr val="292E60"/>
                </a:solidFill>
              </a:rPr>
              <a:t> Contents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de" b="1" dirty="0">
                <a:solidFill>
                  <a:srgbClr val="DCE1F3"/>
                </a:solidFill>
              </a:rPr>
              <a:t>01 </a:t>
            </a:r>
            <a:r>
              <a:rPr lang="de" dirty="0"/>
              <a:t>	</a:t>
            </a:r>
            <a:r>
              <a:rPr lang="de" b="1" dirty="0">
                <a:solidFill>
                  <a:srgbClr val="1D1D1B"/>
                </a:solidFill>
              </a:rPr>
              <a:t>Buffer Overflow </a:t>
            </a:r>
            <a:endParaRPr b="1" dirty="0">
              <a:solidFill>
                <a:srgbClr val="1D1D1B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de" dirty="0">
                <a:solidFill>
                  <a:srgbClr val="1D1D1B"/>
                </a:solidFill>
              </a:rPr>
              <a:t>	</a:t>
            </a:r>
            <a:r>
              <a:rPr lang="de" dirty="0">
                <a:solidFill>
                  <a:srgbClr val="1D1D1A"/>
                </a:solidFill>
              </a:rPr>
              <a:t>- </a:t>
            </a:r>
            <a:r>
              <a:rPr lang="de" dirty="0" err="1">
                <a:solidFill>
                  <a:srgbClr val="1D1D1A"/>
                </a:solidFill>
              </a:rPr>
              <a:t>Relevancy</a:t>
            </a:r>
            <a:br>
              <a:rPr lang="de" dirty="0">
                <a:solidFill>
                  <a:srgbClr val="1D1D1A"/>
                </a:solidFill>
              </a:rPr>
            </a:br>
            <a:r>
              <a:rPr lang="de" dirty="0">
                <a:solidFill>
                  <a:srgbClr val="1D1D1A"/>
                </a:solidFill>
              </a:rPr>
              <a:t>	- </a:t>
            </a:r>
            <a:r>
              <a:rPr lang="en-US" dirty="0">
                <a:solidFill>
                  <a:srgbClr val="1D1D1A"/>
                </a:solidFill>
              </a:rPr>
              <a:t>Methodology</a:t>
            </a:r>
            <a:br>
              <a:rPr lang="de" dirty="0">
                <a:solidFill>
                  <a:srgbClr val="1D1D1A"/>
                </a:solidFill>
              </a:rPr>
            </a:br>
            <a:r>
              <a:rPr lang="de" dirty="0">
                <a:solidFill>
                  <a:srgbClr val="1D1D1A"/>
                </a:solidFill>
              </a:rPr>
              <a:t>	- </a:t>
            </a:r>
            <a:r>
              <a:rPr lang="en-US" dirty="0">
                <a:solidFill>
                  <a:srgbClr val="1D1D1A"/>
                </a:solidFill>
              </a:rPr>
              <a:t>Challenges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de" b="1" dirty="0">
                <a:solidFill>
                  <a:srgbClr val="DCE1F3"/>
                </a:solidFill>
              </a:rPr>
              <a:t>02 </a:t>
            </a:r>
            <a:r>
              <a:rPr lang="de" dirty="0">
                <a:solidFill>
                  <a:srgbClr val="1D1D1B"/>
                </a:solidFill>
              </a:rPr>
              <a:t>	</a:t>
            </a:r>
            <a:r>
              <a:rPr lang="de" b="1" dirty="0">
                <a:solidFill>
                  <a:srgbClr val="1D1D1B"/>
                </a:solidFill>
              </a:rPr>
              <a:t> Penetration Test</a:t>
            </a:r>
            <a:endParaRPr b="1" dirty="0">
              <a:solidFill>
                <a:srgbClr val="1D1D1B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de" dirty="0">
                <a:solidFill>
                  <a:srgbClr val="1D1D1B"/>
                </a:solidFill>
              </a:rPr>
              <a:t>	</a:t>
            </a:r>
            <a:r>
              <a:rPr lang="de" dirty="0">
                <a:solidFill>
                  <a:srgbClr val="1D1D1A"/>
                </a:solidFill>
              </a:rPr>
              <a:t>- </a:t>
            </a:r>
            <a:r>
              <a:rPr lang="de" dirty="0" err="1">
                <a:solidFill>
                  <a:srgbClr val="1D1D1A"/>
                </a:solidFill>
              </a:rPr>
              <a:t>Relevancy</a:t>
            </a:r>
            <a:br>
              <a:rPr lang="de" dirty="0">
                <a:solidFill>
                  <a:srgbClr val="1D1D1A"/>
                </a:solidFill>
              </a:rPr>
            </a:br>
            <a:r>
              <a:rPr lang="de" dirty="0">
                <a:solidFill>
                  <a:srgbClr val="1D1D1A"/>
                </a:solidFill>
              </a:rPr>
              <a:t>	- </a:t>
            </a:r>
            <a:r>
              <a:rPr lang="en-US" dirty="0">
                <a:solidFill>
                  <a:srgbClr val="1D1D1A"/>
                </a:solidFill>
              </a:rPr>
              <a:t>Methodology</a:t>
            </a:r>
            <a:br>
              <a:rPr lang="de" dirty="0">
                <a:solidFill>
                  <a:srgbClr val="1D1D1A"/>
                </a:solidFill>
              </a:rPr>
            </a:br>
            <a:r>
              <a:rPr lang="de" dirty="0">
                <a:solidFill>
                  <a:srgbClr val="1D1D1A"/>
                </a:solidFill>
              </a:rPr>
              <a:t>	- </a:t>
            </a:r>
            <a:r>
              <a:rPr lang="en-US" dirty="0">
                <a:solidFill>
                  <a:srgbClr val="1D1D1A"/>
                </a:solidFill>
              </a:rPr>
              <a:t>Challenges</a:t>
            </a: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rgbClr val="1D1D1B"/>
              </a:solidFill>
            </a:endParaRPr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46101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de" b="1" dirty="0">
                <a:solidFill>
                  <a:srgbClr val="DCE1F3"/>
                </a:solidFill>
              </a:rPr>
              <a:t>03 </a:t>
            </a:r>
            <a:r>
              <a:rPr lang="de" dirty="0"/>
              <a:t>	</a:t>
            </a:r>
            <a:r>
              <a:rPr lang="en-US" b="1" dirty="0">
                <a:solidFill>
                  <a:srgbClr val="1D1D1B"/>
                </a:solidFill>
              </a:rPr>
              <a:t>Digital Forensics</a:t>
            </a:r>
            <a:endParaRPr b="1" dirty="0">
              <a:solidFill>
                <a:srgbClr val="1D1D1B"/>
              </a:solidFill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de" dirty="0">
                <a:solidFill>
                  <a:srgbClr val="1D1D1B"/>
                </a:solidFill>
              </a:rPr>
              <a:t>	- </a:t>
            </a:r>
            <a:r>
              <a:rPr lang="de" dirty="0" err="1">
                <a:solidFill>
                  <a:srgbClr val="1D1D1A"/>
                </a:solidFill>
              </a:rPr>
              <a:t>Relevancy</a:t>
            </a:r>
            <a:br>
              <a:rPr lang="de" dirty="0">
                <a:solidFill>
                  <a:srgbClr val="1D1D1A"/>
                </a:solidFill>
              </a:rPr>
            </a:br>
            <a:r>
              <a:rPr lang="de" dirty="0">
                <a:solidFill>
                  <a:srgbClr val="1D1D1A"/>
                </a:solidFill>
              </a:rPr>
              <a:t>	- </a:t>
            </a:r>
            <a:r>
              <a:rPr lang="en-US" dirty="0">
                <a:solidFill>
                  <a:srgbClr val="1D1D1A"/>
                </a:solidFill>
              </a:rPr>
              <a:t>Methodology</a:t>
            </a:r>
            <a:br>
              <a:rPr lang="de" dirty="0">
                <a:solidFill>
                  <a:srgbClr val="1D1D1A"/>
                </a:solidFill>
              </a:rPr>
            </a:br>
            <a:r>
              <a:rPr lang="de" dirty="0">
                <a:solidFill>
                  <a:srgbClr val="1D1D1A"/>
                </a:solidFill>
              </a:rPr>
              <a:t>	- </a:t>
            </a:r>
            <a:r>
              <a:rPr lang="en-US" dirty="0">
                <a:solidFill>
                  <a:srgbClr val="1D1D1A"/>
                </a:solidFill>
              </a:rPr>
              <a:t>Challenges</a:t>
            </a: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100" y="88145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070B82-2A26-CDF5-D623-1A763AA4696A}"/>
              </a:ext>
            </a:extLst>
          </p:cNvPr>
          <p:cNvSpPr txBox="1"/>
          <p:nvPr/>
        </p:nvSpPr>
        <p:spPr>
          <a:xfrm>
            <a:off x="5275385" y="4527374"/>
            <a:ext cx="35569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MITRE ATT&amp;CK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99FA02-64D0-0BA2-2288-64AF4D68C52C}"/>
              </a:ext>
            </a:extLst>
          </p:cNvPr>
          <p:cNvSpPr txBox="1"/>
          <p:nvPr/>
        </p:nvSpPr>
        <p:spPr>
          <a:xfrm>
            <a:off x="6371792" y="4780722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err="1"/>
              <a:t>attack.mitre.org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245475" y="2055225"/>
            <a:ext cx="1408800" cy="1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8000" b="1">
                <a:solidFill>
                  <a:srgbClr val="1D1D1B"/>
                </a:solidFill>
              </a:rPr>
              <a:t>01</a:t>
            </a:r>
            <a:endParaRPr sz="8000" b="1">
              <a:solidFill>
                <a:srgbClr val="1D1D1B"/>
              </a:solidFill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4580650" y="2670225"/>
            <a:ext cx="35156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3000" b="1" dirty="0">
                <a:solidFill>
                  <a:srgbClr val="1D1D1B"/>
                </a:solidFill>
              </a:rPr>
              <a:t>Buffer Overflow</a:t>
            </a:r>
            <a:endParaRPr sz="3000" b="1" dirty="0">
              <a:solidFill>
                <a:srgbClr val="1D1D1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Relevancy</a:t>
            </a:r>
            <a:r>
              <a:rPr lang="de" b="1" dirty="0">
                <a:solidFill>
                  <a:srgbClr val="292E60"/>
                </a:solidFill>
              </a:rPr>
              <a:t> </a:t>
            </a:r>
            <a:r>
              <a:rPr lang="de" b="1" dirty="0" err="1">
                <a:solidFill>
                  <a:srgbClr val="292E60"/>
                </a:solidFill>
              </a:rPr>
              <a:t>of</a:t>
            </a:r>
            <a:r>
              <a:rPr lang="de" b="1" dirty="0">
                <a:solidFill>
                  <a:srgbClr val="292E60"/>
                </a:solidFill>
              </a:rPr>
              <a:t> Buffer Overflows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</a:t>
            </a:r>
            <a:endParaRPr sz="1000" dirty="0"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14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9F92CD-A9CF-7188-F6B9-CE57AC41A3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9"/>
          <a:stretch>
            <a:fillRect/>
          </a:stretch>
        </p:blipFill>
        <p:spPr>
          <a:xfrm>
            <a:off x="552477" y="1586276"/>
            <a:ext cx="7624057" cy="17014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endPos="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CC4311-2632-9FE3-2F95-7ACD453B1DD1}"/>
              </a:ext>
            </a:extLst>
          </p:cNvPr>
          <p:cNvSpPr txBox="1"/>
          <p:nvPr/>
        </p:nvSpPr>
        <p:spPr>
          <a:xfrm>
            <a:off x="488022" y="3577691"/>
            <a:ext cx="746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 err="1"/>
              <a:t>www.cve.org</a:t>
            </a:r>
            <a:r>
              <a:rPr lang="en-US" sz="1100" dirty="0"/>
              <a:t>/</a:t>
            </a:r>
            <a:r>
              <a:rPr lang="en-US" sz="1100" dirty="0" err="1"/>
              <a:t>CVERecord</a:t>
            </a:r>
            <a:r>
              <a:rPr lang="en-US" sz="1100" dirty="0"/>
              <a:t>/</a:t>
            </a:r>
            <a:r>
              <a:rPr lang="en-US" sz="1100" dirty="0" err="1"/>
              <a:t>SearchResults?query</a:t>
            </a:r>
            <a:r>
              <a:rPr lang="en-US" sz="1100" dirty="0"/>
              <a:t>=</a:t>
            </a:r>
            <a:r>
              <a:rPr lang="en-US" sz="1100" dirty="0" err="1"/>
              <a:t>Buffer+Overflow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2F2D345-29DA-29F9-1355-D677CE07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6623E8-7F36-0A8E-4EE2-08C41C2D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2" t="8236" r="19129" b="84260"/>
          <a:stretch>
            <a:fillRect/>
          </a:stretch>
        </p:blipFill>
        <p:spPr>
          <a:xfrm>
            <a:off x="402381" y="1148699"/>
            <a:ext cx="7533386" cy="3595429"/>
          </a:xfrm>
          <a:prstGeom prst="rect">
            <a:avLst/>
          </a:prstGeom>
        </p:spPr>
      </p:pic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B265A171-97FD-35D3-3F08-2F4B610D5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Relevancy</a:t>
            </a:r>
            <a:r>
              <a:rPr lang="de" b="1" dirty="0">
                <a:solidFill>
                  <a:srgbClr val="292E60"/>
                </a:solidFill>
              </a:rPr>
              <a:t> </a:t>
            </a:r>
            <a:r>
              <a:rPr lang="de" b="1" dirty="0" err="1">
                <a:solidFill>
                  <a:srgbClr val="292E60"/>
                </a:solidFill>
              </a:rPr>
              <a:t>of</a:t>
            </a:r>
            <a:r>
              <a:rPr lang="de" b="1" dirty="0">
                <a:solidFill>
                  <a:srgbClr val="292E60"/>
                </a:solidFill>
              </a:rPr>
              <a:t> Buffer Overflows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5C25985A-A3B9-34DC-EC75-4A4DC7B97C4B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FB84BEF4-3967-8D95-9DFA-63E7E2DA5A1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514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7558A0-FEB9-B7DC-DB7F-B1E9C396EBAE}"/>
              </a:ext>
            </a:extLst>
          </p:cNvPr>
          <p:cNvSpPr txBox="1"/>
          <p:nvPr/>
        </p:nvSpPr>
        <p:spPr>
          <a:xfrm>
            <a:off x="311702" y="4758740"/>
            <a:ext cx="74152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 err="1"/>
              <a:t>cwe.mitre.org</a:t>
            </a:r>
            <a:r>
              <a:rPr lang="en-US" sz="1100" dirty="0"/>
              <a:t>/top25/archive/2025/2025_cwe_top25.html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7C3E31-BC44-D4FD-ABBA-B431CA9588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307" y="1148700"/>
            <a:ext cx="3747914" cy="3595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3C2D73-A3A2-F97B-D759-4B63F389A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885"/>
          <a:stretch>
            <a:fillRect/>
          </a:stretch>
        </p:blipFill>
        <p:spPr>
          <a:xfrm>
            <a:off x="4324287" y="3086100"/>
            <a:ext cx="3611480" cy="16580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45F383-523F-B82A-69E7-F5C6894EC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115"/>
          <a:stretch>
            <a:fillRect/>
          </a:stretch>
        </p:blipFill>
        <p:spPr>
          <a:xfrm>
            <a:off x="4324287" y="1148699"/>
            <a:ext cx="3611480" cy="193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72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0CFB23E-35BF-2D7E-2742-7F5C3FCF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DFDAFF-F768-D1B5-F353-638C1A365E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512" t="8236" r="19129" b="84260"/>
          <a:stretch>
            <a:fillRect/>
          </a:stretch>
        </p:blipFill>
        <p:spPr>
          <a:xfrm>
            <a:off x="402381" y="1904892"/>
            <a:ext cx="8536826" cy="2337050"/>
          </a:xfrm>
          <a:prstGeom prst="rect">
            <a:avLst/>
          </a:prstGeom>
        </p:spPr>
      </p:pic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9DEEB6C0-9D11-0AF3-92B0-3D50323C4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Relevancy</a:t>
            </a:r>
            <a:r>
              <a:rPr lang="de" b="1" dirty="0">
                <a:solidFill>
                  <a:srgbClr val="292E60"/>
                </a:solidFill>
              </a:rPr>
              <a:t> </a:t>
            </a:r>
            <a:r>
              <a:rPr lang="de" b="1" dirty="0" err="1">
                <a:solidFill>
                  <a:srgbClr val="292E60"/>
                </a:solidFill>
              </a:rPr>
              <a:t>of</a:t>
            </a:r>
            <a:r>
              <a:rPr lang="de" b="1" dirty="0">
                <a:solidFill>
                  <a:srgbClr val="292E60"/>
                </a:solidFill>
              </a:rPr>
              <a:t> Buffer Overflows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52F89998-FE1A-F7CE-4CB7-23F090E345EA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AEC1F929-5966-9421-C393-A3B9E04A9F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514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5074B6-83D8-B899-5773-9C0FA14CC3F2}"/>
              </a:ext>
            </a:extLst>
          </p:cNvPr>
          <p:cNvSpPr txBox="1"/>
          <p:nvPr/>
        </p:nvSpPr>
        <p:spPr>
          <a:xfrm>
            <a:off x="323132" y="4244160"/>
            <a:ext cx="74152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 err="1"/>
              <a:t>cwe.mitre.org</a:t>
            </a:r>
            <a:r>
              <a:rPr lang="en-US" sz="1100" dirty="0"/>
              <a:t>/top25/archive/2025/2025_cwe_top25.html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1E9BD-87F4-424F-3AAA-64FD0F092D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47" t="84071" r="22951" b="6907"/>
          <a:stretch>
            <a:fillRect/>
          </a:stretch>
        </p:blipFill>
        <p:spPr>
          <a:xfrm>
            <a:off x="402385" y="1244071"/>
            <a:ext cx="8536829" cy="10247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15E44E-888B-9D2F-4608-7FC18A27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34" t="23242" r="19351" b="69254"/>
          <a:stretch>
            <a:fillRect/>
          </a:stretch>
        </p:blipFill>
        <p:spPr>
          <a:xfrm>
            <a:off x="449276" y="3274247"/>
            <a:ext cx="8489933" cy="8523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47EF03-2EC8-C12A-88E8-866780E8A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45" t="8236" r="19335" b="84260"/>
          <a:stretch>
            <a:fillRect/>
          </a:stretch>
        </p:blipFill>
        <p:spPr>
          <a:xfrm>
            <a:off x="425828" y="2339536"/>
            <a:ext cx="8513381" cy="85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54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5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B899898-30B2-98F2-2387-647F302C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5BE946C5-E96C-681C-7889-19C036D7D1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Relevancy</a:t>
            </a:r>
            <a:r>
              <a:rPr lang="de" b="1" dirty="0">
                <a:solidFill>
                  <a:srgbClr val="292E60"/>
                </a:solidFill>
              </a:rPr>
              <a:t> </a:t>
            </a:r>
            <a:r>
              <a:rPr lang="de" b="1" dirty="0" err="1">
                <a:solidFill>
                  <a:srgbClr val="292E60"/>
                </a:solidFill>
              </a:rPr>
              <a:t>of</a:t>
            </a:r>
            <a:r>
              <a:rPr lang="de" b="1" dirty="0">
                <a:solidFill>
                  <a:srgbClr val="292E60"/>
                </a:solidFill>
              </a:rPr>
              <a:t> Buffer Overflows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63E1F5A9-7AAB-853F-FC28-CE506AD364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14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981767-08EE-021C-A742-893EA0B8CF4F}"/>
              </a:ext>
            </a:extLst>
          </p:cNvPr>
          <p:cNvSpPr txBox="1"/>
          <p:nvPr/>
        </p:nvSpPr>
        <p:spPr>
          <a:xfrm>
            <a:off x="346506" y="3223608"/>
            <a:ext cx="74152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 err="1"/>
              <a:t>cwe.mitre.org</a:t>
            </a:r>
            <a:r>
              <a:rPr lang="en-US" sz="1100" dirty="0"/>
              <a:t>/top25/archive/2025/2025_cwe_top25.html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4B2380-5D98-7D31-0CC9-2DCFDADCBB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06" t="38925" r="42047" b="52594"/>
          <a:stretch>
            <a:fillRect/>
          </a:stretch>
        </p:blipFill>
        <p:spPr>
          <a:xfrm>
            <a:off x="416844" y="1929631"/>
            <a:ext cx="8310315" cy="1284241"/>
          </a:xfrm>
          <a:prstGeom prst="rect">
            <a:avLst/>
          </a:prstGeom>
        </p:spPr>
      </p:pic>
      <p:sp>
        <p:nvSpPr>
          <p:cNvPr id="2" name="Google Shape;106;p21">
            <a:extLst>
              <a:ext uri="{FF2B5EF4-FFF2-40B4-BE49-F238E27FC236}">
                <a16:creationId xmlns:a16="http://schemas.microsoft.com/office/drawing/2014/main" id="{D4B73838-1449-36FC-747B-9D29F3441ECE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09196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5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51C8AFA-14D7-BD76-836C-EBC9F3BB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8AC46F8A-FF0B-B3F7-AF4C-3CDE904B2A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Relevancy</a:t>
            </a:r>
            <a:r>
              <a:rPr lang="de" b="1" dirty="0">
                <a:solidFill>
                  <a:srgbClr val="292E60"/>
                </a:solidFill>
              </a:rPr>
              <a:t> </a:t>
            </a:r>
            <a:r>
              <a:rPr lang="de" b="1" dirty="0" err="1">
                <a:solidFill>
                  <a:srgbClr val="292E60"/>
                </a:solidFill>
              </a:rPr>
              <a:t>of</a:t>
            </a:r>
            <a:r>
              <a:rPr lang="de" b="1" dirty="0">
                <a:solidFill>
                  <a:srgbClr val="292E60"/>
                </a:solidFill>
              </a:rPr>
              <a:t> Buffer Overflows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90DB6EBD-CEF9-FD2C-B1DE-6FF44424DD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514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B18E97-4F11-50DA-BA59-1FE2C015F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517" y="1153746"/>
            <a:ext cx="4814969" cy="3355888"/>
          </a:xfrm>
          <a:prstGeom prst="rect">
            <a:avLst/>
          </a:prstGeom>
        </p:spPr>
      </p:pic>
      <p:sp>
        <p:nvSpPr>
          <p:cNvPr id="6" name="Google Shape;106;p21">
            <a:extLst>
              <a:ext uri="{FF2B5EF4-FFF2-40B4-BE49-F238E27FC236}">
                <a16:creationId xmlns:a16="http://schemas.microsoft.com/office/drawing/2014/main" id="{28E42C6F-7729-6833-BA8D-B2F2BFE14B89}"/>
              </a:ext>
            </a:extLst>
          </p:cNvPr>
          <p:cNvSpPr txBox="1"/>
          <p:nvPr/>
        </p:nvSpPr>
        <p:spPr>
          <a:xfrm>
            <a:off x="9358" y="4825549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8</a:t>
            </a:r>
            <a:endParaRPr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6FEFE-1732-502E-601A-EE5827A1A445}"/>
              </a:ext>
            </a:extLst>
          </p:cNvPr>
          <p:cNvSpPr txBox="1"/>
          <p:nvPr/>
        </p:nvSpPr>
        <p:spPr>
          <a:xfrm>
            <a:off x="2164517" y="4518329"/>
            <a:ext cx="4814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Source: </a:t>
            </a:r>
            <a:r>
              <a:rPr lang="en-US" sz="1100" dirty="0" err="1"/>
              <a:t>www.cve.org</a:t>
            </a:r>
            <a:r>
              <a:rPr lang="en-US" sz="1100" dirty="0"/>
              <a:t>/</a:t>
            </a:r>
            <a:r>
              <a:rPr lang="en-US" sz="1100" dirty="0" err="1"/>
              <a:t>CVERecord?id</a:t>
            </a:r>
            <a:r>
              <a:rPr lang="en-US" sz="1100" dirty="0"/>
              <a:t>=CVE-2026-41089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769BFC-36D8-C788-A314-5E8B9610FAB2}"/>
              </a:ext>
            </a:extLst>
          </p:cNvPr>
          <p:cNvCxnSpPr>
            <a:cxnSpLocks/>
          </p:cNvCxnSpPr>
          <p:nvPr/>
        </p:nvCxnSpPr>
        <p:spPr>
          <a:xfrm>
            <a:off x="2167692" y="4509634"/>
            <a:ext cx="4814969" cy="0"/>
          </a:xfrm>
          <a:prstGeom prst="line">
            <a:avLst/>
          </a:prstGeom>
          <a:ln w="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0DFFA54-D842-F0D2-7115-65F24475566E}"/>
              </a:ext>
            </a:extLst>
          </p:cNvPr>
          <p:cNvSpPr/>
          <p:nvPr/>
        </p:nvSpPr>
        <p:spPr>
          <a:xfrm>
            <a:off x="6979486" y="4250043"/>
            <a:ext cx="441325" cy="536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6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19419B8-CE23-B4CF-0AC5-A661C6ED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5D641F1C-05A6-06BC-176A-1812B444CFF3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5</a:t>
            </a:r>
            <a:endParaRPr sz="1000" dirty="0"/>
          </a:p>
        </p:txBody>
      </p:sp>
      <p:sp>
        <p:nvSpPr>
          <p:cNvPr id="4" name="Google Shape;104;p21">
            <a:extLst>
              <a:ext uri="{FF2B5EF4-FFF2-40B4-BE49-F238E27FC236}">
                <a16:creationId xmlns:a16="http://schemas.microsoft.com/office/drawing/2014/main" id="{2C8BB7FF-A6BA-B0E9-E698-6256E0CDC1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Preparation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5" name="Google Shape;107;p21">
            <a:extLst>
              <a:ext uri="{FF2B5EF4-FFF2-40B4-BE49-F238E27FC236}">
                <a16:creationId xmlns:a16="http://schemas.microsoft.com/office/drawing/2014/main" id="{E4B07B27-B5CF-68E7-7088-551C33F190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49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F55EA4-699B-D80C-16E5-BF40B776B2E7}"/>
              </a:ext>
            </a:extLst>
          </p:cNvPr>
          <p:cNvSpPr txBox="1"/>
          <p:nvPr/>
        </p:nvSpPr>
        <p:spPr>
          <a:xfrm>
            <a:off x="6759146" y="4667112"/>
            <a:ext cx="23848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Scanning (</a:t>
            </a:r>
            <a:r>
              <a:rPr lang="en-US" i="1" dirty="0"/>
              <a:t>T1595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Google Shape;105;p21">
            <a:extLst>
              <a:ext uri="{FF2B5EF4-FFF2-40B4-BE49-F238E27FC236}">
                <a16:creationId xmlns:a16="http://schemas.microsoft.com/office/drawing/2014/main" id="{045A581C-D748-E9AE-014C-159D29C97CA6}"/>
              </a:ext>
            </a:extLst>
          </p:cNvPr>
          <p:cNvSpPr txBox="1">
            <a:spLocks/>
          </p:cNvSpPr>
          <p:nvPr/>
        </p:nvSpPr>
        <p:spPr>
          <a:xfrm>
            <a:off x="552475" y="1175053"/>
            <a:ext cx="8279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de" b="1" dirty="0">
                <a:solidFill>
                  <a:srgbClr val="1D1D1A"/>
                </a:solidFill>
              </a:rPr>
              <a:t>Information </a:t>
            </a:r>
            <a:r>
              <a:rPr lang="de" b="1" dirty="0" err="1">
                <a:solidFill>
                  <a:srgbClr val="1D1D1A"/>
                </a:solidFill>
              </a:rPr>
              <a:t>collection</a:t>
            </a:r>
            <a:r>
              <a:rPr lang="de" b="1" dirty="0">
                <a:solidFill>
                  <a:srgbClr val="1D1D1A"/>
                </a:solidFill>
              </a:rPr>
              <a:t>:</a:t>
            </a:r>
          </a:p>
          <a:p>
            <a:pPr marL="285750" indent="-285750">
              <a:spcAft>
                <a:spcPts val="1600"/>
              </a:spcAft>
            </a:pPr>
            <a:r>
              <a:rPr lang="de" dirty="0">
                <a:solidFill>
                  <a:srgbClr val="1D1D1A"/>
                </a:solidFill>
              </a:rPr>
              <a:t>Operating System</a:t>
            </a:r>
          </a:p>
          <a:p>
            <a:pPr marL="285750" indent="-285750">
              <a:spcAft>
                <a:spcPts val="1600"/>
              </a:spcAft>
            </a:pPr>
            <a:r>
              <a:rPr lang="de" dirty="0">
                <a:solidFill>
                  <a:srgbClr val="1D1D1A"/>
                </a:solidFill>
              </a:rPr>
              <a:t>Open Ports and Services</a:t>
            </a:r>
          </a:p>
          <a:p>
            <a:pPr marL="285750" indent="-285750">
              <a:spcAft>
                <a:spcPts val="1600"/>
              </a:spcAft>
            </a:pPr>
            <a:r>
              <a:rPr lang="de" dirty="0" err="1">
                <a:solidFill>
                  <a:srgbClr val="1D1D1A"/>
                </a:solidFill>
              </a:rPr>
              <a:t>Vulnerabilities</a:t>
            </a:r>
            <a:endParaRPr lang="de" dirty="0">
              <a:solidFill>
                <a:srgbClr val="1D1D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38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6E3C697-7120-32CC-AF85-67BB7EFBE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13BD694D-0403-798D-4DC3-2FE64F7E9624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6</a:t>
            </a:r>
          </a:p>
        </p:txBody>
      </p:sp>
      <p:sp>
        <p:nvSpPr>
          <p:cNvPr id="4" name="Google Shape;104;p21">
            <a:extLst>
              <a:ext uri="{FF2B5EF4-FFF2-40B4-BE49-F238E27FC236}">
                <a16:creationId xmlns:a16="http://schemas.microsoft.com/office/drawing/2014/main" id="{E37FAFDD-CEA0-1562-C3E2-D4CEA5301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5" name="Google Shape;107;p21">
            <a:extLst>
              <a:ext uri="{FF2B5EF4-FFF2-40B4-BE49-F238E27FC236}">
                <a16:creationId xmlns:a16="http://schemas.microsoft.com/office/drawing/2014/main" id="{30903546-4FF6-DF8F-FAFA-AD51104D4F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5;p21">
            <a:extLst>
              <a:ext uri="{FF2B5EF4-FFF2-40B4-BE49-F238E27FC236}">
                <a16:creationId xmlns:a16="http://schemas.microsoft.com/office/drawing/2014/main" id="{E446D0B5-B176-4F52-42DB-6AA2AAD6FF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2475" y="1175053"/>
            <a:ext cx="827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spcAft>
                <a:spcPts val="1600"/>
              </a:spcAft>
              <a:buAutoNum type="arabicPeriod"/>
            </a:pPr>
            <a:r>
              <a:rPr lang="de" b="1" dirty="0" err="1">
                <a:solidFill>
                  <a:srgbClr val="1D1D1A"/>
                </a:solidFill>
              </a:rPr>
              <a:t>Inciting</a:t>
            </a:r>
            <a:r>
              <a:rPr lang="de" b="1" dirty="0">
                <a:solidFill>
                  <a:srgbClr val="1D1D1A"/>
                </a:solidFill>
              </a:rPr>
              <a:t> a crash</a:t>
            </a:r>
          </a:p>
          <a:p>
            <a:pPr marL="342900">
              <a:spcAft>
                <a:spcPts val="1600"/>
              </a:spcAft>
              <a:buAutoNum type="arabicPeriod"/>
            </a:pPr>
            <a:r>
              <a:rPr lang="de" dirty="0">
                <a:solidFill>
                  <a:srgbClr val="1D1D1A"/>
                </a:solidFill>
              </a:rPr>
              <a:t>Gathering </a:t>
            </a:r>
            <a:r>
              <a:rPr lang="de" dirty="0" err="1">
                <a:solidFill>
                  <a:srgbClr val="1D1D1A"/>
                </a:solidFill>
              </a:rPr>
              <a:t>information</a:t>
            </a:r>
            <a:endParaRPr lang="de" dirty="0">
              <a:solidFill>
                <a:srgbClr val="1D1D1A"/>
              </a:solidFill>
            </a:endParaRPr>
          </a:p>
          <a:p>
            <a:pPr marL="342900">
              <a:spcAft>
                <a:spcPts val="1600"/>
              </a:spcAft>
              <a:buAutoNum type="arabicPeriod"/>
            </a:pPr>
            <a:r>
              <a:rPr lang="de" dirty="0" err="1">
                <a:solidFill>
                  <a:srgbClr val="1D1D1A"/>
                </a:solidFill>
              </a:rPr>
              <a:t>Injecting</a:t>
            </a:r>
            <a:r>
              <a:rPr lang="de" dirty="0">
                <a:solidFill>
                  <a:srgbClr val="1D1D1A"/>
                </a:solidFill>
              </a:rPr>
              <a:t> </a:t>
            </a:r>
            <a:r>
              <a:rPr lang="de" dirty="0" err="1">
                <a:solidFill>
                  <a:srgbClr val="1D1D1A"/>
                </a:solidFill>
              </a:rPr>
              <a:t>payload</a:t>
            </a:r>
            <a:endParaRPr lang="de" dirty="0">
              <a:solidFill>
                <a:srgbClr val="1D1D1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718C9-436C-FE1B-925F-79F64400D134}"/>
              </a:ext>
            </a:extLst>
          </p:cNvPr>
          <p:cNvSpPr txBox="1"/>
          <p:nvPr/>
        </p:nvSpPr>
        <p:spPr>
          <a:xfrm>
            <a:off x="6759146" y="4667112"/>
            <a:ext cx="23848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Denial of Service (</a:t>
            </a:r>
            <a:r>
              <a:rPr lang="en-US" i="1" dirty="0"/>
              <a:t>T0814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546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EAEC445-DF87-34C3-47F6-11A25520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CC231323-174C-17EB-821F-F3A5FCAB41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C40E876C-B61E-1596-C98E-57094FC2198E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7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CC3B7E9F-F98E-D474-CDB6-68275B3908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EFDF85C-18FD-3273-7727-BC1E1064CB43}"/>
              </a:ext>
            </a:extLst>
          </p:cNvPr>
          <p:cNvGrpSpPr/>
          <p:nvPr/>
        </p:nvGrpSpPr>
        <p:grpSpPr>
          <a:xfrm>
            <a:off x="421999" y="1231901"/>
            <a:ext cx="1771003" cy="3466575"/>
            <a:chOff x="1653201" y="493931"/>
            <a:chExt cx="8335926" cy="593828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BE0CBC-5688-DEBE-2C28-ACB126ED7203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Stack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556E3E-49A1-D233-8767-A5242A5B3FA5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Frame Pointer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582D91-F6B8-0D97-DEC6-26F75584D35F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Return Address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468314-2232-3061-6D32-6979AD66F360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Caller - Stack Frame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4D0408-5C22-E51E-927D-3598279D2A2E}"/>
              </a:ext>
            </a:extLst>
          </p:cNvPr>
          <p:cNvGrpSpPr/>
          <p:nvPr/>
        </p:nvGrpSpPr>
        <p:grpSpPr>
          <a:xfrm>
            <a:off x="6429699" y="1231901"/>
            <a:ext cx="1771003" cy="3466575"/>
            <a:chOff x="1653201" y="493931"/>
            <a:chExt cx="8335926" cy="593828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708BCE9-A755-4E74-4B9C-8694814254FD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03FCC-0676-FA8F-B20D-337451CAEF46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</a:t>
              </a:r>
              <a:r>
                <a:rPr lang="en-US">
                  <a:solidFill>
                    <a:schemeClr val="tx1"/>
                  </a:solidFill>
                </a:rPr>
                <a:t>A A </a:t>
              </a:r>
              <a:r>
                <a:rPr lang="en-US" dirty="0">
                  <a:solidFill>
                    <a:schemeClr val="tx1"/>
                  </a:solidFill>
                </a:rPr>
                <a:t>A A A A 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D6F315-C4E5-EB97-5764-AF139B87B3EE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D51763"/>
                  </a:solidFill>
                </a:rPr>
                <a:t>A A A A A A A A A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C685426-AACB-0D5B-1723-0EB490DF45C8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FC7731-801E-A4B2-CEFE-E6F9C5E91856}"/>
              </a:ext>
            </a:extLst>
          </p:cNvPr>
          <p:cNvGrpSpPr/>
          <p:nvPr/>
        </p:nvGrpSpPr>
        <p:grpSpPr>
          <a:xfrm>
            <a:off x="3425849" y="1233626"/>
            <a:ext cx="1771003" cy="3466575"/>
            <a:chOff x="1653201" y="493931"/>
            <a:chExt cx="8335926" cy="593828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AEB1A03-D66E-4E13-A40A-B7F27779310D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x x x x x x x x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AA5E-B112-4E68-04DF-CFEC20E1E9EE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Frame Pointer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D0F2BA-97C3-366D-B8A0-4C99A2C36C94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Return Address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1A28DF7-39BD-F8E8-DC16-A161F0588D90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Caller - Stack Frame</a:t>
              </a:r>
            </a:p>
          </p:txBody>
        </p:sp>
      </p:grpSp>
      <p:sp>
        <p:nvSpPr>
          <p:cNvPr id="24" name="Right Arrow 23">
            <a:extLst>
              <a:ext uri="{FF2B5EF4-FFF2-40B4-BE49-F238E27FC236}">
                <a16:creationId xmlns:a16="http://schemas.microsoft.com/office/drawing/2014/main" id="{47803B17-C4D0-0DDE-8E0C-440CBAAD4205}"/>
              </a:ext>
            </a:extLst>
          </p:cNvPr>
          <p:cNvSpPr/>
          <p:nvPr/>
        </p:nvSpPr>
        <p:spPr>
          <a:xfrm>
            <a:off x="2295073" y="2862443"/>
            <a:ext cx="1028700" cy="289283"/>
          </a:xfrm>
          <a:prstGeom prst="rightArrow">
            <a:avLst/>
          </a:prstGeom>
          <a:solidFill>
            <a:srgbClr val="292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5C5C4008-040B-E5FA-BCFD-A29B627683F9}"/>
              </a:ext>
            </a:extLst>
          </p:cNvPr>
          <p:cNvSpPr/>
          <p:nvPr/>
        </p:nvSpPr>
        <p:spPr>
          <a:xfrm>
            <a:off x="5298923" y="2862443"/>
            <a:ext cx="1028700" cy="289283"/>
          </a:xfrm>
          <a:prstGeom prst="rightArrow">
            <a:avLst/>
          </a:prstGeom>
          <a:solidFill>
            <a:srgbClr val="292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E4FE55-7F49-C2B4-B688-BAB96B5A2E59}"/>
              </a:ext>
            </a:extLst>
          </p:cNvPr>
          <p:cNvSpPr txBox="1"/>
          <p:nvPr/>
        </p:nvSpPr>
        <p:spPr>
          <a:xfrm>
            <a:off x="2295073" y="2611587"/>
            <a:ext cx="1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Regular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F95EED-A16F-E695-E6D7-29717444B7EB}"/>
              </a:ext>
            </a:extLst>
          </p:cNvPr>
          <p:cNvSpPr txBox="1"/>
          <p:nvPr/>
        </p:nvSpPr>
        <p:spPr>
          <a:xfrm>
            <a:off x="2295073" y="3094805"/>
            <a:ext cx="1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9ADB07-F4D4-4749-F676-E93A4E63DE60}"/>
              </a:ext>
            </a:extLst>
          </p:cNvPr>
          <p:cNvSpPr txBox="1"/>
          <p:nvPr/>
        </p:nvSpPr>
        <p:spPr>
          <a:xfrm>
            <a:off x="5268267" y="2611586"/>
            <a:ext cx="1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Malicious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8F545A-D9BC-62A0-0FB2-D1F82204F51F}"/>
              </a:ext>
            </a:extLst>
          </p:cNvPr>
          <p:cNvSpPr txBox="1"/>
          <p:nvPr/>
        </p:nvSpPr>
        <p:spPr>
          <a:xfrm>
            <a:off x="5268267" y="3094805"/>
            <a:ext cx="1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222468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/>
      <p:bldP spid="27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A4A60D2-6444-77FF-E08E-D2F3C36D5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BD40310F-413A-6FEA-047D-F53D35D5EB31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8</a:t>
            </a:r>
            <a:endParaRPr sz="1000" dirty="0"/>
          </a:p>
        </p:txBody>
      </p:sp>
      <p:sp>
        <p:nvSpPr>
          <p:cNvPr id="4" name="Google Shape;104;p21">
            <a:extLst>
              <a:ext uri="{FF2B5EF4-FFF2-40B4-BE49-F238E27FC236}">
                <a16:creationId xmlns:a16="http://schemas.microsoft.com/office/drawing/2014/main" id="{1E8B2E6F-2686-4F50-5BE2-DC5F49432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5" name="Google Shape;107;p21">
            <a:extLst>
              <a:ext uri="{FF2B5EF4-FFF2-40B4-BE49-F238E27FC236}">
                <a16:creationId xmlns:a16="http://schemas.microsoft.com/office/drawing/2014/main" id="{1E67F128-0715-2B91-139D-08DFAEF907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5;p21">
            <a:extLst>
              <a:ext uri="{FF2B5EF4-FFF2-40B4-BE49-F238E27FC236}">
                <a16:creationId xmlns:a16="http://schemas.microsoft.com/office/drawing/2014/main" id="{07EFAF25-BC23-7EB7-DBC4-58E464C70609}"/>
              </a:ext>
            </a:extLst>
          </p:cNvPr>
          <p:cNvSpPr txBox="1">
            <a:spLocks/>
          </p:cNvSpPr>
          <p:nvPr/>
        </p:nvSpPr>
        <p:spPr>
          <a:xfrm>
            <a:off x="552475" y="1175053"/>
            <a:ext cx="8279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>
              <a:spcAft>
                <a:spcPts val="1600"/>
              </a:spcAft>
              <a:buFont typeface="Arial"/>
              <a:buAutoNum type="arabicPeriod"/>
            </a:pPr>
            <a:r>
              <a:rPr lang="de" dirty="0" err="1">
                <a:solidFill>
                  <a:srgbClr val="1D1D1A"/>
                </a:solidFill>
              </a:rPr>
              <a:t>Inciting</a:t>
            </a:r>
            <a:r>
              <a:rPr lang="de" dirty="0">
                <a:solidFill>
                  <a:srgbClr val="1D1D1A"/>
                </a:solidFill>
              </a:rPr>
              <a:t> a crash</a:t>
            </a:r>
          </a:p>
          <a:p>
            <a:pPr marL="342900">
              <a:spcAft>
                <a:spcPts val="1600"/>
              </a:spcAft>
              <a:buAutoNum type="arabicPeriod"/>
            </a:pPr>
            <a:r>
              <a:rPr lang="de" b="1" dirty="0">
                <a:solidFill>
                  <a:srgbClr val="1D1D1A"/>
                </a:solidFill>
              </a:rPr>
              <a:t>Gathering </a:t>
            </a:r>
            <a:r>
              <a:rPr lang="de" b="1" dirty="0" err="1">
                <a:solidFill>
                  <a:srgbClr val="1D1D1A"/>
                </a:solidFill>
              </a:rPr>
              <a:t>information</a:t>
            </a:r>
            <a:endParaRPr lang="de" dirty="0">
              <a:solidFill>
                <a:srgbClr val="1D1D1A"/>
              </a:solidFill>
            </a:endParaRPr>
          </a:p>
          <a:p>
            <a:pPr marL="342900">
              <a:spcAft>
                <a:spcPts val="1600"/>
              </a:spcAft>
              <a:buFont typeface="Arial"/>
              <a:buAutoNum type="arabicPeriod"/>
            </a:pPr>
            <a:r>
              <a:rPr lang="de" dirty="0" err="1">
                <a:solidFill>
                  <a:srgbClr val="1D1D1A"/>
                </a:solidFill>
              </a:rPr>
              <a:t>Injecting</a:t>
            </a:r>
            <a:r>
              <a:rPr lang="de" dirty="0">
                <a:solidFill>
                  <a:srgbClr val="1D1D1A"/>
                </a:solidFill>
              </a:rPr>
              <a:t> </a:t>
            </a:r>
            <a:r>
              <a:rPr lang="de" dirty="0" err="1">
                <a:solidFill>
                  <a:srgbClr val="1D1D1A"/>
                </a:solidFill>
              </a:rPr>
              <a:t>payload</a:t>
            </a:r>
            <a:endParaRPr lang="de" dirty="0">
              <a:solidFill>
                <a:srgbClr val="1D1D1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DDFCB1-2193-2DA5-5A55-2817575151C0}"/>
              </a:ext>
            </a:extLst>
          </p:cNvPr>
          <p:cNvSpPr txBox="1"/>
          <p:nvPr/>
        </p:nvSpPr>
        <p:spPr>
          <a:xfrm>
            <a:off x="5622324" y="4667112"/>
            <a:ext cx="3521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Exploit Public-Facing Application (</a:t>
            </a:r>
            <a:r>
              <a:rPr lang="en-US" i="1" dirty="0"/>
              <a:t>T0819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4586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122F35-92D9-C01E-9642-1070C072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639C87C4-C33B-48F1-3727-F01D368E88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6D7DC2DF-D5B0-7992-5D0B-96B85FC159A9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9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5546CECD-C0FD-FA18-1777-2DF728F308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FBE7409-0F11-5D43-88C5-53A09C25BCFD}"/>
              </a:ext>
            </a:extLst>
          </p:cNvPr>
          <p:cNvGrpSpPr/>
          <p:nvPr/>
        </p:nvGrpSpPr>
        <p:grpSpPr>
          <a:xfrm>
            <a:off x="1863230" y="1186077"/>
            <a:ext cx="1771003" cy="3466575"/>
            <a:chOff x="1653201" y="493931"/>
            <a:chExt cx="8335926" cy="593828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877C3D-297A-2556-5503-E1DBB91A421B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Stack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DC7AC9-23D4-A587-2A6E-781E767E0455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Frame Pointer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BC8E22-2A92-676E-3795-0DB787D68537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Return Address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DBB1B32-D47E-F12B-B3BA-2F7F2E6E341E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Caller - Stack Frame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9F9CF4-489E-AED2-F617-41D732BF0F53}"/>
              </a:ext>
            </a:extLst>
          </p:cNvPr>
          <p:cNvGrpSpPr/>
          <p:nvPr/>
        </p:nvGrpSpPr>
        <p:grpSpPr>
          <a:xfrm>
            <a:off x="5001607" y="1186077"/>
            <a:ext cx="1771003" cy="3466575"/>
            <a:chOff x="1653201" y="493931"/>
            <a:chExt cx="8335926" cy="593828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8C51D75-FF0D-B977-AB77-4527A570BB45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Aa0Aa1Aa2Aa3Aa4Aa5Aa6Aa7Aa8Aa9Ab0Ab1Ab2Ab3Ab4Ab5Ab6Ab7Ab8Ab9Ac0Ac1Ac2Ac3Ac4Ac5Ac6Ac7Ac8Ac9Ad0Ad1Ad2Ad3Ad4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29C11E5-0B4A-77DF-85B4-E71D0BF1914B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Ad5Ad6Ad7Ad8Ad9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A5D60B-E125-6860-0AFB-F82C4DBF97EE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D51763"/>
                  </a:solidFill>
                </a:rPr>
                <a:t>Ae0Ae1Ae2Ae3Ae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D57A26F-EF44-48B4-02BC-04C45964A33C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4Ae5Ae6Ae7Ae8Ae</a:t>
              </a:r>
            </a:p>
          </p:txBody>
        </p:sp>
      </p:grpSp>
      <p:sp>
        <p:nvSpPr>
          <p:cNvPr id="25" name="Right Arrow 24">
            <a:extLst>
              <a:ext uri="{FF2B5EF4-FFF2-40B4-BE49-F238E27FC236}">
                <a16:creationId xmlns:a16="http://schemas.microsoft.com/office/drawing/2014/main" id="{0A8BC530-D75F-A427-4E1E-36AE5F9C00AD}"/>
              </a:ext>
            </a:extLst>
          </p:cNvPr>
          <p:cNvSpPr/>
          <p:nvPr/>
        </p:nvSpPr>
        <p:spPr>
          <a:xfrm>
            <a:off x="3818896" y="2816619"/>
            <a:ext cx="1028700" cy="289283"/>
          </a:xfrm>
          <a:prstGeom prst="rightArrow">
            <a:avLst/>
          </a:prstGeom>
          <a:solidFill>
            <a:srgbClr val="292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20650D-8724-B39D-F52E-B8FAA4F7B88F}"/>
              </a:ext>
            </a:extLst>
          </p:cNvPr>
          <p:cNvSpPr txBox="1"/>
          <p:nvPr/>
        </p:nvSpPr>
        <p:spPr>
          <a:xfrm>
            <a:off x="3755118" y="2534941"/>
            <a:ext cx="1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Unique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2B227-F7D4-89CC-C64D-268EE8AF2AED}"/>
              </a:ext>
            </a:extLst>
          </p:cNvPr>
          <p:cNvSpPr txBox="1"/>
          <p:nvPr/>
        </p:nvSpPr>
        <p:spPr>
          <a:xfrm>
            <a:off x="3736304" y="3084040"/>
            <a:ext cx="1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Pattern</a:t>
            </a:r>
          </a:p>
        </p:txBody>
      </p:sp>
    </p:spTree>
    <p:extLst>
      <p:ext uri="{BB962C8B-B14F-4D97-AF65-F5344CB8AC3E}">
        <p14:creationId xmlns:p14="http://schemas.microsoft.com/office/powerpoint/2010/main" val="2612059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593B5F0-73F8-3606-9FCC-6AC139AA1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EB9FD1A4-854B-C5EA-F201-99C11D33C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09FF3144-D9B5-671D-F041-B1FB5BB67199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10</a:t>
            </a:r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6208A44E-B3FB-5CFF-E06E-A2D4D08DE2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83FA67-A5E6-2CDB-018A-713A89E9D442}"/>
              </a:ext>
            </a:extLst>
          </p:cNvPr>
          <p:cNvGrpSpPr/>
          <p:nvPr/>
        </p:nvGrpSpPr>
        <p:grpSpPr>
          <a:xfrm>
            <a:off x="1863230" y="1186077"/>
            <a:ext cx="1771003" cy="3466575"/>
            <a:chOff x="1653201" y="493931"/>
            <a:chExt cx="8335926" cy="59382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210407D-9403-9AC4-0B89-F7208959265E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Stack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B8BA347-7D75-6589-6978-1D0AE74722AA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Frame Pointer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836C07-4B58-AF82-31B0-15A58BE9A65F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Return Address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15EB58-63C3-B5B4-5F69-D3BA592A67FA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Caller - Stack Frame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D0EC02-06C9-557B-1329-E6AEDFEEC5B1}"/>
              </a:ext>
            </a:extLst>
          </p:cNvPr>
          <p:cNvGrpSpPr/>
          <p:nvPr/>
        </p:nvGrpSpPr>
        <p:grpSpPr>
          <a:xfrm>
            <a:off x="5001607" y="1186077"/>
            <a:ext cx="1771003" cy="3466575"/>
            <a:chOff x="1653201" y="493931"/>
            <a:chExt cx="8335926" cy="593828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6CDB55-31FB-2837-B257-047EEAC74598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0CCA0E8-4D82-8D0C-49BC-2C258B0B8951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40639F-A89C-2CAB-293D-B89F93D569FF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DF6182F-EB98-D46C-F8B3-C29EA95D6ED3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D51763"/>
                  </a:solidFill>
                </a:rPr>
                <a:t>\x00 \x01 \x02 …</a:t>
              </a:r>
            </a:p>
          </p:txBody>
        </p:sp>
      </p:grpSp>
      <p:sp>
        <p:nvSpPr>
          <p:cNvPr id="24" name="Right Arrow 23">
            <a:extLst>
              <a:ext uri="{FF2B5EF4-FFF2-40B4-BE49-F238E27FC236}">
                <a16:creationId xmlns:a16="http://schemas.microsoft.com/office/drawing/2014/main" id="{4B1B2E74-3844-8CD1-EEC8-F656D6826EF6}"/>
              </a:ext>
            </a:extLst>
          </p:cNvPr>
          <p:cNvSpPr/>
          <p:nvPr/>
        </p:nvSpPr>
        <p:spPr>
          <a:xfrm>
            <a:off x="3818896" y="2816619"/>
            <a:ext cx="1028700" cy="289283"/>
          </a:xfrm>
          <a:prstGeom prst="rightArrow">
            <a:avLst/>
          </a:prstGeom>
          <a:solidFill>
            <a:srgbClr val="292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07F66-34CC-E371-8993-729C99BB0BD2}"/>
              </a:ext>
            </a:extLst>
          </p:cNvPr>
          <p:cNvSpPr txBox="1"/>
          <p:nvPr/>
        </p:nvSpPr>
        <p:spPr>
          <a:xfrm>
            <a:off x="3755118" y="2534941"/>
            <a:ext cx="1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C0B029-FA87-E6C6-1CD9-FB6FA2A101B7}"/>
              </a:ext>
            </a:extLst>
          </p:cNvPr>
          <p:cNvSpPr txBox="1"/>
          <p:nvPr/>
        </p:nvSpPr>
        <p:spPr>
          <a:xfrm>
            <a:off x="3736304" y="3084040"/>
            <a:ext cx="1111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Characters</a:t>
            </a:r>
          </a:p>
        </p:txBody>
      </p:sp>
    </p:spTree>
    <p:extLst>
      <p:ext uri="{BB962C8B-B14F-4D97-AF65-F5344CB8AC3E}">
        <p14:creationId xmlns:p14="http://schemas.microsoft.com/office/powerpoint/2010/main" val="1647339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5A4EABE-8EFA-B70B-0143-2779D1D8D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80540975-D794-3721-117F-83446A531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CB358E82-BA25-2C97-043F-58D0968F26D2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11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036065EE-466C-3F6F-6758-77F3ABF0F3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0602C3A-091D-FB6D-C4CB-D6E0D1802613}"/>
              </a:ext>
            </a:extLst>
          </p:cNvPr>
          <p:cNvGrpSpPr/>
          <p:nvPr/>
        </p:nvGrpSpPr>
        <p:grpSpPr>
          <a:xfrm>
            <a:off x="3412895" y="1186075"/>
            <a:ext cx="1771003" cy="3466575"/>
            <a:chOff x="1653201" y="493931"/>
            <a:chExt cx="8335926" cy="59382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BD97B6-E91D-D978-797A-CD4CD89DC111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0F8DED-07C3-C59D-6447-EE23851EDD5E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365CFFE-57DD-6621-3534-EE40E8344BE0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D51763"/>
                  </a:solidFill>
                </a:rPr>
                <a:t>JMP ESP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3BA9E95-0E88-9BCF-C5BA-F57E45EFD5EE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D51763"/>
                  </a:solidFill>
                </a:rPr>
                <a:t>Payload</a:t>
              </a:r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514184-68F5-7938-AC88-9C3080DDE5EF}"/>
              </a:ext>
            </a:extLst>
          </p:cNvPr>
          <p:cNvCxnSpPr>
            <a:cxnSpLocks/>
          </p:cNvCxnSpPr>
          <p:nvPr/>
        </p:nvCxnSpPr>
        <p:spPr>
          <a:xfrm>
            <a:off x="5515189" y="1186075"/>
            <a:ext cx="0" cy="2340016"/>
          </a:xfrm>
          <a:prstGeom prst="straightConnector1">
            <a:avLst/>
          </a:prstGeom>
          <a:ln w="38100">
            <a:solidFill>
              <a:srgbClr val="292E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396CC4D8-B271-5DCB-9477-FB232C582A7E}"/>
              </a:ext>
            </a:extLst>
          </p:cNvPr>
          <p:cNvCxnSpPr>
            <a:cxnSpLocks/>
            <a:stCxn id="7" idx="3"/>
            <a:endCxn id="8" idx="3"/>
          </p:cNvCxnSpPr>
          <p:nvPr/>
        </p:nvCxnSpPr>
        <p:spPr>
          <a:xfrm>
            <a:off x="5183898" y="3808507"/>
            <a:ext cx="12700" cy="561727"/>
          </a:xfrm>
          <a:prstGeom prst="bentConnector3">
            <a:avLst>
              <a:gd name="adj1" fmla="val 2890906"/>
            </a:avLst>
          </a:prstGeom>
          <a:ln w="38100">
            <a:solidFill>
              <a:srgbClr val="292E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222430A-7A48-CDC9-9975-9FFB0CC4ABFE}"/>
              </a:ext>
            </a:extLst>
          </p:cNvPr>
          <p:cNvSpPr txBox="1"/>
          <p:nvPr/>
        </p:nvSpPr>
        <p:spPr>
          <a:xfrm>
            <a:off x="5637573" y="1919778"/>
            <a:ext cx="1519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Process input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8FEA15-4BD0-4445-BEA5-7F04C10370C0}"/>
              </a:ext>
            </a:extLst>
          </p:cNvPr>
          <p:cNvSpPr txBox="1"/>
          <p:nvPr/>
        </p:nvSpPr>
        <p:spPr>
          <a:xfrm>
            <a:off x="5637573" y="3933929"/>
            <a:ext cx="1609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Jump to payload</a:t>
            </a:r>
          </a:p>
        </p:txBody>
      </p:sp>
    </p:spTree>
    <p:extLst>
      <p:ext uri="{BB962C8B-B14F-4D97-AF65-F5344CB8AC3E}">
        <p14:creationId xmlns:p14="http://schemas.microsoft.com/office/powerpoint/2010/main" val="2854312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A3C993D-714B-8E5C-192E-5A9D1931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312D74FE-5E5E-AC20-4BD6-B5FFE5B42A89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12</a:t>
            </a:r>
            <a:endParaRPr sz="1000" dirty="0"/>
          </a:p>
        </p:txBody>
      </p:sp>
      <p:sp>
        <p:nvSpPr>
          <p:cNvPr id="4" name="Google Shape;104;p21">
            <a:extLst>
              <a:ext uri="{FF2B5EF4-FFF2-40B4-BE49-F238E27FC236}">
                <a16:creationId xmlns:a16="http://schemas.microsoft.com/office/drawing/2014/main" id="{89E68F84-A692-AF23-F558-8137AC471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5" name="Google Shape;107;p21">
            <a:extLst>
              <a:ext uri="{FF2B5EF4-FFF2-40B4-BE49-F238E27FC236}">
                <a16:creationId xmlns:a16="http://schemas.microsoft.com/office/drawing/2014/main" id="{F8AA37ED-A585-0FB0-D439-E589438CD1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5;p21">
            <a:extLst>
              <a:ext uri="{FF2B5EF4-FFF2-40B4-BE49-F238E27FC236}">
                <a16:creationId xmlns:a16="http://schemas.microsoft.com/office/drawing/2014/main" id="{88E1CEF7-9799-68D6-A1E5-01D77A117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2475" y="1175053"/>
            <a:ext cx="827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>
              <a:spcAft>
                <a:spcPts val="1600"/>
              </a:spcAft>
              <a:buAutoNum type="arabicPeriod"/>
            </a:pPr>
            <a:r>
              <a:rPr lang="de" dirty="0" err="1">
                <a:solidFill>
                  <a:srgbClr val="1D1D1A"/>
                </a:solidFill>
              </a:rPr>
              <a:t>Inciting</a:t>
            </a:r>
            <a:r>
              <a:rPr lang="de" dirty="0">
                <a:solidFill>
                  <a:srgbClr val="1D1D1A"/>
                </a:solidFill>
              </a:rPr>
              <a:t> a crash</a:t>
            </a:r>
          </a:p>
          <a:p>
            <a:pPr marL="342900">
              <a:spcAft>
                <a:spcPts val="1600"/>
              </a:spcAft>
              <a:buAutoNum type="arabicPeriod"/>
            </a:pPr>
            <a:r>
              <a:rPr lang="de" dirty="0">
                <a:solidFill>
                  <a:srgbClr val="1D1D1A"/>
                </a:solidFill>
              </a:rPr>
              <a:t>Gathering </a:t>
            </a:r>
            <a:r>
              <a:rPr lang="de" dirty="0" err="1">
                <a:solidFill>
                  <a:srgbClr val="1D1D1A"/>
                </a:solidFill>
              </a:rPr>
              <a:t>information</a:t>
            </a:r>
            <a:endParaRPr lang="de" dirty="0">
              <a:solidFill>
                <a:srgbClr val="1D1D1A"/>
              </a:solidFill>
            </a:endParaRPr>
          </a:p>
          <a:p>
            <a:pPr marL="342900">
              <a:spcAft>
                <a:spcPts val="1600"/>
              </a:spcAft>
              <a:buAutoNum type="arabicPeriod"/>
            </a:pPr>
            <a:r>
              <a:rPr lang="de" b="1" dirty="0" err="1">
                <a:solidFill>
                  <a:srgbClr val="1D1D1A"/>
                </a:solidFill>
              </a:rPr>
              <a:t>Injecting</a:t>
            </a:r>
            <a:r>
              <a:rPr lang="de" b="1" dirty="0">
                <a:solidFill>
                  <a:srgbClr val="1D1D1A"/>
                </a:solidFill>
              </a:rPr>
              <a:t> </a:t>
            </a:r>
            <a:r>
              <a:rPr lang="de" b="1" dirty="0" err="1">
                <a:solidFill>
                  <a:srgbClr val="1D1D1A"/>
                </a:solidFill>
              </a:rPr>
              <a:t>payload</a:t>
            </a:r>
            <a:endParaRPr lang="de" b="1" dirty="0">
              <a:solidFill>
                <a:srgbClr val="1D1D1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F789C-4467-67F2-3565-C274380C3751}"/>
              </a:ext>
            </a:extLst>
          </p:cNvPr>
          <p:cNvSpPr txBox="1"/>
          <p:nvPr/>
        </p:nvSpPr>
        <p:spPr>
          <a:xfrm>
            <a:off x="2916197" y="4667112"/>
            <a:ext cx="6227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Command and Scripting Interpreter: Windows Command Shell 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/>
              <a:t>T1059.003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359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E9A7D0A-2BE6-DF51-48E2-2ABD4F4B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884CDE59-D07E-49E5-5015-FE309A1A5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F54C0992-AF45-9489-4547-70623AFA82A2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13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4CC77AA5-4076-029B-C0EA-4C1ADCAFF2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A1986E6-A99F-9D79-18F4-5E51C4158487}"/>
              </a:ext>
            </a:extLst>
          </p:cNvPr>
          <p:cNvGrpSpPr/>
          <p:nvPr/>
        </p:nvGrpSpPr>
        <p:grpSpPr>
          <a:xfrm>
            <a:off x="2193002" y="1231902"/>
            <a:ext cx="1771003" cy="3466575"/>
            <a:chOff x="1653201" y="493931"/>
            <a:chExt cx="8335926" cy="593828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F36ED8-59CD-D36B-E689-BE7B03E0A094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Stack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2A1EB9-B836-9A8B-EB48-3EB5754840BD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Frame Pointer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32912A-4283-36FB-7458-3D6A0950F000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Return Address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E2D03E-6940-41E3-D274-E5882B5A3F71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Caller - Stack Frame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A86C483-D3E9-6536-650F-77FA6D7D26FC}"/>
              </a:ext>
            </a:extLst>
          </p:cNvPr>
          <p:cNvGrpSpPr/>
          <p:nvPr/>
        </p:nvGrpSpPr>
        <p:grpSpPr>
          <a:xfrm>
            <a:off x="5265135" y="1237902"/>
            <a:ext cx="1771003" cy="3466575"/>
            <a:chOff x="1653201" y="493931"/>
            <a:chExt cx="8335926" cy="593828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A5CDED-4159-3CDA-6933-16D26DA2170C}"/>
                </a:ext>
              </a:extLst>
            </p:cNvPr>
            <p:cNvSpPr/>
            <p:nvPr/>
          </p:nvSpPr>
          <p:spPr>
            <a:xfrm>
              <a:off x="1653201" y="493931"/>
              <a:ext cx="8335926" cy="30409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6A3E9D1-229C-0984-4EA2-BC033B8A8DD4}"/>
                </a:ext>
              </a:extLst>
            </p:cNvPr>
            <p:cNvSpPr/>
            <p:nvPr/>
          </p:nvSpPr>
          <p:spPr>
            <a:xfrm>
              <a:off x="1653201" y="3534842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 A A A A A A A 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7A1D423-C03F-5EE5-4387-80CF6F6FDE64}"/>
                </a:ext>
              </a:extLst>
            </p:cNvPr>
            <p:cNvSpPr/>
            <p:nvPr/>
          </p:nvSpPr>
          <p:spPr>
            <a:xfrm>
              <a:off x="1653201" y="4502405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D51763"/>
                  </a:solidFill>
                </a:rPr>
                <a:t>JMP ESP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9EFA87-793F-5515-3CEE-A341A71756F3}"/>
                </a:ext>
              </a:extLst>
            </p:cNvPr>
            <p:cNvSpPr/>
            <p:nvPr/>
          </p:nvSpPr>
          <p:spPr>
            <a:xfrm>
              <a:off x="1653201" y="5464651"/>
              <a:ext cx="8335926" cy="9675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D51763"/>
                  </a:solidFill>
                </a:rPr>
                <a:t>Payload</a:t>
              </a:r>
            </a:p>
          </p:txBody>
        </p:sp>
      </p:grpSp>
      <p:sp>
        <p:nvSpPr>
          <p:cNvPr id="25" name="Right Arrow 24">
            <a:extLst>
              <a:ext uri="{FF2B5EF4-FFF2-40B4-BE49-F238E27FC236}">
                <a16:creationId xmlns:a16="http://schemas.microsoft.com/office/drawing/2014/main" id="{85D92DEA-D32B-B93D-160E-5F5E36A6D3F1}"/>
              </a:ext>
            </a:extLst>
          </p:cNvPr>
          <p:cNvSpPr/>
          <p:nvPr/>
        </p:nvSpPr>
        <p:spPr>
          <a:xfrm>
            <a:off x="4115546" y="2862444"/>
            <a:ext cx="1028700" cy="289283"/>
          </a:xfrm>
          <a:prstGeom prst="rightArrow">
            <a:avLst/>
          </a:prstGeom>
          <a:solidFill>
            <a:srgbClr val="292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B36106-F0D8-5DB8-6A07-3B4FB7176206}"/>
              </a:ext>
            </a:extLst>
          </p:cNvPr>
          <p:cNvSpPr txBox="1"/>
          <p:nvPr/>
        </p:nvSpPr>
        <p:spPr>
          <a:xfrm>
            <a:off x="4082424" y="2577817"/>
            <a:ext cx="1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1A45F-8F40-423A-A2B2-A2E9780FC469}"/>
              </a:ext>
            </a:extLst>
          </p:cNvPr>
          <p:cNvSpPr txBox="1"/>
          <p:nvPr/>
        </p:nvSpPr>
        <p:spPr>
          <a:xfrm>
            <a:off x="4082424" y="3126915"/>
            <a:ext cx="1061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737911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D255DBC-4DE8-1FD7-5ADB-384282D6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2584F1CB-8483-30AD-C829-8788CB6DA5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BD92D8B0-7AE3-633A-662F-027544854F8D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14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F8E9E9B3-38AB-46C4-A074-F53AB7DAFCE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93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48A257-86ED-015D-F488-BF86067CF7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751"/>
          <a:stretch>
            <a:fillRect/>
          </a:stretch>
        </p:blipFill>
        <p:spPr>
          <a:xfrm>
            <a:off x="260947" y="1999376"/>
            <a:ext cx="8681740" cy="1482169"/>
          </a:xfrm>
          <a:prstGeom prst="roundRect">
            <a:avLst>
              <a:gd name="adj" fmla="val 494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9774E9-5FE9-F30F-524D-F60D186E5F79}"/>
              </a:ext>
            </a:extLst>
          </p:cNvPr>
          <p:cNvSpPr txBox="1"/>
          <p:nvPr/>
        </p:nvSpPr>
        <p:spPr>
          <a:xfrm>
            <a:off x="2916197" y="4667112"/>
            <a:ext cx="6227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Command and Scripting Interpreter: Windows Command Shell 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/>
              <a:t>T1059.003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3692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BA1AD57-EFC9-12D6-55A5-4AAA9A88D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015ADF57-1252-7628-025E-5D94A08DA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>
                <a:solidFill>
                  <a:srgbClr val="292E60"/>
                </a:solidFill>
              </a:rPr>
              <a:t>Challenges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5" name="Google Shape;105;p21">
            <a:extLst>
              <a:ext uri="{FF2B5EF4-FFF2-40B4-BE49-F238E27FC236}">
                <a16:creationId xmlns:a16="http://schemas.microsoft.com/office/drawing/2014/main" id="{AE3A40BE-6BCC-0D79-5E0B-4409962A99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186" y="1186066"/>
            <a:ext cx="827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de" dirty="0">
                <a:solidFill>
                  <a:srgbClr val="1D1D1A"/>
                </a:solidFill>
              </a:rPr>
              <a:t>Operating </a:t>
            </a:r>
            <a:r>
              <a:rPr lang="de" dirty="0" err="1">
                <a:solidFill>
                  <a:srgbClr val="1D1D1A"/>
                </a:solidFill>
              </a:rPr>
              <a:t>the</a:t>
            </a:r>
            <a:r>
              <a:rPr lang="de" dirty="0">
                <a:solidFill>
                  <a:srgbClr val="1D1D1A"/>
                </a:solidFill>
              </a:rPr>
              <a:t> </a:t>
            </a:r>
            <a:r>
              <a:rPr lang="de" dirty="0" err="1">
                <a:solidFill>
                  <a:srgbClr val="1D1D1A"/>
                </a:solidFill>
              </a:rPr>
              <a:t>debugger</a:t>
            </a:r>
            <a:endParaRPr lang="de" dirty="0">
              <a:solidFill>
                <a:srgbClr val="1D1D1A"/>
              </a:solidFill>
            </a:endParaRP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de" dirty="0">
                <a:solidFill>
                  <a:srgbClr val="1D1D1A"/>
                </a:solidFill>
              </a:rPr>
              <a:t>Attention </a:t>
            </a:r>
            <a:r>
              <a:rPr lang="de" dirty="0" err="1">
                <a:solidFill>
                  <a:srgbClr val="1D1D1A"/>
                </a:solidFill>
              </a:rPr>
              <a:t>to</a:t>
            </a:r>
            <a:r>
              <a:rPr lang="de" dirty="0">
                <a:solidFill>
                  <a:srgbClr val="1D1D1A"/>
                </a:solidFill>
              </a:rPr>
              <a:t> </a:t>
            </a:r>
            <a:r>
              <a:rPr lang="de" dirty="0" err="1">
                <a:solidFill>
                  <a:srgbClr val="1D1D1A"/>
                </a:solidFill>
              </a:rPr>
              <a:t>detail</a:t>
            </a:r>
            <a:r>
              <a:rPr lang="de" dirty="0">
                <a:solidFill>
                  <a:srgbClr val="1D1D1A"/>
                </a:solidFill>
              </a:rPr>
              <a:t> (e.g. </a:t>
            </a:r>
            <a:r>
              <a:rPr lang="de" dirty="0" err="1">
                <a:solidFill>
                  <a:srgbClr val="1D1D1A"/>
                </a:solidFill>
              </a:rPr>
              <a:t>missing</a:t>
            </a:r>
            <a:r>
              <a:rPr lang="de" dirty="0">
                <a:solidFill>
                  <a:srgbClr val="1D1D1A"/>
                </a:solidFill>
              </a:rPr>
              <a:t> </a:t>
            </a:r>
            <a:r>
              <a:rPr lang="de" dirty="0" err="1">
                <a:solidFill>
                  <a:srgbClr val="1D1D1A"/>
                </a:solidFill>
              </a:rPr>
              <a:t>whitespace</a:t>
            </a:r>
            <a:r>
              <a:rPr lang="de" dirty="0">
                <a:solidFill>
                  <a:srgbClr val="1D1D1A"/>
                </a:solidFill>
              </a:rPr>
              <a:t>)</a:t>
            </a:r>
          </a:p>
          <a:p>
            <a:pPr marL="285750" indent="-285750"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de" dirty="0" err="1">
                <a:solidFill>
                  <a:srgbClr val="1D1D1A"/>
                </a:solidFill>
              </a:rPr>
              <a:t>Misunderstanding</a:t>
            </a:r>
            <a:r>
              <a:rPr lang="de" dirty="0">
                <a:solidFill>
                  <a:srgbClr val="1D1D1A"/>
                </a:solidFill>
              </a:rPr>
              <a:t> </a:t>
            </a:r>
            <a:r>
              <a:rPr lang="de" dirty="0" err="1">
                <a:solidFill>
                  <a:srgbClr val="1D1D1A"/>
                </a:solidFill>
              </a:rPr>
              <a:t>stack</a:t>
            </a:r>
            <a:r>
              <a:rPr lang="de" dirty="0">
                <a:solidFill>
                  <a:srgbClr val="1D1D1A"/>
                </a:solidFill>
              </a:rPr>
              <a:t> </a:t>
            </a:r>
            <a:r>
              <a:rPr lang="de" dirty="0" err="1">
                <a:solidFill>
                  <a:srgbClr val="1D1D1A"/>
                </a:solidFill>
              </a:rPr>
              <a:t>allocation</a:t>
            </a:r>
            <a:endParaRPr lang="de" dirty="0">
              <a:solidFill>
                <a:srgbClr val="1D1D1A"/>
              </a:solidFill>
            </a:endParaRPr>
          </a:p>
          <a:p>
            <a:pPr marL="285750" indent="-285750">
              <a:spcAft>
                <a:spcPts val="1600"/>
              </a:spcAft>
              <a:buFontTx/>
              <a:buChar char="-"/>
            </a:pPr>
            <a:endParaRPr lang="de" dirty="0">
              <a:solidFill>
                <a:srgbClr val="1D1D1A"/>
              </a:solidFill>
            </a:endParaRPr>
          </a:p>
          <a:p>
            <a:pPr marL="285750" indent="-285750">
              <a:spcAft>
                <a:spcPts val="1600"/>
              </a:spcAft>
              <a:buFontTx/>
              <a:buChar char="-"/>
            </a:pPr>
            <a:endParaRPr dirty="0">
              <a:solidFill>
                <a:srgbClr val="1D1D1A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1D027045-160D-F125-688F-98BF0980F05C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15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D0E21E21-DBED-CC61-E55F-4132C8EC1E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08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2791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>
          <a:extLst>
            <a:ext uri="{FF2B5EF4-FFF2-40B4-BE49-F238E27FC236}">
              <a16:creationId xmlns:a16="http://schemas.microsoft.com/office/drawing/2014/main" id="{05B7479C-3882-1040-FF7B-3A956685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193FBD44-380B-243C-8406-31B3BD5A2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5475" y="2055225"/>
            <a:ext cx="1408800" cy="1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8000" b="1" dirty="0">
                <a:solidFill>
                  <a:srgbClr val="1D1D1B"/>
                </a:solidFill>
              </a:rPr>
              <a:t>02</a:t>
            </a:r>
            <a:endParaRPr sz="8000" b="1" dirty="0">
              <a:solidFill>
                <a:srgbClr val="1D1D1B"/>
              </a:solidFill>
            </a:endParaRPr>
          </a:p>
        </p:txBody>
      </p:sp>
      <p:sp>
        <p:nvSpPr>
          <p:cNvPr id="99" name="Google Shape;99;p20">
            <a:extLst>
              <a:ext uri="{FF2B5EF4-FFF2-40B4-BE49-F238E27FC236}">
                <a16:creationId xmlns:a16="http://schemas.microsoft.com/office/drawing/2014/main" id="{69CB1590-028A-E8DC-AADE-BBC9CF04CF12}"/>
              </a:ext>
            </a:extLst>
          </p:cNvPr>
          <p:cNvSpPr txBox="1"/>
          <p:nvPr/>
        </p:nvSpPr>
        <p:spPr>
          <a:xfrm>
            <a:off x="4580650" y="2670225"/>
            <a:ext cx="35156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3000" b="1" dirty="0">
                <a:solidFill>
                  <a:srgbClr val="1D1D1B"/>
                </a:solidFill>
              </a:rPr>
              <a:t>Penetration Test</a:t>
            </a:r>
            <a:endParaRPr sz="3000" b="1" dirty="0">
              <a:solidFill>
                <a:srgbClr val="1D1D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509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1314E-4BE0-DE68-F443-660B65F3D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86765"/>
            <a:ext cx="8520600" cy="3511710"/>
          </a:xfrm>
        </p:spPr>
        <p:txBody>
          <a:bodyPr/>
          <a:lstStyle/>
          <a:p>
            <a:pPr>
              <a:buFont typeface="Wingdings" pitchFamily="2" charset="2"/>
              <a:buChar char="è"/>
            </a:pPr>
            <a:r>
              <a:rPr lang="en-US" b="1" dirty="0">
                <a:solidFill>
                  <a:srgbClr val="1D1D1A"/>
                </a:solidFill>
              </a:rPr>
              <a:t>Monetary Incentive</a:t>
            </a:r>
          </a:p>
          <a:p>
            <a:endParaRPr lang="en-US" b="1" dirty="0">
              <a:solidFill>
                <a:srgbClr val="1D1D1A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solidFill>
                  <a:srgbClr val="1D1D1A"/>
                </a:solidFill>
              </a:rPr>
              <a:t>Prevention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dirty="0">
              <a:solidFill>
                <a:srgbClr val="1D1D1A"/>
              </a:solidFill>
            </a:endParaRPr>
          </a:p>
          <a:p>
            <a:pPr marL="11430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dirty="0">
              <a:solidFill>
                <a:srgbClr val="1D1D1A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solidFill>
                  <a:srgbClr val="1D1D1A"/>
                </a:solidFill>
              </a:rPr>
              <a:t>Prioritization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dirty="0">
              <a:solidFill>
                <a:srgbClr val="1D1D1A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dirty="0">
              <a:solidFill>
                <a:srgbClr val="1D1D1A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solidFill>
                  <a:srgbClr val="1D1D1A"/>
                </a:solidFill>
              </a:rPr>
              <a:t>Compliance</a:t>
            </a:r>
          </a:p>
          <a:p>
            <a:endParaRPr lang="en-US" dirty="0">
              <a:solidFill>
                <a:srgbClr val="1D1D1A"/>
              </a:solidFill>
            </a:endParaRPr>
          </a:p>
          <a:p>
            <a:endParaRPr lang="en-US" dirty="0">
              <a:solidFill>
                <a:srgbClr val="1D1D1A"/>
              </a:solidFill>
            </a:endParaRPr>
          </a:p>
          <a:p>
            <a:endParaRPr lang="en-US" dirty="0">
              <a:solidFill>
                <a:srgbClr val="1D1D1A"/>
              </a:solidFill>
            </a:endParaRPr>
          </a:p>
        </p:txBody>
      </p:sp>
      <p:sp>
        <p:nvSpPr>
          <p:cNvPr id="4" name="Google Shape;104;p21">
            <a:extLst>
              <a:ext uri="{FF2B5EF4-FFF2-40B4-BE49-F238E27FC236}">
                <a16:creationId xmlns:a16="http://schemas.microsoft.com/office/drawing/2014/main" id="{CF4834A8-5BBD-633F-1023-A274119B17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Relevancy</a:t>
            </a:r>
            <a:r>
              <a:rPr lang="de" b="1" dirty="0">
                <a:solidFill>
                  <a:srgbClr val="292E60"/>
                </a:solidFill>
              </a:rPr>
              <a:t> </a:t>
            </a:r>
            <a:r>
              <a:rPr lang="de" b="1" dirty="0" err="1">
                <a:solidFill>
                  <a:srgbClr val="292E60"/>
                </a:solidFill>
              </a:rPr>
              <a:t>of</a:t>
            </a:r>
            <a:r>
              <a:rPr lang="de" b="1" dirty="0">
                <a:solidFill>
                  <a:srgbClr val="292E60"/>
                </a:solidFill>
              </a:rPr>
              <a:t> Penetration </a:t>
            </a:r>
            <a:r>
              <a:rPr lang="de" b="1" dirty="0" err="1">
                <a:solidFill>
                  <a:srgbClr val="292E60"/>
                </a:solidFill>
              </a:rPr>
              <a:t>Testing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7" name="Google Shape;107;p21">
            <a:extLst>
              <a:ext uri="{FF2B5EF4-FFF2-40B4-BE49-F238E27FC236}">
                <a16:creationId xmlns:a16="http://schemas.microsoft.com/office/drawing/2014/main" id="{F546262B-F8D7-CC4C-D4AD-4FE40DA895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014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6;p21">
            <a:extLst>
              <a:ext uri="{FF2B5EF4-FFF2-40B4-BE49-F238E27FC236}">
                <a16:creationId xmlns:a16="http://schemas.microsoft.com/office/drawing/2014/main" id="{7F9A2652-6F3A-8F7A-AF01-44F9290DC22F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17</a:t>
            </a:r>
            <a:endParaRPr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AF4477-34FF-FCA3-E224-3A3DC5A8C7AF}"/>
              </a:ext>
            </a:extLst>
          </p:cNvPr>
          <p:cNvSpPr txBox="1"/>
          <p:nvPr/>
        </p:nvSpPr>
        <p:spPr>
          <a:xfrm>
            <a:off x="2503049" y="181188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D1D1A"/>
                </a:solidFill>
              </a:rPr>
              <a:t>Global cost: </a:t>
            </a:r>
            <a:r>
              <a:rPr lang="en-US" sz="1600" b="1" dirty="0">
                <a:solidFill>
                  <a:srgbClr val="D51763"/>
                </a:solidFill>
              </a:rPr>
              <a:t>$200 billion </a:t>
            </a:r>
            <a:r>
              <a:rPr lang="en-US" sz="1600" dirty="0">
                <a:solidFill>
                  <a:srgbClr val="1D1D1A"/>
                </a:solidFill>
              </a:rPr>
              <a:t>- </a:t>
            </a:r>
            <a:r>
              <a:rPr lang="en-US" sz="1600" b="1" dirty="0">
                <a:solidFill>
                  <a:srgbClr val="D51763"/>
                </a:solidFill>
              </a:rPr>
              <a:t>$9 trillion</a:t>
            </a:r>
            <a:r>
              <a:rPr lang="en-US" sz="1600" dirty="0">
                <a:solidFill>
                  <a:srgbClr val="1D1D1A"/>
                </a:solidFill>
              </a:rPr>
              <a:t> </a:t>
            </a:r>
            <a:endParaRPr lang="en-US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CF7B98-2F5D-3AB3-008A-07DFB475CD09}"/>
              </a:ext>
            </a:extLst>
          </p:cNvPr>
          <p:cNvCxnSpPr>
            <a:cxnSpLocks/>
          </p:cNvCxnSpPr>
          <p:nvPr/>
        </p:nvCxnSpPr>
        <p:spPr>
          <a:xfrm>
            <a:off x="2449630" y="1785508"/>
            <a:ext cx="0" cy="2817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FBD65B-AF9A-E1AC-6587-7E77D1594A93}"/>
              </a:ext>
            </a:extLst>
          </p:cNvPr>
          <p:cNvCxnSpPr>
            <a:cxnSpLocks/>
          </p:cNvCxnSpPr>
          <p:nvPr/>
        </p:nvCxnSpPr>
        <p:spPr>
          <a:xfrm>
            <a:off x="436970" y="2546159"/>
            <a:ext cx="78892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355C547-C20F-E567-2C76-98CEAEAB6587}"/>
              </a:ext>
            </a:extLst>
          </p:cNvPr>
          <p:cNvSpPr txBox="1"/>
          <p:nvPr/>
        </p:nvSpPr>
        <p:spPr>
          <a:xfrm>
            <a:off x="2396212" y="2081123"/>
            <a:ext cx="59959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1000" dirty="0">
                <a:solidFill>
                  <a:srgbClr val="1D1D1A"/>
                </a:solidFill>
              </a:rPr>
              <a:t>- </a:t>
            </a:r>
            <a:r>
              <a:rPr lang="en-US" sz="1000" dirty="0" err="1">
                <a:solidFill>
                  <a:schemeClr val="tx1"/>
                </a:solidFill>
              </a:rPr>
              <a:t>Abrardi</a:t>
            </a:r>
            <a:r>
              <a:rPr lang="en-US" sz="1000" dirty="0">
                <a:solidFill>
                  <a:schemeClr val="tx1"/>
                </a:solidFill>
              </a:rPr>
              <a:t>, L., Comino, S. &amp; Grassini, S. The economics of cyber risk: a survey of the</a:t>
            </a:r>
          </a:p>
          <a:p>
            <a:pPr marL="1143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  </a:t>
            </a:r>
            <a:r>
              <a:rPr lang="en-US" sz="1000" dirty="0" err="1">
                <a:solidFill>
                  <a:schemeClr val="tx1"/>
                </a:solidFill>
              </a:rPr>
              <a:t>literature.</a:t>
            </a:r>
            <a:r>
              <a:rPr lang="en-US" sz="1000" i="1" dirty="0" err="1">
                <a:solidFill>
                  <a:schemeClr val="tx1"/>
                </a:solidFill>
              </a:rPr>
              <a:t>J</a:t>
            </a:r>
            <a:r>
              <a:rPr lang="en-US" sz="1000" i="1" dirty="0">
                <a:solidFill>
                  <a:schemeClr val="tx1"/>
                </a:solidFill>
              </a:rPr>
              <a:t>. Ind. Bus. Econ.</a:t>
            </a:r>
            <a:r>
              <a:rPr lang="en-US" sz="1000" dirty="0">
                <a:solidFill>
                  <a:schemeClr val="tx1"/>
                </a:solidFill>
              </a:rPr>
              <a:t> </a:t>
            </a:r>
            <a:r>
              <a:rPr lang="en-US" sz="1000" b="1" dirty="0">
                <a:solidFill>
                  <a:schemeClr val="tx1"/>
                </a:solidFill>
              </a:rPr>
              <a:t>53</a:t>
            </a:r>
            <a:r>
              <a:rPr lang="en-US" sz="1000" dirty="0">
                <a:solidFill>
                  <a:schemeClr val="tx1"/>
                </a:solidFill>
              </a:rPr>
              <a:t>, 573–607 (2026). https://</a:t>
            </a:r>
            <a:r>
              <a:rPr lang="en-US" sz="1000" dirty="0" err="1">
                <a:solidFill>
                  <a:schemeClr val="tx1"/>
                </a:solidFill>
              </a:rPr>
              <a:t>doi.org</a:t>
            </a:r>
            <a:r>
              <a:rPr lang="en-US" sz="1000" dirty="0">
                <a:solidFill>
                  <a:schemeClr val="tx1"/>
                </a:solidFill>
              </a:rPr>
              <a:t>/10.1007/s40812-025-00370-3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28F2CEA-94AA-FF46-B0CD-A880E3D1534B}"/>
              </a:ext>
            </a:extLst>
          </p:cNvPr>
          <p:cNvCxnSpPr>
            <a:cxnSpLocks/>
          </p:cNvCxnSpPr>
          <p:nvPr/>
        </p:nvCxnSpPr>
        <p:spPr>
          <a:xfrm>
            <a:off x="436969" y="3595766"/>
            <a:ext cx="7889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8145015-4C9F-B1F5-E5E3-F5A9D3F49CD4}"/>
              </a:ext>
            </a:extLst>
          </p:cNvPr>
          <p:cNvSpPr txBox="1"/>
          <p:nvPr/>
        </p:nvSpPr>
        <p:spPr>
          <a:xfrm>
            <a:off x="2503049" y="2930724"/>
            <a:ext cx="1161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D1D1A"/>
                </a:solidFill>
              </a:rPr>
              <a:t>CVSS:</a:t>
            </a: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76A171-B3A1-88FD-E42B-5CE61085D4E7}"/>
              </a:ext>
            </a:extLst>
          </p:cNvPr>
          <p:cNvSpPr txBox="1"/>
          <p:nvPr/>
        </p:nvSpPr>
        <p:spPr>
          <a:xfrm>
            <a:off x="2517285" y="3833970"/>
            <a:ext cx="59425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D1D1A"/>
                </a:solidFill>
              </a:rPr>
              <a:t>"</a:t>
            </a:r>
            <a:r>
              <a:rPr lang="en-US" sz="1600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 (..) penetration testing at least once every 12 months.</a:t>
            </a:r>
            <a:r>
              <a:rPr lang="en-US" sz="1600" dirty="0">
                <a:solidFill>
                  <a:srgbClr val="1D1D1A"/>
                </a:solidFill>
              </a:rPr>
              <a:t>"</a:t>
            </a:r>
            <a:endParaRPr lang="en-US" sz="1600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F214F4-AD03-D135-81F0-1ED94D52BF0B}"/>
              </a:ext>
            </a:extLst>
          </p:cNvPr>
          <p:cNvSpPr txBox="1"/>
          <p:nvPr/>
        </p:nvSpPr>
        <p:spPr>
          <a:xfrm>
            <a:off x="2557663" y="4149559"/>
            <a:ext cx="6192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/>
              <a:t>hhs.gov</a:t>
            </a:r>
            <a:r>
              <a:rPr lang="en-US" sz="1000" dirty="0"/>
              <a:t>/</a:t>
            </a:r>
            <a:r>
              <a:rPr lang="en-US" sz="1000" dirty="0" err="1"/>
              <a:t>hipaa</a:t>
            </a:r>
            <a:r>
              <a:rPr lang="en-US" sz="1000" dirty="0"/>
              <a:t>/for-professionals/security/</a:t>
            </a:r>
            <a:r>
              <a:rPr lang="en-US" sz="1000" dirty="0" err="1"/>
              <a:t>hipaa</a:t>
            </a:r>
            <a:r>
              <a:rPr lang="en-US" sz="1000" dirty="0"/>
              <a:t>-security-rule-</a:t>
            </a:r>
            <a:r>
              <a:rPr lang="en-US" sz="1000" dirty="0" err="1"/>
              <a:t>nprm</a:t>
            </a:r>
            <a:r>
              <a:rPr lang="en-US" sz="1000" dirty="0"/>
              <a:t>/factsheet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822750D-70BC-0BBF-2565-060CEFBCE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275" y="2655704"/>
            <a:ext cx="2431639" cy="68192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DCA4064-80EB-5E57-A7D9-955614CF24E8}"/>
              </a:ext>
            </a:extLst>
          </p:cNvPr>
          <p:cNvSpPr txBox="1"/>
          <p:nvPr/>
        </p:nvSpPr>
        <p:spPr>
          <a:xfrm>
            <a:off x="3594412" y="3332560"/>
            <a:ext cx="3323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/>
              <a:t>cve.org</a:t>
            </a:r>
            <a:r>
              <a:rPr lang="en-US" sz="1000" dirty="0"/>
              <a:t>/</a:t>
            </a:r>
            <a:r>
              <a:rPr lang="en-US" sz="1000" dirty="0" err="1"/>
              <a:t>CVERecord?id</a:t>
            </a:r>
            <a:r>
              <a:rPr lang="en-US" sz="1000" dirty="0"/>
              <a:t>=CVE-2026-41089</a:t>
            </a:r>
          </a:p>
        </p:txBody>
      </p:sp>
    </p:spTree>
    <p:extLst>
      <p:ext uri="{BB962C8B-B14F-4D97-AF65-F5344CB8AC3E}">
        <p14:creationId xmlns:p14="http://schemas.microsoft.com/office/powerpoint/2010/main" val="104527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4" grpId="0"/>
      <p:bldP spid="19" grpId="0"/>
      <p:bldP spid="24" grpId="0"/>
      <p:bldP spid="25" grpId="0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00A305-7E24-66BD-408A-C8EAEC74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B716B-FEDB-967C-167E-54E973F0E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1D1D1A"/>
                </a:solidFill>
              </a:rPr>
              <a:t>"An ounce of prevention is worth a pound of cure.”</a:t>
            </a:r>
          </a:p>
          <a:p>
            <a:pPr marL="114300" indent="0">
              <a:buNone/>
            </a:pPr>
            <a:r>
              <a:rPr lang="en-US" sz="1400" dirty="0">
                <a:solidFill>
                  <a:srgbClr val="1D1D1A"/>
                </a:solidFill>
              </a:rPr>
              <a:t>       - Benjamin Franklin, 1736</a:t>
            </a:r>
          </a:p>
          <a:p>
            <a:pPr marL="114300" indent="0">
              <a:buNone/>
            </a:pPr>
            <a:endParaRPr lang="en-US" sz="1400" dirty="0">
              <a:solidFill>
                <a:srgbClr val="1D1D1A"/>
              </a:solidFill>
            </a:endParaRPr>
          </a:p>
          <a:p>
            <a:r>
              <a:rPr lang="en-US" dirty="0">
                <a:solidFill>
                  <a:srgbClr val="1D1D1A"/>
                </a:solidFill>
              </a:rPr>
              <a:t>"</a:t>
            </a:r>
            <a:r>
              <a:rPr lang="en-US" dirty="0" err="1">
                <a:solidFill>
                  <a:srgbClr val="1D1D1A"/>
                </a:solidFill>
              </a:rPr>
              <a:t>Jamilov</a:t>
            </a:r>
            <a:r>
              <a:rPr lang="en-US" dirty="0">
                <a:solidFill>
                  <a:srgbClr val="1D1D1A"/>
                </a:solidFill>
              </a:rPr>
              <a:t> et al. (</a:t>
            </a:r>
            <a:r>
              <a:rPr lang="en-US" dirty="0">
                <a:solidFill>
                  <a:srgbClr val="1D1D1A"/>
                </a:solidFill>
                <a:hlinkClick r:id="rId3" tooltip="Jamilov, R., Rey, H., &amp; Tahoun, A. (2023). The anatomy of cyber risk. NBER Working Paper no. 2890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</a:t>
            </a:r>
            <a:r>
              <a:rPr lang="en-US" dirty="0">
                <a:solidFill>
                  <a:srgbClr val="1D1D1A"/>
                </a:solidFill>
              </a:rPr>
              <a:t>) estimate that the global cost of cyber risk exceeds </a:t>
            </a:r>
            <a:r>
              <a:rPr lang="en-US" b="1" dirty="0">
                <a:solidFill>
                  <a:srgbClr val="D51763"/>
                </a:solidFill>
              </a:rPr>
              <a:t>$200 billion </a:t>
            </a:r>
            <a:r>
              <a:rPr lang="en-US" dirty="0">
                <a:solidFill>
                  <a:srgbClr val="1D1D1A"/>
                </a:solidFill>
              </a:rPr>
              <a:t>annually. Other projections are even more pessimistic, estimating the global cost of cybercrime at over </a:t>
            </a:r>
            <a:r>
              <a:rPr lang="en-US" b="1" dirty="0">
                <a:solidFill>
                  <a:srgbClr val="D51763"/>
                </a:solidFill>
              </a:rPr>
              <a:t>$8 trillion</a:t>
            </a:r>
            <a:r>
              <a:rPr lang="en-US" dirty="0">
                <a:solidFill>
                  <a:srgbClr val="D51763"/>
                </a:solidFill>
              </a:rPr>
              <a:t> </a:t>
            </a:r>
            <a:r>
              <a:rPr lang="en-US" dirty="0">
                <a:solidFill>
                  <a:srgbClr val="1D1D1A"/>
                </a:solidFill>
              </a:rPr>
              <a:t>in 2023 (Fleck and Richter, </a:t>
            </a:r>
            <a:r>
              <a:rPr lang="en-US" dirty="0">
                <a:solidFill>
                  <a:srgbClr val="1D1D1A"/>
                </a:solidFill>
                <a:hlinkClick r:id="rId4" tooltip="Fleck, A., &amp; Richter, F. (2024). Cybercrime expected to Skyrocket in coming years, Statista Daily Data. &#10;                  https://www.statista.com/chart/28878/expected-cost-of-cybercrime-until2027/&#10;                  &#10;                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2024</a:t>
            </a:r>
            <a:r>
              <a:rPr lang="en-US" dirty="0">
                <a:solidFill>
                  <a:srgbClr val="1D1D1A"/>
                </a:solidFill>
              </a:rPr>
              <a:t>) and at </a:t>
            </a:r>
            <a:r>
              <a:rPr lang="en-US" b="1" dirty="0">
                <a:solidFill>
                  <a:srgbClr val="D51763"/>
                </a:solidFill>
              </a:rPr>
              <a:t>$9 trillion </a:t>
            </a:r>
            <a:r>
              <a:rPr lang="en-US" dirty="0">
                <a:solidFill>
                  <a:srgbClr val="1D1D1A"/>
                </a:solidFill>
              </a:rPr>
              <a:t>in 2024 (Petrosyan, </a:t>
            </a:r>
            <a:r>
              <a:rPr lang="en-US" dirty="0">
                <a:solidFill>
                  <a:srgbClr val="1D1D1A"/>
                </a:solidFill>
                <a:hlinkClick r:id="rId5" tooltip="Petrosyan, A. (2023). Global cybercrime estimated cost 2028. Statista. &#10;                  https://www.statista.com/forecasts/1280009/cost-cybercrime-worldwide&#10;                  &#10;                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</a:t>
            </a:r>
            <a:r>
              <a:rPr lang="en-US" dirty="0">
                <a:solidFill>
                  <a:srgbClr val="1D1D1A"/>
                </a:solidFill>
              </a:rPr>
              <a:t>)."</a:t>
            </a:r>
          </a:p>
          <a:p>
            <a:pPr marL="114300" indent="0">
              <a:buNone/>
            </a:pPr>
            <a:r>
              <a:rPr lang="en-US" dirty="0">
                <a:solidFill>
                  <a:srgbClr val="1D1D1A"/>
                </a:solidFill>
              </a:rPr>
              <a:t>      - </a:t>
            </a:r>
            <a:r>
              <a:rPr lang="en-US" sz="1400" dirty="0" err="1">
                <a:solidFill>
                  <a:schemeClr val="tx1"/>
                </a:solidFill>
              </a:rPr>
              <a:t>Abrardi</a:t>
            </a:r>
            <a:r>
              <a:rPr lang="en-US" sz="1400" dirty="0">
                <a:solidFill>
                  <a:schemeClr val="tx1"/>
                </a:solidFill>
              </a:rPr>
              <a:t>, L., Comino, S. &amp; Grassini, S. The economics of cyber risk: a survey of the</a:t>
            </a:r>
          </a:p>
          <a:p>
            <a:pPr marL="11430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         </a:t>
            </a:r>
            <a:r>
              <a:rPr lang="en-US" sz="1400" dirty="0" err="1">
                <a:solidFill>
                  <a:schemeClr val="tx1"/>
                </a:solidFill>
              </a:rPr>
              <a:t>literature.</a:t>
            </a:r>
            <a:r>
              <a:rPr lang="en-US" sz="1400" i="1" dirty="0" err="1">
                <a:solidFill>
                  <a:schemeClr val="tx1"/>
                </a:solidFill>
              </a:rPr>
              <a:t>J</a:t>
            </a:r>
            <a:r>
              <a:rPr lang="en-US" sz="1400" i="1" dirty="0">
                <a:solidFill>
                  <a:schemeClr val="tx1"/>
                </a:solidFill>
              </a:rPr>
              <a:t>. Ind. Bus. Econ.</a:t>
            </a:r>
            <a:r>
              <a:rPr lang="en-US" sz="1400" dirty="0">
                <a:solidFill>
                  <a:schemeClr val="tx1"/>
                </a:solidFill>
              </a:rPr>
              <a:t> </a:t>
            </a:r>
            <a:r>
              <a:rPr lang="en-US" sz="1400" b="1" dirty="0">
                <a:solidFill>
                  <a:schemeClr val="tx1"/>
                </a:solidFill>
              </a:rPr>
              <a:t>53</a:t>
            </a:r>
            <a:r>
              <a:rPr lang="en-US" sz="1400" dirty="0">
                <a:solidFill>
                  <a:schemeClr val="tx1"/>
                </a:solidFill>
              </a:rPr>
              <a:t>, 573–607 (2026). https://</a:t>
            </a:r>
            <a:r>
              <a:rPr lang="en-US" sz="1400" dirty="0" err="1">
                <a:solidFill>
                  <a:schemeClr val="tx1"/>
                </a:solidFill>
              </a:rPr>
              <a:t>doi.org</a:t>
            </a:r>
            <a:r>
              <a:rPr lang="en-US" sz="1400" dirty="0">
                <a:solidFill>
                  <a:schemeClr val="tx1"/>
                </a:solidFill>
              </a:rPr>
              <a:t>/10.1007/s40812-025-00370-3</a:t>
            </a:r>
          </a:p>
        </p:txBody>
      </p:sp>
      <p:sp>
        <p:nvSpPr>
          <p:cNvPr id="4" name="Google Shape;104;p21">
            <a:extLst>
              <a:ext uri="{FF2B5EF4-FFF2-40B4-BE49-F238E27FC236}">
                <a16:creationId xmlns:a16="http://schemas.microsoft.com/office/drawing/2014/main" id="{6A71AFC8-54C8-2E9D-87F9-9A6D46810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Prevention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7" name="Google Shape;107;p21">
            <a:extLst>
              <a:ext uri="{FF2B5EF4-FFF2-40B4-BE49-F238E27FC236}">
                <a16:creationId xmlns:a16="http://schemas.microsoft.com/office/drawing/2014/main" id="{ACCB7BAA-2EEB-F484-FCCA-57893004A927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9265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;p21">
            <a:extLst>
              <a:ext uri="{FF2B5EF4-FFF2-40B4-BE49-F238E27FC236}">
                <a16:creationId xmlns:a16="http://schemas.microsoft.com/office/drawing/2014/main" id="{BAAF04A9-4DFA-0323-FA6A-7DE161B1CA64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21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02841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D1FD06-BC92-0C8D-4188-8A461EA1C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79D33-6381-19BA-E011-63D14CF20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5727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Risk Assessment via scores based on evidence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104;p21">
            <a:extLst>
              <a:ext uri="{FF2B5EF4-FFF2-40B4-BE49-F238E27FC236}">
                <a16:creationId xmlns:a16="http://schemas.microsoft.com/office/drawing/2014/main" id="{09B75111-1514-DC03-9408-7EC39F932D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Prioritization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7" name="Google Shape;107;p21">
            <a:extLst>
              <a:ext uri="{FF2B5EF4-FFF2-40B4-BE49-F238E27FC236}">
                <a16:creationId xmlns:a16="http://schemas.microsoft.com/office/drawing/2014/main" id="{73617766-7140-3DD8-565E-6CD66B4F5A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381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D4533A-E71E-0E8D-B4D5-3C50FEB427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8" t="82934" r="1696"/>
          <a:stretch>
            <a:fillRect/>
          </a:stretch>
        </p:blipFill>
        <p:spPr>
          <a:xfrm>
            <a:off x="526774" y="2076159"/>
            <a:ext cx="8090452" cy="991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9ABB1B-8C4A-7FD5-2E6E-5D0360000685}"/>
              </a:ext>
            </a:extLst>
          </p:cNvPr>
          <p:cNvSpPr txBox="1"/>
          <p:nvPr/>
        </p:nvSpPr>
        <p:spPr>
          <a:xfrm>
            <a:off x="526776" y="3067341"/>
            <a:ext cx="7961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Source: </a:t>
            </a:r>
            <a:r>
              <a:rPr lang="en-US" sz="1100" dirty="0" err="1"/>
              <a:t>www.cve.org</a:t>
            </a:r>
            <a:r>
              <a:rPr lang="en-US" sz="1100" dirty="0"/>
              <a:t>/</a:t>
            </a:r>
            <a:r>
              <a:rPr lang="en-US" sz="1100" dirty="0" err="1"/>
              <a:t>CVERecord?id</a:t>
            </a:r>
            <a:r>
              <a:rPr lang="en-US" sz="1100" dirty="0"/>
              <a:t>=CVE-2026-41089</a:t>
            </a:r>
          </a:p>
        </p:txBody>
      </p:sp>
      <p:sp>
        <p:nvSpPr>
          <p:cNvPr id="6" name="Google Shape;106;p21">
            <a:extLst>
              <a:ext uri="{FF2B5EF4-FFF2-40B4-BE49-F238E27FC236}">
                <a16:creationId xmlns:a16="http://schemas.microsoft.com/office/drawing/2014/main" id="{56FB420B-1AE8-D1DE-4D55-3C47783F8DDD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22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021764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6E31176-E09E-41DC-BFE7-22655BCA2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>
            <a:extLst>
              <a:ext uri="{FF2B5EF4-FFF2-40B4-BE49-F238E27FC236}">
                <a16:creationId xmlns:a16="http://schemas.microsoft.com/office/drawing/2014/main" id="{B573C1E8-6554-558B-D520-ADF8100D6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9954" y="3108391"/>
            <a:ext cx="967853" cy="423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de" b="1" dirty="0">
                <a:solidFill>
                  <a:srgbClr val="D51763"/>
                </a:solidFill>
              </a:rPr>
              <a:t>HIPPA:</a:t>
            </a:r>
            <a:endParaRPr b="1" dirty="0">
              <a:solidFill>
                <a:srgbClr val="D51763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A50987BB-D4EE-00C1-03CA-2B8AB645EFA4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23</a:t>
            </a:r>
            <a:endParaRPr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C6987-6862-E565-0D26-7930B50A973D}"/>
              </a:ext>
            </a:extLst>
          </p:cNvPr>
          <p:cNvSpPr txBox="1"/>
          <p:nvPr/>
        </p:nvSpPr>
        <p:spPr>
          <a:xfrm>
            <a:off x="480158" y="4165662"/>
            <a:ext cx="74152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https://</a:t>
            </a:r>
            <a:r>
              <a:rPr lang="en-US" sz="1100" dirty="0" err="1"/>
              <a:t>www.hhs.gov</a:t>
            </a:r>
            <a:r>
              <a:rPr lang="en-US" sz="1100" dirty="0"/>
              <a:t>/</a:t>
            </a:r>
            <a:r>
              <a:rPr lang="en-US" sz="1100" dirty="0" err="1"/>
              <a:t>hipaa</a:t>
            </a:r>
            <a:r>
              <a:rPr lang="en-US" sz="1100" dirty="0"/>
              <a:t>/for-professionals/security/</a:t>
            </a:r>
            <a:r>
              <a:rPr lang="en-US" sz="1100" dirty="0" err="1"/>
              <a:t>hipaa</a:t>
            </a:r>
            <a:r>
              <a:rPr lang="en-US" sz="1100" dirty="0"/>
              <a:t>-security-rule-</a:t>
            </a:r>
            <a:r>
              <a:rPr lang="en-US" sz="1100" dirty="0" err="1"/>
              <a:t>nprm</a:t>
            </a:r>
            <a:r>
              <a:rPr lang="en-US" sz="1100" dirty="0"/>
              <a:t>/factsheet/</a:t>
            </a:r>
            <a:r>
              <a:rPr lang="en-US" sz="1100" dirty="0" err="1"/>
              <a:t>index.html</a:t>
            </a:r>
            <a:endParaRPr lang="en-US" sz="1100" dirty="0"/>
          </a:p>
        </p:txBody>
      </p:sp>
      <p:sp>
        <p:nvSpPr>
          <p:cNvPr id="12" name="Google Shape;104;p21">
            <a:extLst>
              <a:ext uri="{FF2B5EF4-FFF2-40B4-BE49-F238E27FC236}">
                <a16:creationId xmlns:a16="http://schemas.microsoft.com/office/drawing/2014/main" id="{6522512A-98C7-6B96-4060-D2F50D35D21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772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rgbClr val="292E60"/>
                </a:solidFill>
              </a:rPr>
              <a:t>Compliance</a:t>
            </a:r>
          </a:p>
        </p:txBody>
      </p:sp>
      <p:pic>
        <p:nvPicPr>
          <p:cNvPr id="13" name="Google Shape;107;p21">
            <a:extLst>
              <a:ext uri="{FF2B5EF4-FFF2-40B4-BE49-F238E27FC236}">
                <a16:creationId xmlns:a16="http://schemas.microsoft.com/office/drawing/2014/main" id="{45E2911E-EB8E-9807-FAAE-57AFAC031B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736" y="824190"/>
            <a:ext cx="142119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1D97BD2-7C57-9187-051C-2E8DD8F613D6}"/>
              </a:ext>
            </a:extLst>
          </p:cNvPr>
          <p:cNvSpPr txBox="1"/>
          <p:nvPr/>
        </p:nvSpPr>
        <p:spPr>
          <a:xfrm>
            <a:off x="489951" y="13506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en-US" sz="1800" b="1" dirty="0">
                <a:solidFill>
                  <a:srgbClr val="D51763"/>
                </a:solidFill>
              </a:rPr>
              <a:t>GDPR: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93BD90-AE1E-6C61-A4CD-2B7F50D092A2}"/>
              </a:ext>
            </a:extLst>
          </p:cNvPr>
          <p:cNvSpPr txBox="1"/>
          <p:nvPr/>
        </p:nvSpPr>
        <p:spPr>
          <a:xfrm>
            <a:off x="497770" y="262018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Source: https://</a:t>
            </a:r>
            <a:r>
              <a:rPr lang="en-US" sz="1100" dirty="0" err="1"/>
              <a:t>gdpr.eu</a:t>
            </a:r>
            <a:r>
              <a:rPr lang="en-US" sz="1100" dirty="0"/>
              <a:t>/fines/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9A8DD-9497-2D5B-49E9-3E5D8EA30A3E}"/>
              </a:ext>
            </a:extLst>
          </p:cNvPr>
          <p:cNvSpPr txBox="1"/>
          <p:nvPr/>
        </p:nvSpPr>
        <p:spPr>
          <a:xfrm>
            <a:off x="489951" y="1728036"/>
            <a:ext cx="71646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D1D1A"/>
                </a:solidFill>
              </a:rPr>
              <a:t>"</a:t>
            </a:r>
            <a:r>
              <a:rPr lang="en-US" sz="1800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(</a:t>
            </a:r>
            <a:r>
              <a:rPr lang="en-US" sz="1800" dirty="0"/>
              <a:t>...)</a:t>
            </a:r>
            <a:r>
              <a:rPr lang="en-US" sz="1800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must be (</a:t>
            </a:r>
            <a:r>
              <a:rPr lang="en-US" sz="1800" dirty="0"/>
              <a:t>...)</a:t>
            </a:r>
            <a:r>
              <a:rPr lang="en-US" sz="1800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/>
              <a:t>processed in a manner that ensures its security. [S]</a:t>
            </a:r>
            <a:r>
              <a:rPr lang="en-US" sz="1800" dirty="0" err="1"/>
              <a:t>erious</a:t>
            </a:r>
            <a:r>
              <a:rPr lang="en-US" sz="1800" dirty="0"/>
              <a:t> infringements (...)</a:t>
            </a:r>
            <a:r>
              <a:rPr lang="en-US" sz="1800" b="1" dirty="0"/>
              <a:t> could result in a fine of up to €20 million, or 4% of the firm’s worldwide annual revenue.</a:t>
            </a:r>
            <a:r>
              <a:rPr lang="en-US" sz="1800" dirty="0">
                <a:solidFill>
                  <a:srgbClr val="1D1D1A"/>
                </a:solidFill>
              </a:rPr>
              <a:t>"</a:t>
            </a:r>
            <a:endParaRPr lang="en-US" sz="1800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90BB3-26F2-8F0D-98CF-3494D983755A}"/>
              </a:ext>
            </a:extLst>
          </p:cNvPr>
          <p:cNvSpPr txBox="1"/>
          <p:nvPr/>
        </p:nvSpPr>
        <p:spPr>
          <a:xfrm>
            <a:off x="497771" y="3547763"/>
            <a:ext cx="7156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D1D1A"/>
                </a:solidFill>
              </a:rPr>
              <a:t>"</a:t>
            </a:r>
            <a:r>
              <a:rPr lang="en-US" sz="1800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 vulnerability scanning at least every six months and penetration testing at least once every 12 months.</a:t>
            </a:r>
            <a:r>
              <a:rPr lang="en-US" sz="1800" dirty="0">
                <a:solidFill>
                  <a:srgbClr val="1D1D1A"/>
                </a:solidFill>
              </a:rPr>
              <a:t>"</a:t>
            </a:r>
            <a:endParaRPr lang="en-US" sz="1800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689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B21B271-2A0F-8A20-D766-EB99201F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4024E68C-1717-59FB-CD84-7DE1EFE7C7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133B3DE1-529A-18EF-3E89-210D5566513A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18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E88398AE-629A-2670-5DF6-5D4A3D5FE8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82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5;p21">
            <a:extLst>
              <a:ext uri="{FF2B5EF4-FFF2-40B4-BE49-F238E27FC236}">
                <a16:creationId xmlns:a16="http://schemas.microsoft.com/office/drawing/2014/main" id="{9AE48553-2B04-BE6B-D482-CE69589337CF}"/>
              </a:ext>
            </a:extLst>
          </p:cNvPr>
          <p:cNvSpPr txBox="1">
            <a:spLocks/>
          </p:cNvSpPr>
          <p:nvPr/>
        </p:nvSpPr>
        <p:spPr>
          <a:xfrm>
            <a:off x="552475" y="1175053"/>
            <a:ext cx="8279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>
              <a:spcAft>
                <a:spcPts val="1600"/>
              </a:spcAft>
              <a:buFont typeface="Arial"/>
              <a:buAutoNum type="arabicPeriod"/>
            </a:pPr>
            <a:r>
              <a:rPr lang="de" dirty="0">
                <a:solidFill>
                  <a:srgbClr val="1D1D1A"/>
                </a:solidFill>
              </a:rPr>
              <a:t>OSINT</a:t>
            </a:r>
          </a:p>
          <a:p>
            <a:pPr marL="342900">
              <a:spcAft>
                <a:spcPts val="1600"/>
              </a:spcAft>
              <a:buFont typeface="Arial"/>
              <a:buAutoNum type="arabicPeriod"/>
            </a:pPr>
            <a:r>
              <a:rPr lang="de" dirty="0" err="1">
                <a:solidFill>
                  <a:srgbClr val="1D1D1A"/>
                </a:solidFill>
              </a:rPr>
              <a:t>Active</a:t>
            </a:r>
            <a:r>
              <a:rPr lang="de" dirty="0">
                <a:solidFill>
                  <a:srgbClr val="1D1D1A"/>
                </a:solidFill>
              </a:rPr>
              <a:t> Scan / Interaction</a:t>
            </a:r>
          </a:p>
          <a:p>
            <a:pPr marL="342900">
              <a:spcAft>
                <a:spcPts val="1600"/>
              </a:spcAft>
              <a:buFont typeface="Arial"/>
              <a:buAutoNum type="arabicPeriod"/>
            </a:pPr>
            <a:r>
              <a:rPr lang="de" dirty="0">
                <a:solidFill>
                  <a:srgbClr val="1D1D1A"/>
                </a:solidFill>
              </a:rPr>
              <a:t>Brute </a:t>
            </a:r>
            <a:r>
              <a:rPr lang="de" dirty="0" err="1">
                <a:solidFill>
                  <a:srgbClr val="1D1D1A"/>
                </a:solidFill>
              </a:rPr>
              <a:t>Forcing</a:t>
            </a:r>
            <a:r>
              <a:rPr lang="de" dirty="0">
                <a:solidFill>
                  <a:srgbClr val="1D1D1A"/>
                </a:solidFill>
              </a:rPr>
              <a:t> &amp; </a:t>
            </a:r>
            <a:r>
              <a:rPr lang="de" dirty="0" err="1">
                <a:solidFill>
                  <a:srgbClr val="1D1D1A"/>
                </a:solidFill>
              </a:rPr>
              <a:t>Cracking</a:t>
            </a:r>
            <a:r>
              <a:rPr lang="de" dirty="0">
                <a:solidFill>
                  <a:srgbClr val="1D1D1A"/>
                </a:solidFill>
              </a:rPr>
              <a:t> Passwords</a:t>
            </a:r>
          </a:p>
          <a:p>
            <a:pPr marL="342900">
              <a:spcAft>
                <a:spcPts val="1600"/>
              </a:spcAft>
              <a:buFont typeface="Arial"/>
              <a:buAutoNum type="arabicPeriod"/>
            </a:pPr>
            <a:r>
              <a:rPr lang="de" dirty="0">
                <a:solidFill>
                  <a:srgbClr val="1D1D1A"/>
                </a:solidFill>
              </a:rPr>
              <a:t>SQL </a:t>
            </a:r>
            <a:r>
              <a:rPr lang="de" dirty="0" err="1">
                <a:solidFill>
                  <a:srgbClr val="1D1D1A"/>
                </a:solidFill>
              </a:rPr>
              <a:t>Injection</a:t>
            </a:r>
            <a:r>
              <a:rPr lang="de" dirty="0">
                <a:solidFill>
                  <a:srgbClr val="1D1D1A"/>
                </a:solidFill>
              </a:rPr>
              <a:t> / Command </a:t>
            </a:r>
            <a:r>
              <a:rPr lang="de" dirty="0" err="1">
                <a:solidFill>
                  <a:srgbClr val="1D1D1A"/>
                </a:solidFill>
              </a:rPr>
              <a:t>Injection</a:t>
            </a:r>
            <a:endParaRPr lang="de" dirty="0">
              <a:solidFill>
                <a:srgbClr val="1D1D1A"/>
              </a:solidFill>
            </a:endParaRPr>
          </a:p>
          <a:p>
            <a:pPr marL="342900">
              <a:spcAft>
                <a:spcPts val="1600"/>
              </a:spcAft>
              <a:buFont typeface="Arial"/>
              <a:buAutoNum type="arabicPeriod"/>
            </a:pPr>
            <a:r>
              <a:rPr lang="de" dirty="0">
                <a:solidFill>
                  <a:srgbClr val="1D1D1A"/>
                </a:solidFill>
              </a:rPr>
              <a:t>Privilege </a:t>
            </a:r>
            <a:r>
              <a:rPr lang="de" dirty="0" err="1">
                <a:solidFill>
                  <a:srgbClr val="1D1D1A"/>
                </a:solidFill>
              </a:rPr>
              <a:t>Escalation</a:t>
            </a:r>
            <a:endParaRPr lang="de" dirty="0">
              <a:solidFill>
                <a:srgbClr val="1D1D1A"/>
              </a:solidFill>
            </a:endParaRPr>
          </a:p>
          <a:p>
            <a:pPr marL="342900">
              <a:spcAft>
                <a:spcPts val="1600"/>
              </a:spcAft>
              <a:buFont typeface="Arial"/>
              <a:buAutoNum type="arabicPeriod"/>
            </a:pPr>
            <a:r>
              <a:rPr lang="de" dirty="0">
                <a:solidFill>
                  <a:srgbClr val="1D1D1A"/>
                </a:solidFill>
              </a:rPr>
              <a:t>Public Exploit</a:t>
            </a:r>
          </a:p>
        </p:txBody>
      </p:sp>
    </p:spTree>
    <p:extLst>
      <p:ext uri="{BB962C8B-B14F-4D97-AF65-F5344CB8AC3E}">
        <p14:creationId xmlns:p14="http://schemas.microsoft.com/office/powerpoint/2010/main" val="1492072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3EED999-1C3B-12DB-E5F6-CD333D82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C1CD8B77-2078-0A57-4D8B-AB4595D1B6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>
                <a:solidFill>
                  <a:srgbClr val="292E60"/>
                </a:solidFill>
              </a:rPr>
              <a:t>OSINT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EBA5B5FF-81A0-0535-3D01-12A7DEB0E580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19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ECBAB7C4-1C84-5AEA-D302-68974D2C9F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083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E4101-E2F5-F7BC-D2C5-904FE77AF72C}"/>
              </a:ext>
            </a:extLst>
          </p:cNvPr>
          <p:cNvSpPr/>
          <p:nvPr/>
        </p:nvSpPr>
        <p:spPr>
          <a:xfrm>
            <a:off x="5874184" y="2867675"/>
            <a:ext cx="210647" cy="382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2A94B-3F91-3287-C663-66AE02D08762}"/>
              </a:ext>
            </a:extLst>
          </p:cNvPr>
          <p:cNvSpPr txBox="1"/>
          <p:nvPr/>
        </p:nvSpPr>
        <p:spPr>
          <a:xfrm>
            <a:off x="2964361" y="4497130"/>
            <a:ext cx="6030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/>
              <a:t>Search Victim-Owned Websites (T1594)</a:t>
            </a:r>
            <a:endParaRPr lang="en-US" i="1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Gather Victim Identity Information: Employee Names (</a:t>
            </a:r>
            <a:r>
              <a:rPr lang="en-US" i="1" dirty="0"/>
              <a:t>T1589.003)</a:t>
            </a:r>
            <a:endParaRPr lang="en-US" i="1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A1050CD-D2A7-9B71-9839-CC5A69DD6788}"/>
              </a:ext>
            </a:extLst>
          </p:cNvPr>
          <p:cNvGrpSpPr/>
          <p:nvPr/>
        </p:nvGrpSpPr>
        <p:grpSpPr>
          <a:xfrm>
            <a:off x="1188332" y="1214443"/>
            <a:ext cx="6767339" cy="3190299"/>
            <a:chOff x="1188330" y="1214441"/>
            <a:chExt cx="6767339" cy="31902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D80FA18-D6FF-8416-F60E-BDB516FFB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1147" t="45702" r="22222" b="9283"/>
            <a:stretch>
              <a:fillRect/>
            </a:stretch>
          </p:blipFill>
          <p:spPr>
            <a:xfrm>
              <a:off x="1188330" y="1214441"/>
              <a:ext cx="6767339" cy="293621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F53BB0-7B6C-D88C-38AA-5E794D7A5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1392" t="90521" r="41699" b="3607"/>
            <a:stretch>
              <a:fillRect/>
            </a:stretch>
          </p:blipFill>
          <p:spPr>
            <a:xfrm>
              <a:off x="3673405" y="4021744"/>
              <a:ext cx="2020633" cy="382996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A16EFBD6-6E49-6ACA-BAD6-F17146688539}"/>
              </a:ext>
            </a:extLst>
          </p:cNvPr>
          <p:cNvSpPr/>
          <p:nvPr/>
        </p:nvSpPr>
        <p:spPr>
          <a:xfrm>
            <a:off x="5737505" y="2724251"/>
            <a:ext cx="347324" cy="4358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55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582E786-0D52-994E-25DB-D4522F98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305F0BE2-AC68-7269-55A9-853200542B9E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20</a:t>
            </a:r>
            <a:endParaRPr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CE89A-8C71-BBC4-AA79-ACB913994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21" y="1806303"/>
            <a:ext cx="8434358" cy="1530894"/>
          </a:xfrm>
          <a:prstGeom prst="roundRect">
            <a:avLst>
              <a:gd name="adj" fmla="val 711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5" name="Google Shape;104;p21">
            <a:extLst>
              <a:ext uri="{FF2B5EF4-FFF2-40B4-BE49-F238E27FC236}">
                <a16:creationId xmlns:a16="http://schemas.microsoft.com/office/drawing/2014/main" id="{A36DADF2-DEBB-3E75-66AC-38F152440CF0}"/>
              </a:ext>
            </a:extLst>
          </p:cNvPr>
          <p:cNvSpPr txBox="1">
            <a:spLocks/>
          </p:cNvSpPr>
          <p:nvPr/>
        </p:nvSpPr>
        <p:spPr>
          <a:xfrm>
            <a:off x="311702" y="445025"/>
            <a:ext cx="796144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292E60"/>
                </a:solidFill>
              </a:rPr>
              <a:t>OSINT</a:t>
            </a:r>
            <a:endParaRPr lang="en-US" b="1" dirty="0">
              <a:solidFill>
                <a:srgbClr val="292E60"/>
              </a:solidFill>
            </a:endParaRPr>
          </a:p>
        </p:txBody>
      </p:sp>
      <p:pic>
        <p:nvPicPr>
          <p:cNvPr id="6" name="Google Shape;107;p21">
            <a:extLst>
              <a:ext uri="{FF2B5EF4-FFF2-40B4-BE49-F238E27FC236}">
                <a16:creationId xmlns:a16="http://schemas.microsoft.com/office/drawing/2014/main" id="{AF758821-CD83-17E5-BF50-71F31D904C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083" y="878900"/>
            <a:ext cx="145576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926ABB-CD0F-AA6B-A06B-19919932F54C}"/>
              </a:ext>
            </a:extLst>
          </p:cNvPr>
          <p:cNvSpPr txBox="1"/>
          <p:nvPr/>
        </p:nvSpPr>
        <p:spPr>
          <a:xfrm>
            <a:off x="353841" y="3410405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 err="1"/>
              <a:t>x.com</a:t>
            </a:r>
            <a:r>
              <a:rPr lang="en-US" sz="1100" dirty="0"/>
              <a:t>/</a:t>
            </a:r>
            <a:r>
              <a:rPr lang="en-US" sz="1100" dirty="0" err="1"/>
              <a:t>MBuckerzerg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0E229-2FB9-9857-4E0E-1A6D8BA2910A}"/>
              </a:ext>
            </a:extLst>
          </p:cNvPr>
          <p:cNvSpPr txBox="1"/>
          <p:nvPr/>
        </p:nvSpPr>
        <p:spPr>
          <a:xfrm>
            <a:off x="3814918" y="4667112"/>
            <a:ext cx="50495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Open Websites / Domains: Social Media (</a:t>
            </a:r>
            <a:r>
              <a:rPr lang="en-US" i="1" dirty="0"/>
              <a:t>T1593.001)</a:t>
            </a:r>
            <a:endParaRPr lang="en-US" i="1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328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1910DD8-33E8-C127-64E8-C2E4CB0D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125A3D37-6366-49DE-E915-4985B6973796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21</a:t>
            </a:r>
            <a:endParaRPr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B9A8B1-C68D-8A9C-F8E3-B9BAB244CD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7" t="29109" r="74493" b="56488"/>
          <a:stretch>
            <a:fillRect/>
          </a:stretch>
        </p:blipFill>
        <p:spPr>
          <a:xfrm>
            <a:off x="4710782" y="2008124"/>
            <a:ext cx="3475342" cy="1822479"/>
          </a:xfrm>
          <a:prstGeom prst="rect">
            <a:avLst/>
          </a:prstGeom>
        </p:spPr>
      </p:pic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EA37CB9C-B0C6-2DF9-90DF-D455CC9ABC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Active</a:t>
            </a:r>
            <a:r>
              <a:rPr lang="de" b="1" dirty="0">
                <a:solidFill>
                  <a:srgbClr val="292E60"/>
                </a:solidFill>
              </a:rPr>
              <a:t> Scan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5746E840-A2D4-1073-62B5-76DFA3EE98D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485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6C830A-F535-EE41-74B0-903EC1921AEC}"/>
              </a:ext>
            </a:extLst>
          </p:cNvPr>
          <p:cNvSpPr txBox="1"/>
          <p:nvPr/>
        </p:nvSpPr>
        <p:spPr>
          <a:xfrm>
            <a:off x="5142273" y="4667112"/>
            <a:ext cx="400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1D1D1A"/>
                </a:solidFill>
                <a:latin typeface="Roboto-Light"/>
              </a:rPr>
              <a:t>Active Scanning: Wordlist Scanning (</a:t>
            </a:r>
            <a:r>
              <a:rPr lang="en-US" i="1" dirty="0"/>
              <a:t>T1595.003)</a:t>
            </a:r>
            <a:endParaRPr lang="en-US" i="1" dirty="0">
              <a:solidFill>
                <a:srgbClr val="1D1D1A"/>
              </a:solidFill>
              <a:latin typeface="Roboto-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E5516-4BC2-6C08-E80B-8CD015DF07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77" t="43590" r="74493" b="39728"/>
          <a:stretch>
            <a:fillRect/>
          </a:stretch>
        </p:blipFill>
        <p:spPr>
          <a:xfrm>
            <a:off x="1105293" y="1863915"/>
            <a:ext cx="3475342" cy="21108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45DDB1-A0F3-9D60-FA62-2A6E9C5C8D0E}"/>
              </a:ext>
            </a:extLst>
          </p:cNvPr>
          <p:cNvSpPr txBox="1"/>
          <p:nvPr/>
        </p:nvSpPr>
        <p:spPr>
          <a:xfrm>
            <a:off x="315842" y="1247665"/>
            <a:ext cx="3754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Dirbuster</a:t>
            </a:r>
            <a:r>
              <a:rPr lang="en-US" sz="1800" dirty="0"/>
              <a:t> results:</a:t>
            </a:r>
          </a:p>
        </p:txBody>
      </p:sp>
    </p:spTree>
    <p:extLst>
      <p:ext uri="{BB962C8B-B14F-4D97-AF65-F5344CB8AC3E}">
        <p14:creationId xmlns:p14="http://schemas.microsoft.com/office/powerpoint/2010/main" val="3966908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EF21036-4DEE-2E0D-7B92-D3BF615C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17CA3F43-DADB-13C0-52BE-02216639BB1F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17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EC0CEF13-254C-AED6-2944-E460369C6B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Active</a:t>
            </a:r>
            <a:r>
              <a:rPr lang="de" b="1" dirty="0">
                <a:solidFill>
                  <a:srgbClr val="292E60"/>
                </a:solidFill>
              </a:rPr>
              <a:t> Scan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8E53E8E5-B139-9719-A955-78DF813AFF1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485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259D7A-745F-5E0B-C045-09974567C0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80"/>
          <a:stretch>
            <a:fillRect/>
          </a:stretch>
        </p:blipFill>
        <p:spPr>
          <a:xfrm>
            <a:off x="311702" y="1451601"/>
            <a:ext cx="8520599" cy="2443744"/>
          </a:xfrm>
          <a:prstGeom prst="roundRect">
            <a:avLst>
              <a:gd name="adj" fmla="val 365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36317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2BD2EAC-3F5C-7D44-AB26-1EC8D8E4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C94ABB21-C9E7-62AA-6A11-467374AC4770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22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99E90030-2E8F-7855-56F6-427CF4708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Active</a:t>
            </a:r>
            <a:r>
              <a:rPr lang="de" b="1" dirty="0">
                <a:solidFill>
                  <a:srgbClr val="292E60"/>
                </a:solidFill>
              </a:rPr>
              <a:t> Scan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858A3CFF-F51F-6A4D-3D94-25820D2B68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485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DF67ED-544C-30CF-D524-1313C48FD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2" y="1684356"/>
            <a:ext cx="8620225" cy="2069282"/>
          </a:xfrm>
          <a:prstGeom prst="roundRect">
            <a:avLst>
              <a:gd name="adj" fmla="val 517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09199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85218FF-C460-4923-4DAF-B71BEDE4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E12C7EDB-9A50-2E47-5A05-B88FD3E06D83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23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64EF2388-2DA1-3446-1CB9-461DE155E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Cracking Hashes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979F8C84-1078-3F2A-DA92-C31AB7CC9C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343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E99797-984C-D6B7-DFC1-D28D5C5055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729"/>
          <a:stretch>
            <a:fillRect/>
          </a:stretch>
        </p:blipFill>
        <p:spPr>
          <a:xfrm>
            <a:off x="685800" y="1263815"/>
            <a:ext cx="7772400" cy="276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71D3C9-9163-6D22-B5D9-C8853017BB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2" t="7592" r="99110" b="11896"/>
          <a:stretch>
            <a:fillRect/>
          </a:stretch>
        </p:blipFill>
        <p:spPr>
          <a:xfrm flipH="1">
            <a:off x="8455492" y="1491960"/>
            <a:ext cx="45719" cy="24360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6D8FDC-7933-458C-4F11-F8484A3884E0}"/>
              </a:ext>
            </a:extLst>
          </p:cNvPr>
          <p:cNvSpPr txBox="1"/>
          <p:nvPr/>
        </p:nvSpPr>
        <p:spPr>
          <a:xfrm>
            <a:off x="685800" y="3929563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 err="1"/>
              <a:t>crackstation.net</a:t>
            </a:r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ACFDF-B7EB-2376-B34F-1EB4FE7411BA}"/>
              </a:ext>
            </a:extLst>
          </p:cNvPr>
          <p:cNvSpPr txBox="1"/>
          <p:nvPr/>
        </p:nvSpPr>
        <p:spPr>
          <a:xfrm>
            <a:off x="5142273" y="4574184"/>
            <a:ext cx="400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1D1D1A"/>
                </a:solidFill>
                <a:latin typeface="Roboto-Light"/>
              </a:rPr>
              <a:t>Brute Force: Password Cracking (</a:t>
            </a:r>
            <a:r>
              <a:rPr lang="en-US" i="1" dirty="0">
                <a:solidFill>
                  <a:srgbClr val="1D1D1A"/>
                </a:solidFill>
              </a:rPr>
              <a:t>T1110.002</a:t>
            </a:r>
            <a:r>
              <a:rPr lang="en-US" i="1" dirty="0">
                <a:solidFill>
                  <a:srgbClr val="1D1D1A"/>
                </a:solidFill>
                <a:latin typeface="Roboto-Ligh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5931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831621A-3F03-949B-D9E0-D0D4CC5B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C70CEA9D-E32C-7967-E2B0-68484976D2E1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24</a:t>
            </a:r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BF073118-5DC4-62D0-1BC5-92D7BB1F2E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Creating Wordlists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AC9E9442-0D2C-1899-A86F-89C2E066CD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601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925E34-1C02-81A7-2706-0EDFE5683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600" y="1210370"/>
            <a:ext cx="3113289" cy="1645494"/>
          </a:xfrm>
          <a:prstGeom prst="roundRect">
            <a:avLst>
              <a:gd name="adj" fmla="val 359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E44263-BB58-63C0-F696-3584E6A6E4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202" t="45702" r="22222" b="3607"/>
          <a:stretch>
            <a:fillRect/>
          </a:stretch>
        </p:blipFill>
        <p:spPr>
          <a:xfrm>
            <a:off x="1059689" y="3294150"/>
            <a:ext cx="3045109" cy="1543827"/>
          </a:xfrm>
          <a:prstGeom prst="roundRect">
            <a:avLst>
              <a:gd name="adj" fmla="val 4218"/>
            </a:avLst>
          </a:prstGeom>
          <a:ln>
            <a:noFill/>
          </a:ln>
          <a:effectLst>
            <a:outerShdw blurRad="76200" dist="38100" dir="7800000" sx="98138" sy="98138" algn="tl" rotWithShape="0">
              <a:srgbClr val="000000">
                <a:alpha val="11428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665567-947A-201B-0CEA-323F241F0926}"/>
              </a:ext>
            </a:extLst>
          </p:cNvPr>
          <p:cNvSpPr txBox="1"/>
          <p:nvPr/>
        </p:nvSpPr>
        <p:spPr>
          <a:xfrm>
            <a:off x="942926" y="2855315"/>
            <a:ext cx="2908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/>
              <a:t>x.com</a:t>
            </a:r>
            <a:r>
              <a:rPr lang="en-US" sz="1000" dirty="0"/>
              <a:t>/</a:t>
            </a:r>
            <a:r>
              <a:rPr lang="en-US" sz="1000" dirty="0" err="1"/>
              <a:t>MBuckerzerg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2B47A6-F6B4-B0F6-7184-666770A7C8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726"/>
          <a:stretch>
            <a:fillRect/>
          </a:stretch>
        </p:blipFill>
        <p:spPr>
          <a:xfrm>
            <a:off x="4387167" y="1210369"/>
            <a:ext cx="3973827" cy="1644928"/>
          </a:xfrm>
          <a:prstGeom prst="roundRect">
            <a:avLst>
              <a:gd name="adj" fmla="val 434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21799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C8328F-D400-1219-222F-0B474467AD1B}"/>
              </a:ext>
            </a:extLst>
          </p:cNvPr>
          <p:cNvSpPr txBox="1"/>
          <p:nvPr/>
        </p:nvSpPr>
        <p:spPr>
          <a:xfrm>
            <a:off x="4332283" y="2855315"/>
            <a:ext cx="38486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/>
              <a:t>www.dirk-heuzeroth.de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6C8FFF-C4CD-FA6D-ADCA-15AA1C8967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1321" y="3335065"/>
            <a:ext cx="4055534" cy="1309709"/>
          </a:xfrm>
          <a:prstGeom prst="roundRect">
            <a:avLst>
              <a:gd name="adj" fmla="val 4649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22898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0B22C2-1509-96D8-6BA5-D4ADAD59F944}"/>
              </a:ext>
            </a:extLst>
          </p:cNvPr>
          <p:cNvCxnSpPr>
            <a:cxnSpLocks/>
          </p:cNvCxnSpPr>
          <p:nvPr/>
        </p:nvCxnSpPr>
        <p:spPr>
          <a:xfrm>
            <a:off x="4223657" y="1210370"/>
            <a:ext cx="0" cy="35445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7E0DCD-63D5-98F9-58C0-57F16C342F63}"/>
              </a:ext>
            </a:extLst>
          </p:cNvPr>
          <p:cNvCxnSpPr>
            <a:cxnSpLocks/>
          </p:cNvCxnSpPr>
          <p:nvPr/>
        </p:nvCxnSpPr>
        <p:spPr>
          <a:xfrm>
            <a:off x="640082" y="3145804"/>
            <a:ext cx="77726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92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048D159-3441-B2F0-17AE-9F89E98CD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D2AD14DE-D6EB-484C-559C-6197DC76971B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E48792BD-552D-08C9-4594-F6879EF80D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EF135769-728B-464C-50C4-F8AA9C710F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3CCB03-E5EE-18DA-B9FC-45ED25D702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2909703" y="1453042"/>
            <a:ext cx="3324594" cy="24500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BEA600-B8D2-A4DD-29A2-A3210A11587C}"/>
              </a:ext>
            </a:extLst>
          </p:cNvPr>
          <p:cNvSpPr txBox="1"/>
          <p:nvPr/>
        </p:nvSpPr>
        <p:spPr>
          <a:xfrm>
            <a:off x="5132441" y="4667112"/>
            <a:ext cx="40115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i="1" dirty="0">
                <a:latin typeface="Roboto-Light"/>
              </a:rPr>
              <a:t>Brute Force: Password Guessing (</a:t>
            </a:r>
            <a:r>
              <a:rPr lang="en-US" i="1" dirty="0"/>
              <a:t>T1110.001</a:t>
            </a:r>
            <a:r>
              <a:rPr lang="en-US" i="1" dirty="0">
                <a:latin typeface="Roboto-Light"/>
              </a:rPr>
              <a:t>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80879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953EA42-138A-99EE-C057-FB2EF245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BBBC6881-F87F-A4FF-571F-33F0AF7DE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E12AB43C-496B-74A4-5010-A0CF167126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AED799-13E0-CBBD-B1CA-BA15A0C114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932045" y="1453042"/>
            <a:ext cx="3324594" cy="2450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AF28CE-D0FA-B888-09EA-DFBEFA4DD708}"/>
              </a:ext>
            </a:extLst>
          </p:cNvPr>
          <p:cNvSpPr/>
          <p:nvPr/>
        </p:nvSpPr>
        <p:spPr>
          <a:xfrm>
            <a:off x="1096502" y="2678749"/>
            <a:ext cx="1274567" cy="418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endParaRPr lang="en-US" dirty="0">
              <a:solidFill>
                <a:srgbClr val="C00000"/>
              </a:solidFill>
              <a:latin typeface="Avenir Next" panose="020B05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E5948F-9FF4-D261-AC26-1134E7F33AF5}"/>
              </a:ext>
            </a:extLst>
          </p:cNvPr>
          <p:cNvSpPr/>
          <p:nvPr/>
        </p:nvSpPr>
        <p:spPr>
          <a:xfrm>
            <a:off x="1096502" y="2144808"/>
            <a:ext cx="1274567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6F9C62-AEA1-D175-8966-A834F99ADE57}"/>
              </a:ext>
            </a:extLst>
          </p:cNvPr>
          <p:cNvSpPr/>
          <p:nvPr/>
        </p:nvSpPr>
        <p:spPr>
          <a:xfrm>
            <a:off x="4523399" y="455400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date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CEA5120-2476-853C-95B7-FACF4CAA8E22}"/>
              </a:ext>
            </a:extLst>
          </p:cNvPr>
          <p:cNvSpPr/>
          <p:nvPr/>
        </p:nvSpPr>
        <p:spPr>
          <a:xfrm>
            <a:off x="4523397" y="520444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chemeClr val="tx1"/>
              </a:solidFill>
              <a:latin typeface="Avenir Next" panose="020B0503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47370E-BCF5-79C5-F4BA-553F75F684E1}"/>
              </a:ext>
            </a:extLst>
          </p:cNvPr>
          <p:cNvSpPr/>
          <p:nvPr/>
        </p:nvSpPr>
        <p:spPr>
          <a:xfrm>
            <a:off x="4523396" y="3905390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friend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E02F7EB-1254-8999-62CE-D005B808E76A}"/>
              </a:ext>
            </a:extLst>
          </p:cNvPr>
          <p:cNvSpPr/>
          <p:nvPr/>
        </p:nvSpPr>
        <p:spPr>
          <a:xfrm>
            <a:off x="4523395" y="325677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best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E1E623E-1607-0FEC-D7A2-6C127A18C221}"/>
              </a:ext>
            </a:extLst>
          </p:cNvPr>
          <p:cNvSpPr/>
          <p:nvPr/>
        </p:nvSpPr>
        <p:spPr>
          <a:xfrm>
            <a:off x="4523394" y="260633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adopted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8386A2-05D1-5D47-EF5A-07D88A42506F}"/>
              </a:ext>
            </a:extLst>
          </p:cNvPr>
          <p:cNvSpPr/>
          <p:nvPr/>
        </p:nvSpPr>
        <p:spPr>
          <a:xfrm>
            <a:off x="1096500" y="2144807"/>
            <a:ext cx="778350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1D1D1A"/>
                </a:solidFill>
                <a:latin typeface="Avenir Next" panose="020B0503020202020204" pitchFamily="34" charset="0"/>
              </a:rPr>
              <a:t>marq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Google Shape;106;p21">
            <a:extLst>
              <a:ext uri="{FF2B5EF4-FFF2-40B4-BE49-F238E27FC236}">
                <a16:creationId xmlns:a16="http://schemas.microsoft.com/office/drawing/2014/main" id="{78B530B0-7988-538E-D872-2B6FA68AAC33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958560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AE007A7-33B5-685D-012D-C940EC4D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7299BBC4-F336-1D1C-259F-706E2197F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EB86D09F-BBB1-B4F4-DC8E-B93C0DBA65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F2C92B-5D3E-7041-1C90-53C14590AB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932045" y="1453042"/>
            <a:ext cx="3324594" cy="2450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A16E62-7645-C646-BA8F-130F554DA973}"/>
              </a:ext>
            </a:extLst>
          </p:cNvPr>
          <p:cNvSpPr/>
          <p:nvPr/>
        </p:nvSpPr>
        <p:spPr>
          <a:xfrm>
            <a:off x="1096502" y="2144808"/>
            <a:ext cx="1274567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1D1D1A"/>
                </a:solidFill>
                <a:latin typeface="Avenir Next" panose="020B0503020202020204" pitchFamily="34" charset="0"/>
              </a:rPr>
              <a:t>marq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AB3BEE-CE71-9AA3-2E13-E45EBB307742}"/>
              </a:ext>
            </a:extLst>
          </p:cNvPr>
          <p:cNvSpPr/>
          <p:nvPr/>
        </p:nvSpPr>
        <p:spPr>
          <a:xfrm>
            <a:off x="4523399" y="455400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date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F85EC8-66A5-776B-4D92-E6F22053F7FB}"/>
              </a:ext>
            </a:extLst>
          </p:cNvPr>
          <p:cNvSpPr/>
          <p:nvPr/>
        </p:nvSpPr>
        <p:spPr>
          <a:xfrm>
            <a:off x="4523397" y="520444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chemeClr val="tx1"/>
              </a:solidFill>
              <a:latin typeface="Avenir Next" panose="020B0503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6324F93-7CC6-D0FF-7E58-DEE30810427B}"/>
              </a:ext>
            </a:extLst>
          </p:cNvPr>
          <p:cNvSpPr/>
          <p:nvPr/>
        </p:nvSpPr>
        <p:spPr>
          <a:xfrm>
            <a:off x="4523396" y="5851247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sunshine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24844C-040C-80AE-B5B0-385B478670F5}"/>
              </a:ext>
            </a:extLst>
          </p:cNvPr>
          <p:cNvSpPr/>
          <p:nvPr/>
        </p:nvSpPr>
        <p:spPr>
          <a:xfrm>
            <a:off x="4523395" y="649424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joined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A8E43AC-A274-B697-E7F2-21F40E2ABE57}"/>
              </a:ext>
            </a:extLst>
          </p:cNvPr>
          <p:cNvSpPr/>
          <p:nvPr/>
        </p:nvSpPr>
        <p:spPr>
          <a:xfrm>
            <a:off x="4523396" y="3905390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friend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1C61AFC-C4CA-6307-0D8C-9B6F47137A41}"/>
              </a:ext>
            </a:extLst>
          </p:cNvPr>
          <p:cNvSpPr/>
          <p:nvPr/>
        </p:nvSpPr>
        <p:spPr>
          <a:xfrm>
            <a:off x="4523395" y="325677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best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5CCD7AA-E409-CA7E-3959-D605FA6650AF}"/>
              </a:ext>
            </a:extLst>
          </p:cNvPr>
          <p:cNvSpPr/>
          <p:nvPr/>
        </p:nvSpPr>
        <p:spPr>
          <a:xfrm>
            <a:off x="4523394" y="260633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adopted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3D10DF6-2978-4A86-3C1D-5F7D7583C7B0}"/>
              </a:ext>
            </a:extLst>
          </p:cNvPr>
          <p:cNvSpPr/>
          <p:nvPr/>
        </p:nvSpPr>
        <p:spPr>
          <a:xfrm>
            <a:off x="4523392" y="7148485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family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F0CF72-D27B-1DE0-F896-21EB05A630B3}"/>
              </a:ext>
            </a:extLst>
          </p:cNvPr>
          <p:cNvSpPr/>
          <p:nvPr/>
        </p:nvSpPr>
        <p:spPr>
          <a:xfrm>
            <a:off x="1096502" y="2678749"/>
            <a:ext cx="1274567" cy="418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Avenir Next" panose="020B0503020202020204" pitchFamily="34" charset="0"/>
              </a:rPr>
              <a:t>adopted</a:t>
            </a:r>
            <a:endParaRPr lang="en-US" dirty="0">
              <a:solidFill>
                <a:srgbClr val="C00000"/>
              </a:solidFill>
              <a:latin typeface="Avenir Next" panose="020B0503020202020204" pitchFamily="34" charset="0"/>
            </a:endParaRPr>
          </a:p>
        </p:txBody>
      </p:sp>
      <p:sp>
        <p:nvSpPr>
          <p:cNvPr id="2" name="Google Shape;106;p21">
            <a:extLst>
              <a:ext uri="{FF2B5EF4-FFF2-40B4-BE49-F238E27FC236}">
                <a16:creationId xmlns:a16="http://schemas.microsoft.com/office/drawing/2014/main" id="{D21A74E1-1489-CE37-E2C1-A2E2D135485F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5855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 advClick="0" advTm="500"/>
    </mc:Choice>
    <mc:Fallback xmlns="">
      <p:transition advClick="0" advTm="5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C5B4DCF-06FA-E573-8B4F-EDB28F105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DA80D6C5-174C-7804-FACE-4BEFEB19D3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E2A137F0-D77D-8469-0E0E-AFAFC7BDD1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2FF94D-4E0C-E429-F01D-B50FB3FAB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932045" y="1453042"/>
            <a:ext cx="3324594" cy="2450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502286-43CA-F0EF-AA93-527482EBD4FB}"/>
              </a:ext>
            </a:extLst>
          </p:cNvPr>
          <p:cNvSpPr/>
          <p:nvPr/>
        </p:nvSpPr>
        <p:spPr>
          <a:xfrm>
            <a:off x="1096502" y="2144808"/>
            <a:ext cx="1274567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1D1D1A"/>
                </a:solidFill>
                <a:latin typeface="Avenir Next" panose="020B0503020202020204" pitchFamily="34" charset="0"/>
              </a:rPr>
              <a:t>marq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7B362F-F8F6-49BC-6C9E-21DC8D2DB1FB}"/>
              </a:ext>
            </a:extLst>
          </p:cNvPr>
          <p:cNvSpPr/>
          <p:nvPr/>
        </p:nvSpPr>
        <p:spPr>
          <a:xfrm>
            <a:off x="4523399" y="387963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date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A72A693-AF6C-BB81-3ED0-652D4E292474}"/>
              </a:ext>
            </a:extLst>
          </p:cNvPr>
          <p:cNvSpPr/>
          <p:nvPr/>
        </p:nvSpPr>
        <p:spPr>
          <a:xfrm>
            <a:off x="4523399" y="453007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chemeClr val="tx1"/>
              </a:solidFill>
              <a:latin typeface="Avenir Next" panose="020B0503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29D2B1-C02F-DA7E-3664-8976C3C591E6}"/>
              </a:ext>
            </a:extLst>
          </p:cNvPr>
          <p:cNvSpPr/>
          <p:nvPr/>
        </p:nvSpPr>
        <p:spPr>
          <a:xfrm>
            <a:off x="4523396" y="5176877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sunshine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3728640-872E-C745-1912-75D5B35B45B1}"/>
              </a:ext>
            </a:extLst>
          </p:cNvPr>
          <p:cNvSpPr/>
          <p:nvPr/>
        </p:nvSpPr>
        <p:spPr>
          <a:xfrm>
            <a:off x="4523395" y="581987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joined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B2D97D-5AA7-CE01-650C-9595E1F77D31}"/>
              </a:ext>
            </a:extLst>
          </p:cNvPr>
          <p:cNvSpPr/>
          <p:nvPr/>
        </p:nvSpPr>
        <p:spPr>
          <a:xfrm>
            <a:off x="4523396" y="3231020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friend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1D474D8-E20A-61B3-2583-C3227BE3F826}"/>
              </a:ext>
            </a:extLst>
          </p:cNvPr>
          <p:cNvSpPr/>
          <p:nvPr/>
        </p:nvSpPr>
        <p:spPr>
          <a:xfrm>
            <a:off x="4523395" y="258240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best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FA0BC2-C540-A42E-B02F-CD89D1AA0D23}"/>
              </a:ext>
            </a:extLst>
          </p:cNvPr>
          <p:cNvSpPr/>
          <p:nvPr/>
        </p:nvSpPr>
        <p:spPr>
          <a:xfrm>
            <a:off x="4523394" y="193196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adopted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9A08266-327F-20A4-6B36-1D97B537A599}"/>
              </a:ext>
            </a:extLst>
          </p:cNvPr>
          <p:cNvSpPr/>
          <p:nvPr/>
        </p:nvSpPr>
        <p:spPr>
          <a:xfrm>
            <a:off x="4523392" y="6474115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family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684F5-9C0D-07ED-AA0F-EBFF9E804DEC}"/>
              </a:ext>
            </a:extLst>
          </p:cNvPr>
          <p:cNvSpPr/>
          <p:nvPr/>
        </p:nvSpPr>
        <p:spPr>
          <a:xfrm>
            <a:off x="1096502" y="2678749"/>
            <a:ext cx="1274567" cy="418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Avenir Next" panose="020B0503020202020204" pitchFamily="34" charset="0"/>
              </a:rPr>
              <a:t>best</a:t>
            </a:r>
            <a:endParaRPr lang="en-US" dirty="0">
              <a:solidFill>
                <a:srgbClr val="C00000"/>
              </a:solidFill>
              <a:latin typeface="Avenir Next" panose="020B0503020202020204" pitchFamily="34" charset="0"/>
            </a:endParaRPr>
          </a:p>
        </p:txBody>
      </p:sp>
      <p:sp>
        <p:nvSpPr>
          <p:cNvPr id="2" name="Google Shape;106;p21">
            <a:extLst>
              <a:ext uri="{FF2B5EF4-FFF2-40B4-BE49-F238E27FC236}">
                <a16:creationId xmlns:a16="http://schemas.microsoft.com/office/drawing/2014/main" id="{3C8EAF1E-35EF-F4FE-B738-9A06AFF9433F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841393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 advClick="0" advTm="500">
        <p159:morph option="byObject"/>
      </p:transition>
    </mc:Choice>
    <mc:Fallback xmlns="">
      <p:transition advClick="0" advTm="5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49BF212-B65D-3C07-F673-C8EF471C8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8BB49653-17A6-2605-9DEC-B6B6958508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4FFF3D24-D288-819C-F16F-05AB4F0D5A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E59DE8-B68B-5794-93B4-B29F099BB0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932045" y="1453042"/>
            <a:ext cx="3324594" cy="2450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689288-063C-E73E-7359-2014FDBEBC45}"/>
              </a:ext>
            </a:extLst>
          </p:cNvPr>
          <p:cNvSpPr/>
          <p:nvPr/>
        </p:nvSpPr>
        <p:spPr>
          <a:xfrm>
            <a:off x="1096502" y="2144808"/>
            <a:ext cx="1274567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1D1D1A"/>
                </a:solidFill>
                <a:latin typeface="Avenir Next" panose="020B0503020202020204" pitchFamily="34" charset="0"/>
              </a:rPr>
              <a:t>marq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A537F1-5FDA-8491-F78C-E9CF0F4FABBE}"/>
              </a:ext>
            </a:extLst>
          </p:cNvPr>
          <p:cNvSpPr/>
          <p:nvPr/>
        </p:nvSpPr>
        <p:spPr>
          <a:xfrm>
            <a:off x="4523399" y="323955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date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CD8E14-9304-D128-73C0-1958C9233660}"/>
              </a:ext>
            </a:extLst>
          </p:cNvPr>
          <p:cNvSpPr/>
          <p:nvPr/>
        </p:nvSpPr>
        <p:spPr>
          <a:xfrm>
            <a:off x="4523399" y="388999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chemeClr val="tx1"/>
              </a:solidFill>
              <a:latin typeface="Avenir Next" panose="020B0503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C02BBC1-288B-2B03-8CC8-D7D2E5C72F2D}"/>
              </a:ext>
            </a:extLst>
          </p:cNvPr>
          <p:cNvSpPr/>
          <p:nvPr/>
        </p:nvSpPr>
        <p:spPr>
          <a:xfrm>
            <a:off x="4523398" y="4536797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sunshine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15F6CF0-FB33-93C0-7EB6-6DD6F62122D0}"/>
              </a:ext>
            </a:extLst>
          </p:cNvPr>
          <p:cNvSpPr/>
          <p:nvPr/>
        </p:nvSpPr>
        <p:spPr>
          <a:xfrm>
            <a:off x="4523395" y="517979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joined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CA8213B-1A2E-74DE-E6E6-7AC4443A85A8}"/>
              </a:ext>
            </a:extLst>
          </p:cNvPr>
          <p:cNvSpPr/>
          <p:nvPr/>
        </p:nvSpPr>
        <p:spPr>
          <a:xfrm>
            <a:off x="4523396" y="2590940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friend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4D2A07E-57F2-8D0C-4060-9066D3B6A228}"/>
              </a:ext>
            </a:extLst>
          </p:cNvPr>
          <p:cNvSpPr/>
          <p:nvPr/>
        </p:nvSpPr>
        <p:spPr>
          <a:xfrm>
            <a:off x="4523395" y="194232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best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1F11C91-C290-47A4-CEA7-2D1BC2277753}"/>
              </a:ext>
            </a:extLst>
          </p:cNvPr>
          <p:cNvSpPr/>
          <p:nvPr/>
        </p:nvSpPr>
        <p:spPr>
          <a:xfrm>
            <a:off x="4523394" y="129188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adopted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2AC6A9A-FC78-74E7-F7BD-D53B083087FB}"/>
              </a:ext>
            </a:extLst>
          </p:cNvPr>
          <p:cNvSpPr/>
          <p:nvPr/>
        </p:nvSpPr>
        <p:spPr>
          <a:xfrm>
            <a:off x="4523392" y="5834035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family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3E3704-6A13-5B71-D699-989D33D42667}"/>
              </a:ext>
            </a:extLst>
          </p:cNvPr>
          <p:cNvSpPr/>
          <p:nvPr/>
        </p:nvSpPr>
        <p:spPr>
          <a:xfrm>
            <a:off x="1096502" y="2678749"/>
            <a:ext cx="1274567" cy="418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Avenir Next" panose="020B0503020202020204" pitchFamily="34" charset="0"/>
              </a:rPr>
              <a:t>friend</a:t>
            </a:r>
            <a:endParaRPr lang="en-US" dirty="0">
              <a:solidFill>
                <a:srgbClr val="C00000"/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Google Shape;106;p21">
            <a:extLst>
              <a:ext uri="{FF2B5EF4-FFF2-40B4-BE49-F238E27FC236}">
                <a16:creationId xmlns:a16="http://schemas.microsoft.com/office/drawing/2014/main" id="{67A0F77A-C3C1-627F-D1A2-AA6C003F95C4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457046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 advClick="0" advTm="500">
        <p159:morph option="byObject"/>
      </p:transition>
    </mc:Choice>
    <mc:Fallback xmlns="">
      <p:transition advClick="0" advTm="50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1E7A83D-472E-8E91-EEF2-17916736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B71E1E64-EBC4-BEC7-C9B2-CB17625C80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DC8253CF-2121-941D-EA52-7C1CDE044D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252D1E-3F04-D00B-3AD0-8A0D0345FC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932045" y="1453042"/>
            <a:ext cx="3324594" cy="2450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4EC352-0248-7CAE-924D-CB60B3CC4858}"/>
              </a:ext>
            </a:extLst>
          </p:cNvPr>
          <p:cNvSpPr/>
          <p:nvPr/>
        </p:nvSpPr>
        <p:spPr>
          <a:xfrm>
            <a:off x="1096502" y="2144808"/>
            <a:ext cx="1274567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1D1D1A"/>
                </a:solidFill>
                <a:latin typeface="Avenir Next" panose="020B0503020202020204" pitchFamily="34" charset="0"/>
              </a:rPr>
              <a:t>marq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BA72FE-3C3B-D1AD-54FF-FC2C0D32F4F8}"/>
              </a:ext>
            </a:extLst>
          </p:cNvPr>
          <p:cNvSpPr/>
          <p:nvPr/>
        </p:nvSpPr>
        <p:spPr>
          <a:xfrm>
            <a:off x="4523399" y="258446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date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CB260F-96C3-837E-CF35-6C1280A9331D}"/>
              </a:ext>
            </a:extLst>
          </p:cNvPr>
          <p:cNvSpPr/>
          <p:nvPr/>
        </p:nvSpPr>
        <p:spPr>
          <a:xfrm>
            <a:off x="4523399" y="323490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chemeClr val="tx1"/>
              </a:solidFill>
              <a:latin typeface="Avenir Next" panose="020B0503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72BE532-EA03-7CC3-A9DB-E368C63D2B17}"/>
              </a:ext>
            </a:extLst>
          </p:cNvPr>
          <p:cNvSpPr/>
          <p:nvPr/>
        </p:nvSpPr>
        <p:spPr>
          <a:xfrm>
            <a:off x="4523398" y="388169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sunshine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F1196A-2CEB-3CF9-B743-5F8BBD4C1512}"/>
              </a:ext>
            </a:extLst>
          </p:cNvPr>
          <p:cNvSpPr/>
          <p:nvPr/>
        </p:nvSpPr>
        <p:spPr>
          <a:xfrm>
            <a:off x="4523397" y="4524694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joined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13F5305-D755-0126-AA99-F2C2161F8746}"/>
              </a:ext>
            </a:extLst>
          </p:cNvPr>
          <p:cNvSpPr/>
          <p:nvPr/>
        </p:nvSpPr>
        <p:spPr>
          <a:xfrm>
            <a:off x="4523396" y="193584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friend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FD6B1B-BD01-A052-9D43-B8CDC72159D6}"/>
              </a:ext>
            </a:extLst>
          </p:cNvPr>
          <p:cNvSpPr/>
          <p:nvPr/>
        </p:nvSpPr>
        <p:spPr>
          <a:xfrm>
            <a:off x="4523395" y="1287223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best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AC7ECD4-E394-579D-6AD0-924E77588582}"/>
              </a:ext>
            </a:extLst>
          </p:cNvPr>
          <p:cNvSpPr/>
          <p:nvPr/>
        </p:nvSpPr>
        <p:spPr>
          <a:xfrm>
            <a:off x="4523394" y="636783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adopted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8951F66-E2A4-7CF0-2F4F-D49CAD4D5DF1}"/>
              </a:ext>
            </a:extLst>
          </p:cNvPr>
          <p:cNvSpPr/>
          <p:nvPr/>
        </p:nvSpPr>
        <p:spPr>
          <a:xfrm>
            <a:off x="4523392" y="5178937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family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FCB94F-9A68-9472-A0A0-02A152D7E295}"/>
              </a:ext>
            </a:extLst>
          </p:cNvPr>
          <p:cNvSpPr/>
          <p:nvPr/>
        </p:nvSpPr>
        <p:spPr>
          <a:xfrm>
            <a:off x="1096502" y="2678749"/>
            <a:ext cx="1274567" cy="418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>
                <a:solidFill>
                  <a:srgbClr val="C00000"/>
                </a:solidFill>
                <a:latin typeface="Avenir Next" panose="020B0503020202020204" pitchFamily="34" charset="0"/>
              </a:rPr>
              <a:t>date</a:t>
            </a:r>
            <a:endParaRPr lang="en-US" dirty="0">
              <a:solidFill>
                <a:srgbClr val="C00000"/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Google Shape;106;p21">
            <a:extLst>
              <a:ext uri="{FF2B5EF4-FFF2-40B4-BE49-F238E27FC236}">
                <a16:creationId xmlns:a16="http://schemas.microsoft.com/office/drawing/2014/main" id="{6453F252-27B3-F0C4-5199-A94FE8026D26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893159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 advClick="0" advTm="500">
        <p159:morph option="byObject"/>
      </p:transition>
    </mc:Choice>
    <mc:Fallback xmlns="">
      <p:transition advClick="0" advTm="50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092A893-AD75-54EE-300D-06D50A8B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BE215AA1-9F0C-56A9-53A0-86550FBD2A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75A14D4C-31D0-3EBF-4248-D4E2957C20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BD9A5C-8A5C-293C-172E-91CB8C799A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932045" y="1453042"/>
            <a:ext cx="3324594" cy="2450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02DA782-6409-7E94-314E-92F9202FABE5}"/>
              </a:ext>
            </a:extLst>
          </p:cNvPr>
          <p:cNvSpPr/>
          <p:nvPr/>
        </p:nvSpPr>
        <p:spPr>
          <a:xfrm>
            <a:off x="1096502" y="2144808"/>
            <a:ext cx="1274567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1D1D1A"/>
                </a:solidFill>
                <a:latin typeface="Avenir Next" panose="020B0503020202020204" pitchFamily="34" charset="0"/>
              </a:rPr>
              <a:t>marq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8D2685-F340-3449-48AA-FBA770D7AD66}"/>
              </a:ext>
            </a:extLst>
          </p:cNvPr>
          <p:cNvSpPr/>
          <p:nvPr/>
        </p:nvSpPr>
        <p:spPr>
          <a:xfrm>
            <a:off x="4523399" y="1938628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date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DCD066D-23E4-FCDF-BB90-6F9F5AA7A721}"/>
              </a:ext>
            </a:extLst>
          </p:cNvPr>
          <p:cNvSpPr/>
          <p:nvPr/>
        </p:nvSpPr>
        <p:spPr>
          <a:xfrm>
            <a:off x="4523399" y="2589068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chemeClr val="tx1"/>
              </a:solidFill>
              <a:latin typeface="Avenir Next" panose="020B0503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56E6C5-6DDE-5BE7-7C54-9C9C9F8E7A3B}"/>
              </a:ext>
            </a:extLst>
          </p:cNvPr>
          <p:cNvSpPr/>
          <p:nvPr/>
        </p:nvSpPr>
        <p:spPr>
          <a:xfrm>
            <a:off x="4523398" y="3235866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sunshine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0BEAF8C-B4AC-D276-2ED1-393EDFA51858}"/>
              </a:ext>
            </a:extLst>
          </p:cNvPr>
          <p:cNvSpPr/>
          <p:nvPr/>
        </p:nvSpPr>
        <p:spPr>
          <a:xfrm>
            <a:off x="4523397" y="3878861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joined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81D751-6687-AE48-9369-A46A4A0F6EE3}"/>
              </a:ext>
            </a:extLst>
          </p:cNvPr>
          <p:cNvSpPr/>
          <p:nvPr/>
        </p:nvSpPr>
        <p:spPr>
          <a:xfrm>
            <a:off x="4523396" y="129000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friend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5680887-C5B7-EA73-2203-EA8AF2E3B1E6}"/>
              </a:ext>
            </a:extLst>
          </p:cNvPr>
          <p:cNvSpPr/>
          <p:nvPr/>
        </p:nvSpPr>
        <p:spPr>
          <a:xfrm>
            <a:off x="4523395" y="641390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best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B54E2D4-13A3-5E71-C91A-AFD5F7D928C0}"/>
              </a:ext>
            </a:extLst>
          </p:cNvPr>
          <p:cNvSpPr/>
          <p:nvPr/>
        </p:nvSpPr>
        <p:spPr>
          <a:xfrm>
            <a:off x="4523394" y="-9050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adopted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CC01781-BAE6-360E-C0E9-2DB9E6ACAF57}"/>
              </a:ext>
            </a:extLst>
          </p:cNvPr>
          <p:cNvSpPr/>
          <p:nvPr/>
        </p:nvSpPr>
        <p:spPr>
          <a:xfrm>
            <a:off x="4523394" y="4533104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family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F1FE51-D73E-46A0-43B9-743244190B3C}"/>
              </a:ext>
            </a:extLst>
          </p:cNvPr>
          <p:cNvSpPr/>
          <p:nvPr/>
        </p:nvSpPr>
        <p:spPr>
          <a:xfrm>
            <a:off x="1096502" y="2678749"/>
            <a:ext cx="1274567" cy="418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rgbClr val="C00000"/>
              </a:solidFill>
              <a:latin typeface="Avenir Next" panose="020B0503020202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A66393B-7878-AA9B-F12C-550467F35026}"/>
              </a:ext>
            </a:extLst>
          </p:cNvPr>
          <p:cNvSpPr/>
          <p:nvPr/>
        </p:nvSpPr>
        <p:spPr>
          <a:xfrm>
            <a:off x="4523392" y="5183544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anniversary</a:t>
            </a:r>
          </a:p>
        </p:txBody>
      </p:sp>
      <p:sp>
        <p:nvSpPr>
          <p:cNvPr id="6" name="Google Shape;106;p21">
            <a:extLst>
              <a:ext uri="{FF2B5EF4-FFF2-40B4-BE49-F238E27FC236}">
                <a16:creationId xmlns:a16="http://schemas.microsoft.com/office/drawing/2014/main" id="{FB6700C0-9FC2-D5CE-FF64-85C09BB40AE6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13652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 advClick="0" advTm="500">
        <p159:morph option="byObject"/>
      </p:transition>
    </mc:Choice>
    <mc:Fallback xmlns="">
      <p:transition advClick="0" advTm="5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FFFEA7-7998-8499-2C48-F8FEFF8D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3DE25F13-C99A-330D-79BC-02C83FE59B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9A0493E4-71A1-61BA-34C8-6D3244BCB0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AF9980-B933-6A68-AE7E-029224336D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932045" y="1453042"/>
            <a:ext cx="3324594" cy="2450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DA7DBF-705B-E7C7-9981-D4065FCB2D36}"/>
              </a:ext>
            </a:extLst>
          </p:cNvPr>
          <p:cNvSpPr/>
          <p:nvPr/>
        </p:nvSpPr>
        <p:spPr>
          <a:xfrm>
            <a:off x="1096502" y="2144808"/>
            <a:ext cx="1274567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1D1D1A"/>
                </a:solidFill>
                <a:latin typeface="Avenir Next" panose="020B0503020202020204" pitchFamily="34" charset="0"/>
              </a:rPr>
              <a:t>marq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5EFA81-B089-429F-46DB-4A602EB37E69}"/>
              </a:ext>
            </a:extLst>
          </p:cNvPr>
          <p:cNvSpPr/>
          <p:nvPr/>
        </p:nvSpPr>
        <p:spPr>
          <a:xfrm>
            <a:off x="4523399" y="1287996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date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3DEE3EA-0E7E-25C3-96AA-F3638B63DD88}"/>
              </a:ext>
            </a:extLst>
          </p:cNvPr>
          <p:cNvSpPr/>
          <p:nvPr/>
        </p:nvSpPr>
        <p:spPr>
          <a:xfrm>
            <a:off x="4523399" y="1938436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rgbClr val="C00000"/>
              </a:solidFill>
              <a:latin typeface="Avenir Next" panose="020B0503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E070405-8E24-FD68-7832-2CE98D1CBE2B}"/>
              </a:ext>
            </a:extLst>
          </p:cNvPr>
          <p:cNvSpPr/>
          <p:nvPr/>
        </p:nvSpPr>
        <p:spPr>
          <a:xfrm>
            <a:off x="4523398" y="2585234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sunshine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0E1276-8D06-2AA6-B62A-2667EEA9B972}"/>
              </a:ext>
            </a:extLst>
          </p:cNvPr>
          <p:cNvSpPr/>
          <p:nvPr/>
        </p:nvSpPr>
        <p:spPr>
          <a:xfrm>
            <a:off x="4523397" y="322822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joined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6ECD739-BE7A-C832-076F-3FC1812F6681}"/>
              </a:ext>
            </a:extLst>
          </p:cNvPr>
          <p:cNvSpPr/>
          <p:nvPr/>
        </p:nvSpPr>
        <p:spPr>
          <a:xfrm>
            <a:off x="4523396" y="639377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friend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18691EE-D0A1-5931-995F-AC5E9BFECAEC}"/>
              </a:ext>
            </a:extLst>
          </p:cNvPr>
          <p:cNvSpPr/>
          <p:nvPr/>
        </p:nvSpPr>
        <p:spPr>
          <a:xfrm>
            <a:off x="4523395" y="-924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best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FC954A9-94F3-DD32-C36B-E8A4BD960EBB}"/>
              </a:ext>
            </a:extLst>
          </p:cNvPr>
          <p:cNvSpPr/>
          <p:nvPr/>
        </p:nvSpPr>
        <p:spPr>
          <a:xfrm>
            <a:off x="4523392" y="-65968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adopted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3D6DCAE-53E1-6828-C36E-ABA2DAC8C86C}"/>
              </a:ext>
            </a:extLst>
          </p:cNvPr>
          <p:cNvSpPr/>
          <p:nvPr/>
        </p:nvSpPr>
        <p:spPr>
          <a:xfrm>
            <a:off x="4523394" y="388247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family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DF9FAD-E404-B348-6A79-F7D498C0F22E}"/>
              </a:ext>
            </a:extLst>
          </p:cNvPr>
          <p:cNvSpPr/>
          <p:nvPr/>
        </p:nvSpPr>
        <p:spPr>
          <a:xfrm>
            <a:off x="1096502" y="2678749"/>
            <a:ext cx="1274567" cy="418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Avenir Next" panose="020B0503020202020204" pitchFamily="34" charset="0"/>
              </a:rPr>
              <a:t>sunshine</a:t>
            </a:r>
            <a:endParaRPr lang="en-US" dirty="0">
              <a:solidFill>
                <a:srgbClr val="00B050"/>
              </a:solidFill>
              <a:latin typeface="Avenir Next" panose="020B0503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7B25C28-74A3-91D4-DCC9-06C32B37F396}"/>
              </a:ext>
            </a:extLst>
          </p:cNvPr>
          <p:cNvSpPr/>
          <p:nvPr/>
        </p:nvSpPr>
        <p:spPr>
          <a:xfrm>
            <a:off x="4523394" y="453291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venir Next" panose="020B0503020202020204" pitchFamily="34" charset="0"/>
              </a:rPr>
              <a:t>anniversary</a:t>
            </a:r>
          </a:p>
        </p:txBody>
      </p:sp>
      <p:sp>
        <p:nvSpPr>
          <p:cNvPr id="3" name="Google Shape;106;p21">
            <a:extLst>
              <a:ext uri="{FF2B5EF4-FFF2-40B4-BE49-F238E27FC236}">
                <a16:creationId xmlns:a16="http://schemas.microsoft.com/office/drawing/2014/main" id="{BD1202D8-3AB3-3B7C-A18F-716F4A14C8C8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121700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 advClick="0" advTm="500">
        <p159:morph option="byObject"/>
      </p:transition>
    </mc:Choice>
    <mc:Fallback xmlns="">
      <p:transition advClick="0" advTm="50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95BE767-8F67-DC81-7D20-12053107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6FAD83C5-E86F-3895-2C92-35144561E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D713656F-7D1C-4859-D667-5A6D460841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1EA908-F0D6-07CE-860C-6C38222EBE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3" t="16845"/>
          <a:stretch>
            <a:fillRect/>
          </a:stretch>
        </p:blipFill>
        <p:spPr>
          <a:xfrm>
            <a:off x="932045" y="1453042"/>
            <a:ext cx="3324594" cy="24500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E52022-7223-FD84-EA91-16E7F290869A}"/>
              </a:ext>
            </a:extLst>
          </p:cNvPr>
          <p:cNvSpPr/>
          <p:nvPr/>
        </p:nvSpPr>
        <p:spPr>
          <a:xfrm>
            <a:off x="1096502" y="2144808"/>
            <a:ext cx="1274567" cy="349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 err="1">
                <a:solidFill>
                  <a:srgbClr val="1D1D1A"/>
                </a:solidFill>
                <a:latin typeface="Avenir Next" panose="020B0503020202020204" pitchFamily="34" charset="0"/>
              </a:rPr>
              <a:t>marq</a:t>
            </a:r>
            <a:endParaRPr lang="en-US" dirty="0">
              <a:solidFill>
                <a:srgbClr val="1D1D1A"/>
              </a:solidFill>
              <a:latin typeface="Avenir Next" panose="020B0503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49B19D-48B5-014E-93D0-D158A2897FCD}"/>
              </a:ext>
            </a:extLst>
          </p:cNvPr>
          <p:cNvSpPr/>
          <p:nvPr/>
        </p:nvSpPr>
        <p:spPr>
          <a:xfrm>
            <a:off x="4523399" y="1287996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date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8741520-5D6F-0841-7CA0-0D9ABE8DF70D}"/>
              </a:ext>
            </a:extLst>
          </p:cNvPr>
          <p:cNvSpPr/>
          <p:nvPr/>
        </p:nvSpPr>
        <p:spPr>
          <a:xfrm>
            <a:off x="4523399" y="1938436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  <a:latin typeface="Avenir Next" panose="020B0503020202020204" pitchFamily="34" charset="0"/>
              </a:rPr>
              <a:t>tinkerbell</a:t>
            </a:r>
            <a:endParaRPr lang="en-US" dirty="0">
              <a:solidFill>
                <a:srgbClr val="C00000"/>
              </a:solidFill>
              <a:latin typeface="Avenir Next" panose="020B0503020202020204" pitchFamily="34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C34FDA1-D8AA-5D3A-EA0D-468335C8DDC8}"/>
              </a:ext>
            </a:extLst>
          </p:cNvPr>
          <p:cNvSpPr/>
          <p:nvPr/>
        </p:nvSpPr>
        <p:spPr>
          <a:xfrm>
            <a:off x="4523398" y="2585234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Avenir Next" panose="020B0503020202020204" pitchFamily="34" charset="0"/>
              </a:rPr>
              <a:t>sunshine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05886A9-8303-D729-5752-236CFF10D4D5}"/>
              </a:ext>
            </a:extLst>
          </p:cNvPr>
          <p:cNvSpPr/>
          <p:nvPr/>
        </p:nvSpPr>
        <p:spPr>
          <a:xfrm>
            <a:off x="4523397" y="3228229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joined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B1F4085-FDD9-6932-D30A-05F6E9DE0B53}"/>
              </a:ext>
            </a:extLst>
          </p:cNvPr>
          <p:cNvSpPr/>
          <p:nvPr/>
        </p:nvSpPr>
        <p:spPr>
          <a:xfrm>
            <a:off x="4523396" y="639377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friend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639D20E-6091-70BD-8C37-753E165773BA}"/>
              </a:ext>
            </a:extLst>
          </p:cNvPr>
          <p:cNvSpPr/>
          <p:nvPr/>
        </p:nvSpPr>
        <p:spPr>
          <a:xfrm>
            <a:off x="4523395" y="-924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best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A413976-763D-A18A-6114-7E7F8D45C98B}"/>
              </a:ext>
            </a:extLst>
          </p:cNvPr>
          <p:cNvSpPr/>
          <p:nvPr/>
        </p:nvSpPr>
        <p:spPr>
          <a:xfrm>
            <a:off x="4523392" y="-65968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adopted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1F40B25-DE49-347D-D778-4AF8CDFC18B8}"/>
              </a:ext>
            </a:extLst>
          </p:cNvPr>
          <p:cNvSpPr/>
          <p:nvPr/>
        </p:nvSpPr>
        <p:spPr>
          <a:xfrm>
            <a:off x="4523394" y="388247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family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6BA356-098F-34CC-B6E9-6D4AA6E3FED8}"/>
              </a:ext>
            </a:extLst>
          </p:cNvPr>
          <p:cNvSpPr/>
          <p:nvPr/>
        </p:nvSpPr>
        <p:spPr>
          <a:xfrm>
            <a:off x="1096502" y="2678749"/>
            <a:ext cx="1274567" cy="418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D1D1A"/>
                </a:solidFill>
                <a:latin typeface="Avenir Next" panose="020B0503020202020204" pitchFamily="34" charset="0"/>
              </a:rPr>
              <a:t> </a:t>
            </a:r>
            <a:r>
              <a:rPr lang="en-US" sz="1800" dirty="0">
                <a:solidFill>
                  <a:srgbClr val="00B050"/>
                </a:solidFill>
                <a:latin typeface="Avenir Next" panose="020B0503020202020204" pitchFamily="34" charset="0"/>
              </a:rPr>
              <a:t>sunshine</a:t>
            </a:r>
            <a:endParaRPr lang="en-US" dirty="0">
              <a:solidFill>
                <a:srgbClr val="00B050"/>
              </a:solidFill>
              <a:latin typeface="Avenir Next" panose="020B0503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EE0744-2820-9809-6265-2F87952ED1A5}"/>
              </a:ext>
            </a:extLst>
          </p:cNvPr>
          <p:cNvSpPr/>
          <p:nvPr/>
        </p:nvSpPr>
        <p:spPr>
          <a:xfrm>
            <a:off x="4523394" y="4532912"/>
            <a:ext cx="1386779" cy="54979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CBD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Avenir Next" panose="020B0503020202020204" pitchFamily="34" charset="0"/>
              </a:rPr>
              <a:t>anniversary</a:t>
            </a:r>
          </a:p>
        </p:txBody>
      </p:sp>
      <p:sp>
        <p:nvSpPr>
          <p:cNvPr id="3" name="Google Shape;106;p21">
            <a:extLst>
              <a:ext uri="{FF2B5EF4-FFF2-40B4-BE49-F238E27FC236}">
                <a16:creationId xmlns:a16="http://schemas.microsoft.com/office/drawing/2014/main" id="{DDB4B5E4-19D4-8C7F-7B4A-18AD67A924EF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25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174139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A7AEF3-6B12-F6F5-27FF-EB9D947E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5B7BBD4C-2E7D-408D-3274-13D31E8C25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Brute Force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212DAB3C-EFC6-5C3A-DE37-9EFECF0737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6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1965B1-0E5E-86F1-0D42-217C1926DF68}"/>
              </a:ext>
            </a:extLst>
          </p:cNvPr>
          <p:cNvSpPr txBox="1"/>
          <p:nvPr/>
        </p:nvSpPr>
        <p:spPr>
          <a:xfrm>
            <a:off x="5132441" y="4667112"/>
            <a:ext cx="40115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Brute Force: Password Guessing (T1110.001)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31EF5E0-F7D4-C16B-ADFA-31712FC9DD3D}"/>
              </a:ext>
            </a:extLst>
          </p:cNvPr>
          <p:cNvGrpSpPr/>
          <p:nvPr/>
        </p:nvGrpSpPr>
        <p:grpSpPr>
          <a:xfrm>
            <a:off x="311700" y="1451602"/>
            <a:ext cx="8520600" cy="2726595"/>
            <a:chOff x="311700" y="1451600"/>
            <a:chExt cx="8520600" cy="272659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16836AA-1404-42F8-AB79-179177F32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7436" t="54939" r="35091" b="36403"/>
            <a:stretch>
              <a:fillRect/>
            </a:stretch>
          </p:blipFill>
          <p:spPr>
            <a:xfrm>
              <a:off x="311700" y="1451600"/>
              <a:ext cx="8520600" cy="2726595"/>
            </a:xfrm>
            <a:prstGeom prst="roundRect">
              <a:avLst>
                <a:gd name="adj" fmla="val 3492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contourClr>
                <a:srgbClr val="969696"/>
              </a:contourClr>
            </a:sp3d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89AB647-5AF0-7DB2-66A0-96343F98D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4939" r="42506" b="36918"/>
            <a:stretch>
              <a:fillRect/>
            </a:stretch>
          </p:blipFill>
          <p:spPr>
            <a:xfrm>
              <a:off x="483741" y="1713850"/>
              <a:ext cx="8170141" cy="63587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DB8D08-8FD5-EA09-0233-3BD0C5428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3911" r="39964" b="28725"/>
            <a:stretch>
              <a:fillRect/>
            </a:stretch>
          </p:blipFill>
          <p:spPr>
            <a:xfrm>
              <a:off x="483742" y="2611978"/>
              <a:ext cx="8310754" cy="29738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A8260C-841F-5776-292B-46B0E3C4F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615" r="40902" b="3352"/>
            <a:stretch>
              <a:fillRect/>
            </a:stretch>
          </p:blipFill>
          <p:spPr>
            <a:xfrm>
              <a:off x="483742" y="3112474"/>
              <a:ext cx="8170140" cy="61032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A244179-4B1E-D455-7CF4-B605FDC3D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7436" t="54939" r="41199" b="36403"/>
            <a:stretch>
              <a:fillRect/>
            </a:stretch>
          </p:blipFill>
          <p:spPr>
            <a:xfrm>
              <a:off x="8589470" y="3722801"/>
              <a:ext cx="205026" cy="29495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DAF0AB-355D-2BD4-88EE-6673DBFF6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7436" t="54939" r="41199" b="36403"/>
            <a:stretch>
              <a:fillRect/>
            </a:stretch>
          </p:blipFill>
          <p:spPr>
            <a:xfrm>
              <a:off x="3864943" y="3883237"/>
              <a:ext cx="735632" cy="294958"/>
            </a:xfrm>
            <a:prstGeom prst="rect">
              <a:avLst/>
            </a:prstGeom>
          </p:spPr>
        </p:pic>
      </p:grpSp>
      <p:sp>
        <p:nvSpPr>
          <p:cNvPr id="2" name="Google Shape;106;p21">
            <a:extLst>
              <a:ext uri="{FF2B5EF4-FFF2-40B4-BE49-F238E27FC236}">
                <a16:creationId xmlns:a16="http://schemas.microsoft.com/office/drawing/2014/main" id="{F8B8A880-AD99-BC9A-46B4-EDBA339A4AC7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26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130034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BFBC045-B93F-78CD-E22F-74E7A221A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75DCEF82-C4E3-CF84-8D59-CDC822C0C164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27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6FB23397-DA6D-9AEC-F047-690C12F61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SQL Injection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6B68D1D2-E77C-7668-FBB9-6A3C0A58BE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6371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EFF99F3-28E2-3946-016B-882A0F7AB235}"/>
              </a:ext>
            </a:extLst>
          </p:cNvPr>
          <p:cNvGrpSpPr/>
          <p:nvPr/>
        </p:nvGrpSpPr>
        <p:grpSpPr>
          <a:xfrm>
            <a:off x="311700" y="1484357"/>
            <a:ext cx="8520600" cy="2174789"/>
            <a:chOff x="344652" y="1484355"/>
            <a:chExt cx="8520600" cy="217478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3175412-43BA-C219-AC2E-F8C21965A7D5}"/>
                </a:ext>
              </a:extLst>
            </p:cNvPr>
            <p:cNvSpPr/>
            <p:nvPr/>
          </p:nvSpPr>
          <p:spPr>
            <a:xfrm>
              <a:off x="344652" y="1484355"/>
              <a:ext cx="8520600" cy="2174789"/>
            </a:xfrm>
            <a:prstGeom prst="roundRect">
              <a:avLst>
                <a:gd name="adj" fmla="val 4546"/>
              </a:avLst>
            </a:prstGeom>
            <a:solidFill>
              <a:srgbClr val="272A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812F40E-C49D-4DAC-AC79-642E032D8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066" y="1846437"/>
              <a:ext cx="8144999" cy="145062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noFill/>
              <a:miter lim="800000"/>
            </a:ln>
            <a:effectLst/>
            <a:scene3d>
              <a:camera prst="orthographicFront"/>
              <a:lightRig rig="twoPt" dir="t">
                <a:rot lat="0" lon="0" rev="7200000"/>
              </a:lightRig>
            </a:scene3d>
            <a:sp3d>
              <a:contourClr>
                <a:srgbClr val="FFFFFF"/>
              </a:contourClr>
            </a:sp3d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4CB53EE-C628-8D94-4EB6-A4251EFF7FC4}"/>
              </a:ext>
            </a:extLst>
          </p:cNvPr>
          <p:cNvSpPr txBox="1"/>
          <p:nvPr/>
        </p:nvSpPr>
        <p:spPr>
          <a:xfrm>
            <a:off x="5622324" y="4667112"/>
            <a:ext cx="3521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Exploit Public-Facing Application (</a:t>
            </a:r>
            <a:r>
              <a:rPr lang="en-US" i="1" dirty="0"/>
              <a:t>T0819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79F365-E742-ADFC-3084-72C83ECC735A}"/>
              </a:ext>
            </a:extLst>
          </p:cNvPr>
          <p:cNvSpPr/>
          <p:nvPr/>
        </p:nvSpPr>
        <p:spPr>
          <a:xfrm>
            <a:off x="5217461" y="2268071"/>
            <a:ext cx="2658723" cy="1028992"/>
          </a:xfrm>
          <a:prstGeom prst="roundRect">
            <a:avLst/>
          </a:prstGeom>
          <a:noFill/>
          <a:ln>
            <a:solidFill>
              <a:srgbClr val="E61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5ED41EE7-1FEF-8E6F-A0DF-21B0E24941A6}"/>
              </a:ext>
            </a:extLst>
          </p:cNvPr>
          <p:cNvCxnSpPr>
            <a:cxnSpLocks/>
          </p:cNvCxnSpPr>
          <p:nvPr/>
        </p:nvCxnSpPr>
        <p:spPr>
          <a:xfrm rot="5400000">
            <a:off x="5589086" y="3338692"/>
            <a:ext cx="990976" cy="924499"/>
          </a:xfrm>
          <a:prstGeom prst="bentConnector3">
            <a:avLst>
              <a:gd name="adj1" fmla="val 99928"/>
            </a:avLst>
          </a:prstGeom>
          <a:ln w="25400" cap="rnd">
            <a:solidFill>
              <a:srgbClr val="E619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8B6BD1-0AA5-526D-EDD6-0A200CE41E4E}"/>
              </a:ext>
            </a:extLst>
          </p:cNvPr>
          <p:cNvSpPr txBox="1"/>
          <p:nvPr/>
        </p:nvSpPr>
        <p:spPr>
          <a:xfrm>
            <a:off x="3106058" y="4111762"/>
            <a:ext cx="2516267" cy="369332"/>
          </a:xfrm>
          <a:prstGeom prst="rect">
            <a:avLst/>
          </a:prstGeom>
          <a:noFill/>
          <a:ln w="28575">
            <a:solidFill>
              <a:srgbClr val="E619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Unescaped User Input</a:t>
            </a:r>
          </a:p>
        </p:txBody>
      </p:sp>
    </p:spTree>
    <p:extLst>
      <p:ext uri="{BB962C8B-B14F-4D97-AF65-F5344CB8AC3E}">
        <p14:creationId xmlns:p14="http://schemas.microsoft.com/office/powerpoint/2010/main" val="2012926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7282014-84AC-29E5-5A87-A7636E35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B819E665-1CB9-4188-AB84-98A92A532DE9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17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14108658-C872-EFB2-2802-996EC7F79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SQL Injection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6F7EACA8-4FA5-3A5F-5570-53FC2B0033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6371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8A673A-96BB-2B28-45D4-D56D0C542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002" y="2474324"/>
            <a:ext cx="4463847" cy="799495"/>
          </a:xfrm>
          <a:prstGeom prst="roundRect">
            <a:avLst>
              <a:gd name="adj" fmla="val 2098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9807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E9A30-CD4D-2920-40A4-64928AD56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001" y="1431476"/>
            <a:ext cx="4463845" cy="799495"/>
          </a:xfrm>
          <a:prstGeom prst="roundRect">
            <a:avLst>
              <a:gd name="adj" fmla="val 2365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9807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9869FF-0949-289D-CD35-3E2A06A83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3002" y="3517170"/>
            <a:ext cx="4463845" cy="7987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9807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69545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E348C3C-D6E3-020F-A516-EDEC5FDF3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C97E088E-6E1C-E1BE-D4B1-0A2D99F2DE32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17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0A525529-FCAF-926B-8AFD-95ECBC3372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SQL Injection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240B0C53-B921-F8A7-D489-DD369435826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6371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8FF1BE-9B6E-DD2D-C7E2-E5A26021F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14" y="2569472"/>
            <a:ext cx="3375698" cy="604603"/>
          </a:xfrm>
          <a:prstGeom prst="roundRect">
            <a:avLst>
              <a:gd name="adj" fmla="val 2098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9807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74D34-506B-836A-A527-3EBB9B6F0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13" y="1526624"/>
            <a:ext cx="3375696" cy="604603"/>
          </a:xfrm>
          <a:prstGeom prst="roundRect">
            <a:avLst>
              <a:gd name="adj" fmla="val 2365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9807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135C09-77FF-27D6-6C5D-2A67D02FD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14" y="3612318"/>
            <a:ext cx="3375696" cy="6040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9807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CD8E92-EFAC-B752-3CDB-96A8B2980077}"/>
              </a:ext>
            </a:extLst>
          </p:cNvPr>
          <p:cNvSpPr txBox="1"/>
          <p:nvPr/>
        </p:nvSpPr>
        <p:spPr>
          <a:xfrm>
            <a:off x="4572002" y="858633"/>
            <a:ext cx="364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B050"/>
                </a:solidFill>
              </a:rPr>
              <a:t>SELECT</a:t>
            </a:r>
            <a:r>
              <a:rPr lang="en-US" sz="1800" b="1" dirty="0"/>
              <a:t> * </a:t>
            </a:r>
            <a:r>
              <a:rPr lang="en-US" sz="1800" b="1" dirty="0">
                <a:solidFill>
                  <a:srgbClr val="00B050"/>
                </a:solidFill>
              </a:rPr>
              <a:t>FROM</a:t>
            </a:r>
            <a:r>
              <a:rPr lang="en-US" sz="1800" b="1" dirty="0"/>
              <a:t> users </a:t>
            </a:r>
            <a:r>
              <a:rPr lang="en-US" sz="1800" b="1" dirty="0">
                <a:solidFill>
                  <a:srgbClr val="00B050"/>
                </a:solidFill>
              </a:rPr>
              <a:t>WHERE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3605A-EFCB-6A2F-79A2-83DB5B321381}"/>
              </a:ext>
            </a:extLst>
          </p:cNvPr>
          <p:cNvSpPr txBox="1"/>
          <p:nvPr/>
        </p:nvSpPr>
        <p:spPr>
          <a:xfrm>
            <a:off x="4572000" y="1505759"/>
            <a:ext cx="3646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B050"/>
                </a:solidFill>
              </a:rPr>
              <a:t>username </a:t>
            </a:r>
            <a:r>
              <a:rPr lang="en-US" sz="1800" b="1" dirty="0">
                <a:solidFill>
                  <a:schemeClr val="tx1"/>
                </a:solidFill>
              </a:rPr>
              <a:t>= </a:t>
            </a:r>
            <a:r>
              <a:rPr lang="en-US" sz="1800" dirty="0"/>
              <a:t>'</a:t>
            </a:r>
            <a:r>
              <a:rPr lang="en-US" sz="1800" b="1" dirty="0" err="1">
                <a:solidFill>
                  <a:srgbClr val="FF0000"/>
                </a:solidFill>
              </a:rPr>
              <a:t>marq</a:t>
            </a:r>
            <a:r>
              <a:rPr lang="en-US" sz="1800" dirty="0"/>
              <a:t>'-- </a:t>
            </a:r>
          </a:p>
          <a:p>
            <a:pPr algn="ctr"/>
            <a:r>
              <a:rPr lang="en-US" sz="1800" b="1" dirty="0">
                <a:solidFill>
                  <a:srgbClr val="00B050"/>
                </a:solidFill>
              </a:rPr>
              <a:t> </a:t>
            </a: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' </a:t>
            </a: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AND password = HASH()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96E81-8832-86FD-A00B-AD611F8A60A5}"/>
              </a:ext>
            </a:extLst>
          </p:cNvPr>
          <p:cNvSpPr txBox="1"/>
          <p:nvPr/>
        </p:nvSpPr>
        <p:spPr>
          <a:xfrm>
            <a:off x="4572001" y="2547960"/>
            <a:ext cx="3646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B050"/>
                </a:solidFill>
              </a:rPr>
              <a:t>username </a:t>
            </a:r>
            <a:r>
              <a:rPr lang="en-US" sz="1800" b="1" dirty="0">
                <a:solidFill>
                  <a:schemeClr val="tx1"/>
                </a:solidFill>
              </a:rPr>
              <a:t>= </a:t>
            </a:r>
            <a:r>
              <a:rPr lang="en-US" sz="1800" dirty="0"/>
              <a:t>'</a:t>
            </a:r>
            <a:r>
              <a:rPr lang="en-US" sz="1800" b="1" dirty="0" err="1">
                <a:solidFill>
                  <a:srgbClr val="FF0000"/>
                </a:solidFill>
              </a:rPr>
              <a:t>marq</a:t>
            </a:r>
            <a:r>
              <a:rPr lang="en-US" sz="1800" dirty="0"/>
              <a:t>'</a:t>
            </a:r>
            <a:r>
              <a:rPr lang="en-US" sz="1800" b="1" dirty="0">
                <a:solidFill>
                  <a:schemeClr val="tx1"/>
                </a:solidFill>
              </a:rPr>
              <a:t>#</a:t>
            </a:r>
          </a:p>
          <a:p>
            <a:pPr algn="ctr"/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' </a:t>
            </a: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AND password = HASH()</a:t>
            </a:r>
            <a:r>
              <a:rPr lang="en-US" sz="18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20E3E-5AF4-1EB4-23C6-68D7EC196D13}"/>
              </a:ext>
            </a:extLst>
          </p:cNvPr>
          <p:cNvSpPr txBox="1"/>
          <p:nvPr/>
        </p:nvSpPr>
        <p:spPr>
          <a:xfrm>
            <a:off x="4572001" y="3595359"/>
            <a:ext cx="3646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00B050"/>
                </a:solidFill>
              </a:rPr>
              <a:t>username </a:t>
            </a:r>
            <a:r>
              <a:rPr lang="en-US" sz="1800" b="1" dirty="0">
                <a:solidFill>
                  <a:schemeClr val="tx1"/>
                </a:solidFill>
              </a:rPr>
              <a:t>= </a:t>
            </a:r>
            <a:r>
              <a:rPr lang="en-US" sz="1800" dirty="0"/>
              <a:t>'</a:t>
            </a:r>
            <a:r>
              <a:rPr lang="en-US" sz="1800" b="1" dirty="0" err="1">
                <a:solidFill>
                  <a:srgbClr val="FF0000"/>
                </a:solidFill>
              </a:rPr>
              <a:t>marq</a:t>
            </a:r>
            <a:r>
              <a:rPr lang="en-US" sz="1800" dirty="0"/>
              <a:t>' </a:t>
            </a:r>
            <a:r>
              <a:rPr lang="en-US" sz="1800" b="1" dirty="0">
                <a:solidFill>
                  <a:schemeClr val="tx1"/>
                </a:solidFill>
              </a:rPr>
              <a:t>OR</a:t>
            </a:r>
            <a:r>
              <a:rPr lang="en-US" sz="1800" b="1" dirty="0">
                <a:solidFill>
                  <a:srgbClr val="00B050"/>
                </a:solidFill>
              </a:rPr>
              <a:t> </a:t>
            </a:r>
            <a:r>
              <a:rPr lang="en-US" sz="1800" dirty="0"/>
              <a:t>'</a:t>
            </a:r>
            <a:r>
              <a:rPr lang="en-US" sz="1800" b="1" dirty="0">
                <a:solidFill>
                  <a:srgbClr val="FF0000"/>
                </a:solidFill>
              </a:rPr>
              <a:t>1</a:t>
            </a:r>
            <a:r>
              <a:rPr lang="en-US" sz="1800" dirty="0"/>
              <a:t>' = '</a:t>
            </a:r>
            <a:r>
              <a:rPr lang="en-US" sz="1800" b="1" dirty="0">
                <a:solidFill>
                  <a:srgbClr val="FF0000"/>
                </a:solidFill>
              </a:rPr>
              <a:t>1</a:t>
            </a:r>
            <a:r>
              <a:rPr lang="en-US" sz="1800" dirty="0"/>
              <a:t>'</a:t>
            </a:r>
          </a:p>
          <a:p>
            <a:pPr algn="ctr"/>
            <a:r>
              <a:rPr lang="en-US" sz="1800" b="1" dirty="0">
                <a:solidFill>
                  <a:schemeClr val="tx1"/>
                </a:solidFill>
              </a:rPr>
              <a:t>AND</a:t>
            </a:r>
            <a:r>
              <a:rPr lang="en-US" sz="1800" b="1" dirty="0">
                <a:solidFill>
                  <a:srgbClr val="00B050"/>
                </a:solidFill>
              </a:rPr>
              <a:t> password </a:t>
            </a:r>
            <a:r>
              <a:rPr lang="en-US" sz="1800" b="1" dirty="0">
                <a:solidFill>
                  <a:schemeClr val="tx1"/>
                </a:solidFill>
              </a:rPr>
              <a:t>=</a:t>
            </a:r>
            <a:r>
              <a:rPr lang="en-US" sz="1800" b="1" dirty="0">
                <a:solidFill>
                  <a:srgbClr val="00B050"/>
                </a:solidFill>
              </a:rPr>
              <a:t> </a:t>
            </a:r>
            <a:r>
              <a:rPr lang="en-US" sz="1800" b="1" dirty="0">
                <a:solidFill>
                  <a:srgbClr val="FF0000"/>
                </a:solidFill>
              </a:rPr>
              <a:t>HASH()</a:t>
            </a:r>
            <a:r>
              <a:rPr lang="en-US" sz="1800" b="1" dirty="0">
                <a:solidFill>
                  <a:srgbClr val="00B050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rgbClr val="00B050"/>
                </a:solidFill>
              </a:rPr>
              <a:t>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A25FF9-4BFE-5EA9-5F91-CC7C8FEA2E8F}"/>
              </a:ext>
            </a:extLst>
          </p:cNvPr>
          <p:cNvCxnSpPr/>
          <p:nvPr/>
        </p:nvCxnSpPr>
        <p:spPr>
          <a:xfrm>
            <a:off x="223935" y="2316767"/>
            <a:ext cx="85095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AD674A-FB71-5B50-CB8F-83CDF562D3D0}"/>
              </a:ext>
            </a:extLst>
          </p:cNvPr>
          <p:cNvCxnSpPr/>
          <p:nvPr/>
        </p:nvCxnSpPr>
        <p:spPr>
          <a:xfrm>
            <a:off x="223935" y="3439551"/>
            <a:ext cx="85095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19464F-09C9-1C1E-B111-33DC92F652AF}"/>
              </a:ext>
            </a:extLst>
          </p:cNvPr>
          <p:cNvCxnSpPr>
            <a:cxnSpLocks/>
          </p:cNvCxnSpPr>
          <p:nvPr/>
        </p:nvCxnSpPr>
        <p:spPr>
          <a:xfrm>
            <a:off x="4385389" y="1374375"/>
            <a:ext cx="0" cy="30231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117922-82F0-EB55-1980-6D690A336F58}"/>
              </a:ext>
            </a:extLst>
          </p:cNvPr>
          <p:cNvCxnSpPr/>
          <p:nvPr/>
        </p:nvCxnSpPr>
        <p:spPr>
          <a:xfrm>
            <a:off x="223935" y="1374375"/>
            <a:ext cx="85095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0F0485-D14A-AEAA-6D4B-326B4EA7C183}"/>
              </a:ext>
            </a:extLst>
          </p:cNvPr>
          <p:cNvCxnSpPr/>
          <p:nvPr/>
        </p:nvCxnSpPr>
        <p:spPr>
          <a:xfrm>
            <a:off x="223935" y="4397493"/>
            <a:ext cx="85095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7696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8116D96-1705-DDD8-F68D-346B888C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A2742927-59A8-5102-545D-8DC825AFDC00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28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FCE1F0FE-73B7-0F42-859F-92D1B68FA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Command Injection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6772A03F-968F-15AA-62DB-4B7B9332E0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585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147148B-A64B-3E75-0B78-F3057FD64226}"/>
              </a:ext>
            </a:extLst>
          </p:cNvPr>
          <p:cNvGrpSpPr/>
          <p:nvPr/>
        </p:nvGrpSpPr>
        <p:grpSpPr>
          <a:xfrm>
            <a:off x="311700" y="3386372"/>
            <a:ext cx="8598654" cy="935151"/>
            <a:chOff x="311700" y="3495699"/>
            <a:chExt cx="8598654" cy="935151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C4B69626-6E09-DFC3-86B5-2B103A306E43}"/>
                </a:ext>
              </a:extLst>
            </p:cNvPr>
            <p:cNvSpPr/>
            <p:nvPr/>
          </p:nvSpPr>
          <p:spPr>
            <a:xfrm>
              <a:off x="311700" y="3495699"/>
              <a:ext cx="8598654" cy="935151"/>
            </a:xfrm>
            <a:prstGeom prst="roundRect">
              <a:avLst>
                <a:gd name="adj" fmla="val 9094"/>
              </a:avLst>
            </a:prstGeom>
            <a:solidFill>
              <a:srgbClr val="2225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E3EE7C-C9BB-B217-56B1-71CD39B8B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061" t="33086" r="38782" b="45968"/>
            <a:stretch>
              <a:fillRect/>
            </a:stretch>
          </p:blipFill>
          <p:spPr>
            <a:xfrm>
              <a:off x="389754" y="3610185"/>
              <a:ext cx="8364491" cy="711784"/>
            </a:xfrm>
            <a:prstGeom prst="rect">
              <a:avLst/>
            </a:prstGeom>
            <a:noFill/>
            <a:ln w="88900" cap="sq">
              <a:noFill/>
              <a:miter lim="800000"/>
            </a:ln>
            <a:effectLst>
              <a:outerShdw blurRad="55000" dist="18000" dir="5400000" algn="tl" rotWithShape="0">
                <a:srgbClr val="000000">
                  <a:alpha val="0"/>
                </a:srgbClr>
              </a:outerShdw>
            </a:effectLst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0EDBB63-FE7F-D0EE-F7D6-DC9882CBF3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176" t="80587" r="40130" b="1273"/>
          <a:stretch>
            <a:fillRect/>
          </a:stretch>
        </p:blipFill>
        <p:spPr>
          <a:xfrm>
            <a:off x="1281695" y="1262261"/>
            <a:ext cx="3772325" cy="1896551"/>
          </a:xfrm>
          <a:prstGeom prst="roundRect">
            <a:avLst>
              <a:gd name="adj" fmla="val 529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15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263FB3-9C69-4E42-C226-887DACA5B38C}"/>
              </a:ext>
            </a:extLst>
          </p:cNvPr>
          <p:cNvSpPr txBox="1"/>
          <p:nvPr/>
        </p:nvSpPr>
        <p:spPr>
          <a:xfrm>
            <a:off x="4081817" y="449713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Exploit Public-Facing Application (</a:t>
            </a:r>
            <a:r>
              <a:rPr lang="en-US" i="1" dirty="0"/>
              <a:t>T0819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r"/>
            <a:r>
              <a:rPr lang="en-US" i="1" dirty="0"/>
              <a:t>Command and Scripting Interpreter: Unix Shell (T1059.004)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6ECDDE-513B-2A0D-A524-B7D587974F33}"/>
              </a:ext>
            </a:extLst>
          </p:cNvPr>
          <p:cNvSpPr txBox="1"/>
          <p:nvPr/>
        </p:nvSpPr>
        <p:spPr>
          <a:xfrm>
            <a:off x="5853567" y="2025868"/>
            <a:ext cx="2516267" cy="369332"/>
          </a:xfrm>
          <a:prstGeom prst="rect">
            <a:avLst/>
          </a:prstGeom>
          <a:noFill/>
          <a:ln w="28575">
            <a:solidFill>
              <a:srgbClr val="E619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Unfiltered User Input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0310D2-00C7-AE30-6F24-1ABE77E87D76}"/>
              </a:ext>
            </a:extLst>
          </p:cNvPr>
          <p:cNvGrpSpPr/>
          <p:nvPr/>
        </p:nvGrpSpPr>
        <p:grpSpPr>
          <a:xfrm>
            <a:off x="5853565" y="2395202"/>
            <a:ext cx="2541688" cy="1514191"/>
            <a:chOff x="5853565" y="2395200"/>
            <a:chExt cx="2541688" cy="1514191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55A4400-F5F9-2193-4095-99571B1DE38B}"/>
                </a:ext>
              </a:extLst>
            </p:cNvPr>
            <p:cNvSpPr/>
            <p:nvPr/>
          </p:nvSpPr>
          <p:spPr>
            <a:xfrm>
              <a:off x="5853565" y="3445565"/>
              <a:ext cx="2541688" cy="463826"/>
            </a:xfrm>
            <a:prstGeom prst="roundRect">
              <a:avLst/>
            </a:prstGeom>
            <a:noFill/>
            <a:ln>
              <a:solidFill>
                <a:srgbClr val="E6196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B5848C5-3611-7F2C-EFD4-A8FCC96ED0E7}"/>
                </a:ext>
              </a:extLst>
            </p:cNvPr>
            <p:cNvCxnSpPr>
              <a:stCxn id="2" idx="0"/>
              <a:endCxn id="16" idx="2"/>
            </p:cNvCxnSpPr>
            <p:nvPr/>
          </p:nvCxnSpPr>
          <p:spPr>
            <a:xfrm flipH="1" flipV="1">
              <a:off x="7111699" y="2395200"/>
              <a:ext cx="12710" cy="1050365"/>
            </a:xfrm>
            <a:prstGeom prst="line">
              <a:avLst/>
            </a:prstGeom>
            <a:ln w="28575">
              <a:solidFill>
                <a:srgbClr val="E6196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705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D9B45FD-30A3-41DA-19D5-550E3582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9593E139-1A4E-FFAA-B1D1-2D57454B09C3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17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04D166BF-26F2-862A-631C-0EFA99D23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Command Injection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7E88A2D3-7DA0-92C9-0D8A-DD127876E2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585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4B1AA6-56C8-2700-7820-9D4161107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598156"/>
              </p:ext>
            </p:extLst>
          </p:nvPr>
        </p:nvGraphicFramePr>
        <p:xfrm>
          <a:off x="449036" y="1436122"/>
          <a:ext cx="8383264" cy="296648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4191632">
                  <a:extLst>
                    <a:ext uri="{9D8B030D-6E8A-4147-A177-3AD203B41FA5}">
                      <a16:colId xmlns:a16="http://schemas.microsoft.com/office/drawing/2014/main" val="3954222776"/>
                    </a:ext>
                  </a:extLst>
                </a:gridCol>
                <a:gridCol w="4191632">
                  <a:extLst>
                    <a:ext uri="{9D8B030D-6E8A-4147-A177-3AD203B41FA5}">
                      <a16:colId xmlns:a16="http://schemas.microsoft.com/office/drawing/2014/main" val="2375687988"/>
                    </a:ext>
                  </a:extLst>
                </a:gridCol>
              </a:tblGrid>
              <a:tr h="637952">
                <a:tc>
                  <a:txBody>
                    <a:bodyPr/>
                    <a:lstStyle/>
                    <a:p>
                      <a:pPr lvl="4" algn="l"/>
                      <a:r>
                        <a:rPr lang="en-US" sz="1800" b="1" dirty="0"/>
                        <a:t> 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venir Next" panose="020B0503020202020204" pitchFamily="34" charset="0"/>
                        </a:rPr>
                        <a:t> http://mesa/</a:t>
                      </a:r>
                      <a:r>
                        <a:rPr lang="en-US" sz="1800" b="0" dirty="0" err="1">
                          <a:latin typeface="Avenir Next" panose="020B0503020202020204" pitchFamily="34" charset="0"/>
                        </a:rPr>
                        <a:t>management.php</a:t>
                      </a:r>
                      <a:endParaRPr lang="en-US" sz="1800" b="0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9453569"/>
                  </a:ext>
                </a:extLst>
              </a:tr>
              <a:tr h="776176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1" dirty="0"/>
                        <a:t> Read-Parameter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venir Next" panose="020B0503020202020204" pitchFamily="34" charset="0"/>
                        </a:rPr>
                        <a:t> ?read=</a:t>
                      </a:r>
                      <a:r>
                        <a:rPr lang="en-US" sz="1800" b="0" dirty="0" err="1">
                          <a:latin typeface="Avenir Next" panose="020B0503020202020204" pitchFamily="34" charset="0"/>
                        </a:rPr>
                        <a:t>sys.log</a:t>
                      </a:r>
                      <a:endParaRPr lang="en-US" sz="1800" b="0" dirty="0">
                        <a:latin typeface="Avenir Next" panose="020B0503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199110"/>
                  </a:ext>
                </a:extLst>
              </a:tr>
              <a:tr h="776176">
                <a:tc>
                  <a:txBody>
                    <a:bodyPr/>
                    <a:lstStyle/>
                    <a:p>
                      <a:pPr lvl="2" algn="l"/>
                      <a:r>
                        <a:rPr lang="en-US" sz="1800" b="1" dirty="0"/>
                        <a:t> Concatenation (AND) Operator </a:t>
                      </a:r>
                      <a:r>
                        <a:rPr lang="en-US" sz="1800" b="1" i="1" dirty="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venir Next" panose="020B0503020202020204" pitchFamily="34" charset="0"/>
                        </a:rPr>
                        <a:t> %20%26%26%20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348078"/>
                  </a:ext>
                </a:extLst>
              </a:tr>
              <a:tr h="776176">
                <a:tc>
                  <a:txBody>
                    <a:bodyPr/>
                    <a:lstStyle/>
                    <a:p>
                      <a:pPr lvl="1" algn="l"/>
                      <a:r>
                        <a:rPr lang="en-US" sz="1800" b="1" dirty="0"/>
                        <a:t> Bash-Command to inject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Avenir Next" panose="020B0503020202020204" pitchFamily="34" charset="0"/>
                        </a:rPr>
                        <a:t> bash%20-c%20 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39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542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F75FC18-EA63-A5D9-F663-B09D40C32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C729C195-5A32-3505-F942-7D23E40737B2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17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FF360349-F9E6-4EC5-D804-C4981645D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Command Injection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A183F860-6FBF-1FAA-CB6E-F916738FB0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585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60F3AB3-0657-4AF2-76E6-7F5D16451F84}"/>
              </a:ext>
            </a:extLst>
          </p:cNvPr>
          <p:cNvGrpSpPr>
            <a:grpSpLocks noChangeAspect="1"/>
          </p:cNvGrpSpPr>
          <p:nvPr/>
        </p:nvGrpSpPr>
        <p:grpSpPr>
          <a:xfrm>
            <a:off x="804673" y="1123626"/>
            <a:ext cx="7516369" cy="3611427"/>
            <a:chOff x="804671" y="1087048"/>
            <a:chExt cx="7516369" cy="3611427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C5ED5F93-0299-5FD7-E558-AB6681F9A762}"/>
                </a:ext>
              </a:extLst>
            </p:cNvPr>
            <p:cNvSpPr/>
            <p:nvPr/>
          </p:nvSpPr>
          <p:spPr>
            <a:xfrm>
              <a:off x="804671" y="1087048"/>
              <a:ext cx="7516369" cy="3611427"/>
            </a:xfrm>
            <a:prstGeom prst="roundRect">
              <a:avLst>
                <a:gd name="adj" fmla="val 5158"/>
              </a:avLst>
            </a:prstGeom>
            <a:solidFill>
              <a:srgbClr val="3136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5A7F2BF-5031-4E23-FD94-399756595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8" r="233"/>
            <a:stretch>
              <a:fillRect/>
            </a:stretch>
          </p:blipFill>
          <p:spPr>
            <a:xfrm>
              <a:off x="925033" y="1246565"/>
              <a:ext cx="7304567" cy="33455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9791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73F9B5C-9AB6-BA47-7487-058C6278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9931B522-02C8-9C35-17F0-0A4BE0E16755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29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BF56A070-9B7B-BF4A-B13A-71FA73FDF2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Privilege Escalation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0802B734-F79F-F7B8-CF74-A7F0B0A525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642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9C34CE-A231-7FD8-1BAF-043BF392FDCF}"/>
              </a:ext>
            </a:extLst>
          </p:cNvPr>
          <p:cNvSpPr txBox="1"/>
          <p:nvPr/>
        </p:nvSpPr>
        <p:spPr>
          <a:xfrm>
            <a:off x="4965539" y="4712574"/>
            <a:ext cx="41784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Unsecured Credentials: Shell History 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/>
              <a:t>T1552.003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617575-2E98-25C9-9BBB-B709C832A102}"/>
              </a:ext>
            </a:extLst>
          </p:cNvPr>
          <p:cNvSpPr/>
          <p:nvPr/>
        </p:nvSpPr>
        <p:spPr>
          <a:xfrm>
            <a:off x="311700" y="1451602"/>
            <a:ext cx="8520600" cy="2631105"/>
          </a:xfrm>
          <a:prstGeom prst="roundRect">
            <a:avLst>
              <a:gd name="adj" fmla="val 5560"/>
            </a:avLst>
          </a:prstGeom>
          <a:solidFill>
            <a:srgbClr val="3136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B1133-9213-3AF7-7240-F1D1468D8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53" y="1549596"/>
            <a:ext cx="7885894" cy="243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08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0D51CC5-F0E8-5439-DA47-9D6E717B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4C984A3F-9F1D-6AED-9ABB-73E94E205F46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30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D1EFCA95-6179-534E-AD28-E97C1CC7E1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Privilege Escalation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6E1A0CE2-9CAB-108A-9F59-E31DDC6C08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642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6837E4-DF0A-5B66-4ED8-B93CD86C9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93" y="1334549"/>
            <a:ext cx="8382786" cy="2930053"/>
          </a:xfrm>
          <a:prstGeom prst="roundRect">
            <a:avLst>
              <a:gd name="adj" fmla="val 441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968D91-0124-86C7-029E-CC3F988A5A3B}"/>
              </a:ext>
            </a:extLst>
          </p:cNvPr>
          <p:cNvSpPr txBox="1"/>
          <p:nvPr/>
        </p:nvSpPr>
        <p:spPr>
          <a:xfrm>
            <a:off x="4969566" y="4712574"/>
            <a:ext cx="4174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Abuse Elevation Control Mechanism (</a:t>
            </a:r>
            <a:r>
              <a:rPr lang="en-US" i="1" dirty="0"/>
              <a:t>T1548.004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699742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FD4E1DC-1197-6915-66DC-C11302AA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2F92C851-B1CF-CAD8-3352-444DD65216C9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17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0031D0FD-BF3C-DAFD-5B0F-F6ED566CE0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Privilege Escalation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484DE7C1-138F-431D-2A17-2B76C0D248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642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CD4C73-4674-1900-FB82-0FB1E8306022}"/>
              </a:ext>
            </a:extLst>
          </p:cNvPr>
          <p:cNvSpPr txBox="1"/>
          <p:nvPr/>
        </p:nvSpPr>
        <p:spPr>
          <a:xfrm>
            <a:off x="4081817" y="449713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dirty="0"/>
              <a:t>Command and Scripting Interpreter: Unix Shell (T1059.004)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DC3733C-124F-1E45-A271-59F2C71D132E}"/>
              </a:ext>
            </a:extLst>
          </p:cNvPr>
          <p:cNvGrpSpPr/>
          <p:nvPr/>
        </p:nvGrpSpPr>
        <p:grpSpPr>
          <a:xfrm>
            <a:off x="685800" y="1244336"/>
            <a:ext cx="7772400" cy="3350057"/>
            <a:chOff x="685800" y="1244334"/>
            <a:chExt cx="7772400" cy="335005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508DF67-ECEE-75A6-3D69-FBCE1615B83B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66051" t="47652"/>
            <a:stretch>
              <a:fillRect/>
            </a:stretch>
          </p:blipFill>
          <p:spPr>
            <a:xfrm>
              <a:off x="685800" y="1244334"/>
              <a:ext cx="7772400" cy="3350057"/>
            </a:xfrm>
            <a:prstGeom prst="roundRect">
              <a:avLst>
                <a:gd name="adj" fmla="val 1622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contourClr>
                <a:srgbClr val="969696"/>
              </a:contourClr>
            </a:sp3d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A68D222-7E23-E0F0-33D7-7001638D9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1608211"/>
              <a:ext cx="7772400" cy="265638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D33A7EB-6D87-0C0F-19EA-AE41F7B85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7661" t="60348" r="7948" b="19494"/>
            <a:stretch>
              <a:fillRect/>
            </a:stretch>
          </p:blipFill>
          <p:spPr>
            <a:xfrm>
              <a:off x="7876570" y="2090471"/>
              <a:ext cx="365121" cy="174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6869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D6BCF00-5984-CF7B-0F78-89C9C245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166DF105-A8C1-086D-50A2-43A392BE35F0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31</a:t>
            </a:r>
            <a:endParaRPr sz="1000" dirty="0"/>
          </a:p>
        </p:txBody>
      </p:sp>
      <p:sp>
        <p:nvSpPr>
          <p:cNvPr id="9" name="Google Shape;104;p21">
            <a:extLst>
              <a:ext uri="{FF2B5EF4-FFF2-40B4-BE49-F238E27FC236}">
                <a16:creationId xmlns:a16="http://schemas.microsoft.com/office/drawing/2014/main" id="{EA51AACD-7C1E-D73A-A187-D6530159DC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rgbClr val="292E60"/>
                </a:solidFill>
              </a:rPr>
              <a:t>Public Exploit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" name="Google Shape;107;p21">
            <a:extLst>
              <a:ext uri="{FF2B5EF4-FFF2-40B4-BE49-F238E27FC236}">
                <a16:creationId xmlns:a16="http://schemas.microsoft.com/office/drawing/2014/main" id="{C07BDB92-DEE8-E483-9154-4B4B91B362F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4462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E3EAA2-FB69-1A43-8B91-4D1FBFA8FC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799"/>
          <a:stretch>
            <a:fillRect/>
          </a:stretch>
        </p:blipFill>
        <p:spPr>
          <a:xfrm>
            <a:off x="445307" y="1406099"/>
            <a:ext cx="8296930" cy="2858503"/>
          </a:xfrm>
          <a:prstGeom prst="roundRect">
            <a:avLst>
              <a:gd name="adj" fmla="val 182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3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189A2-AF7E-5458-5350-BCAEB711DA5B}"/>
              </a:ext>
            </a:extLst>
          </p:cNvPr>
          <p:cNvSpPr txBox="1"/>
          <p:nvPr/>
        </p:nvSpPr>
        <p:spPr>
          <a:xfrm>
            <a:off x="4081817" y="449713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Exploit Public-Facing Application (</a:t>
            </a:r>
            <a:r>
              <a:rPr lang="en-US" i="1" dirty="0"/>
              <a:t>T0819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r"/>
            <a:r>
              <a:rPr lang="en-US" i="1" dirty="0"/>
              <a:t>Command and Scripting Interpreter: Unix Shell (T1059.004)</a:t>
            </a:r>
          </a:p>
        </p:txBody>
      </p:sp>
    </p:spTree>
    <p:extLst>
      <p:ext uri="{BB962C8B-B14F-4D97-AF65-F5344CB8AC3E}">
        <p14:creationId xmlns:p14="http://schemas.microsoft.com/office/powerpoint/2010/main" val="939634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A20002D-4F11-91A3-E0C2-A81001EA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69444118-885C-A477-5283-C1B260DB00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>
                <a:solidFill>
                  <a:srgbClr val="292E60"/>
                </a:solidFill>
              </a:rPr>
              <a:t>Challenges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5" name="Google Shape;105;p21">
            <a:extLst>
              <a:ext uri="{FF2B5EF4-FFF2-40B4-BE49-F238E27FC236}">
                <a16:creationId xmlns:a16="http://schemas.microsoft.com/office/drawing/2014/main" id="{3B1500DD-CB20-3665-4C40-27FE9FB3A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2475" y="1152475"/>
            <a:ext cx="827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en-US" dirty="0">
                <a:solidFill>
                  <a:srgbClr val="1D1D1B"/>
                </a:solidFill>
              </a:rPr>
              <a:t>SQL Injection variants</a:t>
            </a:r>
          </a:p>
          <a:p>
            <a:pPr marL="285750" indent="-285750">
              <a:spcAft>
                <a:spcPts val="1600"/>
              </a:spcAft>
            </a:pPr>
            <a:r>
              <a:rPr lang="en-US" dirty="0">
                <a:solidFill>
                  <a:srgbClr val="1D1D1B"/>
                </a:solidFill>
              </a:rPr>
              <a:t>Brute forcing with Hydra</a:t>
            </a:r>
          </a:p>
          <a:p>
            <a:pPr marL="285750" indent="-285750">
              <a:spcAft>
                <a:spcPts val="1600"/>
              </a:spcAft>
            </a:pPr>
            <a:r>
              <a:rPr lang="en-US" dirty="0" err="1">
                <a:solidFill>
                  <a:srgbClr val="1D1D1B"/>
                </a:solidFill>
              </a:rPr>
              <a:t>LinPEAS</a:t>
            </a:r>
            <a:r>
              <a:rPr lang="en-US" dirty="0">
                <a:solidFill>
                  <a:srgbClr val="1D1D1B"/>
                </a:solidFill>
              </a:rPr>
              <a:t> script analysis</a:t>
            </a: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54B95D18-E2C5-971D-C5F4-BFA2D3DC4B80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32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95ABB1EE-C5A4-6507-9354-EFAE439B58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722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53738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>
          <a:extLst>
            <a:ext uri="{FF2B5EF4-FFF2-40B4-BE49-F238E27FC236}">
              <a16:creationId xmlns:a16="http://schemas.microsoft.com/office/drawing/2014/main" id="{A0DA5AC8-C242-6B60-B626-A1A46582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>
            <a:extLst>
              <a:ext uri="{FF2B5EF4-FFF2-40B4-BE49-F238E27FC236}">
                <a16:creationId xmlns:a16="http://schemas.microsoft.com/office/drawing/2014/main" id="{5CFE25B1-9A94-969B-8F69-E3EF2AEECC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5475" y="2055225"/>
            <a:ext cx="1408800" cy="11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8000" b="1" dirty="0">
                <a:solidFill>
                  <a:srgbClr val="1D1D1B"/>
                </a:solidFill>
              </a:rPr>
              <a:t>03</a:t>
            </a:r>
            <a:endParaRPr sz="8000" b="1" dirty="0">
              <a:solidFill>
                <a:srgbClr val="1D1D1B"/>
              </a:solidFill>
            </a:endParaRPr>
          </a:p>
        </p:txBody>
      </p:sp>
      <p:sp>
        <p:nvSpPr>
          <p:cNvPr id="99" name="Google Shape;99;p20">
            <a:extLst>
              <a:ext uri="{FF2B5EF4-FFF2-40B4-BE49-F238E27FC236}">
                <a16:creationId xmlns:a16="http://schemas.microsoft.com/office/drawing/2014/main" id="{2E61EA20-7DA6-FC6E-1551-44BCCFC4FDFA}"/>
              </a:ext>
            </a:extLst>
          </p:cNvPr>
          <p:cNvSpPr txBox="1"/>
          <p:nvPr/>
        </p:nvSpPr>
        <p:spPr>
          <a:xfrm>
            <a:off x="4580650" y="2670225"/>
            <a:ext cx="35156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3000" b="1" dirty="0">
                <a:solidFill>
                  <a:srgbClr val="1D1D1B"/>
                </a:solidFill>
              </a:rPr>
              <a:t>Digitale Forensik</a:t>
            </a:r>
            <a:endParaRPr sz="3000" b="1" dirty="0">
              <a:solidFill>
                <a:srgbClr val="1D1D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6597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8699E5F-1CA8-80E8-55B0-6ACC4127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147EB354-5E79-CF4B-88A0-5CA961794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Relevancy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A965561C-5BA9-0DC8-26E4-23E563C979DE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34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D47EFEAF-9432-6D69-F861-B3A8454C8D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787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9BA42D-C2B0-55B6-9F0C-582B056C3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51600"/>
            <a:ext cx="7772400" cy="1084120"/>
          </a:xfrm>
          <a:prstGeom prst="roundRect">
            <a:avLst>
              <a:gd name="adj" fmla="val 7914"/>
            </a:avLst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37D712-7BFF-0028-154B-CDD493B4A3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0" t="8535" r="2941" b="-1"/>
          <a:stretch>
            <a:fillRect/>
          </a:stretch>
        </p:blipFill>
        <p:spPr>
          <a:xfrm>
            <a:off x="857527" y="1497864"/>
            <a:ext cx="7410092" cy="9915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328BFA-D3CE-F380-BB44-8F6AF2209916}"/>
              </a:ext>
            </a:extLst>
          </p:cNvPr>
          <p:cNvSpPr txBox="1"/>
          <p:nvPr/>
        </p:nvSpPr>
        <p:spPr>
          <a:xfrm>
            <a:off x="685801" y="2544175"/>
            <a:ext cx="5182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/>
              <a:t>fra.europa.eu</a:t>
            </a:r>
            <a:r>
              <a:rPr lang="en-US" sz="1000" dirty="0"/>
              <a:t>/</a:t>
            </a:r>
            <a:r>
              <a:rPr lang="en-US" sz="1000" dirty="0" err="1"/>
              <a:t>en</a:t>
            </a:r>
            <a:r>
              <a:rPr lang="en-US" sz="1000" dirty="0"/>
              <a:t>/</a:t>
            </a:r>
            <a:r>
              <a:rPr lang="en-US" sz="1000" dirty="0" err="1"/>
              <a:t>eu</a:t>
            </a:r>
            <a:r>
              <a:rPr lang="en-US" sz="1000" dirty="0"/>
              <a:t>-charter/article/48-presumption-innocence-and-right-defence</a:t>
            </a:r>
          </a:p>
        </p:txBody>
      </p:sp>
      <p:sp>
        <p:nvSpPr>
          <p:cNvPr id="17" name="Google Shape;105;p21">
            <a:extLst>
              <a:ext uri="{FF2B5EF4-FFF2-40B4-BE49-F238E27FC236}">
                <a16:creationId xmlns:a16="http://schemas.microsoft.com/office/drawing/2014/main" id="{C0A2725F-9B83-81BB-708E-15DC0AA3E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99" y="2981767"/>
            <a:ext cx="8279700" cy="753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"Methods for securely acquiring, storing and analyzing digital evidence quickly and efficiently are critical."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0BF958-8AD1-38E2-7E6D-F157597EF987}"/>
              </a:ext>
            </a:extLst>
          </p:cNvPr>
          <p:cNvSpPr txBox="1"/>
          <p:nvPr/>
        </p:nvSpPr>
        <p:spPr>
          <a:xfrm>
            <a:off x="685799" y="3700990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 err="1"/>
              <a:t>nist.gov</a:t>
            </a:r>
            <a:r>
              <a:rPr lang="en-US" sz="1000" dirty="0"/>
              <a:t>/</a:t>
            </a:r>
            <a:r>
              <a:rPr lang="en-US" sz="1000" dirty="0" err="1"/>
              <a:t>itl</a:t>
            </a:r>
            <a:r>
              <a:rPr lang="en-US" sz="1000" dirty="0"/>
              <a:t>/ai/digital-forensics</a:t>
            </a:r>
          </a:p>
        </p:txBody>
      </p:sp>
    </p:spTree>
    <p:extLst>
      <p:ext uri="{BB962C8B-B14F-4D97-AF65-F5344CB8AC3E}">
        <p14:creationId xmlns:p14="http://schemas.microsoft.com/office/powerpoint/2010/main" val="1735379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6F5EB52-2CD7-E44E-86C6-C0C9BE27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9A637064-6988-BBE2-C1F4-2C2032F67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E9FD5B59-C498-51D9-2A1A-4D11BD96D12C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35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8FD2F92A-6778-1B3E-8425-028815B767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871E0D-B1DD-0929-EE47-CB4F83462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002" y="1160227"/>
            <a:ext cx="4550437" cy="35382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99A0A1-6738-6E55-0205-BC004BF48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002" y="1160225"/>
            <a:ext cx="4550435" cy="35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1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31D79F2-7465-91F2-2042-67A95D75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D266D672-5386-D6E4-A182-3C982362C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0E9A1EAC-D098-0583-4FD5-D983A6560597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36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FE68B06F-C74B-6A36-F6D6-5E7C4202C9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B8D565-4BCA-7101-8573-2234363147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350" t="20214" r="41067" b="56768"/>
          <a:stretch>
            <a:fillRect/>
          </a:stretch>
        </p:blipFill>
        <p:spPr>
          <a:xfrm>
            <a:off x="1746069" y="1252570"/>
            <a:ext cx="5651862" cy="30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284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6BC9E47-5EA7-6CA4-F88D-3C8A0CD1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673A014C-F66D-73A2-D663-13F73AC0BE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18D37D89-1EAA-56D6-2518-3B9D0B28918D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37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C20BA1B8-6BC2-24EA-72FC-C3527DF75E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74DFEA-9ED0-021C-AA67-77241823F5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614" b="16441"/>
          <a:stretch>
            <a:fillRect/>
          </a:stretch>
        </p:blipFill>
        <p:spPr>
          <a:xfrm>
            <a:off x="1031497" y="1192307"/>
            <a:ext cx="7081006" cy="3190441"/>
          </a:xfrm>
          <a:prstGeom prst="roundRect">
            <a:avLst>
              <a:gd name="adj" fmla="val 345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14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6C64E7-1912-444E-7E15-FA8242D6C073}"/>
              </a:ext>
            </a:extLst>
          </p:cNvPr>
          <p:cNvSpPr txBox="1"/>
          <p:nvPr/>
        </p:nvSpPr>
        <p:spPr>
          <a:xfrm>
            <a:off x="4081817" y="449713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/>
              <a:t>Phishing: Spearfishing Link (T1566.002)</a:t>
            </a:r>
          </a:p>
          <a:p>
            <a:pPr algn="r"/>
            <a:r>
              <a:rPr lang="en-US" i="1" dirty="0"/>
              <a:t>User Execution: Malicious Link (T1204.001)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9B66AF6-C6D6-A148-D6BA-E98A8B8D0FAF}"/>
              </a:ext>
            </a:extLst>
          </p:cNvPr>
          <p:cNvSpPr/>
          <p:nvPr/>
        </p:nvSpPr>
        <p:spPr>
          <a:xfrm>
            <a:off x="1357389" y="1192307"/>
            <a:ext cx="1485162" cy="340103"/>
          </a:xfrm>
          <a:prstGeom prst="roundRect">
            <a:avLst/>
          </a:prstGeom>
          <a:noFill/>
          <a:ln>
            <a:solidFill>
              <a:srgbClr val="E61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6B145D-A9D6-8160-D47C-8805919EAD2D}"/>
              </a:ext>
            </a:extLst>
          </p:cNvPr>
          <p:cNvSpPr/>
          <p:nvPr/>
        </p:nvSpPr>
        <p:spPr>
          <a:xfrm>
            <a:off x="2985441" y="3343774"/>
            <a:ext cx="3005456" cy="340103"/>
          </a:xfrm>
          <a:prstGeom prst="roundRect">
            <a:avLst/>
          </a:prstGeom>
          <a:noFill/>
          <a:ln>
            <a:solidFill>
              <a:srgbClr val="E61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F83046-11C1-E10B-8870-4803917254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96"/>
          <a:stretch>
            <a:fillRect/>
          </a:stretch>
        </p:blipFill>
        <p:spPr>
          <a:xfrm>
            <a:off x="1031497" y="1149082"/>
            <a:ext cx="7081006" cy="3233665"/>
          </a:xfrm>
          <a:prstGeom prst="roundRect">
            <a:avLst>
              <a:gd name="adj" fmla="val 2323"/>
            </a:avLst>
          </a:prstGeom>
        </p:spPr>
      </p:pic>
    </p:spTree>
    <p:extLst>
      <p:ext uri="{BB962C8B-B14F-4D97-AF65-F5344CB8AC3E}">
        <p14:creationId xmlns:p14="http://schemas.microsoft.com/office/powerpoint/2010/main" val="372734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70954E8-012E-D894-A993-841ACF62E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641AF43D-3CE4-4760-0D47-F17CBCCF84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A4C56AC1-B600-BC15-BFAD-C09C41D4931E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38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9AE5FC09-CB64-00D3-3D58-F6D698E5E83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0D2CDE-BD43-1583-8695-B6C2D3B903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4" t="22867" r="1704" b="15250"/>
          <a:stretch>
            <a:fillRect/>
          </a:stretch>
        </p:blipFill>
        <p:spPr>
          <a:xfrm>
            <a:off x="1527662" y="1451602"/>
            <a:ext cx="6088679" cy="3033087"/>
          </a:xfrm>
          <a:prstGeom prst="roundRect">
            <a:avLst>
              <a:gd name="adj" fmla="val 7616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12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413649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CED6A0A-BE8E-32D8-BDD0-BE5B9964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C3813973-CB61-2FA3-3FC0-307C072FF9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E49F42D4-B4F3-B5E5-1C41-58A1A7D75691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39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852B2D2E-F23C-D1DE-139D-B083B13C39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CBDF53-DD0E-B8ED-4EA5-83B2DF18DC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535" t="60640" r="17730" b="6697"/>
          <a:stretch>
            <a:fillRect/>
          </a:stretch>
        </p:blipFill>
        <p:spPr>
          <a:xfrm>
            <a:off x="1309709" y="1635685"/>
            <a:ext cx="2121877" cy="2567354"/>
          </a:xfrm>
          <a:prstGeom prst="roundRect">
            <a:avLst>
              <a:gd name="adj" fmla="val 92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17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55D184E-0549-5FE1-4903-40C631947033}"/>
              </a:ext>
            </a:extLst>
          </p:cNvPr>
          <p:cNvGrpSpPr/>
          <p:nvPr/>
        </p:nvGrpSpPr>
        <p:grpSpPr>
          <a:xfrm>
            <a:off x="3836681" y="2088573"/>
            <a:ext cx="3982278" cy="1661578"/>
            <a:chOff x="3385577" y="1912261"/>
            <a:chExt cx="3982278" cy="1661578"/>
          </a:xfrm>
          <a:effectLst>
            <a:outerShdw blurRad="50800" dist="38100" dir="8100000" algn="tr" rotWithShape="0">
              <a:prstClr val="black">
                <a:alpha val="5000"/>
              </a:prstClr>
            </a:outerShdw>
          </a:effectLst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39AD01D-BAEC-1437-839A-500FD9D33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967" t="62466" b="26042"/>
            <a:stretch>
              <a:fillRect/>
            </a:stretch>
          </p:blipFill>
          <p:spPr>
            <a:xfrm>
              <a:off x="3385577" y="1912261"/>
              <a:ext cx="3982278" cy="1661578"/>
            </a:xfrm>
            <a:prstGeom prst="roundRect">
              <a:avLst>
                <a:gd name="adj" fmla="val 5325"/>
              </a:avLst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FB996EF-942C-1ADC-CB96-D7FD8BB69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5361" t="65751" r="541" b="26863"/>
            <a:stretch>
              <a:fillRect/>
            </a:stretch>
          </p:blipFill>
          <p:spPr>
            <a:xfrm>
              <a:off x="3490075" y="2387212"/>
              <a:ext cx="3734383" cy="1067964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8A945B4-2182-AA09-2F15-4E9DF66D1C66}"/>
              </a:ext>
            </a:extLst>
          </p:cNvPr>
          <p:cNvSpPr txBox="1"/>
          <p:nvPr/>
        </p:nvSpPr>
        <p:spPr>
          <a:xfrm>
            <a:off x="4081817" y="445095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i="1" dirty="0"/>
          </a:p>
          <a:p>
            <a:pPr algn="r"/>
            <a:r>
              <a:rPr lang="en-US" i="1" dirty="0"/>
              <a:t>User Execution: Malicious Copy and Paste (T1204.004)</a:t>
            </a:r>
          </a:p>
        </p:txBody>
      </p:sp>
    </p:spTree>
    <p:extLst>
      <p:ext uri="{BB962C8B-B14F-4D97-AF65-F5344CB8AC3E}">
        <p14:creationId xmlns:p14="http://schemas.microsoft.com/office/powerpoint/2010/main" val="22441473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B2330DB-A58D-1EA5-724F-B8604465D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36A94AAB-66A0-4207-5930-621029517C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DC16DF72-6342-70A9-AD60-FA3FEAB506F7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40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BBBDD4E3-D10C-3A5B-3272-54BD2E74F9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A201D0-0680-A3CA-750D-A2577D166D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34" t="74104" r="56313" b="23050"/>
          <a:stretch>
            <a:fillRect/>
          </a:stretch>
        </p:blipFill>
        <p:spPr>
          <a:xfrm>
            <a:off x="364165" y="1241014"/>
            <a:ext cx="8389848" cy="411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5A5C0D-0013-B6D1-26BA-1CC5DA732D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327" t="74127" r="25280" b="23305"/>
          <a:stretch>
            <a:fillRect/>
          </a:stretch>
        </p:blipFill>
        <p:spPr>
          <a:xfrm>
            <a:off x="311700" y="1573509"/>
            <a:ext cx="8389848" cy="374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E13BE5-B4F8-2306-49F1-34596937FD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499" t="74204" r="19287" b="23068"/>
          <a:stretch>
            <a:fillRect/>
          </a:stretch>
        </p:blipFill>
        <p:spPr>
          <a:xfrm>
            <a:off x="364167" y="1948143"/>
            <a:ext cx="1629501" cy="390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49C969-734B-5C69-94E9-1223D626B2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09" t="76455" r="68755" b="21136"/>
          <a:stretch>
            <a:fillRect/>
          </a:stretch>
        </p:blipFill>
        <p:spPr>
          <a:xfrm>
            <a:off x="1927214" y="1957976"/>
            <a:ext cx="4840144" cy="3307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5EA5B5-2447-8238-4BFF-B77E2A22E333}"/>
              </a:ext>
            </a:extLst>
          </p:cNvPr>
          <p:cNvSpPr txBox="1"/>
          <p:nvPr/>
        </p:nvSpPr>
        <p:spPr>
          <a:xfrm>
            <a:off x="4081817" y="443617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i="1" dirty="0"/>
          </a:p>
          <a:p>
            <a:pPr algn="r"/>
            <a:r>
              <a:rPr lang="en-US" i="1" dirty="0"/>
              <a:t>Data Encrypted for Impact (T1486)</a:t>
            </a:r>
            <a:endParaRPr lang="en-US" i="1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A750C-CE74-A92E-7066-C02D0682FA49}"/>
              </a:ext>
            </a:extLst>
          </p:cNvPr>
          <p:cNvSpPr txBox="1"/>
          <p:nvPr/>
        </p:nvSpPr>
        <p:spPr>
          <a:xfrm>
            <a:off x="364165" y="2672801"/>
            <a:ext cx="8389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Create PowerShell Process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Download the payload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Execute the payload (encrypt files)</a:t>
            </a:r>
          </a:p>
          <a:p>
            <a:pPr marL="342900" indent="-342900">
              <a:buAutoNum type="arabicPeriod"/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092D6-579A-0973-DCC0-1040395DFDAA}"/>
              </a:ext>
            </a:extLst>
          </p:cNvPr>
          <p:cNvSpPr/>
          <p:nvPr/>
        </p:nvSpPr>
        <p:spPr>
          <a:xfrm>
            <a:off x="311700" y="2571750"/>
            <a:ext cx="4260300" cy="44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69EF9B-6686-4ABA-4CF7-DC5446052AD3}"/>
              </a:ext>
            </a:extLst>
          </p:cNvPr>
          <p:cNvSpPr/>
          <p:nvPr/>
        </p:nvSpPr>
        <p:spPr>
          <a:xfrm>
            <a:off x="311700" y="3176624"/>
            <a:ext cx="4260300" cy="44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CEEB22-B000-69D1-2A22-34A2387AD96B}"/>
              </a:ext>
            </a:extLst>
          </p:cNvPr>
          <p:cNvSpPr/>
          <p:nvPr/>
        </p:nvSpPr>
        <p:spPr>
          <a:xfrm>
            <a:off x="364165" y="3784509"/>
            <a:ext cx="4260300" cy="44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750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082779-BE84-0E77-C2EA-BC5FAB1E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D7AA6DBA-A77C-E753-F7D4-96CCA55270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1EED8DC1-A819-D7EA-2A59-7381EA943D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7FD170-06F5-5DDA-92AC-53B89260E6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34" t="74104" r="56313" b="23050"/>
          <a:stretch>
            <a:fillRect/>
          </a:stretch>
        </p:blipFill>
        <p:spPr>
          <a:xfrm>
            <a:off x="364165" y="1241014"/>
            <a:ext cx="8389848" cy="411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1CF226-AA37-A218-51D2-01964D36A4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327" t="74127" r="25280" b="23305"/>
          <a:stretch>
            <a:fillRect/>
          </a:stretch>
        </p:blipFill>
        <p:spPr>
          <a:xfrm>
            <a:off x="311700" y="1573509"/>
            <a:ext cx="8389848" cy="374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97EDD1-7764-2EDC-ED70-E7231F91A4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499" t="74204" r="19287" b="23068"/>
          <a:stretch>
            <a:fillRect/>
          </a:stretch>
        </p:blipFill>
        <p:spPr>
          <a:xfrm>
            <a:off x="364167" y="1948143"/>
            <a:ext cx="1629501" cy="390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F41795-DB9D-A0D6-C342-D6262B9376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09" t="76455" r="68755" b="21136"/>
          <a:stretch>
            <a:fillRect/>
          </a:stretch>
        </p:blipFill>
        <p:spPr>
          <a:xfrm>
            <a:off x="1927214" y="1957976"/>
            <a:ext cx="4840144" cy="3307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A3C2C4-B8F9-2159-FF34-807196C8288E}"/>
              </a:ext>
            </a:extLst>
          </p:cNvPr>
          <p:cNvSpPr/>
          <p:nvPr/>
        </p:nvSpPr>
        <p:spPr>
          <a:xfrm>
            <a:off x="311700" y="1223596"/>
            <a:ext cx="8389848" cy="411772"/>
          </a:xfrm>
          <a:prstGeom prst="rect">
            <a:avLst/>
          </a:prstGeom>
          <a:noFill/>
          <a:ln>
            <a:solidFill>
              <a:srgbClr val="E61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6196C"/>
              </a:solidFill>
            </a:endParaRPr>
          </a:p>
        </p:txBody>
      </p:sp>
      <p:sp>
        <p:nvSpPr>
          <p:cNvPr id="2" name="Google Shape;106;p21">
            <a:extLst>
              <a:ext uri="{FF2B5EF4-FFF2-40B4-BE49-F238E27FC236}">
                <a16:creationId xmlns:a16="http://schemas.microsoft.com/office/drawing/2014/main" id="{4FC02F8E-07BE-9F24-6C07-2D17E35C70ED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40</a:t>
            </a:r>
            <a:endParaRPr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B9AD0-D198-0C69-3541-D1A49A7E54B7}"/>
              </a:ext>
            </a:extLst>
          </p:cNvPr>
          <p:cNvSpPr txBox="1"/>
          <p:nvPr/>
        </p:nvSpPr>
        <p:spPr>
          <a:xfrm>
            <a:off x="4081817" y="443617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i="1" dirty="0"/>
          </a:p>
          <a:p>
            <a:pPr algn="r"/>
            <a:r>
              <a:rPr lang="en-US" i="1" dirty="0"/>
              <a:t>Data Encrypted for Impact (T1486)</a:t>
            </a:r>
            <a:endParaRPr lang="en-US" i="1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BA13C-C67F-C8EF-F941-EBB56E012D56}"/>
              </a:ext>
            </a:extLst>
          </p:cNvPr>
          <p:cNvSpPr txBox="1"/>
          <p:nvPr/>
        </p:nvSpPr>
        <p:spPr>
          <a:xfrm>
            <a:off x="364165" y="2672801"/>
            <a:ext cx="8389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Create PowerShell Process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Download the payload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Execute the payload (encrypt files)</a:t>
            </a:r>
          </a:p>
          <a:p>
            <a:pPr marL="342900" indent="-342900">
              <a:buAutoNum type="arabicPeriod"/>
            </a:pPr>
            <a:endParaRPr lang="en-US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01EFF5-6E27-C705-8B82-2A7242053785}"/>
              </a:ext>
            </a:extLst>
          </p:cNvPr>
          <p:cNvSpPr/>
          <p:nvPr/>
        </p:nvSpPr>
        <p:spPr>
          <a:xfrm>
            <a:off x="311700" y="3176624"/>
            <a:ext cx="4260300" cy="44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49C272-7AED-2BC0-4457-2F53A9C24550}"/>
              </a:ext>
            </a:extLst>
          </p:cNvPr>
          <p:cNvSpPr/>
          <p:nvPr/>
        </p:nvSpPr>
        <p:spPr>
          <a:xfrm>
            <a:off x="364165" y="3784509"/>
            <a:ext cx="4260300" cy="44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72466C-2E5A-B2E2-A437-3E93A30A2639}"/>
              </a:ext>
            </a:extLst>
          </p:cNvPr>
          <p:cNvSpPr/>
          <p:nvPr/>
        </p:nvSpPr>
        <p:spPr>
          <a:xfrm>
            <a:off x="311700" y="2571750"/>
            <a:ext cx="4260300" cy="441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97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50">
        <p159:morph option="byObject"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AB13AE0-2C9F-622D-C988-7F6D3B196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46652B98-CE51-2791-2623-586E639E7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D1EF4602-472C-C6F1-08A6-1F690BD77B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7E9882-9430-D6EA-7E65-E32E651659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34" t="74104" r="56313" b="23050"/>
          <a:stretch>
            <a:fillRect/>
          </a:stretch>
        </p:blipFill>
        <p:spPr>
          <a:xfrm>
            <a:off x="364165" y="1241014"/>
            <a:ext cx="8389848" cy="411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8FEDD0-7EA8-7EA4-C7D3-CB2F3CE705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327" t="74127" r="25280" b="23305"/>
          <a:stretch>
            <a:fillRect/>
          </a:stretch>
        </p:blipFill>
        <p:spPr>
          <a:xfrm>
            <a:off x="311700" y="1573509"/>
            <a:ext cx="8389848" cy="374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FF6E7-E426-3547-8396-BF7DF06E7D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499" t="74204" r="19287" b="23068"/>
          <a:stretch>
            <a:fillRect/>
          </a:stretch>
        </p:blipFill>
        <p:spPr>
          <a:xfrm>
            <a:off x="364167" y="1948143"/>
            <a:ext cx="1629501" cy="390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BCC6CB-0DA7-C7FB-30EB-BA62951B0A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09" t="76455" r="68755" b="21136"/>
          <a:stretch>
            <a:fillRect/>
          </a:stretch>
        </p:blipFill>
        <p:spPr>
          <a:xfrm>
            <a:off x="1927214" y="1957976"/>
            <a:ext cx="4840144" cy="3307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4DB233-BB90-0AD6-92AF-4F9D32D070F6}"/>
              </a:ext>
            </a:extLst>
          </p:cNvPr>
          <p:cNvSpPr/>
          <p:nvPr/>
        </p:nvSpPr>
        <p:spPr>
          <a:xfrm>
            <a:off x="2193000" y="1590484"/>
            <a:ext cx="5332356" cy="357658"/>
          </a:xfrm>
          <a:prstGeom prst="rect">
            <a:avLst/>
          </a:prstGeom>
          <a:noFill/>
          <a:ln>
            <a:solidFill>
              <a:srgbClr val="E61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51763"/>
              </a:solidFill>
            </a:endParaRPr>
          </a:p>
        </p:txBody>
      </p:sp>
      <p:sp>
        <p:nvSpPr>
          <p:cNvPr id="4" name="Google Shape;106;p21">
            <a:extLst>
              <a:ext uri="{FF2B5EF4-FFF2-40B4-BE49-F238E27FC236}">
                <a16:creationId xmlns:a16="http://schemas.microsoft.com/office/drawing/2014/main" id="{A76F7347-BF2C-5646-0C8E-2D036907DB53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40</a:t>
            </a:r>
            <a:endParaRPr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DEB59-F435-A0AE-E887-825D6C878464}"/>
              </a:ext>
            </a:extLst>
          </p:cNvPr>
          <p:cNvSpPr txBox="1"/>
          <p:nvPr/>
        </p:nvSpPr>
        <p:spPr>
          <a:xfrm>
            <a:off x="4081817" y="443617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i="1" dirty="0"/>
          </a:p>
          <a:p>
            <a:pPr algn="r"/>
            <a:r>
              <a:rPr lang="en-US" i="1" dirty="0"/>
              <a:t>Data Encrypted for Impact (T1486)</a:t>
            </a:r>
            <a:endParaRPr lang="en-US" i="1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C7B7E-56E1-706E-2F19-113CBFDB6E18}"/>
              </a:ext>
            </a:extLst>
          </p:cNvPr>
          <p:cNvSpPr txBox="1"/>
          <p:nvPr/>
        </p:nvSpPr>
        <p:spPr>
          <a:xfrm>
            <a:off x="364165" y="2672801"/>
            <a:ext cx="8389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Create PowerShell Process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Download the payload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Execute the payload (encrypt files)</a:t>
            </a:r>
          </a:p>
          <a:p>
            <a:pPr marL="342900" indent="-342900">
              <a:buAutoNum type="arabicPeriod"/>
            </a:pPr>
            <a:endParaRPr lang="en-US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96011C-8161-188B-4781-81807D83FA71}"/>
              </a:ext>
            </a:extLst>
          </p:cNvPr>
          <p:cNvSpPr/>
          <p:nvPr/>
        </p:nvSpPr>
        <p:spPr>
          <a:xfrm>
            <a:off x="364165" y="3784509"/>
            <a:ext cx="4260300" cy="44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98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6009641-34B8-2FF4-A315-2B0083F0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D2F14532-FC6D-139A-14AC-7FA15D8E9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79110B59-2420-3E95-95E2-B44E4FAEB6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61EC00-E02B-9C20-AC2F-F23BB38997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34" t="74104" r="56313" b="23050"/>
          <a:stretch>
            <a:fillRect/>
          </a:stretch>
        </p:blipFill>
        <p:spPr>
          <a:xfrm>
            <a:off x="364165" y="1241014"/>
            <a:ext cx="8389848" cy="411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1D2F4B-3607-C45B-4868-122CE5BC56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327" t="74127" r="25280" b="23305"/>
          <a:stretch>
            <a:fillRect/>
          </a:stretch>
        </p:blipFill>
        <p:spPr>
          <a:xfrm>
            <a:off x="311700" y="1573509"/>
            <a:ext cx="8389848" cy="374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862EA8-F315-5205-A0A1-E9D4D5E354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499" t="74204" r="19287" b="23068"/>
          <a:stretch>
            <a:fillRect/>
          </a:stretch>
        </p:blipFill>
        <p:spPr>
          <a:xfrm>
            <a:off x="364167" y="1948143"/>
            <a:ext cx="1629501" cy="390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709C39-60EE-DC59-A87A-97FE163F62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09" t="76455" r="68755" b="21136"/>
          <a:stretch>
            <a:fillRect/>
          </a:stretch>
        </p:blipFill>
        <p:spPr>
          <a:xfrm>
            <a:off x="1927214" y="1957976"/>
            <a:ext cx="4840144" cy="3307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4D6BD6-D6E4-C94D-CDDA-0BF2373F614D}"/>
              </a:ext>
            </a:extLst>
          </p:cNvPr>
          <p:cNvSpPr txBox="1"/>
          <p:nvPr/>
        </p:nvSpPr>
        <p:spPr>
          <a:xfrm>
            <a:off x="364165" y="2672801"/>
            <a:ext cx="8389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 dirty="0"/>
              <a:t>Create PowerShell Process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Download the payload</a:t>
            </a:r>
          </a:p>
          <a:p>
            <a:pPr marL="342900" indent="-342900">
              <a:buAutoNum type="arabicPeriod"/>
            </a:pP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Execute the payload (encrypt files)</a:t>
            </a:r>
          </a:p>
          <a:p>
            <a:pPr marL="342900" indent="-342900">
              <a:buAutoNum type="arabicPeriod"/>
            </a:pPr>
            <a:endParaRPr lang="en-US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054DEB-975F-3CEE-9A9D-2016A70304F4}"/>
              </a:ext>
            </a:extLst>
          </p:cNvPr>
          <p:cNvSpPr/>
          <p:nvPr/>
        </p:nvSpPr>
        <p:spPr>
          <a:xfrm>
            <a:off x="311700" y="1590484"/>
            <a:ext cx="8389848" cy="357658"/>
          </a:xfrm>
          <a:prstGeom prst="rect">
            <a:avLst/>
          </a:prstGeom>
          <a:noFill/>
          <a:ln>
            <a:solidFill>
              <a:srgbClr val="E61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51763"/>
              </a:solidFill>
            </a:endParaRPr>
          </a:p>
        </p:txBody>
      </p:sp>
      <p:sp>
        <p:nvSpPr>
          <p:cNvPr id="4" name="Google Shape;106;p21">
            <a:extLst>
              <a:ext uri="{FF2B5EF4-FFF2-40B4-BE49-F238E27FC236}">
                <a16:creationId xmlns:a16="http://schemas.microsoft.com/office/drawing/2014/main" id="{C7EF7239-24AB-3D58-51ED-F8F17B7DD973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40</a:t>
            </a:r>
            <a:endParaRPr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B39177-27A6-0B87-30F9-7F3584D74987}"/>
              </a:ext>
            </a:extLst>
          </p:cNvPr>
          <p:cNvSpPr txBox="1"/>
          <p:nvPr/>
        </p:nvSpPr>
        <p:spPr>
          <a:xfrm>
            <a:off x="4081817" y="443617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i="1" dirty="0"/>
          </a:p>
          <a:p>
            <a:pPr algn="r"/>
            <a:r>
              <a:rPr lang="en-US" i="1" dirty="0"/>
              <a:t>Data Encrypted for Impact (T1486)</a:t>
            </a:r>
            <a:endParaRPr lang="en-US" i="1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769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2E6EC05-426E-E0F6-C86A-D28B6235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1845E8FE-AD15-FF3F-42CB-3EC4BA6DE7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3D26AA1C-C495-2037-30AB-E384F6AAD377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41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9CB11064-0BE2-7C1D-EF7D-4C91371810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986000-E374-66DA-F810-1532C72947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262" t="66764"/>
          <a:stretch>
            <a:fillRect/>
          </a:stretch>
        </p:blipFill>
        <p:spPr>
          <a:xfrm>
            <a:off x="963454" y="1369016"/>
            <a:ext cx="7462609" cy="3120398"/>
          </a:xfrm>
          <a:prstGeom prst="roundRect">
            <a:avLst>
              <a:gd name="adj" fmla="val 3497"/>
            </a:avLst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B1E6E0-6B70-6B57-DF1F-6A69297213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7" r="36832"/>
          <a:stretch>
            <a:fillRect/>
          </a:stretch>
        </p:blipFill>
        <p:spPr>
          <a:xfrm>
            <a:off x="1069636" y="1468575"/>
            <a:ext cx="7004727" cy="2848061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03FFE7-FAA1-C1DD-3130-0185ED9CFB38}"/>
              </a:ext>
            </a:extLst>
          </p:cNvPr>
          <p:cNvSpPr/>
          <p:nvPr/>
        </p:nvSpPr>
        <p:spPr>
          <a:xfrm>
            <a:off x="1069636" y="2399358"/>
            <a:ext cx="3641100" cy="485084"/>
          </a:xfrm>
          <a:prstGeom prst="roundRect">
            <a:avLst/>
          </a:prstGeom>
          <a:noFill/>
          <a:ln>
            <a:solidFill>
              <a:srgbClr val="E619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2D89E-777E-52E6-0001-DD67500F8CCB}"/>
              </a:ext>
            </a:extLst>
          </p:cNvPr>
          <p:cNvSpPr txBox="1"/>
          <p:nvPr/>
        </p:nvSpPr>
        <p:spPr>
          <a:xfrm>
            <a:off x="4081817" y="443617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US" i="1" dirty="0"/>
          </a:p>
          <a:p>
            <a:pPr algn="r"/>
            <a:r>
              <a:rPr lang="en-US" i="1" dirty="0"/>
              <a:t>Ingress Tool Transfer (T1105)</a:t>
            </a:r>
            <a:endParaRPr lang="en-US" i="1" dirty="0">
              <a:solidFill>
                <a:srgbClr val="1D1D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8956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1236C31-FDC5-36E7-AD04-555C58AE3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3900618D-8E1B-5F0E-93BD-C783408FE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A6B13596-2F02-22FB-DB5A-C542CE1F8EB7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17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05F3D44D-4D3E-9DD4-20B7-FE676EFE5C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296807-DF4E-92D2-1927-70F52956F5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198" r="19499" b="9512"/>
          <a:stretch>
            <a:fillRect/>
          </a:stretch>
        </p:blipFill>
        <p:spPr>
          <a:xfrm>
            <a:off x="785091" y="1125577"/>
            <a:ext cx="7573818" cy="3712398"/>
          </a:xfrm>
          <a:prstGeom prst="roundRect">
            <a:avLst>
              <a:gd name="adj" fmla="val 273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699938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43101F7-E18A-C533-1462-D0954AE0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138D9EED-11A3-59DD-ADDB-CAC13BF0F0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CC00083B-74DB-F3C2-611E-7E2165B8478D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42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96A3AFB6-7C0F-10EC-F8D1-5A015372DF9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2FF18-78E3-D4B1-14FB-9DB0280132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7" t="18087" r="24408" b="34619"/>
          <a:stretch>
            <a:fillRect/>
          </a:stretch>
        </p:blipFill>
        <p:spPr>
          <a:xfrm>
            <a:off x="439126" y="1297249"/>
            <a:ext cx="8265751" cy="2967353"/>
          </a:xfrm>
          <a:prstGeom prst="roundRect">
            <a:avLst>
              <a:gd name="adj" fmla="val 422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9B1EB1-0CCF-851D-270D-0158D779EC96}"/>
              </a:ext>
            </a:extLst>
          </p:cNvPr>
          <p:cNvSpPr txBox="1"/>
          <p:nvPr/>
        </p:nvSpPr>
        <p:spPr>
          <a:xfrm>
            <a:off x="4081817" y="449713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Exploit Public-Facing Application (</a:t>
            </a:r>
            <a:r>
              <a:rPr lang="en-US" i="1" dirty="0"/>
              <a:t>T0819</a:t>
            </a:r>
            <a:r>
              <a:rPr lang="en-US" i="1" dirty="0">
                <a:solidFill>
                  <a:srgbClr val="1D1D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r"/>
            <a:r>
              <a:rPr lang="en-US" i="1" dirty="0"/>
              <a:t>Command and Scripting Interpreter: Unix Shell (T1059.004)</a:t>
            </a:r>
          </a:p>
        </p:txBody>
      </p:sp>
    </p:spTree>
    <p:extLst>
      <p:ext uri="{BB962C8B-B14F-4D97-AF65-F5344CB8AC3E}">
        <p14:creationId xmlns:p14="http://schemas.microsoft.com/office/powerpoint/2010/main" val="39783190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D66AE9C-BC9D-B380-332E-70E01348F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94D2B319-1988-85CD-81A9-5C94D9AE5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606A01AC-6F5D-8626-A215-B28D4FC282F0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43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3258E54A-60B2-BC87-03EF-F5A88FDEFE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2E0E87-5FA3-945A-1241-9C457577E5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69" t="30163" r="17647" b="8645"/>
          <a:stretch>
            <a:fillRect/>
          </a:stretch>
        </p:blipFill>
        <p:spPr>
          <a:xfrm>
            <a:off x="562303" y="1200036"/>
            <a:ext cx="8019394" cy="335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824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01D0F52-80A1-7C40-E773-A20E0F7B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C35163BE-E342-F6E4-86D2-CCEBF3C8F7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26595DC8-E26A-D039-106D-25F8949C6BF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E6C248-69E8-90CC-CDD2-6CCD5A5C80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67" t="44103" r="17647" b="17055"/>
          <a:stretch>
            <a:fillRect/>
          </a:stretch>
        </p:blipFill>
        <p:spPr>
          <a:xfrm>
            <a:off x="1408503" y="1468575"/>
            <a:ext cx="6501174" cy="2884446"/>
          </a:xfrm>
          <a:prstGeom prst="rect">
            <a:avLst/>
          </a:prstGeom>
        </p:spPr>
      </p:pic>
      <p:sp>
        <p:nvSpPr>
          <p:cNvPr id="2" name="Google Shape;106;p21">
            <a:extLst>
              <a:ext uri="{FF2B5EF4-FFF2-40B4-BE49-F238E27FC236}">
                <a16:creationId xmlns:a16="http://schemas.microsoft.com/office/drawing/2014/main" id="{AA935D8B-45D3-299D-3CF5-E27C3B930DE8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43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42695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734A623-4238-E39D-2D82-8D69511E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CBF72577-4B47-E4F8-45AC-3856CED274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 err="1">
                <a:solidFill>
                  <a:srgbClr val="292E60"/>
                </a:solidFill>
              </a:rPr>
              <a:t>Methodology</a:t>
            </a:r>
            <a:endParaRPr b="1" dirty="0">
              <a:solidFill>
                <a:srgbClr val="292E60"/>
              </a:solidFill>
            </a:endParaRPr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D68EE84A-7283-C849-01DB-AD8EE1BE04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6750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70B8B2-FABE-1B9A-5D01-2C1E61FDBE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70" t="82433" r="78964" b="8645"/>
          <a:stretch>
            <a:fillRect/>
          </a:stretch>
        </p:blipFill>
        <p:spPr>
          <a:xfrm>
            <a:off x="2085175" y="1897168"/>
            <a:ext cx="5310573" cy="1489367"/>
          </a:xfrm>
          <a:prstGeom prst="rect">
            <a:avLst/>
          </a:prstGeom>
        </p:spPr>
      </p:pic>
      <p:sp>
        <p:nvSpPr>
          <p:cNvPr id="2" name="Google Shape;106;p21">
            <a:extLst>
              <a:ext uri="{FF2B5EF4-FFF2-40B4-BE49-F238E27FC236}">
                <a16:creationId xmlns:a16="http://schemas.microsoft.com/office/drawing/2014/main" id="{A0953E72-1C57-3B7C-E663-A1868C849B9B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43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4877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317449F-8664-765C-3770-19162F8B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>
            <a:extLst>
              <a:ext uri="{FF2B5EF4-FFF2-40B4-BE49-F238E27FC236}">
                <a16:creationId xmlns:a16="http://schemas.microsoft.com/office/drawing/2014/main" id="{8F9C0D01-BEA8-79F7-73D6-F3E07FBAEF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b="1" dirty="0">
                <a:solidFill>
                  <a:srgbClr val="292E60"/>
                </a:solidFill>
              </a:rPr>
              <a:t>Challenges</a:t>
            </a:r>
            <a:endParaRPr b="1" dirty="0">
              <a:solidFill>
                <a:srgbClr val="292E60"/>
              </a:solidFill>
            </a:endParaRPr>
          </a:p>
        </p:txBody>
      </p:sp>
      <p:sp>
        <p:nvSpPr>
          <p:cNvPr id="105" name="Google Shape;105;p21">
            <a:extLst>
              <a:ext uri="{FF2B5EF4-FFF2-40B4-BE49-F238E27FC236}">
                <a16:creationId xmlns:a16="http://schemas.microsoft.com/office/drawing/2014/main" id="{632ED679-EDE3-DF7E-521D-73B3E3CA3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2475" y="1152475"/>
            <a:ext cx="827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de" dirty="0">
                <a:solidFill>
                  <a:srgbClr val="1D1D1B"/>
                </a:solidFill>
              </a:rPr>
              <a:t>PowerShell </a:t>
            </a:r>
            <a:r>
              <a:rPr lang="de" dirty="0" err="1">
                <a:solidFill>
                  <a:srgbClr val="1D1D1B"/>
                </a:solidFill>
              </a:rPr>
              <a:t>coding</a:t>
            </a:r>
            <a:endParaRPr lang="de" dirty="0">
              <a:solidFill>
                <a:srgbClr val="1D1D1B"/>
              </a:solidFill>
            </a:endParaRPr>
          </a:p>
          <a:p>
            <a:pPr marL="285750" indent="-285750">
              <a:spcAft>
                <a:spcPts val="1600"/>
              </a:spcAft>
            </a:pPr>
            <a:r>
              <a:rPr lang="de" dirty="0">
                <a:solidFill>
                  <a:srgbClr val="1D1D1B"/>
                </a:solidFill>
              </a:rPr>
              <a:t>Initial reverse </a:t>
            </a:r>
            <a:r>
              <a:rPr lang="de" dirty="0" err="1">
                <a:solidFill>
                  <a:srgbClr val="1D1D1B"/>
                </a:solidFill>
              </a:rPr>
              <a:t>shell</a:t>
            </a:r>
            <a:r>
              <a:rPr lang="de" dirty="0">
                <a:solidFill>
                  <a:srgbClr val="1D1D1B"/>
                </a:solidFill>
              </a:rPr>
              <a:t> not </a:t>
            </a:r>
            <a:r>
              <a:rPr lang="de" dirty="0" err="1">
                <a:solidFill>
                  <a:srgbClr val="1D1D1B"/>
                </a:solidFill>
              </a:rPr>
              <a:t>caught</a:t>
            </a:r>
            <a:r>
              <a:rPr lang="de" dirty="0">
                <a:solidFill>
                  <a:srgbClr val="1D1D1B"/>
                </a:solidFill>
              </a:rPr>
              <a:t> </a:t>
            </a:r>
            <a:r>
              <a:rPr lang="de" dirty="0" err="1">
                <a:solidFill>
                  <a:srgbClr val="1D1D1B"/>
                </a:solidFill>
              </a:rPr>
              <a:t>by</a:t>
            </a:r>
            <a:r>
              <a:rPr lang="de" dirty="0">
                <a:solidFill>
                  <a:srgbClr val="1D1D1B"/>
                </a:solidFill>
              </a:rPr>
              <a:t> </a:t>
            </a:r>
            <a:r>
              <a:rPr lang="de" i="1" dirty="0" err="1">
                <a:solidFill>
                  <a:srgbClr val="1D1D1B"/>
                </a:solidFill>
              </a:rPr>
              <a:t>elastic</a:t>
            </a:r>
            <a:r>
              <a:rPr lang="de" dirty="0">
                <a:solidFill>
                  <a:srgbClr val="1D1D1B"/>
                </a:solidFill>
              </a:rPr>
              <a:t> </a:t>
            </a:r>
            <a:r>
              <a:rPr lang="de" dirty="0" err="1">
                <a:solidFill>
                  <a:srgbClr val="1D1D1B"/>
                </a:solidFill>
              </a:rPr>
              <a:t>rule</a:t>
            </a:r>
            <a:endParaRPr lang="de" dirty="0">
              <a:solidFill>
                <a:srgbClr val="1D1D1B"/>
              </a:solidFill>
            </a:endParaRPr>
          </a:p>
          <a:p>
            <a:pPr marL="285750" indent="-285750">
              <a:spcAft>
                <a:spcPts val="1600"/>
              </a:spcAft>
            </a:pPr>
            <a:r>
              <a:rPr lang="de" dirty="0">
                <a:solidFill>
                  <a:srgbClr val="1D1D1B"/>
                </a:solidFill>
              </a:rPr>
              <a:t>Technical </a:t>
            </a:r>
            <a:r>
              <a:rPr lang="de" dirty="0" err="1">
                <a:solidFill>
                  <a:srgbClr val="1D1D1B"/>
                </a:solidFill>
              </a:rPr>
              <a:t>problems</a:t>
            </a:r>
            <a:endParaRPr dirty="0">
              <a:solidFill>
                <a:srgbClr val="1D1D1B"/>
              </a:solidFill>
            </a:endParaRPr>
          </a:p>
        </p:txBody>
      </p:sp>
      <p:sp>
        <p:nvSpPr>
          <p:cNvPr id="106" name="Google Shape;106;p21">
            <a:extLst>
              <a:ext uri="{FF2B5EF4-FFF2-40B4-BE49-F238E27FC236}">
                <a16:creationId xmlns:a16="http://schemas.microsoft.com/office/drawing/2014/main" id="{3A508559-346D-C736-7BA3-8D4C22541548}"/>
              </a:ext>
            </a:extLst>
          </p:cNvPr>
          <p:cNvSpPr txBox="1"/>
          <p:nvPr/>
        </p:nvSpPr>
        <p:spPr>
          <a:xfrm>
            <a:off x="0" y="4821000"/>
            <a:ext cx="2193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" sz="1000" dirty="0"/>
              <a:t>44</a:t>
            </a:r>
            <a:endParaRPr sz="1000" dirty="0"/>
          </a:p>
        </p:txBody>
      </p:sp>
      <p:pic>
        <p:nvPicPr>
          <p:cNvPr id="107" name="Google Shape;107;p21">
            <a:extLst>
              <a:ext uri="{FF2B5EF4-FFF2-40B4-BE49-F238E27FC236}">
                <a16:creationId xmlns:a16="http://schemas.microsoft.com/office/drawing/2014/main" id="{4EA7EBB8-5A7A-0DBD-4369-DEF01BEDAA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722" y="878900"/>
            <a:ext cx="155800" cy="15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00657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16564</TotalTime>
  <Words>3046</Words>
  <Application>Microsoft Macintosh PowerPoint</Application>
  <PresentationFormat>On-screen Show (16:9)</PresentationFormat>
  <Paragraphs>669</Paragraphs>
  <Slides>72</Slides>
  <Notes>72</Notes>
  <HiddenSlides>14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Arial</vt:lpstr>
      <vt:lpstr>Avenir Next</vt:lpstr>
      <vt:lpstr>Roboto-Light</vt:lpstr>
      <vt:lpstr>Wingdings</vt:lpstr>
      <vt:lpstr>Simple Light</vt:lpstr>
      <vt:lpstr>PowerPoint Presentation</vt:lpstr>
      <vt:lpstr>Table of Contents</vt:lpstr>
      <vt:lpstr>01</vt:lpstr>
      <vt:lpstr>Relevancy of Buffer Overflows</vt:lpstr>
      <vt:lpstr>Relevancy of Buffer Overflows</vt:lpstr>
      <vt:lpstr>Relevancy of Buffer Overflows</vt:lpstr>
      <vt:lpstr>Relevancy of Buffer Overflows</vt:lpstr>
      <vt:lpstr>Relevancy of Buffer Overflows</vt:lpstr>
      <vt:lpstr>Preparation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Challenges</vt:lpstr>
      <vt:lpstr>02</vt:lpstr>
      <vt:lpstr>Relevancy of Penetration Testing</vt:lpstr>
      <vt:lpstr>Prevention</vt:lpstr>
      <vt:lpstr>Prioritization</vt:lpstr>
      <vt:lpstr>PowerPoint Presentation</vt:lpstr>
      <vt:lpstr>Methodology</vt:lpstr>
      <vt:lpstr>OSINT</vt:lpstr>
      <vt:lpstr>PowerPoint Presentation</vt:lpstr>
      <vt:lpstr>Active Scan</vt:lpstr>
      <vt:lpstr>Active Scan</vt:lpstr>
      <vt:lpstr>Active Scan</vt:lpstr>
      <vt:lpstr>Cracking Hashes</vt:lpstr>
      <vt:lpstr>Creating Wordlists</vt:lpstr>
      <vt:lpstr>Brute Force</vt:lpstr>
      <vt:lpstr>Brute Force</vt:lpstr>
      <vt:lpstr>Brute Force</vt:lpstr>
      <vt:lpstr>Brute Force</vt:lpstr>
      <vt:lpstr>Brute Force</vt:lpstr>
      <vt:lpstr>Brute Force</vt:lpstr>
      <vt:lpstr>Brute Force</vt:lpstr>
      <vt:lpstr>Brute Force</vt:lpstr>
      <vt:lpstr>Brute Force</vt:lpstr>
      <vt:lpstr>Brute Force</vt:lpstr>
      <vt:lpstr>SQL Injection</vt:lpstr>
      <vt:lpstr>SQL Injection</vt:lpstr>
      <vt:lpstr>SQL Injection</vt:lpstr>
      <vt:lpstr>Command Injection</vt:lpstr>
      <vt:lpstr>Command Injection</vt:lpstr>
      <vt:lpstr>Command Injection</vt:lpstr>
      <vt:lpstr>Privilege Escalation</vt:lpstr>
      <vt:lpstr>Privilege Escalation</vt:lpstr>
      <vt:lpstr>Privilege Escalation</vt:lpstr>
      <vt:lpstr>Public Exploit</vt:lpstr>
      <vt:lpstr>Challenges</vt:lpstr>
      <vt:lpstr>03</vt:lpstr>
      <vt:lpstr>Relevancy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Challenges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 Neubert</cp:lastModifiedBy>
  <cp:revision>1390</cp:revision>
  <dcterms:modified xsi:type="dcterms:W3CDTF">2026-06-23T22:33:24Z</dcterms:modified>
</cp:coreProperties>
</file>